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y="5143500" cx="9144000"/>
  <p:notesSz cx="6858000" cy="9144000"/>
  <p:embeddedFontLst>
    <p:embeddedFont>
      <p:font typeface="Roboto"/>
      <p:regular r:id="rId74"/>
      <p:bold r:id="rId75"/>
      <p:italic r:id="rId76"/>
      <p:boldItalic r:id="rId77"/>
    </p:embeddedFont>
    <p:embeddedFont>
      <p:font typeface="Bebas Neue"/>
      <p:regular r:id="rId78"/>
    </p:embeddedFont>
    <p:embeddedFont>
      <p:font typeface="Libre Baskerville"/>
      <p:regular r:id="rId79"/>
      <p:bold r:id="rId80"/>
      <p:italic r:id="rId81"/>
      <p:boldItalic r:id="rId82"/>
    </p:embeddedFont>
    <p:embeddedFont>
      <p:font typeface="Leckerli One"/>
      <p:regular r:id="rId83"/>
    </p:embeddedFont>
    <p:embeddedFont>
      <p:font typeface="DM Sans"/>
      <p:regular r:id="rId84"/>
      <p:bold r:id="rId85"/>
      <p:italic r:id="rId86"/>
      <p:boldItalic r:id="rId87"/>
    </p:embeddedFont>
    <p:embeddedFont>
      <p:font typeface="Merriweather"/>
      <p:regular r:id="rId88"/>
      <p:bold r:id="rId89"/>
      <p:italic r:id="rId90"/>
      <p:boldItalic r:id="rId9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DMSans-regular.fntdata"/><Relationship Id="rId83" Type="http://schemas.openxmlformats.org/officeDocument/2006/relationships/font" Target="fonts/LeckerliOne-regular.fntdata"/><Relationship Id="rId42" Type="http://schemas.openxmlformats.org/officeDocument/2006/relationships/slide" Target="slides/slide36.xml"/><Relationship Id="rId86" Type="http://schemas.openxmlformats.org/officeDocument/2006/relationships/font" Target="fonts/DMSans-italic.fntdata"/><Relationship Id="rId41" Type="http://schemas.openxmlformats.org/officeDocument/2006/relationships/slide" Target="slides/slide35.xml"/><Relationship Id="rId85" Type="http://schemas.openxmlformats.org/officeDocument/2006/relationships/font" Target="fonts/DMSans-bold.fntdata"/><Relationship Id="rId44" Type="http://schemas.openxmlformats.org/officeDocument/2006/relationships/slide" Target="slides/slide38.xml"/><Relationship Id="rId88" Type="http://schemas.openxmlformats.org/officeDocument/2006/relationships/font" Target="fonts/Merriweather-regular.fntdata"/><Relationship Id="rId43" Type="http://schemas.openxmlformats.org/officeDocument/2006/relationships/slide" Target="slides/slide37.xml"/><Relationship Id="rId87" Type="http://schemas.openxmlformats.org/officeDocument/2006/relationships/font" Target="fonts/DMSans-boldItalic.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Merriweather-bold.fntdata"/><Relationship Id="rId80" Type="http://schemas.openxmlformats.org/officeDocument/2006/relationships/font" Target="fonts/LibreBaskerville-bold.fntdata"/><Relationship Id="rId82" Type="http://schemas.openxmlformats.org/officeDocument/2006/relationships/font" Target="fonts/LibreBaskerville-boldItalic.fntdata"/><Relationship Id="rId81" Type="http://schemas.openxmlformats.org/officeDocument/2006/relationships/font" Target="fonts/LibreBaskerville-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Roboto-bold.fntdata"/><Relationship Id="rId30" Type="http://schemas.openxmlformats.org/officeDocument/2006/relationships/slide" Target="slides/slide24.xml"/><Relationship Id="rId74" Type="http://schemas.openxmlformats.org/officeDocument/2006/relationships/font" Target="fonts/Roboto-regular.fntdata"/><Relationship Id="rId33" Type="http://schemas.openxmlformats.org/officeDocument/2006/relationships/slide" Target="slides/slide27.xml"/><Relationship Id="rId77" Type="http://schemas.openxmlformats.org/officeDocument/2006/relationships/font" Target="fonts/Roboto-boldItalic.fntdata"/><Relationship Id="rId32" Type="http://schemas.openxmlformats.org/officeDocument/2006/relationships/slide" Target="slides/slide26.xml"/><Relationship Id="rId76" Type="http://schemas.openxmlformats.org/officeDocument/2006/relationships/font" Target="fonts/Roboto-italic.fntdata"/><Relationship Id="rId35" Type="http://schemas.openxmlformats.org/officeDocument/2006/relationships/slide" Target="slides/slide29.xml"/><Relationship Id="rId79" Type="http://schemas.openxmlformats.org/officeDocument/2006/relationships/font" Target="fonts/LibreBaskerville-regular.fntdata"/><Relationship Id="rId34" Type="http://schemas.openxmlformats.org/officeDocument/2006/relationships/slide" Target="slides/slide28.xml"/><Relationship Id="rId78" Type="http://schemas.openxmlformats.org/officeDocument/2006/relationships/font" Target="fonts/BebasNeue-regular.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Merriweather-boldItalic.fntdata"/><Relationship Id="rId90" Type="http://schemas.openxmlformats.org/officeDocument/2006/relationships/font" Target="fonts/Merriweather-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uyD8qzDJUUhfdjdfMuDtVlp4FJkhsdmln5H0rmGbqWE/edit?slide=id.p3#slide=id.p3"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435bc58b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435bc58b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Benjamin Xie. Logo designed by Madeleine Villamil.</a:t>
            </a:r>
            <a:endParaRPr sz="1200">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435bc58b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d435bc58b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 &amp; Benjamin Xie.</a:t>
            </a:r>
            <a:endParaRPr sz="1200">
              <a:solidFill>
                <a:schemeClr val="dk1"/>
              </a:solidFill>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2dc71ada6_2_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d2dc71ada6_2_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d2dc71ada6_2_1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d2dc71ada6_2_1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2dc71ada6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d2dc71ada6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2dc71ada6_2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d2dc71ada6_2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2dc71ada6_2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d2dc71ada6_2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2dc71ada6_2_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d2dc71ada6_2_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2dc71ada6_2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2dc71ada6_2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2dc71ada6_2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d2dc71ada6_2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2dc71ada6_2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d2dc71ada6_2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d2dc71ada6_2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d2dc71ada6_2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2dc71ada6_2_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2dc71ada6_2_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d2dc71ada6_2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d2dc71ada6_2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2dc71ada6_2_9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d2dc71ada6_2_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d2dc71ada6_2_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d2dc71ada6_2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d2dc71ada6_2_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d2dc71ada6_2_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2dc71ada6_2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2dc71ada6_2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9694fa5958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9694fa5958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9694fa5958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9694fa5958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d31bb9d580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d31bb9d580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31bb9d580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d31bb9d580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31bb9d580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d31bb9d580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31bb9d580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d31bb9d580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31bb9d580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d31bb9d580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d31bb9d580_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d31bb9d580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d31bb9d580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d31bb9d580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d31bb9d580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d31bb9d580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d31bb9d580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d31bb9d580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d31bb9d580_1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d31bb9d580_1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d31bb9d580_1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d31bb9d580_1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d31bb9d580_1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d31bb9d580_1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9694fa595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9694fa595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9694fa5958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9694fa5958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9694fa5958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9694fa5958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d433418ace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d433418ace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Text from </a:t>
            </a:r>
            <a:r>
              <a:rPr lang="en" sz="1200" u="sng">
                <a:latin typeface="DM Sans"/>
                <a:ea typeface="DM Sans"/>
                <a:cs typeface="DM Sans"/>
                <a:sym typeface="DM Sans"/>
                <a:hlinkClick r:id="rId2"/>
              </a:rPr>
              <a:t>2022 Week 1 Public</a:t>
            </a:r>
            <a:r>
              <a:rPr lang="en" sz="1200">
                <a:solidFill>
                  <a:schemeClr val="dk1"/>
                </a:solidFill>
                <a:latin typeface="DM Sans"/>
                <a:ea typeface="DM Sans"/>
                <a:cs typeface="DM Sans"/>
                <a:sym typeface="DM Sans"/>
              </a:rPr>
              <a:t>. Slide designed by Benjamin Xie.</a:t>
            </a:r>
            <a:endParaRPr sz="1200">
              <a:solidFill>
                <a:schemeClr val="dk1"/>
              </a:solidFill>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d2dc71ada6_2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d2dc71ada6_2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d31bb9d580_1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d31bb9d580_1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d2dc71ada6_2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d2dc71ada6_2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d31bb9d580_1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d31bb9d580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d31bb9d580_1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d31bb9d580_1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d31bb9d580_1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d31bb9d580_1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d31bb9d580_1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d31bb9d580_1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d31bb9d580_1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d31bb9d580_1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d31bb9d580_1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d31bb9d580_1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d31bb9d580_1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d31bb9d580_1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d31bb9d580_1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d31bb9d580_1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d31bb9d580_1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d31bb9d580_1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d31bb9d580_1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d31bb9d580_1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d31bb9d580_1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d31bb9d580_1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d31bb9d580_1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3d31bb9d580_1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d31bb9d580_1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d31bb9d580_1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d31bb9d580_1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d31bb9d580_1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d31bb9d580_1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d31bb9d580_1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d31bb9d580_1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d31bb9d580_1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d31bb9d580_1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d31bb9d580_1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d31bb9d580_1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d31bb9d580_1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d2dc71ada6_2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3d2dc71ada6_2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d31bb9d580_1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3d31bb9d580_1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d2dc71ada6_2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3d2dc71ada6_2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d31bb9d580_1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d31bb9d580_1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d31bb9d580_1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d31bb9d580_1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d2dc71ada6_2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d2dc71ada6_2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d31bb9d580_1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d31bb9d580_1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d31bb9d580_1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3d31bb9d580_1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d31bb9d580_1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3d31bb9d580_1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d433418ace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3d433418ace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Amy Shrestha &amp; Benjamin Xie. Logo designed by Madeleine Villamil.</a:t>
            </a:r>
            <a:endParaRPr sz="12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00">
              <a:solidFill>
                <a:schemeClr val="dk1"/>
              </a:solidFill>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1_1">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mt="75000"/>
          </a:blip>
          <a:stretch>
            <a:fillRect/>
          </a:stretch>
        </p:blipFill>
        <p:spPr>
          <a:xfrm>
            <a:off x="4350075" y="665212"/>
            <a:ext cx="4078151" cy="3927375"/>
          </a:xfrm>
          <a:prstGeom prst="rect">
            <a:avLst/>
          </a:prstGeom>
          <a:noFill/>
          <a:ln>
            <a:noFill/>
          </a:ln>
        </p:spPr>
      </p:pic>
      <p:pic>
        <p:nvPicPr>
          <p:cNvPr id="52" name="Google Shape;52;p13"/>
          <p:cNvPicPr preferRelativeResize="0"/>
          <p:nvPr/>
        </p:nvPicPr>
        <p:blipFill>
          <a:blip r:embed="rId3">
            <a:alphaModFix amt="55000"/>
          </a:blip>
          <a:stretch>
            <a:fillRect/>
          </a:stretch>
        </p:blipFill>
        <p:spPr>
          <a:xfrm flipH="1">
            <a:off x="490460" y="1223675"/>
            <a:ext cx="3227225" cy="3330400"/>
          </a:xfrm>
          <a:prstGeom prst="rect">
            <a:avLst/>
          </a:prstGeom>
          <a:noFill/>
          <a:ln>
            <a:noFill/>
          </a:ln>
        </p:spPr>
      </p:pic>
      <p:sp>
        <p:nvSpPr>
          <p:cNvPr id="53" name="Google Shape;53;p13"/>
          <p:cNvSpPr txBox="1"/>
          <p:nvPr>
            <p:ph type="title"/>
          </p:nvPr>
        </p:nvSpPr>
        <p:spPr>
          <a:xfrm>
            <a:off x="4552901" y="1696025"/>
            <a:ext cx="3875400" cy="365700"/>
          </a:xfrm>
          <a:prstGeom prst="rect">
            <a:avLst/>
          </a:prstGeom>
          <a:noFill/>
        </p:spPr>
        <p:txBody>
          <a:bodyPr anchorCtr="0" anchor="ctr" bIns="91425" lIns="91425" spcFirstLastPara="1" rIns="91425" wrap="square" tIns="91425">
            <a:normAutofit/>
          </a:bodyPr>
          <a:lstStyle>
            <a:lvl1pPr lvl="0" algn="r">
              <a:spcBef>
                <a:spcPts val="0"/>
              </a:spcBef>
              <a:spcAft>
                <a:spcPts val="0"/>
              </a:spcAft>
              <a:buClr>
                <a:schemeClr val="accent2"/>
              </a:buClr>
              <a:buSzPts val="1800"/>
              <a:buNone/>
              <a:defRPr sz="2000">
                <a:solidFill>
                  <a:schemeClr val="dk2"/>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54" name="Google Shape;54;p13"/>
          <p:cNvSpPr txBox="1"/>
          <p:nvPr>
            <p:ph idx="1" type="subTitle"/>
          </p:nvPr>
        </p:nvSpPr>
        <p:spPr>
          <a:xfrm>
            <a:off x="4342325" y="2333775"/>
            <a:ext cx="4087500" cy="1568100"/>
          </a:xfrm>
          <a:prstGeom prst="rect">
            <a:avLst/>
          </a:prstGeom>
        </p:spPr>
        <p:txBody>
          <a:bodyPr anchorCtr="0" anchor="ctr" bIns="91425" lIns="91425" spcFirstLastPara="1" rIns="91425" wrap="square" tIns="91425">
            <a:normAutofit/>
          </a:bodyPr>
          <a:lstStyle>
            <a:lvl1pPr lvl="0" algn="r">
              <a:lnSpc>
                <a:spcPct val="100000"/>
              </a:lnSpc>
              <a:spcBef>
                <a:spcPts val="0"/>
              </a:spcBef>
              <a:spcAft>
                <a:spcPts val="0"/>
              </a:spcAft>
              <a:buNone/>
              <a:defRPr sz="1600"/>
            </a:lvl1pPr>
            <a:lvl2pPr lvl="1" algn="r">
              <a:lnSpc>
                <a:spcPct val="100000"/>
              </a:lnSpc>
              <a:spcBef>
                <a:spcPts val="1200"/>
              </a:spcBef>
              <a:spcAft>
                <a:spcPts val="0"/>
              </a:spcAft>
              <a:buNone/>
              <a:defRPr sz="1600"/>
            </a:lvl2pPr>
            <a:lvl3pPr lvl="2" algn="r">
              <a:lnSpc>
                <a:spcPct val="100000"/>
              </a:lnSpc>
              <a:spcBef>
                <a:spcPts val="1200"/>
              </a:spcBef>
              <a:spcAft>
                <a:spcPts val="0"/>
              </a:spcAft>
              <a:buNone/>
              <a:defRPr sz="1600"/>
            </a:lvl3pPr>
            <a:lvl4pPr lvl="3" algn="r">
              <a:lnSpc>
                <a:spcPct val="100000"/>
              </a:lnSpc>
              <a:spcBef>
                <a:spcPts val="1200"/>
              </a:spcBef>
              <a:spcAft>
                <a:spcPts val="0"/>
              </a:spcAft>
              <a:buNone/>
              <a:defRPr sz="1600"/>
            </a:lvl4pPr>
            <a:lvl5pPr lvl="4" algn="r">
              <a:lnSpc>
                <a:spcPct val="100000"/>
              </a:lnSpc>
              <a:spcBef>
                <a:spcPts val="1200"/>
              </a:spcBef>
              <a:spcAft>
                <a:spcPts val="0"/>
              </a:spcAft>
              <a:buNone/>
              <a:defRPr sz="1600"/>
            </a:lvl5pPr>
            <a:lvl6pPr lvl="5" algn="r">
              <a:lnSpc>
                <a:spcPct val="100000"/>
              </a:lnSpc>
              <a:spcBef>
                <a:spcPts val="1200"/>
              </a:spcBef>
              <a:spcAft>
                <a:spcPts val="0"/>
              </a:spcAft>
              <a:buNone/>
              <a:defRPr sz="1600"/>
            </a:lvl6pPr>
            <a:lvl7pPr lvl="6" algn="r">
              <a:lnSpc>
                <a:spcPct val="100000"/>
              </a:lnSpc>
              <a:spcBef>
                <a:spcPts val="1200"/>
              </a:spcBef>
              <a:spcAft>
                <a:spcPts val="0"/>
              </a:spcAft>
              <a:buNone/>
              <a:defRPr sz="1600"/>
            </a:lvl7pPr>
            <a:lvl8pPr lvl="7" algn="r">
              <a:lnSpc>
                <a:spcPct val="100000"/>
              </a:lnSpc>
              <a:spcBef>
                <a:spcPts val="1200"/>
              </a:spcBef>
              <a:spcAft>
                <a:spcPts val="0"/>
              </a:spcAft>
              <a:buNone/>
              <a:defRPr sz="1600"/>
            </a:lvl8pPr>
            <a:lvl9pPr lvl="8" algn="r">
              <a:lnSpc>
                <a:spcPct val="100000"/>
              </a:lnSpc>
              <a:spcBef>
                <a:spcPts val="1200"/>
              </a:spcBef>
              <a:spcAft>
                <a:spcPts val="1200"/>
              </a:spcAft>
              <a:buNone/>
              <a:defRPr sz="1600"/>
            </a:lvl9pPr>
          </a:lstStyle>
          <a:p/>
        </p:txBody>
      </p:sp>
      <p:sp>
        <p:nvSpPr>
          <p:cNvPr id="55" name="Google Shape;55;p13"/>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ph idx="2" type="title"/>
          </p:nvPr>
        </p:nvSpPr>
        <p:spPr>
          <a:xfrm>
            <a:off x="714125" y="546825"/>
            <a:ext cx="7715700" cy="365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2"/>
              </a:buClr>
              <a:buSzPts val="2400"/>
              <a:buNone/>
              <a:defRPr sz="3000"/>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SECTION_HEADER_1">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mt="35000"/>
          </a:blip>
          <a:stretch>
            <a:fillRect/>
          </a:stretch>
        </p:blipFill>
        <p:spPr>
          <a:xfrm>
            <a:off x="1176338" y="1157288"/>
            <a:ext cx="6791325" cy="2828925"/>
          </a:xfrm>
          <a:prstGeom prst="rect">
            <a:avLst/>
          </a:prstGeom>
          <a:noFill/>
          <a:ln>
            <a:noFill/>
          </a:ln>
        </p:spPr>
      </p:pic>
      <p:sp>
        <p:nvSpPr>
          <p:cNvPr id="59" name="Google Shape;59;p14"/>
          <p:cNvSpPr txBox="1"/>
          <p:nvPr>
            <p:ph idx="1" type="subTitle"/>
          </p:nvPr>
        </p:nvSpPr>
        <p:spPr>
          <a:xfrm>
            <a:off x="2863350" y="3448131"/>
            <a:ext cx="3417300" cy="4104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None/>
              <a:defRPr sz="2000"/>
            </a:lvl1pPr>
            <a:lvl2pPr lvl="1">
              <a:spcBef>
                <a:spcPts val="0"/>
              </a:spcBef>
              <a:spcAft>
                <a:spcPts val="0"/>
              </a:spcAft>
              <a:buNone/>
              <a:defRPr sz="2000"/>
            </a:lvl2pPr>
            <a:lvl3pPr lvl="2">
              <a:spcBef>
                <a:spcPts val="0"/>
              </a:spcBef>
              <a:spcAft>
                <a:spcPts val="0"/>
              </a:spcAft>
              <a:buNone/>
              <a:defRPr sz="2000"/>
            </a:lvl3pPr>
            <a:lvl4pPr lvl="3">
              <a:spcBef>
                <a:spcPts val="0"/>
              </a:spcBef>
              <a:spcAft>
                <a:spcPts val="0"/>
              </a:spcAft>
              <a:buNone/>
              <a:defRPr sz="2000"/>
            </a:lvl4pPr>
            <a:lvl5pPr lvl="4">
              <a:spcBef>
                <a:spcPts val="0"/>
              </a:spcBef>
              <a:spcAft>
                <a:spcPts val="0"/>
              </a:spcAft>
              <a:buNone/>
              <a:defRPr sz="2000"/>
            </a:lvl5pPr>
            <a:lvl6pPr lvl="5">
              <a:spcBef>
                <a:spcPts val="0"/>
              </a:spcBef>
              <a:spcAft>
                <a:spcPts val="0"/>
              </a:spcAft>
              <a:buNone/>
              <a:defRPr sz="2000"/>
            </a:lvl6pPr>
            <a:lvl7pPr lvl="6">
              <a:spcBef>
                <a:spcPts val="0"/>
              </a:spcBef>
              <a:spcAft>
                <a:spcPts val="0"/>
              </a:spcAft>
              <a:buNone/>
              <a:defRPr sz="2000"/>
            </a:lvl7pPr>
            <a:lvl8pPr lvl="7">
              <a:spcBef>
                <a:spcPts val="0"/>
              </a:spcBef>
              <a:spcAft>
                <a:spcPts val="0"/>
              </a:spcAft>
              <a:buNone/>
              <a:defRPr sz="2000"/>
            </a:lvl8pPr>
            <a:lvl9pPr lvl="8">
              <a:spcBef>
                <a:spcPts val="0"/>
              </a:spcBef>
              <a:spcAft>
                <a:spcPts val="0"/>
              </a:spcAft>
              <a:buNone/>
              <a:defRPr sz="2000"/>
            </a:lvl9pPr>
          </a:lstStyle>
          <a:p/>
        </p:txBody>
      </p:sp>
      <p:sp>
        <p:nvSpPr>
          <p:cNvPr id="60" name="Google Shape;60;p14"/>
          <p:cNvSpPr txBox="1"/>
          <p:nvPr>
            <p:ph type="title"/>
          </p:nvPr>
        </p:nvSpPr>
        <p:spPr>
          <a:xfrm>
            <a:off x="1345800" y="1284969"/>
            <a:ext cx="6452400" cy="2067300"/>
          </a:xfrm>
          <a:prstGeom prst="rect">
            <a:avLst/>
          </a:prstGeom>
        </p:spPr>
        <p:txBody>
          <a:bodyPr anchorCtr="0" anchor="ctr" bIns="91425" lIns="91425" spcFirstLastPara="1" rIns="91425" wrap="square" tIns="91425">
            <a:normAutofit/>
          </a:bodyPr>
          <a:lstStyle>
            <a:lvl1pPr lvl="0" algn="ctr">
              <a:lnSpc>
                <a:spcPct val="115000"/>
              </a:lnSpc>
              <a:spcBef>
                <a:spcPts val="0"/>
              </a:spcBef>
              <a:spcAft>
                <a:spcPts val="0"/>
              </a:spcAft>
              <a:buClr>
                <a:schemeClr val="accent2"/>
              </a:buClr>
              <a:buSzPts val="2400"/>
              <a:buNone/>
              <a:defRPr sz="2900">
                <a:solidFill>
                  <a:schemeClr val="dk2"/>
                </a:solidFill>
              </a:defRPr>
            </a:lvl1pPr>
            <a:lvl2pPr lvl="1" algn="ctr">
              <a:spcBef>
                <a:spcPts val="0"/>
              </a:spcBef>
              <a:spcAft>
                <a:spcPts val="0"/>
              </a:spcAft>
              <a:buClr>
                <a:schemeClr val="accent2"/>
              </a:buClr>
              <a:buSzPts val="3600"/>
              <a:buNone/>
              <a:defRPr sz="3600">
                <a:solidFill>
                  <a:schemeClr val="accent2"/>
                </a:solidFill>
              </a:defRPr>
            </a:lvl2pPr>
            <a:lvl3pPr lvl="2" algn="ctr">
              <a:spcBef>
                <a:spcPts val="0"/>
              </a:spcBef>
              <a:spcAft>
                <a:spcPts val="0"/>
              </a:spcAft>
              <a:buClr>
                <a:schemeClr val="accent2"/>
              </a:buClr>
              <a:buSzPts val="3600"/>
              <a:buNone/>
              <a:defRPr sz="3600">
                <a:solidFill>
                  <a:schemeClr val="accent2"/>
                </a:solidFill>
              </a:defRPr>
            </a:lvl3pPr>
            <a:lvl4pPr lvl="3" algn="ctr">
              <a:spcBef>
                <a:spcPts val="0"/>
              </a:spcBef>
              <a:spcAft>
                <a:spcPts val="0"/>
              </a:spcAft>
              <a:buClr>
                <a:schemeClr val="accent2"/>
              </a:buClr>
              <a:buSzPts val="3600"/>
              <a:buNone/>
              <a:defRPr sz="3600">
                <a:solidFill>
                  <a:schemeClr val="accent2"/>
                </a:solidFill>
              </a:defRPr>
            </a:lvl4pPr>
            <a:lvl5pPr lvl="4" algn="ctr">
              <a:spcBef>
                <a:spcPts val="0"/>
              </a:spcBef>
              <a:spcAft>
                <a:spcPts val="0"/>
              </a:spcAft>
              <a:buClr>
                <a:schemeClr val="accent2"/>
              </a:buClr>
              <a:buSzPts val="3600"/>
              <a:buNone/>
              <a:defRPr sz="3600">
                <a:solidFill>
                  <a:schemeClr val="accent2"/>
                </a:solidFill>
              </a:defRPr>
            </a:lvl5pPr>
            <a:lvl6pPr lvl="5" algn="ctr">
              <a:spcBef>
                <a:spcPts val="0"/>
              </a:spcBef>
              <a:spcAft>
                <a:spcPts val="0"/>
              </a:spcAft>
              <a:buClr>
                <a:schemeClr val="accent2"/>
              </a:buClr>
              <a:buSzPts val="3600"/>
              <a:buNone/>
              <a:defRPr sz="3600">
                <a:solidFill>
                  <a:schemeClr val="accent2"/>
                </a:solidFill>
              </a:defRPr>
            </a:lvl6pPr>
            <a:lvl7pPr lvl="6" algn="ctr">
              <a:spcBef>
                <a:spcPts val="0"/>
              </a:spcBef>
              <a:spcAft>
                <a:spcPts val="0"/>
              </a:spcAft>
              <a:buClr>
                <a:schemeClr val="accent2"/>
              </a:buClr>
              <a:buSzPts val="3600"/>
              <a:buNone/>
              <a:defRPr sz="3600">
                <a:solidFill>
                  <a:schemeClr val="accent2"/>
                </a:solidFill>
              </a:defRPr>
            </a:lvl7pPr>
            <a:lvl8pPr lvl="7" algn="ctr">
              <a:spcBef>
                <a:spcPts val="0"/>
              </a:spcBef>
              <a:spcAft>
                <a:spcPts val="0"/>
              </a:spcAft>
              <a:buClr>
                <a:schemeClr val="accent2"/>
              </a:buClr>
              <a:buSzPts val="3600"/>
              <a:buNone/>
              <a:defRPr sz="3600">
                <a:solidFill>
                  <a:schemeClr val="accent2"/>
                </a:solidFill>
              </a:defRPr>
            </a:lvl8pPr>
            <a:lvl9pPr lvl="8" algn="ctr">
              <a:spcBef>
                <a:spcPts val="0"/>
              </a:spcBef>
              <a:spcAft>
                <a:spcPts val="0"/>
              </a:spcAft>
              <a:buClr>
                <a:schemeClr val="accent2"/>
              </a:buClr>
              <a:buSzPts val="3600"/>
              <a:buNone/>
              <a:defRPr sz="3600">
                <a:solidFill>
                  <a:schemeClr val="accent2"/>
                </a:solidFill>
              </a:defRPr>
            </a:lvl9pPr>
          </a:lstStyle>
          <a:p/>
        </p:txBody>
      </p:sp>
      <p:sp>
        <p:nvSpPr>
          <p:cNvPr id="61" name="Google Shape;61;p14"/>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SECTION_HEADER_1_1_1_1_2_1">
    <p:spTree>
      <p:nvGrpSpPr>
        <p:cNvPr id="62" name="Shape 62"/>
        <p:cNvGrpSpPr/>
        <p:nvPr/>
      </p:nvGrpSpPr>
      <p:grpSpPr>
        <a:xfrm>
          <a:off x="0" y="0"/>
          <a:ext cx="0" cy="0"/>
          <a:chOff x="0" y="0"/>
          <a:chExt cx="0" cy="0"/>
        </a:xfrm>
      </p:grpSpPr>
      <p:pic>
        <p:nvPicPr>
          <p:cNvPr id="63" name="Google Shape;63;p15"/>
          <p:cNvPicPr preferRelativeResize="0"/>
          <p:nvPr/>
        </p:nvPicPr>
        <p:blipFill>
          <a:blip r:embed="rId2">
            <a:alphaModFix amt="55000"/>
          </a:blip>
          <a:stretch>
            <a:fillRect/>
          </a:stretch>
        </p:blipFill>
        <p:spPr>
          <a:xfrm flipH="1">
            <a:off x="2914735" y="693875"/>
            <a:ext cx="3227225" cy="3330400"/>
          </a:xfrm>
          <a:prstGeom prst="rect">
            <a:avLst/>
          </a:prstGeom>
          <a:noFill/>
          <a:ln>
            <a:noFill/>
          </a:ln>
        </p:spPr>
      </p:pic>
      <p:pic>
        <p:nvPicPr>
          <p:cNvPr id="64" name="Google Shape;64;p15"/>
          <p:cNvPicPr preferRelativeResize="0"/>
          <p:nvPr/>
        </p:nvPicPr>
        <p:blipFill>
          <a:blip r:embed="rId3">
            <a:alphaModFix amt="75000"/>
          </a:blip>
          <a:stretch>
            <a:fillRect/>
          </a:stretch>
        </p:blipFill>
        <p:spPr>
          <a:xfrm>
            <a:off x="0" y="0"/>
            <a:ext cx="2060450" cy="1984276"/>
          </a:xfrm>
          <a:prstGeom prst="rect">
            <a:avLst/>
          </a:prstGeom>
          <a:noFill/>
          <a:ln>
            <a:noFill/>
          </a:ln>
        </p:spPr>
      </p:pic>
      <p:pic>
        <p:nvPicPr>
          <p:cNvPr id="65" name="Google Shape;65;p15"/>
          <p:cNvPicPr preferRelativeResize="0"/>
          <p:nvPr/>
        </p:nvPicPr>
        <p:blipFill>
          <a:blip r:embed="rId3">
            <a:alphaModFix amt="75000"/>
          </a:blip>
          <a:stretch>
            <a:fillRect/>
          </a:stretch>
        </p:blipFill>
        <p:spPr>
          <a:xfrm rot="10800000">
            <a:off x="7083550" y="3159225"/>
            <a:ext cx="2060450" cy="1984276"/>
          </a:xfrm>
          <a:prstGeom prst="rect">
            <a:avLst/>
          </a:prstGeom>
          <a:noFill/>
          <a:ln>
            <a:noFill/>
          </a:ln>
        </p:spPr>
      </p:pic>
      <p:sp>
        <p:nvSpPr>
          <p:cNvPr id="66" name="Google Shape;66;p15"/>
          <p:cNvSpPr txBox="1"/>
          <p:nvPr>
            <p:ph type="title"/>
          </p:nvPr>
        </p:nvSpPr>
        <p:spPr>
          <a:xfrm>
            <a:off x="714125" y="544075"/>
            <a:ext cx="7715700" cy="365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2"/>
              </a:buClr>
              <a:buSzPts val="2400"/>
              <a:buNone/>
              <a:defRPr sz="3000"/>
            </a:lvl1pPr>
            <a:lvl2pPr lvl="1" algn="ctr">
              <a:spcBef>
                <a:spcPts val="0"/>
              </a:spcBef>
              <a:spcAft>
                <a:spcPts val="0"/>
              </a:spcAft>
              <a:buClr>
                <a:schemeClr val="accent2"/>
              </a:buClr>
              <a:buSzPts val="3600"/>
              <a:buNone/>
              <a:defRPr sz="3600">
                <a:solidFill>
                  <a:schemeClr val="accent2"/>
                </a:solidFill>
              </a:defRPr>
            </a:lvl2pPr>
            <a:lvl3pPr lvl="2" algn="ctr">
              <a:spcBef>
                <a:spcPts val="0"/>
              </a:spcBef>
              <a:spcAft>
                <a:spcPts val="0"/>
              </a:spcAft>
              <a:buClr>
                <a:schemeClr val="accent2"/>
              </a:buClr>
              <a:buSzPts val="3600"/>
              <a:buNone/>
              <a:defRPr sz="3600">
                <a:solidFill>
                  <a:schemeClr val="accent2"/>
                </a:solidFill>
              </a:defRPr>
            </a:lvl3pPr>
            <a:lvl4pPr lvl="3" algn="ctr">
              <a:spcBef>
                <a:spcPts val="0"/>
              </a:spcBef>
              <a:spcAft>
                <a:spcPts val="0"/>
              </a:spcAft>
              <a:buClr>
                <a:schemeClr val="accent2"/>
              </a:buClr>
              <a:buSzPts val="3600"/>
              <a:buNone/>
              <a:defRPr sz="3600">
                <a:solidFill>
                  <a:schemeClr val="accent2"/>
                </a:solidFill>
              </a:defRPr>
            </a:lvl4pPr>
            <a:lvl5pPr lvl="4" algn="ctr">
              <a:spcBef>
                <a:spcPts val="0"/>
              </a:spcBef>
              <a:spcAft>
                <a:spcPts val="0"/>
              </a:spcAft>
              <a:buClr>
                <a:schemeClr val="accent2"/>
              </a:buClr>
              <a:buSzPts val="3600"/>
              <a:buNone/>
              <a:defRPr sz="3600">
                <a:solidFill>
                  <a:schemeClr val="accent2"/>
                </a:solidFill>
              </a:defRPr>
            </a:lvl5pPr>
            <a:lvl6pPr lvl="5" algn="ctr">
              <a:spcBef>
                <a:spcPts val="0"/>
              </a:spcBef>
              <a:spcAft>
                <a:spcPts val="0"/>
              </a:spcAft>
              <a:buClr>
                <a:schemeClr val="accent2"/>
              </a:buClr>
              <a:buSzPts val="3600"/>
              <a:buNone/>
              <a:defRPr sz="3600">
                <a:solidFill>
                  <a:schemeClr val="accent2"/>
                </a:solidFill>
              </a:defRPr>
            </a:lvl6pPr>
            <a:lvl7pPr lvl="6" algn="ctr">
              <a:spcBef>
                <a:spcPts val="0"/>
              </a:spcBef>
              <a:spcAft>
                <a:spcPts val="0"/>
              </a:spcAft>
              <a:buClr>
                <a:schemeClr val="accent2"/>
              </a:buClr>
              <a:buSzPts val="3600"/>
              <a:buNone/>
              <a:defRPr sz="3600">
                <a:solidFill>
                  <a:schemeClr val="accent2"/>
                </a:solidFill>
              </a:defRPr>
            </a:lvl7pPr>
            <a:lvl8pPr lvl="7" algn="ctr">
              <a:spcBef>
                <a:spcPts val="0"/>
              </a:spcBef>
              <a:spcAft>
                <a:spcPts val="0"/>
              </a:spcAft>
              <a:buClr>
                <a:schemeClr val="accent2"/>
              </a:buClr>
              <a:buSzPts val="3600"/>
              <a:buNone/>
              <a:defRPr sz="3600">
                <a:solidFill>
                  <a:schemeClr val="accent2"/>
                </a:solidFill>
              </a:defRPr>
            </a:lvl8pPr>
            <a:lvl9pPr lvl="8" algn="ctr">
              <a:spcBef>
                <a:spcPts val="0"/>
              </a:spcBef>
              <a:spcAft>
                <a:spcPts val="0"/>
              </a:spcAft>
              <a:buClr>
                <a:schemeClr val="accent2"/>
              </a:buClr>
              <a:buSzPts val="3600"/>
              <a:buNone/>
              <a:defRPr sz="3600">
                <a:solidFill>
                  <a:schemeClr val="accent2"/>
                </a:solidFill>
              </a:defRPr>
            </a:lvl9pPr>
          </a:lstStyle>
          <a:p/>
        </p:txBody>
      </p:sp>
      <p:sp>
        <p:nvSpPr>
          <p:cNvPr id="67" name="Google Shape;67;p15"/>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idx="1" type="subTitle"/>
          </p:nvPr>
        </p:nvSpPr>
        <p:spPr>
          <a:xfrm flipH="1">
            <a:off x="6125100" y="1374075"/>
            <a:ext cx="2298900" cy="438600"/>
          </a:xfrm>
          <a:prstGeom prst="rect">
            <a:avLst/>
          </a:prstGeom>
        </p:spPr>
        <p:txBody>
          <a:bodyPr anchorCtr="0" anchor="t" bIns="91425" lIns="91425" spcFirstLastPara="1" rIns="91425" wrap="square" tIns="91425">
            <a:normAutofit/>
          </a:bodyPr>
          <a:lstStyle>
            <a:lvl1pPr lvl="0" algn="r">
              <a:lnSpc>
                <a:spcPct val="100000"/>
              </a:lnSpc>
              <a:spcBef>
                <a:spcPts val="0"/>
              </a:spcBef>
              <a:spcAft>
                <a:spcPts val="0"/>
              </a:spcAft>
              <a:buSzPts val="1800"/>
              <a:buFont typeface="Bebas Neue"/>
              <a:buNone/>
              <a:defRPr b="1" sz="2000">
                <a:latin typeface="Libre Baskerville"/>
                <a:ea typeface="Libre Baskerville"/>
                <a:cs typeface="Libre Baskerville"/>
                <a:sym typeface="Libre Baskerville"/>
              </a:defRPr>
            </a:lvl1pPr>
            <a:lvl2pPr lvl="1" algn="ctr">
              <a:lnSpc>
                <a:spcPct val="100000"/>
              </a:lnSpc>
              <a:spcBef>
                <a:spcPts val="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0"/>
              </a:spcBef>
              <a:spcAft>
                <a:spcPts val="0"/>
              </a:spcAft>
              <a:buSzPts val="1400"/>
              <a:buFont typeface="Bebas Neue"/>
              <a:buNone/>
              <a:defRPr>
                <a:latin typeface="Bebas Neue"/>
                <a:ea typeface="Bebas Neue"/>
                <a:cs typeface="Bebas Neue"/>
                <a:sym typeface="Bebas Neue"/>
              </a:defRPr>
            </a:lvl9pPr>
          </a:lstStyle>
          <a:p/>
        </p:txBody>
      </p:sp>
      <p:sp>
        <p:nvSpPr>
          <p:cNvPr id="69" name="Google Shape;69;p15"/>
          <p:cNvSpPr txBox="1"/>
          <p:nvPr>
            <p:ph idx="2" type="subTitle"/>
          </p:nvPr>
        </p:nvSpPr>
        <p:spPr>
          <a:xfrm flipH="1">
            <a:off x="720025" y="2847050"/>
            <a:ext cx="2298900" cy="438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800"/>
              <a:buFont typeface="Bebas Neue"/>
              <a:buNone/>
              <a:defRPr b="1" sz="2000">
                <a:latin typeface="Libre Baskerville"/>
                <a:ea typeface="Libre Baskerville"/>
                <a:cs typeface="Libre Baskerville"/>
                <a:sym typeface="Libre Baskerville"/>
              </a:defRPr>
            </a:lvl1pPr>
            <a:lvl2pPr lvl="1" algn="ctr">
              <a:lnSpc>
                <a:spcPct val="100000"/>
              </a:lnSpc>
              <a:spcBef>
                <a:spcPts val="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0"/>
              </a:spcBef>
              <a:spcAft>
                <a:spcPts val="0"/>
              </a:spcAft>
              <a:buSzPts val="1400"/>
              <a:buFont typeface="Bebas Neue"/>
              <a:buNone/>
              <a:defRPr>
                <a:latin typeface="Bebas Neue"/>
                <a:ea typeface="Bebas Neue"/>
                <a:cs typeface="Bebas Neue"/>
                <a:sym typeface="Bebas Neue"/>
              </a:defRPr>
            </a:lvl9pPr>
          </a:lstStyle>
          <a:p/>
        </p:txBody>
      </p:sp>
      <p:sp>
        <p:nvSpPr>
          <p:cNvPr id="70" name="Google Shape;70;p15"/>
          <p:cNvSpPr txBox="1"/>
          <p:nvPr>
            <p:ph idx="3" type="subTitle"/>
          </p:nvPr>
        </p:nvSpPr>
        <p:spPr>
          <a:xfrm flipH="1">
            <a:off x="4572000" y="1876339"/>
            <a:ext cx="3852000" cy="862800"/>
          </a:xfrm>
          <a:prstGeom prst="rect">
            <a:avLst/>
          </a:prstGeom>
        </p:spPr>
        <p:txBody>
          <a:bodyPr anchorCtr="0" anchor="ctr" bIns="91425" lIns="91425" spcFirstLastPara="1" rIns="91425" wrap="square" tIns="91425">
            <a:normAutofit/>
          </a:bodyPr>
          <a:lstStyle>
            <a:lvl1pPr lvl="0" algn="r">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 name="Google Shape;71;p15"/>
          <p:cNvSpPr txBox="1"/>
          <p:nvPr>
            <p:ph idx="4" type="subTitle"/>
          </p:nvPr>
        </p:nvSpPr>
        <p:spPr>
          <a:xfrm flipH="1">
            <a:off x="720025" y="3349800"/>
            <a:ext cx="3852000" cy="8628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2">
    <p:spTree>
      <p:nvGrpSpPr>
        <p:cNvPr id="72" name="Shape 72"/>
        <p:cNvGrpSpPr/>
        <p:nvPr/>
      </p:nvGrpSpPr>
      <p:grpSpPr>
        <a:xfrm>
          <a:off x="0" y="0"/>
          <a:ext cx="0" cy="0"/>
          <a:chOff x="0" y="0"/>
          <a:chExt cx="0" cy="0"/>
        </a:xfrm>
      </p:grpSpPr>
      <p:grpSp>
        <p:nvGrpSpPr>
          <p:cNvPr id="73" name="Google Shape;73;p16"/>
          <p:cNvGrpSpPr/>
          <p:nvPr/>
        </p:nvGrpSpPr>
        <p:grpSpPr>
          <a:xfrm>
            <a:off x="0" y="0"/>
            <a:ext cx="9144091" cy="5143648"/>
            <a:chOff x="0" y="0"/>
            <a:chExt cx="7440875" cy="4152456"/>
          </a:xfrm>
        </p:grpSpPr>
        <p:sp>
          <p:nvSpPr>
            <p:cNvPr id="74" name="Google Shape;74;p16"/>
            <p:cNvSpPr/>
            <p:nvPr/>
          </p:nvSpPr>
          <p:spPr>
            <a:xfrm>
              <a:off x="265057"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583651"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a:off x="902179"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6"/>
            <p:cNvSpPr/>
            <p:nvPr/>
          </p:nvSpPr>
          <p:spPr>
            <a:xfrm>
              <a:off x="1220641"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1539169"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1857762" y="0"/>
              <a:ext cx="7414" cy="2884827"/>
            </a:xfrm>
            <a:custGeom>
              <a:rect b="b" l="l" r="r" t="t"/>
              <a:pathLst>
                <a:path extrusionOk="0" h="43971" w="113">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2176224"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2494752"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2813346"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3131874"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3450336" y="0"/>
              <a:ext cx="7479" cy="2884827"/>
            </a:xfrm>
            <a:custGeom>
              <a:rect b="b" l="l" r="r" t="t"/>
              <a:pathLst>
                <a:path extrusionOk="0" h="43971" w="114">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3768929"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4087457"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p:nvPr/>
          </p:nvSpPr>
          <p:spPr>
            <a:xfrm>
              <a:off x="4405920"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4724447"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a:off x="5043041" y="0"/>
              <a:ext cx="7414" cy="2884827"/>
            </a:xfrm>
            <a:custGeom>
              <a:rect b="b" l="l" r="r" t="t"/>
              <a:pathLst>
                <a:path extrusionOk="0" h="43971" w="113">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5361634"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6"/>
            <p:cNvSpPr/>
            <p:nvPr/>
          </p:nvSpPr>
          <p:spPr>
            <a:xfrm>
              <a:off x="5680031"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5998624"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p:nvPr/>
          </p:nvSpPr>
          <p:spPr>
            <a:xfrm>
              <a:off x="6317152"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6"/>
            <p:cNvSpPr/>
            <p:nvPr/>
          </p:nvSpPr>
          <p:spPr>
            <a:xfrm>
              <a:off x="6635615" y="0"/>
              <a:ext cx="7479" cy="2884827"/>
            </a:xfrm>
            <a:custGeom>
              <a:rect b="b" l="l" r="r" t="t"/>
              <a:pathLst>
                <a:path extrusionOk="0" h="43971" w="114">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6954208"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7272736"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0" y="70857"/>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p:nvPr/>
          </p:nvSpPr>
          <p:spPr>
            <a:xfrm>
              <a:off x="0" y="374885"/>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0" y="678783"/>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0" y="982811"/>
              <a:ext cx="7440875" cy="7414"/>
            </a:xfrm>
            <a:custGeom>
              <a:rect b="b" l="l" r="r" t="t"/>
              <a:pathLst>
                <a:path extrusionOk="0" h="113"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0" y="1286708"/>
              <a:ext cx="7440875" cy="7545"/>
            </a:xfrm>
            <a:custGeom>
              <a:rect b="b" l="l" r="r" t="t"/>
              <a:pathLst>
                <a:path extrusionOk="0" h="115"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0" y="1590737"/>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6"/>
            <p:cNvSpPr/>
            <p:nvPr/>
          </p:nvSpPr>
          <p:spPr>
            <a:xfrm>
              <a:off x="0" y="1894700"/>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a:off x="0" y="2198597"/>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0" y="2502625"/>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0" y="2806523"/>
              <a:ext cx="7440875" cy="7479"/>
            </a:xfrm>
            <a:custGeom>
              <a:rect b="b" l="l" r="r" t="t"/>
              <a:pathLst>
                <a:path extrusionOk="0" h="114"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265057"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p:nvPr/>
          </p:nvSpPr>
          <p:spPr>
            <a:xfrm>
              <a:off x="583651"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p:nvPr/>
          </p:nvSpPr>
          <p:spPr>
            <a:xfrm>
              <a:off x="902179"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1220641"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1539169"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6"/>
            <p:cNvSpPr/>
            <p:nvPr/>
          </p:nvSpPr>
          <p:spPr>
            <a:xfrm>
              <a:off x="1857762" y="2431703"/>
              <a:ext cx="7414" cy="1720754"/>
            </a:xfrm>
            <a:custGeom>
              <a:rect b="b" l="l" r="r" t="t"/>
              <a:pathLst>
                <a:path extrusionOk="0" h="26228" w="113">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a:off x="2176224"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2494752"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a:off x="2813346"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6"/>
            <p:cNvSpPr/>
            <p:nvPr/>
          </p:nvSpPr>
          <p:spPr>
            <a:xfrm>
              <a:off x="3131874"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p:nvPr/>
          </p:nvSpPr>
          <p:spPr>
            <a:xfrm>
              <a:off x="3450336" y="2431703"/>
              <a:ext cx="7479" cy="1720754"/>
            </a:xfrm>
            <a:custGeom>
              <a:rect b="b" l="l" r="r" t="t"/>
              <a:pathLst>
                <a:path extrusionOk="0" h="26228" w="114">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p:nvPr/>
          </p:nvSpPr>
          <p:spPr>
            <a:xfrm>
              <a:off x="3768929"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6"/>
            <p:cNvSpPr/>
            <p:nvPr/>
          </p:nvSpPr>
          <p:spPr>
            <a:xfrm>
              <a:off x="4087457"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p:nvPr/>
          </p:nvSpPr>
          <p:spPr>
            <a:xfrm>
              <a:off x="4405920"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a:off x="4724447"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p:nvPr/>
          </p:nvSpPr>
          <p:spPr>
            <a:xfrm>
              <a:off x="5043041" y="2431703"/>
              <a:ext cx="7414" cy="1720754"/>
            </a:xfrm>
            <a:custGeom>
              <a:rect b="b" l="l" r="r" t="t"/>
              <a:pathLst>
                <a:path extrusionOk="0" h="26228" w="113">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5361634"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a:off x="5680031"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a:off x="5998624"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a:off x="6317152"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a:off x="6635615" y="2431703"/>
              <a:ext cx="7479" cy="1720754"/>
            </a:xfrm>
            <a:custGeom>
              <a:rect b="b" l="l" r="r" t="t"/>
              <a:pathLst>
                <a:path extrusionOk="0" h="26228" w="114">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6954208"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7272736"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6"/>
            <p:cNvSpPr/>
            <p:nvPr/>
          </p:nvSpPr>
          <p:spPr>
            <a:xfrm>
              <a:off x="0" y="2502494"/>
              <a:ext cx="7440875" cy="7479"/>
            </a:xfrm>
            <a:custGeom>
              <a:rect b="b" l="l" r="r" t="t"/>
              <a:pathLst>
                <a:path extrusionOk="0" h="114"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p:nvPr/>
          </p:nvSpPr>
          <p:spPr>
            <a:xfrm>
              <a:off x="0" y="2806523"/>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0" y="3110420"/>
              <a:ext cx="7440875" cy="7545"/>
            </a:xfrm>
            <a:custGeom>
              <a:rect b="b" l="l" r="r" t="t"/>
              <a:pathLst>
                <a:path extrusionOk="0" h="115"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a:off x="0" y="3414448"/>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a:off x="0" y="3718411"/>
              <a:ext cx="7440875" cy="7479"/>
            </a:xfrm>
            <a:custGeom>
              <a:rect b="b" l="l" r="r" t="t"/>
              <a:pathLst>
                <a:path extrusionOk="0" h="114" w="113415">
                  <a:moveTo>
                    <a:pt x="0" y="0"/>
                  </a:moveTo>
                  <a:lnTo>
                    <a:pt x="0" y="113"/>
                  </a:lnTo>
                  <a:lnTo>
                    <a:pt x="113414" y="113"/>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a:off x="0" y="4022440"/>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 name="Google Shape;136;p16"/>
          <p:cNvGrpSpPr/>
          <p:nvPr/>
        </p:nvGrpSpPr>
        <p:grpSpPr>
          <a:xfrm>
            <a:off x="502465" y="399924"/>
            <a:ext cx="8139069" cy="4343656"/>
            <a:chOff x="916986" y="2500875"/>
            <a:chExt cx="2280618" cy="1217119"/>
          </a:xfrm>
        </p:grpSpPr>
        <p:sp>
          <p:nvSpPr>
            <p:cNvPr id="137" name="Google Shape;137;p16"/>
            <p:cNvSpPr/>
            <p:nvPr/>
          </p:nvSpPr>
          <p:spPr>
            <a:xfrm>
              <a:off x="930568" y="2514572"/>
              <a:ext cx="105996" cy="1189768"/>
            </a:xfrm>
            <a:custGeom>
              <a:rect b="b" l="l" r="r" t="t"/>
              <a:pathLst>
                <a:path extrusionOk="0" h="20586" w="1834">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1036508" y="2514572"/>
              <a:ext cx="2147431" cy="1189768"/>
            </a:xfrm>
            <a:custGeom>
              <a:rect b="b" l="l" r="r" t="t"/>
              <a:pathLst>
                <a:path extrusionOk="0" h="20586" w="3715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a:off x="916986" y="2500875"/>
              <a:ext cx="93570" cy="139459"/>
            </a:xfrm>
            <a:custGeom>
              <a:rect b="b" l="l" r="r" t="t"/>
              <a:pathLst>
                <a:path extrusionOk="0" h="2413" w="1619">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p:nvPr/>
          </p:nvSpPr>
          <p:spPr>
            <a:xfrm>
              <a:off x="916986" y="3578650"/>
              <a:ext cx="133160" cy="139344"/>
            </a:xfrm>
            <a:custGeom>
              <a:rect b="b" l="l" r="r" t="t"/>
              <a:pathLst>
                <a:path extrusionOk="0" h="2411" w="2304">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p:nvPr/>
          </p:nvSpPr>
          <p:spPr>
            <a:xfrm>
              <a:off x="2917819" y="3493113"/>
              <a:ext cx="279786" cy="224880"/>
            </a:xfrm>
            <a:custGeom>
              <a:rect b="b" l="l" r="r" t="t"/>
              <a:pathLst>
                <a:path extrusionOk="0" h="3891" w="484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16"/>
          <p:cNvSpPr txBox="1"/>
          <p:nvPr>
            <p:ph type="title"/>
          </p:nvPr>
        </p:nvSpPr>
        <p:spPr>
          <a:xfrm>
            <a:off x="1291500" y="2400500"/>
            <a:ext cx="4320000" cy="9159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50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 name="Google Shape;143;p16"/>
          <p:cNvSpPr txBox="1"/>
          <p:nvPr>
            <p:ph hasCustomPrompt="1" idx="2" type="title"/>
          </p:nvPr>
        </p:nvSpPr>
        <p:spPr>
          <a:xfrm>
            <a:off x="1291500" y="1241525"/>
            <a:ext cx="1652100" cy="915900"/>
          </a:xfrm>
          <a:prstGeom prst="rect">
            <a:avLst/>
          </a:prstGeom>
          <a:noFill/>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44" name="Google Shape;144;p16"/>
          <p:cNvSpPr txBox="1"/>
          <p:nvPr>
            <p:ph idx="1" type="subTitle"/>
          </p:nvPr>
        </p:nvSpPr>
        <p:spPr>
          <a:xfrm>
            <a:off x="1291500" y="3360725"/>
            <a:ext cx="4320000" cy="375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5" name="Google Shape;145;p16"/>
          <p:cNvSpPr/>
          <p:nvPr/>
        </p:nvSpPr>
        <p:spPr>
          <a:xfrm>
            <a:off x="1190841" y="4876886"/>
            <a:ext cx="207420" cy="186779"/>
          </a:xfrm>
          <a:custGeom>
            <a:rect b="b" l="l" r="r" t="t"/>
            <a:pathLst>
              <a:path extrusionOk="0" h="3502" w="3889">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212841" y="4445786"/>
            <a:ext cx="207420" cy="186779"/>
          </a:xfrm>
          <a:custGeom>
            <a:rect b="b" l="l" r="r" t="t"/>
            <a:pathLst>
              <a:path extrusionOk="0" h="3502" w="3889">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8" name="Shape 1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6D2A4B"/>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png"/><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png"/><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png"/><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2.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2.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2.png"/><Relationship Id="rId4" Type="http://schemas.openxmlformats.org/officeDocument/2006/relationships/hyperlink" Target="https://create.kahoot.it/details/70b0708e-5fb6-46fd-989c-5a741ad42a09" TargetMode="External"/><Relationship Id="rId5" Type="http://schemas.openxmlformats.org/officeDocument/2006/relationships/hyperlink" Target="https://create.kahoot.it/details/opposites-absolute-value-comparing-and-ordering-integers/61448e02-3213-424a-bd0d-e8c305e7bceb"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6DED9"/>
        </a:solidFill>
      </p:bgPr>
    </p:bg>
    <p:spTree>
      <p:nvGrpSpPr>
        <p:cNvPr id="152" name="Shape 152"/>
        <p:cNvGrpSpPr/>
        <p:nvPr/>
      </p:nvGrpSpPr>
      <p:grpSpPr>
        <a:xfrm>
          <a:off x="0" y="0"/>
          <a:ext cx="0" cy="0"/>
          <a:chOff x="0" y="0"/>
          <a:chExt cx="0" cy="0"/>
        </a:xfrm>
      </p:grpSpPr>
      <p:sp>
        <p:nvSpPr>
          <p:cNvPr id="153" name="Google Shape;153;p19"/>
          <p:cNvSpPr/>
          <p:nvPr/>
        </p:nvSpPr>
        <p:spPr>
          <a:xfrm>
            <a:off x="-228600" y="518400"/>
            <a:ext cx="9601200" cy="1477800"/>
          </a:xfrm>
          <a:prstGeom prst="rect">
            <a:avLst/>
          </a:prstGeom>
          <a:solidFill>
            <a:srgbClr val="6D2A4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9"/>
          <p:cNvSpPr/>
          <p:nvPr/>
        </p:nvSpPr>
        <p:spPr>
          <a:xfrm>
            <a:off x="228590" y="228602"/>
            <a:ext cx="2057400" cy="2057400"/>
          </a:xfrm>
          <a:prstGeom prst="ellipse">
            <a:avLst/>
          </a:prstGeom>
          <a:solidFill>
            <a:srgbClr val="C6DED9"/>
          </a:solidFill>
          <a:ln cap="flat" cmpd="sng" w="152400">
            <a:solidFill>
              <a:srgbClr val="6D2A4B"/>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solidFill>
                  <a:schemeClr val="dk1"/>
                </a:solidFill>
                <a:latin typeface="Merriweather"/>
                <a:ea typeface="Merriweather"/>
                <a:cs typeface="Merriweather"/>
                <a:sym typeface="Merriweather"/>
              </a:rPr>
              <a:t>Spring</a:t>
            </a:r>
            <a:endParaRPr sz="3200">
              <a:solidFill>
                <a:schemeClr val="dk1"/>
              </a:solidFill>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solidFill>
                  <a:schemeClr val="dk1"/>
                </a:solidFill>
                <a:latin typeface="Merriweather"/>
                <a:ea typeface="Merriweather"/>
                <a:cs typeface="Merriweather"/>
                <a:sym typeface="Merriweather"/>
              </a:rPr>
              <a:t>2</a:t>
            </a:r>
            <a:endParaRPr sz="9600">
              <a:solidFill>
                <a:schemeClr val="dk1"/>
              </a:solidFill>
              <a:latin typeface="Merriweather"/>
              <a:ea typeface="Merriweather"/>
              <a:cs typeface="Merriweather"/>
              <a:sym typeface="Merriweather"/>
            </a:endParaRPr>
          </a:p>
        </p:txBody>
      </p:sp>
      <p:sp>
        <p:nvSpPr>
          <p:cNvPr id="155" name="Google Shape;155;p19"/>
          <p:cNvSpPr/>
          <p:nvPr/>
        </p:nvSpPr>
        <p:spPr>
          <a:xfrm>
            <a:off x="-228600" y="3118800"/>
            <a:ext cx="9601200" cy="1477800"/>
          </a:xfrm>
          <a:prstGeom prst="rect">
            <a:avLst/>
          </a:prstGeom>
          <a:noFill/>
          <a:ln cap="flat" cmpd="sng" w="152400">
            <a:solidFill>
              <a:srgbClr val="6D2A4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19"/>
          <p:cNvSpPr/>
          <p:nvPr/>
        </p:nvSpPr>
        <p:spPr>
          <a:xfrm>
            <a:off x="6857990" y="2829002"/>
            <a:ext cx="2057400" cy="20574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80000"/>
              </a:lnSpc>
              <a:spcBef>
                <a:spcPts val="0"/>
              </a:spcBef>
              <a:spcAft>
                <a:spcPts val="0"/>
              </a:spcAft>
              <a:buNone/>
            </a:pPr>
            <a:r>
              <a:t/>
            </a:r>
            <a:endParaRPr sz="9600">
              <a:latin typeface="Leckerli One"/>
              <a:ea typeface="Leckerli One"/>
              <a:cs typeface="Leckerli One"/>
              <a:sym typeface="Leckerli One"/>
            </a:endParaRPr>
          </a:p>
        </p:txBody>
      </p:sp>
      <p:pic>
        <p:nvPicPr>
          <p:cNvPr id="157" name="Google Shape;157;p19" title="1.png"/>
          <p:cNvPicPr preferRelativeResize="0"/>
          <p:nvPr/>
        </p:nvPicPr>
        <p:blipFill>
          <a:blip r:embed="rId3">
            <a:alphaModFix/>
          </a:blip>
          <a:stretch>
            <a:fillRect/>
          </a:stretch>
        </p:blipFill>
        <p:spPr>
          <a:xfrm>
            <a:off x="6857990" y="2829000"/>
            <a:ext cx="2057400" cy="2057400"/>
          </a:xfrm>
          <a:prstGeom prst="rect">
            <a:avLst/>
          </a:prstGeom>
          <a:noFill/>
          <a:ln>
            <a:noFill/>
          </a:ln>
        </p:spPr>
      </p:pic>
      <p:sp>
        <p:nvSpPr>
          <p:cNvPr id="158" name="Google Shape;158;p19"/>
          <p:cNvSpPr txBox="1"/>
          <p:nvPr/>
        </p:nvSpPr>
        <p:spPr>
          <a:xfrm>
            <a:off x="228600" y="3211200"/>
            <a:ext cx="6400800" cy="12930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3600">
                <a:solidFill>
                  <a:schemeClr val="dk1"/>
                </a:solidFill>
                <a:latin typeface="Merriweather"/>
                <a:ea typeface="Merriweather"/>
                <a:cs typeface="Merriweather"/>
                <a:sym typeface="Merriweather"/>
              </a:rPr>
              <a:t>Stuy Prep</a:t>
            </a:r>
            <a:endParaRPr sz="3600">
              <a:solidFill>
                <a:schemeClr val="dk1"/>
              </a:solidFill>
              <a:latin typeface="Merriweather"/>
              <a:ea typeface="Merriweather"/>
              <a:cs typeface="Merriweather"/>
              <a:sym typeface="Merriweather"/>
            </a:endParaRPr>
          </a:p>
          <a:p>
            <a:pPr indent="0" lvl="0" marL="0" rtl="0" algn="r">
              <a:spcBef>
                <a:spcPts val="0"/>
              </a:spcBef>
              <a:spcAft>
                <a:spcPts val="0"/>
              </a:spcAft>
              <a:buNone/>
            </a:pPr>
            <a:r>
              <a:rPr lang="en" sz="4800">
                <a:solidFill>
                  <a:schemeClr val="dk1"/>
                </a:solidFill>
                <a:latin typeface="Merriweather"/>
                <a:ea typeface="Merriweather"/>
                <a:cs typeface="Merriweather"/>
                <a:sym typeface="Merriweather"/>
              </a:rPr>
              <a:t>Practice 26S2</a:t>
            </a:r>
            <a:endParaRPr sz="4800">
              <a:solidFill>
                <a:schemeClr val="dk1"/>
              </a:solidFill>
              <a:latin typeface="Merriweather"/>
              <a:ea typeface="Merriweather"/>
              <a:cs typeface="Merriweather"/>
              <a:sym typeface="Merriweather"/>
            </a:endParaRPr>
          </a:p>
        </p:txBody>
      </p:sp>
      <p:sp>
        <p:nvSpPr>
          <p:cNvPr id="159" name="Google Shape;159;p19"/>
          <p:cNvSpPr txBox="1"/>
          <p:nvPr/>
        </p:nvSpPr>
        <p:spPr>
          <a:xfrm>
            <a:off x="2514600" y="518400"/>
            <a:ext cx="6400800" cy="147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solidFill>
                  <a:schemeClr val="lt1"/>
                </a:solidFill>
                <a:latin typeface="Merriweather"/>
                <a:ea typeface="Merriweather"/>
                <a:cs typeface="Merriweather"/>
                <a:sym typeface="Merriweather"/>
              </a:rPr>
              <a:t>Pronouns &amp;</a:t>
            </a:r>
            <a:endParaRPr sz="4800">
              <a:solidFill>
                <a:schemeClr val="lt1"/>
              </a:solidFill>
              <a:latin typeface="Merriweather"/>
              <a:ea typeface="Merriweather"/>
              <a:cs typeface="Merriweather"/>
              <a:sym typeface="Merriweather"/>
            </a:endParaRPr>
          </a:p>
          <a:p>
            <a:pPr indent="0" lvl="0" marL="0" rtl="0" algn="l">
              <a:spcBef>
                <a:spcPts val="0"/>
              </a:spcBef>
              <a:spcAft>
                <a:spcPts val="0"/>
              </a:spcAft>
              <a:buNone/>
            </a:pPr>
            <a:r>
              <a:rPr lang="en" sz="4800">
                <a:solidFill>
                  <a:schemeClr val="lt1"/>
                </a:solidFill>
                <a:latin typeface="Merriweather"/>
                <a:ea typeface="Merriweather"/>
                <a:cs typeface="Merriweather"/>
                <a:sym typeface="Merriweather"/>
              </a:rPr>
              <a:t>Negative Numbers</a:t>
            </a:r>
            <a:endParaRPr sz="4800">
              <a:solidFill>
                <a:schemeClr val="lt1"/>
              </a:solidFill>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6DED9"/>
        </a:solidFill>
      </p:bgPr>
    </p:bg>
    <p:spTree>
      <p:nvGrpSpPr>
        <p:cNvPr id="163" name="Shape 163"/>
        <p:cNvGrpSpPr/>
        <p:nvPr/>
      </p:nvGrpSpPr>
      <p:grpSpPr>
        <a:xfrm>
          <a:off x="0" y="0"/>
          <a:ext cx="0" cy="0"/>
          <a:chOff x="0" y="0"/>
          <a:chExt cx="0" cy="0"/>
        </a:xfrm>
      </p:grpSpPr>
      <p:sp>
        <p:nvSpPr>
          <p:cNvPr id="164" name="Google Shape;164;p20"/>
          <p:cNvSpPr/>
          <p:nvPr/>
        </p:nvSpPr>
        <p:spPr>
          <a:xfrm>
            <a:off x="0" y="2642900"/>
            <a:ext cx="9144000" cy="738900"/>
          </a:xfrm>
          <a:prstGeom prst="rect">
            <a:avLst/>
          </a:prstGeom>
          <a:solidFill>
            <a:srgbClr val="6D2A4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0"/>
          <p:cNvSpPr/>
          <p:nvPr/>
        </p:nvSpPr>
        <p:spPr>
          <a:xfrm>
            <a:off x="228590" y="1324402"/>
            <a:ext cx="2057400" cy="2057400"/>
          </a:xfrm>
          <a:prstGeom prst="ellipse">
            <a:avLst/>
          </a:prstGeom>
          <a:solidFill>
            <a:srgbClr val="6D2A4B"/>
          </a:solidFill>
          <a:ln cap="flat" cmpd="sng" w="152400">
            <a:solidFill>
              <a:srgbClr val="C6DED9"/>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solidFill>
                  <a:srgbClr val="FFFFFF"/>
                </a:solidFill>
                <a:latin typeface="Merriweather"/>
                <a:ea typeface="Merriweather"/>
                <a:cs typeface="Merriweather"/>
                <a:sym typeface="Merriweather"/>
              </a:rPr>
              <a:t>Spring</a:t>
            </a:r>
            <a:endParaRPr sz="3200">
              <a:solidFill>
                <a:srgbClr val="FFFFFF"/>
              </a:solidFill>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solidFill>
                  <a:srgbClr val="FFFFFF"/>
                </a:solidFill>
                <a:latin typeface="Merriweather"/>
                <a:ea typeface="Merriweather"/>
                <a:cs typeface="Merriweather"/>
                <a:sym typeface="Merriweather"/>
              </a:rPr>
              <a:t>2</a:t>
            </a:r>
            <a:endParaRPr sz="9600">
              <a:solidFill>
                <a:srgbClr val="FFFFFF"/>
              </a:solidFill>
              <a:latin typeface="Merriweather"/>
              <a:ea typeface="Merriweather"/>
              <a:cs typeface="Merriweather"/>
              <a:sym typeface="Merriweather"/>
            </a:endParaRPr>
          </a:p>
        </p:txBody>
      </p:sp>
      <p:sp>
        <p:nvSpPr>
          <p:cNvPr id="166" name="Google Shape;166;p20"/>
          <p:cNvSpPr txBox="1"/>
          <p:nvPr/>
        </p:nvSpPr>
        <p:spPr>
          <a:xfrm>
            <a:off x="2514600" y="2642900"/>
            <a:ext cx="64008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solidFill>
                  <a:srgbClr val="FFFFFF"/>
                </a:solidFill>
                <a:latin typeface="Merriweather"/>
                <a:ea typeface="Merriweather"/>
                <a:cs typeface="Merriweather"/>
                <a:sym typeface="Merriweather"/>
              </a:rPr>
              <a:t>Pronouns</a:t>
            </a:r>
            <a:endParaRPr sz="4800">
              <a:solidFill>
                <a:srgbClr val="FFFFFF"/>
              </a:solidFill>
              <a:latin typeface="Merriweather"/>
              <a:ea typeface="Merriweather"/>
              <a:cs typeface="Merriweather"/>
              <a:sym typeface="Merriweather"/>
            </a:endParaRPr>
          </a:p>
        </p:txBody>
      </p:sp>
      <p:sp>
        <p:nvSpPr>
          <p:cNvPr id="167" name="Google Shape;167;p20"/>
          <p:cNvSpPr txBox="1"/>
          <p:nvPr/>
        </p:nvSpPr>
        <p:spPr>
          <a:xfrm>
            <a:off x="2514600" y="2106800"/>
            <a:ext cx="64008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200">
                <a:latin typeface="DM Sans"/>
                <a:ea typeface="DM Sans"/>
                <a:cs typeface="DM Sans"/>
                <a:sym typeface="DM Sans"/>
              </a:rPr>
              <a:t>English Language Arts</a:t>
            </a:r>
            <a:endParaRPr sz="3200">
              <a:latin typeface="DM Sans"/>
              <a:ea typeface="DM Sans"/>
              <a:cs typeface="DM Sans"/>
              <a:sym typeface="DM Sans"/>
            </a:endParaRPr>
          </a:p>
        </p:txBody>
      </p:sp>
      <p:sp>
        <p:nvSpPr>
          <p:cNvPr id="168" name="Google Shape;168;p20"/>
          <p:cNvSpPr/>
          <p:nvPr/>
        </p:nvSpPr>
        <p:spPr>
          <a:xfrm>
            <a:off x="-5304833" y="-12"/>
            <a:ext cx="18684597" cy="903878"/>
          </a:xfrm>
          <a:prstGeom prst="rect">
            <a:avLst/>
          </a:prstGeom>
        </p:spPr>
        <p:txBody>
          <a:bodyPr>
            <a:prstTxWarp prst="textPlain"/>
          </a:bodyPr>
          <a:lstStyle/>
          <a:p>
            <a:pPr lvl="0" algn="ctr"/>
            <a:r>
              <a:rPr b="0" i="0">
                <a:ln cap="flat" cmpd="sng" w="38100">
                  <a:solidFill>
                    <a:srgbClr val="6D2A4B"/>
                  </a:solidFill>
                  <a:prstDash val="solid"/>
                  <a:round/>
                  <a:headEnd len="sm" w="sm" type="none"/>
                  <a:tailEnd len="sm" w="sm" type="none"/>
                </a:ln>
                <a:noFill/>
                <a:latin typeface="DM Sans"/>
              </a:rPr>
              <a:t>he she his mine theirs you they us yourself</a:t>
            </a:r>
          </a:p>
        </p:txBody>
      </p:sp>
      <p:sp>
        <p:nvSpPr>
          <p:cNvPr id="169" name="Google Shape;169;p20"/>
          <p:cNvSpPr/>
          <p:nvPr/>
        </p:nvSpPr>
        <p:spPr>
          <a:xfrm>
            <a:off x="-8" y="4272600"/>
            <a:ext cx="15730575" cy="903878"/>
          </a:xfrm>
          <a:prstGeom prst="rect">
            <a:avLst/>
          </a:prstGeom>
        </p:spPr>
        <p:txBody>
          <a:bodyPr>
            <a:prstTxWarp prst="textPlain"/>
          </a:bodyPr>
          <a:lstStyle/>
          <a:p>
            <a:pPr lvl="0" algn="ctr"/>
            <a:r>
              <a:rPr b="0" i="0">
                <a:ln cap="flat" cmpd="sng" w="38100">
                  <a:solidFill>
                    <a:srgbClr val="6D2A4B"/>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8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8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176" name="Google Shape;176;p2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a:t>
            </a:r>
            <a:endParaRPr sz="4800">
              <a:latin typeface="Merriweather"/>
              <a:ea typeface="Merriweather"/>
              <a:cs typeface="Merriweather"/>
              <a:sym typeface="Merriweather"/>
            </a:endParaRPr>
          </a:p>
        </p:txBody>
      </p:sp>
      <p:sp>
        <p:nvSpPr>
          <p:cNvPr id="177" name="Google Shape;177;p21"/>
          <p:cNvSpPr txBox="1"/>
          <p:nvPr/>
        </p:nvSpPr>
        <p:spPr>
          <a:xfrm>
            <a:off x="559950" y="1755463"/>
            <a:ext cx="7950000" cy="692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Complete the sentence with the correct pronoun.</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Maria and ______ went to the store.</a:t>
            </a:r>
            <a:endParaRPr sz="2200">
              <a:solidFill>
                <a:srgbClr val="FFFFFF"/>
              </a:solidFill>
              <a:latin typeface="DM Sans"/>
              <a:ea typeface="DM Sans"/>
              <a:cs typeface="DM Sans"/>
              <a:sym typeface="DM Sans"/>
            </a:endParaRPr>
          </a:p>
        </p:txBody>
      </p:sp>
      <p:pic>
        <p:nvPicPr>
          <p:cNvPr id="178" name="Google Shape;178;p2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179" name="Google Shape;179;p21"/>
          <p:cNvSpPr txBox="1"/>
          <p:nvPr/>
        </p:nvSpPr>
        <p:spPr>
          <a:xfrm>
            <a:off x="559950" y="2527380"/>
            <a:ext cx="8024100" cy="123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A. me</a:t>
            </a:r>
            <a:endParaRPr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B. us</a:t>
            </a:r>
            <a:endParaRPr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C. they</a:t>
            </a:r>
            <a:endParaRPr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D. I</a:t>
            </a:r>
            <a:endParaRPr sz="2000">
              <a:solidFill>
                <a:srgbClr val="FFFFFF"/>
              </a:solidFill>
              <a:latin typeface="DM Sans"/>
              <a:ea typeface="DM Sans"/>
              <a:cs typeface="DM Sans"/>
              <a:sym typeface="DM Sans"/>
            </a:endParaRPr>
          </a:p>
        </p:txBody>
      </p:sp>
      <p:sp>
        <p:nvSpPr>
          <p:cNvPr id="180" name="Google Shape;180;p21"/>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800"/>
                                        <p:tgtEl>
                                          <p:spTgt spid="177"/>
                                        </p:tgtEl>
                                      </p:cBhvr>
                                    </p:animEffect>
                                  </p:childTnLst>
                                </p:cTn>
                              </p:par>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8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2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187" name="Google Shape;187;p2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a:t>
            </a:r>
            <a:endParaRPr sz="4800">
              <a:latin typeface="Merriweather"/>
              <a:ea typeface="Merriweather"/>
              <a:cs typeface="Merriweather"/>
              <a:sym typeface="Merriweather"/>
            </a:endParaRPr>
          </a:p>
        </p:txBody>
      </p:sp>
      <p:sp>
        <p:nvSpPr>
          <p:cNvPr id="188" name="Google Shape;188;p22"/>
          <p:cNvSpPr txBox="1"/>
          <p:nvPr/>
        </p:nvSpPr>
        <p:spPr>
          <a:xfrm>
            <a:off x="559950" y="1390175"/>
            <a:ext cx="7950000" cy="692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200">
                <a:solidFill>
                  <a:schemeClr val="lt1"/>
                </a:solidFill>
                <a:latin typeface="DM Sans"/>
                <a:ea typeface="DM Sans"/>
                <a:cs typeface="DM Sans"/>
                <a:sym typeface="DM Sans"/>
              </a:rPr>
              <a:t>Complete the sentence with the correct pronoun.</a:t>
            </a:r>
            <a:endParaRPr b="1" sz="22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3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Maria and ______ went to the store.</a:t>
            </a:r>
            <a:endParaRPr b="1" sz="2200">
              <a:solidFill>
                <a:srgbClr val="FFFFFF"/>
              </a:solidFill>
              <a:latin typeface="DM Sans"/>
              <a:ea typeface="DM Sans"/>
              <a:cs typeface="DM Sans"/>
              <a:sym typeface="DM Sans"/>
            </a:endParaRPr>
          </a:p>
        </p:txBody>
      </p:sp>
      <p:pic>
        <p:nvPicPr>
          <p:cNvPr id="189" name="Google Shape;189;p2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190" name="Google Shape;190;p22"/>
          <p:cNvSpPr txBox="1"/>
          <p:nvPr/>
        </p:nvSpPr>
        <p:spPr>
          <a:xfrm>
            <a:off x="559950" y="2162100"/>
            <a:ext cx="8137500" cy="17394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FFFF"/>
                </a:solidFill>
                <a:latin typeface="DM Sans"/>
                <a:ea typeface="DM Sans"/>
                <a:cs typeface="DM Sans"/>
                <a:sym typeface="DM Sans"/>
              </a:rPr>
              <a:t>D. I</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i="1" sz="13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i="1" lang="en" sz="2000">
                <a:solidFill>
                  <a:schemeClr val="lt1"/>
                </a:solidFill>
                <a:latin typeface="DM Sans"/>
                <a:ea typeface="DM Sans"/>
                <a:cs typeface="DM Sans"/>
                <a:sym typeface="DM Sans"/>
              </a:rPr>
              <a:t>The pronoun is part of the subject of the sentence (“Maria and I”), so use a subject pronoun (I, he, she, we, they), not an object pronoun (me, him, her, us, them).</a:t>
            </a:r>
            <a:endParaRPr i="1"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i="1" lang="en" sz="2000">
                <a:solidFill>
                  <a:schemeClr val="lt1"/>
                </a:solidFill>
                <a:latin typeface="DM Sans"/>
                <a:ea typeface="DM Sans"/>
                <a:cs typeface="DM Sans"/>
                <a:sym typeface="DM Sans"/>
              </a:rPr>
              <a:t>Tip</a:t>
            </a:r>
            <a:r>
              <a:rPr i="1" lang="en" sz="2000">
                <a:solidFill>
                  <a:schemeClr val="lt1"/>
                </a:solidFill>
                <a:latin typeface="DM Sans"/>
                <a:ea typeface="DM Sans"/>
                <a:cs typeface="DM Sans"/>
                <a:sym typeface="DM Sans"/>
              </a:rPr>
              <a:t>: If you remove “Maria and,” the sentence should still make sense.</a:t>
            </a:r>
            <a:endParaRPr i="1" sz="2000">
              <a:solidFill>
                <a:srgbClr val="FFFFFF"/>
              </a:solidFill>
              <a:latin typeface="DM Sans"/>
              <a:ea typeface="DM Sans"/>
              <a:cs typeface="DM Sans"/>
              <a:sym typeface="DM Sans"/>
            </a:endParaRPr>
          </a:p>
        </p:txBody>
      </p:sp>
      <p:sp>
        <p:nvSpPr>
          <p:cNvPr id="191" name="Google Shape;191;p22"/>
          <p:cNvSpPr/>
          <p:nvPr/>
        </p:nvSpPr>
        <p:spPr>
          <a:xfrm>
            <a:off x="434304" y="2132485"/>
            <a:ext cx="383100" cy="369300"/>
          </a:xfrm>
          <a:prstGeom prst="ellipse">
            <a:avLst/>
          </a:prstGeom>
          <a:noFill/>
          <a:ln cap="flat" cmpd="sng" w="38100">
            <a:solidFill>
              <a:srgbClr val="C6DE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2" name="Google Shape;192;p22"/>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800"/>
                                        <p:tgtEl>
                                          <p:spTgt spid="188"/>
                                        </p:tgtEl>
                                      </p:cBhvr>
                                    </p:animEffect>
                                  </p:childTnLst>
                                </p:cTn>
                              </p:par>
                              <p:par>
                                <p:cTn fill="hold" nodeType="with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8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199" name="Google Shape;199;p2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2</a:t>
            </a:r>
            <a:endParaRPr sz="4800">
              <a:latin typeface="Merriweather"/>
              <a:ea typeface="Merriweather"/>
              <a:cs typeface="Merriweather"/>
              <a:sym typeface="Merriweather"/>
            </a:endParaRPr>
          </a:p>
        </p:txBody>
      </p:sp>
      <p:sp>
        <p:nvSpPr>
          <p:cNvPr id="200" name="Google Shape;200;p23"/>
          <p:cNvSpPr txBox="1"/>
          <p:nvPr/>
        </p:nvSpPr>
        <p:spPr>
          <a:xfrm>
            <a:off x="559950" y="1755463"/>
            <a:ext cx="7950000" cy="692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Complete the </a:t>
            </a:r>
            <a:r>
              <a:rPr b="1" lang="en" sz="2200">
                <a:solidFill>
                  <a:srgbClr val="FFFFFF"/>
                </a:solidFill>
                <a:latin typeface="DM Sans"/>
                <a:ea typeface="DM Sans"/>
                <a:cs typeface="DM Sans"/>
                <a:sym typeface="DM Sans"/>
              </a:rPr>
              <a:t>sentence</a:t>
            </a:r>
            <a:r>
              <a:rPr b="1" lang="en" sz="2200">
                <a:solidFill>
                  <a:srgbClr val="FFFFFF"/>
                </a:solidFill>
                <a:latin typeface="DM Sans"/>
                <a:ea typeface="DM Sans"/>
                <a:cs typeface="DM Sans"/>
                <a:sym typeface="DM Sans"/>
              </a:rPr>
              <a:t> with the correct pronoun.</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Neither of the students remembered to bring ______ homework.</a:t>
            </a:r>
            <a:endParaRPr sz="2200">
              <a:solidFill>
                <a:srgbClr val="FFFFFF"/>
              </a:solidFill>
              <a:latin typeface="DM Sans"/>
              <a:ea typeface="DM Sans"/>
              <a:cs typeface="DM Sans"/>
              <a:sym typeface="DM Sans"/>
            </a:endParaRPr>
          </a:p>
        </p:txBody>
      </p:sp>
      <p:pic>
        <p:nvPicPr>
          <p:cNvPr id="201" name="Google Shape;201;p2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02" name="Google Shape;202;p23"/>
          <p:cNvSpPr txBox="1"/>
          <p:nvPr/>
        </p:nvSpPr>
        <p:spPr>
          <a:xfrm>
            <a:off x="559950" y="2527380"/>
            <a:ext cx="8024100" cy="123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their</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B. his or her</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C. them</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D. ours</a:t>
            </a:r>
            <a:endParaRPr sz="2000">
              <a:solidFill>
                <a:srgbClr val="FFFFFF"/>
              </a:solidFill>
              <a:latin typeface="DM Sans"/>
              <a:ea typeface="DM Sans"/>
              <a:cs typeface="DM Sans"/>
              <a:sym typeface="DM Sans"/>
            </a:endParaRPr>
          </a:p>
        </p:txBody>
      </p:sp>
      <p:sp>
        <p:nvSpPr>
          <p:cNvPr id="203" name="Google Shape;203;p23"/>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800"/>
                                        <p:tgtEl>
                                          <p:spTgt spid="200"/>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8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10" name="Google Shape;210;p2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2</a:t>
            </a:r>
            <a:endParaRPr sz="4800">
              <a:latin typeface="Merriweather"/>
              <a:ea typeface="Merriweather"/>
              <a:cs typeface="Merriweather"/>
              <a:sym typeface="Merriweather"/>
            </a:endParaRPr>
          </a:p>
        </p:txBody>
      </p:sp>
      <p:sp>
        <p:nvSpPr>
          <p:cNvPr id="211" name="Google Shape;211;p24"/>
          <p:cNvSpPr txBox="1"/>
          <p:nvPr/>
        </p:nvSpPr>
        <p:spPr>
          <a:xfrm>
            <a:off x="559950" y="1555405"/>
            <a:ext cx="7950000" cy="692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Complete the sentence with the correct pronoun.</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Neither of the students remembered to bring ______ homework.</a:t>
            </a:r>
            <a:endParaRPr sz="2200">
              <a:solidFill>
                <a:srgbClr val="FFFFFF"/>
              </a:solidFill>
              <a:latin typeface="DM Sans"/>
              <a:ea typeface="DM Sans"/>
              <a:cs typeface="DM Sans"/>
              <a:sym typeface="DM Sans"/>
            </a:endParaRPr>
          </a:p>
        </p:txBody>
      </p:sp>
      <p:pic>
        <p:nvPicPr>
          <p:cNvPr id="212" name="Google Shape;212;p2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13" name="Google Shape;213;p24"/>
          <p:cNvSpPr txBox="1"/>
          <p:nvPr/>
        </p:nvSpPr>
        <p:spPr>
          <a:xfrm>
            <a:off x="559950" y="2200970"/>
            <a:ext cx="8024100" cy="2001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t/>
            </a:r>
            <a:endParaRPr sz="1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B. his or her</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i="1" sz="20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rgbClr val="FFFFFF"/>
                </a:solidFill>
                <a:latin typeface="DM Sans"/>
                <a:ea typeface="DM Sans"/>
                <a:cs typeface="DM Sans"/>
                <a:sym typeface="DM Sans"/>
              </a:rPr>
              <a:t>Since “neither” means to choose a single option, we use the singular pronoun, or “his or her.” Since both “their” and “them” are plural, and “ours” refers to the wrong subject, the correct answer is B.</a:t>
            </a:r>
            <a:endParaRPr i="1" sz="2000">
              <a:solidFill>
                <a:srgbClr val="FFFFFF"/>
              </a:solidFill>
              <a:latin typeface="DM Sans"/>
              <a:ea typeface="DM Sans"/>
              <a:cs typeface="DM Sans"/>
              <a:sym typeface="DM Sans"/>
            </a:endParaRPr>
          </a:p>
        </p:txBody>
      </p:sp>
      <p:sp>
        <p:nvSpPr>
          <p:cNvPr id="214" name="Google Shape;214;p24"/>
          <p:cNvSpPr/>
          <p:nvPr/>
        </p:nvSpPr>
        <p:spPr>
          <a:xfrm>
            <a:off x="463906" y="2335380"/>
            <a:ext cx="383100" cy="369300"/>
          </a:xfrm>
          <a:prstGeom prst="ellipse">
            <a:avLst/>
          </a:prstGeom>
          <a:noFill/>
          <a:ln cap="flat" cmpd="sng" w="38100">
            <a:solidFill>
              <a:srgbClr val="C6DE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5" name="Google Shape;215;p24"/>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800"/>
                                        <p:tgtEl>
                                          <p:spTgt spid="211"/>
                                        </p:tgtEl>
                                      </p:cBhvr>
                                    </p:animEffect>
                                  </p:childTnLst>
                                </p:cTn>
                              </p:par>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8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2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22" name="Google Shape;222;p2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3</a:t>
            </a:r>
            <a:endParaRPr sz="4800">
              <a:latin typeface="Merriweather"/>
              <a:ea typeface="Merriweather"/>
              <a:cs typeface="Merriweather"/>
              <a:sym typeface="Merriweather"/>
            </a:endParaRPr>
          </a:p>
        </p:txBody>
      </p:sp>
      <p:sp>
        <p:nvSpPr>
          <p:cNvPr id="223" name="Google Shape;223;p25"/>
          <p:cNvSpPr txBox="1"/>
          <p:nvPr/>
        </p:nvSpPr>
        <p:spPr>
          <a:xfrm>
            <a:off x="559950" y="1572590"/>
            <a:ext cx="7950000" cy="1000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Complete the sentence with the correct pronoun.</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Each of the team members must submit </a:t>
            </a:r>
            <a:r>
              <a:rPr lang="en" sz="2000">
                <a:solidFill>
                  <a:srgbClr val="FFFFFF"/>
                </a:solidFill>
                <a:latin typeface="DM Sans"/>
                <a:ea typeface="DM Sans"/>
                <a:cs typeface="DM Sans"/>
                <a:sym typeface="DM Sans"/>
              </a:rPr>
              <a:t>______</a:t>
            </a:r>
            <a:r>
              <a:rPr lang="en" sz="2000">
                <a:solidFill>
                  <a:srgbClr val="FFFFFF"/>
                </a:solidFill>
                <a:latin typeface="DM Sans"/>
                <a:ea typeface="DM Sans"/>
                <a:cs typeface="DM Sans"/>
                <a:sym typeface="DM Sans"/>
              </a:rPr>
              <a:t> own report by Friday.</a:t>
            </a:r>
            <a:endParaRPr sz="2200">
              <a:solidFill>
                <a:srgbClr val="FFFFFF"/>
              </a:solidFill>
              <a:latin typeface="DM Sans"/>
              <a:ea typeface="DM Sans"/>
              <a:cs typeface="DM Sans"/>
              <a:sym typeface="DM Sans"/>
            </a:endParaRPr>
          </a:p>
        </p:txBody>
      </p:sp>
      <p:pic>
        <p:nvPicPr>
          <p:cNvPr id="224" name="Google Shape;224;p2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25" name="Google Shape;225;p25"/>
          <p:cNvSpPr txBox="1"/>
          <p:nvPr/>
        </p:nvSpPr>
        <p:spPr>
          <a:xfrm>
            <a:off x="559950" y="2730305"/>
            <a:ext cx="8024100" cy="123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FFFF"/>
                </a:solidFill>
                <a:latin typeface="DM Sans"/>
                <a:ea typeface="DM Sans"/>
                <a:cs typeface="DM Sans"/>
                <a:sym typeface="DM Sans"/>
              </a:rPr>
              <a:t>A. their</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B. his or her</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C. them</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D. ours</a:t>
            </a:r>
            <a:endParaRPr sz="2000">
              <a:solidFill>
                <a:srgbClr val="FFFFFF"/>
              </a:solidFill>
              <a:latin typeface="DM Sans"/>
              <a:ea typeface="DM Sans"/>
              <a:cs typeface="DM Sans"/>
              <a:sym typeface="DM Sans"/>
            </a:endParaRPr>
          </a:p>
        </p:txBody>
      </p:sp>
      <p:sp>
        <p:nvSpPr>
          <p:cNvPr id="226" name="Google Shape;226;p25"/>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800"/>
                                        <p:tgtEl>
                                          <p:spTgt spid="223"/>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8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2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33" name="Google Shape;233;p2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3</a:t>
            </a:r>
            <a:endParaRPr sz="4800">
              <a:latin typeface="Merriweather"/>
              <a:ea typeface="Merriweather"/>
              <a:cs typeface="Merriweather"/>
              <a:sym typeface="Merriweather"/>
            </a:endParaRPr>
          </a:p>
        </p:txBody>
      </p:sp>
      <p:sp>
        <p:nvSpPr>
          <p:cNvPr id="234" name="Google Shape;234;p26"/>
          <p:cNvSpPr txBox="1"/>
          <p:nvPr/>
        </p:nvSpPr>
        <p:spPr>
          <a:xfrm>
            <a:off x="559950" y="1666770"/>
            <a:ext cx="7950000" cy="1000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Complete the sentence with the correct pronoun.</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Each of the team members must submit ______ own report by Friday.</a:t>
            </a:r>
            <a:endParaRPr sz="2200">
              <a:solidFill>
                <a:srgbClr val="FFFFFF"/>
              </a:solidFill>
              <a:latin typeface="DM Sans"/>
              <a:ea typeface="DM Sans"/>
              <a:cs typeface="DM Sans"/>
              <a:sym typeface="DM Sans"/>
            </a:endParaRPr>
          </a:p>
        </p:txBody>
      </p:sp>
      <p:pic>
        <p:nvPicPr>
          <p:cNvPr id="235" name="Google Shape;235;p2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36" name="Google Shape;236;p26"/>
          <p:cNvSpPr txBox="1"/>
          <p:nvPr/>
        </p:nvSpPr>
        <p:spPr>
          <a:xfrm>
            <a:off x="559950" y="2636134"/>
            <a:ext cx="8024100" cy="123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t/>
            </a:r>
            <a:endParaRPr sz="1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B. his or her</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10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rgbClr val="FFFFFF"/>
                </a:solidFill>
                <a:latin typeface="DM Sans"/>
                <a:ea typeface="DM Sans"/>
                <a:cs typeface="DM Sans"/>
                <a:sym typeface="DM Sans"/>
              </a:rPr>
              <a:t>Just like “neither,” “each” is singular, which means using the singular pronouns “his or her.”</a:t>
            </a:r>
            <a:endParaRPr i="1" sz="2000">
              <a:solidFill>
                <a:srgbClr val="FFFFFF"/>
              </a:solidFill>
              <a:latin typeface="DM Sans"/>
              <a:ea typeface="DM Sans"/>
              <a:cs typeface="DM Sans"/>
              <a:sym typeface="DM Sans"/>
            </a:endParaRPr>
          </a:p>
        </p:txBody>
      </p:sp>
      <p:sp>
        <p:nvSpPr>
          <p:cNvPr id="237" name="Google Shape;237;p26"/>
          <p:cNvSpPr/>
          <p:nvPr/>
        </p:nvSpPr>
        <p:spPr>
          <a:xfrm>
            <a:off x="444156" y="2762894"/>
            <a:ext cx="383100" cy="369300"/>
          </a:xfrm>
          <a:prstGeom prst="ellipse">
            <a:avLst/>
          </a:prstGeom>
          <a:noFill/>
          <a:ln cap="flat" cmpd="sng" w="38100">
            <a:solidFill>
              <a:srgbClr val="C6DE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8" name="Google Shape;238;p26"/>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8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8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2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45" name="Google Shape;245;p2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4</a:t>
            </a:r>
            <a:endParaRPr sz="4800">
              <a:latin typeface="Merriweather"/>
              <a:ea typeface="Merriweather"/>
              <a:cs typeface="Merriweather"/>
              <a:sym typeface="Merriweather"/>
            </a:endParaRPr>
          </a:p>
        </p:txBody>
      </p:sp>
      <p:sp>
        <p:nvSpPr>
          <p:cNvPr id="246" name="Google Shape;246;p27"/>
          <p:cNvSpPr txBox="1"/>
          <p:nvPr/>
        </p:nvSpPr>
        <p:spPr>
          <a:xfrm>
            <a:off x="559950" y="1607378"/>
            <a:ext cx="7950000" cy="1000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Complete the sentence with the correct pronoun.</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The teacher asked Mark and I to explain why ______ late.</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p:txBody>
      </p:sp>
      <p:pic>
        <p:nvPicPr>
          <p:cNvPr id="247" name="Google Shape;247;p2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48" name="Google Shape;248;p27"/>
          <p:cNvSpPr txBox="1"/>
          <p:nvPr/>
        </p:nvSpPr>
        <p:spPr>
          <a:xfrm>
            <a:off x="559950" y="2576742"/>
            <a:ext cx="8024100" cy="123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we were</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B. us were</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C. we was</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D. us was</a:t>
            </a:r>
            <a:endParaRPr sz="2000">
              <a:solidFill>
                <a:srgbClr val="FFFFFF"/>
              </a:solidFill>
              <a:latin typeface="DM Sans"/>
              <a:ea typeface="DM Sans"/>
              <a:cs typeface="DM Sans"/>
              <a:sym typeface="DM Sans"/>
            </a:endParaRPr>
          </a:p>
        </p:txBody>
      </p:sp>
      <p:sp>
        <p:nvSpPr>
          <p:cNvPr id="249" name="Google Shape;249;p27"/>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800"/>
                                        <p:tgtEl>
                                          <p:spTgt spid="246"/>
                                        </p:tgtEl>
                                      </p:cBhvr>
                                    </p:animEffect>
                                  </p:childTnLst>
                                </p:cTn>
                              </p:par>
                              <p:par>
                                <p:cTn fill="hold" nodeType="with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8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2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56" name="Google Shape;256;p2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4</a:t>
            </a:r>
            <a:endParaRPr sz="4800">
              <a:latin typeface="Merriweather"/>
              <a:ea typeface="Merriweather"/>
              <a:cs typeface="Merriweather"/>
              <a:sym typeface="Merriweather"/>
            </a:endParaRPr>
          </a:p>
        </p:txBody>
      </p:sp>
      <p:sp>
        <p:nvSpPr>
          <p:cNvPr id="257" name="Google Shape;257;p28"/>
          <p:cNvSpPr txBox="1"/>
          <p:nvPr/>
        </p:nvSpPr>
        <p:spPr>
          <a:xfrm>
            <a:off x="597000" y="1558527"/>
            <a:ext cx="7950000" cy="692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Complete the sentence with the correct pronoun.</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The teacher asked Mark and I to explain why ______ late.</a:t>
            </a:r>
            <a:endParaRPr sz="2000">
              <a:solidFill>
                <a:srgbClr val="FFFFFF"/>
              </a:solidFill>
              <a:latin typeface="DM Sans"/>
              <a:ea typeface="DM Sans"/>
              <a:cs typeface="DM Sans"/>
              <a:sym typeface="DM Sans"/>
            </a:endParaRPr>
          </a:p>
        </p:txBody>
      </p:sp>
      <p:pic>
        <p:nvPicPr>
          <p:cNvPr id="258" name="Google Shape;258;p2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59" name="Google Shape;259;p28"/>
          <p:cNvSpPr txBox="1"/>
          <p:nvPr/>
        </p:nvSpPr>
        <p:spPr>
          <a:xfrm>
            <a:off x="617850" y="2216242"/>
            <a:ext cx="8024100" cy="16932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t/>
            </a:r>
            <a:endParaRPr sz="1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A. we were</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rgbClr val="FFFFFF"/>
                </a:solidFill>
                <a:latin typeface="DM Sans"/>
                <a:ea typeface="DM Sans"/>
                <a:cs typeface="DM Sans"/>
                <a:sym typeface="DM Sans"/>
              </a:rPr>
              <a:t>Because we are </a:t>
            </a:r>
            <a:r>
              <a:rPr i="1" lang="en" sz="2000">
                <a:solidFill>
                  <a:srgbClr val="FFFFFF"/>
                </a:solidFill>
                <a:latin typeface="DM Sans"/>
                <a:ea typeface="DM Sans"/>
                <a:cs typeface="DM Sans"/>
                <a:sym typeface="DM Sans"/>
              </a:rPr>
              <a:t>referring</a:t>
            </a:r>
            <a:r>
              <a:rPr i="1" lang="en" sz="2000">
                <a:solidFill>
                  <a:srgbClr val="FFFFFF"/>
                </a:solidFill>
                <a:latin typeface="DM Sans"/>
                <a:ea typeface="DM Sans"/>
                <a:cs typeface="DM Sans"/>
                <a:sym typeface="DM Sans"/>
              </a:rPr>
              <a:t> to the subject and not the object, we use “we” instead of “us.” Since “we” is plural, we use the plural verb, “were,” not “was.”</a:t>
            </a:r>
            <a:endParaRPr i="1" sz="2000">
              <a:solidFill>
                <a:srgbClr val="FFFFFF"/>
              </a:solidFill>
              <a:latin typeface="DM Sans"/>
              <a:ea typeface="DM Sans"/>
              <a:cs typeface="DM Sans"/>
              <a:sym typeface="DM Sans"/>
            </a:endParaRPr>
          </a:p>
        </p:txBody>
      </p:sp>
      <p:sp>
        <p:nvSpPr>
          <p:cNvPr id="260" name="Google Shape;260;p28"/>
          <p:cNvSpPr/>
          <p:nvPr/>
        </p:nvSpPr>
        <p:spPr>
          <a:xfrm>
            <a:off x="514929" y="2346278"/>
            <a:ext cx="383100" cy="369300"/>
          </a:xfrm>
          <a:prstGeom prst="ellipse">
            <a:avLst/>
          </a:prstGeom>
          <a:noFill/>
          <a:ln cap="flat" cmpd="sng" w="38100">
            <a:solidFill>
              <a:srgbClr val="C6DE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61" name="Google Shape;261;p28"/>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800"/>
                                        <p:tgtEl>
                                          <p:spTgt spid="257"/>
                                        </p:tgtEl>
                                      </p:cBhvr>
                                    </p:animEffect>
                                  </p:childTnLst>
                                </p:cTn>
                              </p:par>
                              <p:par>
                                <p:cTn fill="hold" nodeType="with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8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2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68" name="Google Shape;268;p2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5</a:t>
            </a:r>
            <a:endParaRPr sz="4800">
              <a:latin typeface="Merriweather"/>
              <a:ea typeface="Merriweather"/>
              <a:cs typeface="Merriweather"/>
              <a:sym typeface="Merriweather"/>
            </a:endParaRPr>
          </a:p>
        </p:txBody>
      </p:sp>
      <p:pic>
        <p:nvPicPr>
          <p:cNvPr id="269" name="Google Shape;269;p2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70" name="Google Shape;270;p29"/>
          <p:cNvSpPr txBox="1"/>
          <p:nvPr/>
        </p:nvSpPr>
        <p:spPr>
          <a:xfrm>
            <a:off x="579700" y="2692788"/>
            <a:ext cx="6755400" cy="123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FFFF"/>
                </a:solidFill>
                <a:latin typeface="DM Sans"/>
                <a:ea typeface="DM Sans"/>
                <a:cs typeface="DM Sans"/>
                <a:sym typeface="DM Sans"/>
              </a:rPr>
              <a:t>A. Change “our” to “his or her”</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B. Change “Everyone” to “All of us”</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C. </a:t>
            </a:r>
            <a:r>
              <a:rPr lang="en" sz="2000">
                <a:solidFill>
                  <a:schemeClr val="lt1"/>
                </a:solidFill>
                <a:latin typeface="DM Sans"/>
                <a:ea typeface="DM Sans"/>
                <a:cs typeface="DM Sans"/>
                <a:sym typeface="DM Sans"/>
              </a:rPr>
              <a:t>Change “our” to “their”</a:t>
            </a:r>
            <a:endParaRPr sz="20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D. </a:t>
            </a:r>
            <a:r>
              <a:rPr lang="en" sz="2000">
                <a:solidFill>
                  <a:srgbClr val="FFFFFF"/>
                </a:solidFill>
                <a:latin typeface="DM Sans"/>
                <a:ea typeface="DM Sans"/>
                <a:cs typeface="DM Sans"/>
                <a:sym typeface="DM Sans"/>
              </a:rPr>
              <a:t>No change</a:t>
            </a:r>
            <a:endParaRPr sz="2000">
              <a:solidFill>
                <a:srgbClr val="FFFFFF"/>
              </a:solidFill>
              <a:latin typeface="DM Sans"/>
              <a:ea typeface="DM Sans"/>
              <a:cs typeface="DM Sans"/>
              <a:sym typeface="DM Sans"/>
            </a:endParaRPr>
          </a:p>
        </p:txBody>
      </p:sp>
      <p:sp>
        <p:nvSpPr>
          <p:cNvPr id="271" name="Google Shape;271;p29"/>
          <p:cNvSpPr txBox="1"/>
          <p:nvPr/>
        </p:nvSpPr>
        <p:spPr>
          <a:xfrm>
            <a:off x="579700" y="1610113"/>
            <a:ext cx="6755400" cy="954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200">
                <a:solidFill>
                  <a:schemeClr val="lt1"/>
                </a:solidFill>
                <a:latin typeface="DM Sans"/>
                <a:ea typeface="DM Sans"/>
                <a:cs typeface="DM Sans"/>
                <a:sym typeface="DM Sans"/>
              </a:rPr>
              <a:t>Correct the pronoun in the sentence below.</a:t>
            </a:r>
            <a:endParaRPr b="1" sz="22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Everyone should turn in our assignment before the end of the day.</a:t>
            </a:r>
            <a:endParaRPr b="1" sz="2400">
              <a:solidFill>
                <a:srgbClr val="FFFFFF"/>
              </a:solidFill>
              <a:latin typeface="DM Sans"/>
              <a:ea typeface="DM Sans"/>
              <a:cs typeface="DM Sans"/>
              <a:sym typeface="DM Sans"/>
            </a:endParaRPr>
          </a:p>
        </p:txBody>
      </p:sp>
      <p:sp>
        <p:nvSpPr>
          <p:cNvPr id="272" name="Google Shape;272;p29"/>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8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3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79" name="Google Shape;279;p3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5</a:t>
            </a:r>
            <a:endParaRPr sz="4800">
              <a:latin typeface="Merriweather"/>
              <a:ea typeface="Merriweather"/>
              <a:cs typeface="Merriweather"/>
              <a:sym typeface="Merriweather"/>
            </a:endParaRPr>
          </a:p>
        </p:txBody>
      </p:sp>
      <p:pic>
        <p:nvPicPr>
          <p:cNvPr id="280" name="Google Shape;280;p3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81" name="Google Shape;281;p30"/>
          <p:cNvSpPr txBox="1"/>
          <p:nvPr/>
        </p:nvSpPr>
        <p:spPr>
          <a:xfrm>
            <a:off x="579700" y="2425500"/>
            <a:ext cx="8108100" cy="16932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t/>
            </a:r>
            <a:endParaRPr sz="1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C. Change “our” to “their”</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rgbClr val="FFFFFF"/>
                </a:solidFill>
                <a:latin typeface="DM Sans"/>
                <a:ea typeface="DM Sans"/>
                <a:cs typeface="DM Sans"/>
                <a:sym typeface="DM Sans"/>
              </a:rPr>
              <a:t>“Everyone” is singular, just like “neither” and “each.” Yet, for “everyone/someone/anybody,” the SHSAT prefers the use of the plural pronoun “their,” which is more commonly said.</a:t>
            </a:r>
            <a:endParaRPr i="1" sz="2000">
              <a:solidFill>
                <a:srgbClr val="FFFFFF"/>
              </a:solidFill>
              <a:latin typeface="DM Sans"/>
              <a:ea typeface="DM Sans"/>
              <a:cs typeface="DM Sans"/>
              <a:sym typeface="DM Sans"/>
            </a:endParaRPr>
          </a:p>
        </p:txBody>
      </p:sp>
      <p:sp>
        <p:nvSpPr>
          <p:cNvPr id="282" name="Google Shape;282;p30"/>
          <p:cNvSpPr txBox="1"/>
          <p:nvPr/>
        </p:nvSpPr>
        <p:spPr>
          <a:xfrm>
            <a:off x="579700" y="1430300"/>
            <a:ext cx="6755400" cy="954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chemeClr val="lt1"/>
                </a:solidFill>
                <a:latin typeface="DM Sans"/>
                <a:ea typeface="DM Sans"/>
                <a:cs typeface="DM Sans"/>
                <a:sym typeface="DM Sans"/>
              </a:rPr>
              <a:t>Correct the pronoun in the sentence below.</a:t>
            </a:r>
            <a:endParaRPr b="1" sz="22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Everyone should turn in their assignment before the end of the day.</a:t>
            </a:r>
            <a:endParaRPr b="1" sz="2400">
              <a:solidFill>
                <a:srgbClr val="FFFFFF"/>
              </a:solidFill>
              <a:latin typeface="DM Sans"/>
              <a:ea typeface="DM Sans"/>
              <a:cs typeface="DM Sans"/>
              <a:sym typeface="DM Sans"/>
            </a:endParaRPr>
          </a:p>
        </p:txBody>
      </p:sp>
      <p:sp>
        <p:nvSpPr>
          <p:cNvPr id="283" name="Google Shape;283;p30"/>
          <p:cNvSpPr/>
          <p:nvPr/>
        </p:nvSpPr>
        <p:spPr>
          <a:xfrm>
            <a:off x="502056" y="2552930"/>
            <a:ext cx="383100" cy="369300"/>
          </a:xfrm>
          <a:prstGeom prst="ellipse">
            <a:avLst/>
          </a:prstGeom>
          <a:noFill/>
          <a:ln cap="flat" cmpd="sng" w="38100">
            <a:solidFill>
              <a:srgbClr val="C6DE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4" name="Google Shape;284;p30"/>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8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3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91" name="Google Shape;291;p3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6</a:t>
            </a:r>
            <a:endParaRPr sz="4800">
              <a:latin typeface="Merriweather"/>
              <a:ea typeface="Merriweather"/>
              <a:cs typeface="Merriweather"/>
              <a:sym typeface="Merriweather"/>
            </a:endParaRPr>
          </a:p>
        </p:txBody>
      </p:sp>
      <p:pic>
        <p:nvPicPr>
          <p:cNvPr id="292" name="Google Shape;292;p3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93" name="Google Shape;293;p31"/>
          <p:cNvSpPr txBox="1"/>
          <p:nvPr/>
        </p:nvSpPr>
        <p:spPr>
          <a:xfrm>
            <a:off x="569825" y="2452550"/>
            <a:ext cx="6755400" cy="123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FFFF"/>
                </a:solidFill>
                <a:latin typeface="DM Sans"/>
                <a:ea typeface="DM Sans"/>
                <a:cs typeface="DM Sans"/>
                <a:sym typeface="DM Sans"/>
              </a:rPr>
              <a:t>A. Change “me” to “I”</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B. Change “My friends” to “we”</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C. Change “me” to “us”</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D. No change</a:t>
            </a:r>
            <a:endParaRPr sz="2000">
              <a:solidFill>
                <a:srgbClr val="FFFFFF"/>
              </a:solidFill>
              <a:latin typeface="DM Sans"/>
              <a:ea typeface="DM Sans"/>
              <a:cs typeface="DM Sans"/>
              <a:sym typeface="DM Sans"/>
            </a:endParaRPr>
          </a:p>
        </p:txBody>
      </p:sp>
      <p:sp>
        <p:nvSpPr>
          <p:cNvPr id="294" name="Google Shape;294;p31"/>
          <p:cNvSpPr txBox="1"/>
          <p:nvPr/>
        </p:nvSpPr>
        <p:spPr>
          <a:xfrm>
            <a:off x="569825" y="1704150"/>
            <a:ext cx="6755400" cy="646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chemeClr val="lt1"/>
                </a:solidFill>
                <a:latin typeface="DM Sans"/>
                <a:ea typeface="DM Sans"/>
                <a:cs typeface="DM Sans"/>
                <a:sym typeface="DM Sans"/>
              </a:rPr>
              <a:t>Correct the pronoun in the sentence below.</a:t>
            </a:r>
            <a:endParaRPr b="1" sz="22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My friends and me went to the library after school.</a:t>
            </a:r>
            <a:endParaRPr b="1" sz="2400">
              <a:solidFill>
                <a:srgbClr val="FFFFFF"/>
              </a:solidFill>
              <a:latin typeface="DM Sans"/>
              <a:ea typeface="DM Sans"/>
              <a:cs typeface="DM Sans"/>
              <a:sym typeface="DM Sans"/>
            </a:endParaRPr>
          </a:p>
        </p:txBody>
      </p:sp>
      <p:sp>
        <p:nvSpPr>
          <p:cNvPr id="295" name="Google Shape;295;p31"/>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800"/>
                                        <p:tgtEl>
                                          <p:spTgt spid="2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3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02" name="Google Shape;302;p3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6</a:t>
            </a:r>
            <a:endParaRPr sz="4800">
              <a:latin typeface="Merriweather"/>
              <a:ea typeface="Merriweather"/>
              <a:cs typeface="Merriweather"/>
              <a:sym typeface="Merriweather"/>
            </a:endParaRPr>
          </a:p>
        </p:txBody>
      </p:sp>
      <p:pic>
        <p:nvPicPr>
          <p:cNvPr id="303" name="Google Shape;303;p3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04" name="Google Shape;304;p32"/>
          <p:cNvSpPr txBox="1"/>
          <p:nvPr/>
        </p:nvSpPr>
        <p:spPr>
          <a:xfrm>
            <a:off x="569825" y="2294600"/>
            <a:ext cx="7950000" cy="153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FFFF"/>
                </a:solidFill>
                <a:latin typeface="DM Sans"/>
                <a:ea typeface="DM Sans"/>
                <a:cs typeface="DM Sans"/>
                <a:sym typeface="DM Sans"/>
              </a:rPr>
              <a:t>A. Change “me” to “I”</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rgbClr val="FFFFFF"/>
                </a:solidFill>
                <a:latin typeface="DM Sans"/>
                <a:ea typeface="DM Sans"/>
                <a:cs typeface="DM Sans"/>
                <a:sym typeface="DM Sans"/>
              </a:rPr>
              <a:t>The pronoun “me” is the subject of the sentence, therefore we use a subject pronoun (I, he, she, we, they), and not an object pronoun (me, us, him, her, them).</a:t>
            </a:r>
            <a:endParaRPr i="1" sz="2000">
              <a:solidFill>
                <a:srgbClr val="FFFFFF"/>
              </a:solidFill>
              <a:latin typeface="DM Sans"/>
              <a:ea typeface="DM Sans"/>
              <a:cs typeface="DM Sans"/>
              <a:sym typeface="DM Sans"/>
            </a:endParaRPr>
          </a:p>
        </p:txBody>
      </p:sp>
      <p:sp>
        <p:nvSpPr>
          <p:cNvPr id="305" name="Google Shape;305;p32"/>
          <p:cNvSpPr txBox="1"/>
          <p:nvPr/>
        </p:nvSpPr>
        <p:spPr>
          <a:xfrm>
            <a:off x="569825" y="1546200"/>
            <a:ext cx="6755400" cy="646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chemeClr val="lt1"/>
                </a:solidFill>
                <a:latin typeface="DM Sans"/>
                <a:ea typeface="DM Sans"/>
                <a:cs typeface="DM Sans"/>
                <a:sym typeface="DM Sans"/>
              </a:rPr>
              <a:t>Correct the pronoun in the sentence below.</a:t>
            </a:r>
            <a:endParaRPr b="1" sz="22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My friends and me went to the library after school.</a:t>
            </a:r>
            <a:endParaRPr b="1" sz="2400">
              <a:solidFill>
                <a:srgbClr val="FFFFFF"/>
              </a:solidFill>
              <a:latin typeface="DM Sans"/>
              <a:ea typeface="DM Sans"/>
              <a:cs typeface="DM Sans"/>
              <a:sym typeface="DM Sans"/>
            </a:endParaRPr>
          </a:p>
        </p:txBody>
      </p:sp>
      <p:sp>
        <p:nvSpPr>
          <p:cNvPr id="306" name="Google Shape;306;p32"/>
          <p:cNvSpPr/>
          <p:nvPr/>
        </p:nvSpPr>
        <p:spPr>
          <a:xfrm>
            <a:off x="472439" y="2272245"/>
            <a:ext cx="383100" cy="369300"/>
          </a:xfrm>
          <a:prstGeom prst="ellipse">
            <a:avLst/>
          </a:prstGeom>
          <a:noFill/>
          <a:ln cap="flat" cmpd="sng" w="38100">
            <a:solidFill>
              <a:srgbClr val="C6DE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7" name="Google Shape;307;p32"/>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8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3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14" name="Google Shape;314;p3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7</a:t>
            </a:r>
            <a:endParaRPr sz="4800">
              <a:latin typeface="Merriweather"/>
              <a:ea typeface="Merriweather"/>
              <a:cs typeface="Merriweather"/>
              <a:sym typeface="Merriweather"/>
            </a:endParaRPr>
          </a:p>
        </p:txBody>
      </p:sp>
      <p:pic>
        <p:nvPicPr>
          <p:cNvPr id="315" name="Google Shape;315;p3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16" name="Google Shape;316;p33"/>
          <p:cNvSpPr txBox="1"/>
          <p:nvPr/>
        </p:nvSpPr>
        <p:spPr>
          <a:xfrm>
            <a:off x="557550" y="2449025"/>
            <a:ext cx="6755400" cy="123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A. them</a:t>
            </a:r>
            <a:endParaRPr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B. he</a:t>
            </a:r>
            <a:endParaRPr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C. him</a:t>
            </a:r>
            <a:endParaRPr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D. her</a:t>
            </a:r>
            <a:endParaRPr/>
          </a:p>
        </p:txBody>
      </p:sp>
      <p:sp>
        <p:nvSpPr>
          <p:cNvPr id="317" name="Google Shape;317;p33"/>
          <p:cNvSpPr txBox="1"/>
          <p:nvPr/>
        </p:nvSpPr>
        <p:spPr>
          <a:xfrm>
            <a:off x="557550" y="1715050"/>
            <a:ext cx="8028900" cy="646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chemeClr val="lt1"/>
                </a:solidFill>
                <a:latin typeface="DM Sans"/>
                <a:ea typeface="DM Sans"/>
                <a:cs typeface="DM Sans"/>
                <a:sym typeface="DM Sans"/>
              </a:rPr>
              <a:t>Fill in the sentence with the correct pronoun.</a:t>
            </a:r>
            <a:endParaRPr b="1" sz="22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If anyone calls, tell ______ I’ll be back soon.</a:t>
            </a:r>
            <a:endParaRPr b="1" sz="2400">
              <a:solidFill>
                <a:srgbClr val="FFFFFF"/>
              </a:solidFill>
              <a:latin typeface="DM Sans"/>
              <a:ea typeface="DM Sans"/>
              <a:cs typeface="DM Sans"/>
              <a:sym typeface="DM Sans"/>
            </a:endParaRPr>
          </a:p>
        </p:txBody>
      </p:sp>
      <p:sp>
        <p:nvSpPr>
          <p:cNvPr id="318" name="Google Shape;318;p33"/>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8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3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25" name="Google Shape;325;p3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7</a:t>
            </a:r>
            <a:endParaRPr sz="4800">
              <a:latin typeface="Merriweather"/>
              <a:ea typeface="Merriweather"/>
              <a:cs typeface="Merriweather"/>
              <a:sym typeface="Merriweather"/>
            </a:endParaRPr>
          </a:p>
        </p:txBody>
      </p:sp>
      <p:pic>
        <p:nvPicPr>
          <p:cNvPr id="326" name="Google Shape;326;p3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27" name="Google Shape;327;p34"/>
          <p:cNvSpPr txBox="1"/>
          <p:nvPr/>
        </p:nvSpPr>
        <p:spPr>
          <a:xfrm>
            <a:off x="557550" y="2361050"/>
            <a:ext cx="7982100" cy="17238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them</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12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chemeClr val="lt1"/>
                </a:solidFill>
                <a:latin typeface="DM Sans"/>
                <a:ea typeface="DM Sans"/>
                <a:cs typeface="DM Sans"/>
                <a:sym typeface="DM Sans"/>
              </a:rPr>
              <a:t>“Anyone” is singular, but we often use the singular “they/them” in order to avoid the awkward phrasing of “him or her.” Also, since we don’t know the gender of “anyone”, we can’t use “him” or “her.” An object pronoun is necessary, so “he” doesn’t work either.</a:t>
            </a:r>
            <a:endParaRPr sz="2000">
              <a:solidFill>
                <a:srgbClr val="FFFFFF"/>
              </a:solidFill>
              <a:latin typeface="DM Sans"/>
              <a:ea typeface="DM Sans"/>
              <a:cs typeface="DM Sans"/>
              <a:sym typeface="DM Sans"/>
            </a:endParaRPr>
          </a:p>
        </p:txBody>
      </p:sp>
      <p:sp>
        <p:nvSpPr>
          <p:cNvPr id="328" name="Google Shape;328;p34"/>
          <p:cNvSpPr txBox="1"/>
          <p:nvPr/>
        </p:nvSpPr>
        <p:spPr>
          <a:xfrm>
            <a:off x="557550" y="1556438"/>
            <a:ext cx="8028900" cy="646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chemeClr val="lt1"/>
                </a:solidFill>
                <a:latin typeface="DM Sans"/>
                <a:ea typeface="DM Sans"/>
                <a:cs typeface="DM Sans"/>
                <a:sym typeface="DM Sans"/>
              </a:rPr>
              <a:t>Fill in the sentence with the correct pronoun.</a:t>
            </a:r>
            <a:endParaRPr b="1" sz="22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If anyone calls, tell ______ I’ll be back soon.</a:t>
            </a:r>
            <a:endParaRPr b="1" sz="2400">
              <a:solidFill>
                <a:srgbClr val="FFFFFF"/>
              </a:solidFill>
              <a:latin typeface="DM Sans"/>
              <a:ea typeface="DM Sans"/>
              <a:cs typeface="DM Sans"/>
              <a:sym typeface="DM Sans"/>
            </a:endParaRPr>
          </a:p>
        </p:txBody>
      </p:sp>
      <p:sp>
        <p:nvSpPr>
          <p:cNvPr id="329" name="Google Shape;329;p34"/>
          <p:cNvSpPr/>
          <p:nvPr/>
        </p:nvSpPr>
        <p:spPr>
          <a:xfrm>
            <a:off x="462600" y="2322650"/>
            <a:ext cx="366600" cy="369300"/>
          </a:xfrm>
          <a:prstGeom prst="ellipse">
            <a:avLst/>
          </a:prstGeom>
          <a:noFill/>
          <a:ln cap="flat" cmpd="sng" w="38100">
            <a:solidFill>
              <a:srgbClr val="C6DE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0" name="Google Shape;330;p34"/>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8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3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37" name="Google Shape;337;p3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8</a:t>
            </a:r>
            <a:endParaRPr sz="4800">
              <a:latin typeface="Merriweather"/>
              <a:ea typeface="Merriweather"/>
              <a:cs typeface="Merriweather"/>
              <a:sym typeface="Merriweather"/>
            </a:endParaRPr>
          </a:p>
        </p:txBody>
      </p:sp>
      <p:pic>
        <p:nvPicPr>
          <p:cNvPr id="338" name="Google Shape;338;p3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39" name="Google Shape;339;p35"/>
          <p:cNvSpPr txBox="1"/>
          <p:nvPr/>
        </p:nvSpPr>
        <p:spPr>
          <a:xfrm>
            <a:off x="557550" y="2683150"/>
            <a:ext cx="7937100" cy="123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Change </a:t>
            </a:r>
            <a:r>
              <a:rPr b="1" i="1" lang="en" sz="2000">
                <a:solidFill>
                  <a:srgbClr val="FFFFFF"/>
                </a:solidFill>
                <a:latin typeface="DM Sans"/>
                <a:ea typeface="DM Sans"/>
                <a:cs typeface="DM Sans"/>
                <a:sym typeface="DM Sans"/>
              </a:rPr>
              <a:t>one in a distant part</a:t>
            </a:r>
            <a:r>
              <a:rPr lang="en" sz="2000">
                <a:solidFill>
                  <a:srgbClr val="FFFFFF"/>
                </a:solidFill>
                <a:latin typeface="DM Sans"/>
                <a:ea typeface="DM Sans"/>
                <a:cs typeface="DM Sans"/>
                <a:sym typeface="DM Sans"/>
              </a:rPr>
              <a:t> to </a:t>
            </a:r>
            <a:r>
              <a:rPr b="1" lang="en" sz="2000">
                <a:solidFill>
                  <a:srgbClr val="FFFFFF"/>
                </a:solidFill>
                <a:latin typeface="DM Sans"/>
                <a:ea typeface="DM Sans"/>
                <a:cs typeface="DM Sans"/>
                <a:sym typeface="DM Sans"/>
              </a:rPr>
              <a:t>we in a distant part</a:t>
            </a:r>
            <a:endParaRPr b="1"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B. </a:t>
            </a:r>
            <a:r>
              <a:rPr lang="en" sz="2000">
                <a:solidFill>
                  <a:schemeClr val="lt1"/>
                </a:solidFill>
                <a:latin typeface="DM Sans"/>
                <a:ea typeface="DM Sans"/>
                <a:cs typeface="DM Sans"/>
                <a:sym typeface="DM Sans"/>
              </a:rPr>
              <a:t>Change </a:t>
            </a:r>
            <a:r>
              <a:rPr b="1" i="1" lang="en" sz="2000">
                <a:solidFill>
                  <a:schemeClr val="lt1"/>
                </a:solidFill>
                <a:latin typeface="DM Sans"/>
                <a:ea typeface="DM Sans"/>
                <a:cs typeface="DM Sans"/>
                <a:sym typeface="DM Sans"/>
              </a:rPr>
              <a:t>you feel</a:t>
            </a:r>
            <a:r>
              <a:rPr lang="en" sz="2000">
                <a:solidFill>
                  <a:schemeClr val="lt1"/>
                </a:solidFill>
                <a:latin typeface="DM Sans"/>
                <a:ea typeface="DM Sans"/>
                <a:cs typeface="DM Sans"/>
                <a:sym typeface="DM Sans"/>
              </a:rPr>
              <a:t> to </a:t>
            </a:r>
            <a:r>
              <a:rPr b="1" lang="en" sz="2000">
                <a:solidFill>
                  <a:schemeClr val="lt1"/>
                </a:solidFill>
                <a:latin typeface="DM Sans"/>
                <a:ea typeface="DM Sans"/>
                <a:cs typeface="DM Sans"/>
                <a:sym typeface="DM Sans"/>
              </a:rPr>
              <a:t>we feel</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C. </a:t>
            </a:r>
            <a:r>
              <a:rPr lang="en" sz="2000">
                <a:solidFill>
                  <a:schemeClr val="lt1"/>
                </a:solidFill>
                <a:latin typeface="DM Sans"/>
                <a:ea typeface="DM Sans"/>
                <a:cs typeface="DM Sans"/>
                <a:sym typeface="DM Sans"/>
              </a:rPr>
              <a:t>Change </a:t>
            </a:r>
            <a:r>
              <a:rPr b="1" i="1" lang="en" sz="2000">
                <a:solidFill>
                  <a:schemeClr val="lt1"/>
                </a:solidFill>
                <a:latin typeface="DM Sans"/>
                <a:ea typeface="DM Sans"/>
                <a:cs typeface="DM Sans"/>
                <a:sym typeface="DM Sans"/>
              </a:rPr>
              <a:t>compassion for</a:t>
            </a:r>
            <a:r>
              <a:rPr lang="en" sz="2000">
                <a:solidFill>
                  <a:schemeClr val="lt1"/>
                </a:solidFill>
                <a:latin typeface="DM Sans"/>
                <a:ea typeface="DM Sans"/>
                <a:cs typeface="DM Sans"/>
                <a:sym typeface="DM Sans"/>
              </a:rPr>
              <a:t> to </a:t>
            </a:r>
            <a:r>
              <a:rPr b="1" lang="en" sz="2000">
                <a:solidFill>
                  <a:schemeClr val="lt1"/>
                </a:solidFill>
                <a:latin typeface="DM Sans"/>
                <a:ea typeface="DM Sans"/>
                <a:cs typeface="DM Sans"/>
                <a:sym typeface="DM Sans"/>
              </a:rPr>
              <a:t>compassion of</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D. </a:t>
            </a:r>
            <a:r>
              <a:rPr lang="en" sz="2000">
                <a:solidFill>
                  <a:schemeClr val="lt1"/>
                </a:solidFill>
                <a:latin typeface="DM Sans"/>
                <a:ea typeface="DM Sans"/>
                <a:cs typeface="DM Sans"/>
                <a:sym typeface="DM Sans"/>
              </a:rPr>
              <a:t>Add a comma after</a:t>
            </a:r>
            <a:r>
              <a:rPr lang="en" sz="2000">
                <a:solidFill>
                  <a:schemeClr val="lt1"/>
                </a:solidFill>
                <a:latin typeface="DM Sans"/>
                <a:ea typeface="DM Sans"/>
                <a:cs typeface="DM Sans"/>
                <a:sym typeface="DM Sans"/>
              </a:rPr>
              <a:t> </a:t>
            </a:r>
            <a:r>
              <a:rPr b="1" lang="en" sz="2000">
                <a:solidFill>
                  <a:schemeClr val="lt1"/>
                </a:solidFill>
                <a:latin typeface="DM Sans"/>
                <a:ea typeface="DM Sans"/>
                <a:cs typeface="DM Sans"/>
                <a:sym typeface="DM Sans"/>
              </a:rPr>
              <a:t>compassion</a:t>
            </a:r>
            <a:endParaRPr sz="2000">
              <a:solidFill>
                <a:srgbClr val="FFFFFF"/>
              </a:solidFill>
              <a:latin typeface="DM Sans"/>
              <a:ea typeface="DM Sans"/>
              <a:cs typeface="DM Sans"/>
              <a:sym typeface="DM Sans"/>
            </a:endParaRPr>
          </a:p>
        </p:txBody>
      </p:sp>
      <p:sp>
        <p:nvSpPr>
          <p:cNvPr id="340" name="Google Shape;340;p35"/>
          <p:cNvSpPr txBox="1"/>
          <p:nvPr/>
        </p:nvSpPr>
        <p:spPr>
          <a:xfrm>
            <a:off x="557550" y="1382196"/>
            <a:ext cx="8028900" cy="1262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200">
                <a:solidFill>
                  <a:schemeClr val="lt1"/>
                </a:solidFill>
                <a:latin typeface="DM Sans"/>
                <a:ea typeface="DM Sans"/>
                <a:cs typeface="DM Sans"/>
                <a:sym typeface="DM Sans"/>
              </a:rPr>
              <a:t>What edit should be made to correct the </a:t>
            </a:r>
            <a:r>
              <a:rPr b="1" lang="en" sz="2200">
                <a:solidFill>
                  <a:schemeClr val="lt1"/>
                </a:solidFill>
                <a:latin typeface="DM Sans"/>
                <a:ea typeface="DM Sans"/>
                <a:cs typeface="DM Sans"/>
                <a:sym typeface="DM Sans"/>
              </a:rPr>
              <a:t>sentence</a:t>
            </a:r>
            <a:r>
              <a:rPr b="1" lang="en" sz="2200">
                <a:solidFill>
                  <a:schemeClr val="lt1"/>
                </a:solidFill>
                <a:latin typeface="DM Sans"/>
                <a:ea typeface="DM Sans"/>
                <a:cs typeface="DM Sans"/>
                <a:sym typeface="DM Sans"/>
              </a:rPr>
              <a:t> below?</a:t>
            </a:r>
            <a:endParaRPr b="1" sz="22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Whenever we hear of a natural disaster, even one in a distant part of the world from where we live, you feel compassion for the victims.</a:t>
            </a:r>
            <a:endParaRPr b="1" sz="2400">
              <a:solidFill>
                <a:srgbClr val="FFFFFF"/>
              </a:solidFill>
              <a:latin typeface="DM Sans"/>
              <a:ea typeface="DM Sans"/>
              <a:cs typeface="DM Sans"/>
              <a:sym typeface="DM Sans"/>
            </a:endParaRPr>
          </a:p>
        </p:txBody>
      </p:sp>
      <p:sp>
        <p:nvSpPr>
          <p:cNvPr id="341" name="Google Shape;341;p35"/>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8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3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48" name="Google Shape;348;p3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8</a:t>
            </a:r>
            <a:endParaRPr sz="4800">
              <a:latin typeface="Merriweather"/>
              <a:ea typeface="Merriweather"/>
              <a:cs typeface="Merriweather"/>
              <a:sym typeface="Merriweather"/>
            </a:endParaRPr>
          </a:p>
        </p:txBody>
      </p:sp>
      <p:pic>
        <p:nvPicPr>
          <p:cNvPr id="349" name="Google Shape;349;p3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50" name="Google Shape;350;p36"/>
          <p:cNvSpPr txBox="1"/>
          <p:nvPr/>
        </p:nvSpPr>
        <p:spPr>
          <a:xfrm>
            <a:off x="547675" y="2425500"/>
            <a:ext cx="8028900" cy="16008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t/>
            </a:r>
            <a:endParaRPr b="1" sz="10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B. Change </a:t>
            </a:r>
            <a:r>
              <a:rPr b="1" i="1" lang="en" sz="2000">
                <a:solidFill>
                  <a:schemeClr val="lt1"/>
                </a:solidFill>
                <a:latin typeface="DM Sans"/>
                <a:ea typeface="DM Sans"/>
                <a:cs typeface="DM Sans"/>
                <a:sym typeface="DM Sans"/>
              </a:rPr>
              <a:t>you feel</a:t>
            </a:r>
            <a:r>
              <a:rPr lang="en" sz="2000">
                <a:solidFill>
                  <a:schemeClr val="lt1"/>
                </a:solidFill>
                <a:latin typeface="DM Sans"/>
                <a:ea typeface="DM Sans"/>
                <a:cs typeface="DM Sans"/>
                <a:sym typeface="DM Sans"/>
              </a:rPr>
              <a:t> to </a:t>
            </a:r>
            <a:r>
              <a:rPr b="1" lang="en" sz="2000">
                <a:solidFill>
                  <a:schemeClr val="lt1"/>
                </a:solidFill>
                <a:latin typeface="DM Sans"/>
                <a:ea typeface="DM Sans"/>
                <a:cs typeface="DM Sans"/>
                <a:sym typeface="DM Sans"/>
              </a:rPr>
              <a:t>we feel</a:t>
            </a:r>
            <a:endParaRPr sz="2000">
              <a:solidFill>
                <a:schemeClr val="lt1"/>
              </a:solidFill>
              <a:latin typeface="DM Sans"/>
              <a:ea typeface="DM Sans"/>
              <a:cs typeface="DM Sans"/>
              <a:sym typeface="DM Sans"/>
            </a:endParaRPr>
          </a:p>
          <a:p>
            <a:pPr indent="0" lvl="0" marL="0" rtl="0" algn="l">
              <a:spcBef>
                <a:spcPts val="0"/>
              </a:spcBef>
              <a:spcAft>
                <a:spcPts val="0"/>
              </a:spcAft>
              <a:buNone/>
            </a:pPr>
            <a:r>
              <a:t/>
            </a:r>
            <a:endParaRPr>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i="1" lang="en" sz="2000">
                <a:solidFill>
                  <a:schemeClr val="lt1"/>
                </a:solidFill>
                <a:latin typeface="DM Sans"/>
                <a:ea typeface="DM Sans"/>
                <a:cs typeface="DM Sans"/>
                <a:sym typeface="DM Sans"/>
              </a:rPr>
              <a:t>The sentence begins with “we” but later </a:t>
            </a:r>
            <a:r>
              <a:rPr i="1" lang="en" sz="2000">
                <a:solidFill>
                  <a:schemeClr val="lt1"/>
                </a:solidFill>
                <a:latin typeface="DM Sans"/>
                <a:ea typeface="DM Sans"/>
                <a:cs typeface="DM Sans"/>
                <a:sym typeface="DM Sans"/>
              </a:rPr>
              <a:t>changes</a:t>
            </a:r>
            <a:r>
              <a:rPr i="1" lang="en" sz="2000">
                <a:solidFill>
                  <a:schemeClr val="lt1"/>
                </a:solidFill>
                <a:latin typeface="DM Sans"/>
                <a:ea typeface="DM Sans"/>
                <a:cs typeface="DM Sans"/>
                <a:sym typeface="DM Sans"/>
              </a:rPr>
              <a:t> it to “you,” creating an incorrect pronoun reference. In order to fix the inconsistency, we keep the “we” subject constant.</a:t>
            </a:r>
            <a:endParaRPr sz="2000">
              <a:solidFill>
                <a:srgbClr val="FFFFFF"/>
              </a:solidFill>
              <a:latin typeface="DM Sans"/>
              <a:ea typeface="DM Sans"/>
              <a:cs typeface="DM Sans"/>
              <a:sym typeface="DM Sans"/>
            </a:endParaRPr>
          </a:p>
        </p:txBody>
      </p:sp>
      <p:sp>
        <p:nvSpPr>
          <p:cNvPr id="351" name="Google Shape;351;p36"/>
          <p:cNvSpPr txBox="1"/>
          <p:nvPr/>
        </p:nvSpPr>
        <p:spPr>
          <a:xfrm>
            <a:off x="547675" y="1261790"/>
            <a:ext cx="8028900" cy="1262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200">
                <a:solidFill>
                  <a:schemeClr val="lt1"/>
                </a:solidFill>
                <a:latin typeface="DM Sans"/>
                <a:ea typeface="DM Sans"/>
                <a:cs typeface="DM Sans"/>
                <a:sym typeface="DM Sans"/>
              </a:rPr>
              <a:t>What edit should be made to correct the sentence below?</a:t>
            </a:r>
            <a:endParaRPr b="1" sz="22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Whenever we hear of a natural disaster, even one in a distant part of the world from where we live, you feel compassion for the victims.</a:t>
            </a:r>
            <a:endParaRPr b="1" sz="2200">
              <a:solidFill>
                <a:schemeClr val="lt1"/>
              </a:solidFill>
              <a:latin typeface="DM Sans"/>
              <a:ea typeface="DM Sans"/>
              <a:cs typeface="DM Sans"/>
              <a:sym typeface="DM Sans"/>
            </a:endParaRPr>
          </a:p>
        </p:txBody>
      </p:sp>
      <p:sp>
        <p:nvSpPr>
          <p:cNvPr id="352" name="Google Shape;352;p36"/>
          <p:cNvSpPr/>
          <p:nvPr/>
        </p:nvSpPr>
        <p:spPr>
          <a:xfrm>
            <a:off x="452725" y="2540564"/>
            <a:ext cx="366600" cy="369300"/>
          </a:xfrm>
          <a:prstGeom prst="ellipse">
            <a:avLst/>
          </a:prstGeom>
          <a:noFill/>
          <a:ln cap="flat" cmpd="sng" w="38100">
            <a:solidFill>
              <a:srgbClr val="C6DE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3" name="Google Shape;353;p36"/>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800"/>
                                        <p:tgtEl>
                                          <p:spTgt spid="3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3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60" name="Google Shape;360;p3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9</a:t>
            </a:r>
            <a:endParaRPr sz="4800">
              <a:latin typeface="Merriweather"/>
              <a:ea typeface="Merriweather"/>
              <a:cs typeface="Merriweather"/>
              <a:sym typeface="Merriweather"/>
            </a:endParaRPr>
          </a:p>
        </p:txBody>
      </p:sp>
      <p:pic>
        <p:nvPicPr>
          <p:cNvPr id="361" name="Google Shape;361;p3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62" name="Google Shape;362;p37"/>
          <p:cNvSpPr txBox="1"/>
          <p:nvPr/>
        </p:nvSpPr>
        <p:spPr>
          <a:xfrm>
            <a:off x="557550" y="2683150"/>
            <a:ext cx="7937100" cy="123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Change </a:t>
            </a:r>
            <a:r>
              <a:rPr b="1" i="1" lang="en" sz="2000">
                <a:solidFill>
                  <a:srgbClr val="FFFFFF"/>
                </a:solidFill>
                <a:latin typeface="DM Sans"/>
                <a:ea typeface="DM Sans"/>
                <a:cs typeface="DM Sans"/>
                <a:sym typeface="DM Sans"/>
              </a:rPr>
              <a:t>exerts</a:t>
            </a:r>
            <a:r>
              <a:rPr lang="en" sz="2000">
                <a:solidFill>
                  <a:srgbClr val="FFFFFF"/>
                </a:solidFill>
                <a:latin typeface="DM Sans"/>
                <a:ea typeface="DM Sans"/>
                <a:cs typeface="DM Sans"/>
                <a:sym typeface="DM Sans"/>
              </a:rPr>
              <a:t> to </a:t>
            </a:r>
            <a:r>
              <a:rPr b="1" lang="en" sz="2000">
                <a:solidFill>
                  <a:srgbClr val="FFFFFF"/>
                </a:solidFill>
                <a:latin typeface="DM Sans"/>
                <a:ea typeface="DM Sans"/>
                <a:cs typeface="DM Sans"/>
                <a:sym typeface="DM Sans"/>
              </a:rPr>
              <a:t>exerting</a:t>
            </a:r>
            <a:endParaRPr b="1"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B. </a:t>
            </a:r>
            <a:r>
              <a:rPr lang="en" sz="2000">
                <a:solidFill>
                  <a:schemeClr val="lt1"/>
                </a:solidFill>
                <a:latin typeface="DM Sans"/>
                <a:ea typeface="DM Sans"/>
                <a:cs typeface="DM Sans"/>
                <a:sym typeface="DM Sans"/>
              </a:rPr>
              <a:t>Change </a:t>
            </a:r>
            <a:r>
              <a:rPr b="1" i="1" lang="en" sz="2000">
                <a:solidFill>
                  <a:schemeClr val="lt1"/>
                </a:solidFill>
                <a:latin typeface="DM Sans"/>
                <a:ea typeface="DM Sans"/>
                <a:cs typeface="DM Sans"/>
                <a:sym typeface="DM Sans"/>
              </a:rPr>
              <a:t>effect</a:t>
            </a:r>
            <a:r>
              <a:rPr lang="en" sz="2000">
                <a:solidFill>
                  <a:schemeClr val="lt1"/>
                </a:solidFill>
                <a:latin typeface="DM Sans"/>
                <a:ea typeface="DM Sans"/>
                <a:cs typeface="DM Sans"/>
                <a:sym typeface="DM Sans"/>
              </a:rPr>
              <a:t> to </a:t>
            </a:r>
            <a:r>
              <a:rPr b="1" lang="en" sz="2000">
                <a:solidFill>
                  <a:schemeClr val="lt1"/>
                </a:solidFill>
                <a:latin typeface="DM Sans"/>
                <a:ea typeface="DM Sans"/>
                <a:cs typeface="DM Sans"/>
                <a:sym typeface="DM Sans"/>
              </a:rPr>
              <a:t>affect</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C. </a:t>
            </a:r>
            <a:r>
              <a:rPr lang="en" sz="2000">
                <a:solidFill>
                  <a:schemeClr val="lt1"/>
                </a:solidFill>
                <a:latin typeface="DM Sans"/>
                <a:ea typeface="DM Sans"/>
                <a:cs typeface="DM Sans"/>
                <a:sym typeface="DM Sans"/>
              </a:rPr>
              <a:t>Change </a:t>
            </a:r>
            <a:r>
              <a:rPr b="1" i="1" lang="en" sz="2000">
                <a:solidFill>
                  <a:schemeClr val="lt1"/>
                </a:solidFill>
                <a:latin typeface="DM Sans"/>
                <a:ea typeface="DM Sans"/>
                <a:cs typeface="DM Sans"/>
                <a:sym typeface="DM Sans"/>
              </a:rPr>
              <a:t>countries where</a:t>
            </a:r>
            <a:r>
              <a:rPr lang="en" sz="2000">
                <a:solidFill>
                  <a:schemeClr val="lt1"/>
                </a:solidFill>
                <a:latin typeface="DM Sans"/>
                <a:ea typeface="DM Sans"/>
                <a:cs typeface="DM Sans"/>
                <a:sym typeface="DM Sans"/>
              </a:rPr>
              <a:t> to </a:t>
            </a:r>
            <a:r>
              <a:rPr b="1" lang="en" sz="2000">
                <a:solidFill>
                  <a:schemeClr val="lt1"/>
                </a:solidFill>
                <a:latin typeface="DM Sans"/>
                <a:ea typeface="DM Sans"/>
                <a:cs typeface="DM Sans"/>
                <a:sym typeface="DM Sans"/>
              </a:rPr>
              <a:t>countries when</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D. </a:t>
            </a:r>
            <a:r>
              <a:rPr lang="en" sz="2000">
                <a:solidFill>
                  <a:schemeClr val="lt1"/>
                </a:solidFill>
                <a:latin typeface="DM Sans"/>
                <a:ea typeface="DM Sans"/>
                <a:cs typeface="DM Sans"/>
                <a:sym typeface="DM Sans"/>
              </a:rPr>
              <a:t>Change </a:t>
            </a:r>
            <a:r>
              <a:rPr b="1" i="1" lang="en" sz="2000">
                <a:solidFill>
                  <a:schemeClr val="lt1"/>
                </a:solidFill>
                <a:latin typeface="DM Sans"/>
                <a:ea typeface="DM Sans"/>
                <a:cs typeface="DM Sans"/>
                <a:sym typeface="DM Sans"/>
              </a:rPr>
              <a:t>they</a:t>
            </a:r>
            <a:r>
              <a:rPr lang="en" sz="2000">
                <a:solidFill>
                  <a:schemeClr val="lt1"/>
                </a:solidFill>
                <a:latin typeface="DM Sans"/>
                <a:ea typeface="DM Sans"/>
                <a:cs typeface="DM Sans"/>
                <a:sym typeface="DM Sans"/>
              </a:rPr>
              <a:t> to </a:t>
            </a:r>
            <a:r>
              <a:rPr b="1" lang="en" sz="2000">
                <a:solidFill>
                  <a:schemeClr val="lt1"/>
                </a:solidFill>
                <a:latin typeface="DM Sans"/>
                <a:ea typeface="DM Sans"/>
                <a:cs typeface="DM Sans"/>
                <a:sym typeface="DM Sans"/>
              </a:rPr>
              <a:t>the people</a:t>
            </a:r>
            <a:endParaRPr sz="2000">
              <a:solidFill>
                <a:srgbClr val="FFFFFF"/>
              </a:solidFill>
              <a:latin typeface="DM Sans"/>
              <a:ea typeface="DM Sans"/>
              <a:cs typeface="DM Sans"/>
              <a:sym typeface="DM Sans"/>
            </a:endParaRPr>
          </a:p>
        </p:txBody>
      </p:sp>
      <p:sp>
        <p:nvSpPr>
          <p:cNvPr id="363" name="Google Shape;363;p37"/>
          <p:cNvSpPr txBox="1"/>
          <p:nvPr/>
        </p:nvSpPr>
        <p:spPr>
          <a:xfrm>
            <a:off x="557550" y="1619746"/>
            <a:ext cx="8028900" cy="954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200">
                <a:solidFill>
                  <a:schemeClr val="lt1"/>
                </a:solidFill>
                <a:latin typeface="DM Sans"/>
                <a:ea typeface="DM Sans"/>
                <a:cs typeface="DM Sans"/>
                <a:sym typeface="DM Sans"/>
              </a:rPr>
              <a:t>What edit should be made to correct the sentence below?</a:t>
            </a:r>
            <a:endParaRPr b="1" sz="22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Natural disasters exert the greatest effect in </a:t>
            </a:r>
            <a:r>
              <a:rPr lang="en" sz="2000">
                <a:solidFill>
                  <a:schemeClr val="lt1"/>
                </a:solidFill>
                <a:latin typeface="DM Sans"/>
                <a:ea typeface="DM Sans"/>
                <a:cs typeface="DM Sans"/>
                <a:sym typeface="DM Sans"/>
              </a:rPr>
              <a:t>countries</a:t>
            </a:r>
            <a:r>
              <a:rPr lang="en" sz="2000">
                <a:solidFill>
                  <a:schemeClr val="lt1"/>
                </a:solidFill>
                <a:latin typeface="DM Sans"/>
                <a:ea typeface="DM Sans"/>
                <a:cs typeface="DM Sans"/>
                <a:sym typeface="DM Sans"/>
              </a:rPr>
              <a:t> where they must already struggle every day to stay alive.</a:t>
            </a:r>
            <a:endParaRPr b="1" sz="2400">
              <a:solidFill>
                <a:srgbClr val="FFFFFF"/>
              </a:solidFill>
              <a:latin typeface="DM Sans"/>
              <a:ea typeface="DM Sans"/>
              <a:cs typeface="DM Sans"/>
              <a:sym typeface="DM Sans"/>
            </a:endParaRPr>
          </a:p>
        </p:txBody>
      </p:sp>
      <p:sp>
        <p:nvSpPr>
          <p:cNvPr id="364" name="Google Shape;364;p37"/>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800"/>
                                        <p:tgtEl>
                                          <p:spTgt spid="3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3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71" name="Google Shape;371;p3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9</a:t>
            </a:r>
            <a:endParaRPr sz="4800">
              <a:latin typeface="Merriweather"/>
              <a:ea typeface="Merriweather"/>
              <a:cs typeface="Merriweather"/>
              <a:sym typeface="Merriweather"/>
            </a:endParaRPr>
          </a:p>
        </p:txBody>
      </p:sp>
      <p:pic>
        <p:nvPicPr>
          <p:cNvPr id="372" name="Google Shape;372;p3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73" name="Google Shape;373;p38"/>
          <p:cNvSpPr txBox="1"/>
          <p:nvPr/>
        </p:nvSpPr>
        <p:spPr>
          <a:xfrm>
            <a:off x="547675" y="2425500"/>
            <a:ext cx="8028900" cy="13854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t/>
            </a:r>
            <a:endParaRPr b="1" sz="1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D. Change </a:t>
            </a:r>
            <a:r>
              <a:rPr b="1" i="1" lang="en" sz="2000">
                <a:solidFill>
                  <a:schemeClr val="lt1"/>
                </a:solidFill>
                <a:latin typeface="DM Sans"/>
                <a:ea typeface="DM Sans"/>
                <a:cs typeface="DM Sans"/>
                <a:sym typeface="DM Sans"/>
              </a:rPr>
              <a:t>they</a:t>
            </a:r>
            <a:r>
              <a:rPr lang="en" sz="2000">
                <a:solidFill>
                  <a:schemeClr val="lt1"/>
                </a:solidFill>
                <a:latin typeface="DM Sans"/>
                <a:ea typeface="DM Sans"/>
                <a:cs typeface="DM Sans"/>
                <a:sym typeface="DM Sans"/>
              </a:rPr>
              <a:t> to </a:t>
            </a:r>
            <a:r>
              <a:rPr b="1" lang="en" sz="2000">
                <a:solidFill>
                  <a:schemeClr val="lt1"/>
                </a:solidFill>
                <a:latin typeface="DM Sans"/>
                <a:ea typeface="DM Sans"/>
                <a:cs typeface="DM Sans"/>
                <a:sym typeface="DM Sans"/>
              </a:rPr>
              <a:t>the people</a:t>
            </a:r>
            <a:endParaRPr b="1" sz="2000">
              <a:solidFill>
                <a:schemeClr val="lt1"/>
              </a:solidFill>
              <a:latin typeface="DM Sans"/>
              <a:ea typeface="DM Sans"/>
              <a:cs typeface="DM Sans"/>
              <a:sym typeface="DM Sans"/>
            </a:endParaRPr>
          </a:p>
          <a:p>
            <a:pPr indent="0" lvl="0" marL="0" rtl="0" algn="l">
              <a:spcBef>
                <a:spcPts val="0"/>
              </a:spcBef>
              <a:spcAft>
                <a:spcPts val="0"/>
              </a:spcAft>
              <a:buNone/>
            </a:pPr>
            <a:r>
              <a:t/>
            </a:r>
            <a:endParaRPr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i="1" lang="en" sz="2000">
                <a:solidFill>
                  <a:schemeClr val="lt1"/>
                </a:solidFill>
                <a:latin typeface="DM Sans"/>
                <a:ea typeface="DM Sans"/>
                <a:cs typeface="DM Sans"/>
                <a:sym typeface="DM Sans"/>
              </a:rPr>
              <a:t>In the </a:t>
            </a:r>
            <a:r>
              <a:rPr i="1" lang="en" sz="2000">
                <a:solidFill>
                  <a:schemeClr val="lt1"/>
                </a:solidFill>
                <a:latin typeface="DM Sans"/>
                <a:ea typeface="DM Sans"/>
                <a:cs typeface="DM Sans"/>
                <a:sym typeface="DM Sans"/>
              </a:rPr>
              <a:t>sentence</a:t>
            </a:r>
            <a:r>
              <a:rPr i="1" lang="en" sz="2000">
                <a:solidFill>
                  <a:schemeClr val="lt1"/>
                </a:solidFill>
                <a:latin typeface="DM Sans"/>
                <a:ea typeface="DM Sans"/>
                <a:cs typeface="DM Sans"/>
                <a:sym typeface="DM Sans"/>
              </a:rPr>
              <a:t>, “they” is unclear. We don’t know if it’s referring to the countries or the people in these countries.</a:t>
            </a:r>
            <a:endParaRPr sz="2000">
              <a:solidFill>
                <a:srgbClr val="FFFFFF"/>
              </a:solidFill>
              <a:latin typeface="DM Sans"/>
              <a:ea typeface="DM Sans"/>
              <a:cs typeface="DM Sans"/>
              <a:sym typeface="DM Sans"/>
            </a:endParaRPr>
          </a:p>
        </p:txBody>
      </p:sp>
      <p:sp>
        <p:nvSpPr>
          <p:cNvPr id="374" name="Google Shape;374;p38"/>
          <p:cNvSpPr txBox="1"/>
          <p:nvPr/>
        </p:nvSpPr>
        <p:spPr>
          <a:xfrm>
            <a:off x="547675" y="1546765"/>
            <a:ext cx="8028900" cy="954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200">
                <a:solidFill>
                  <a:schemeClr val="lt1"/>
                </a:solidFill>
                <a:latin typeface="DM Sans"/>
                <a:ea typeface="DM Sans"/>
                <a:cs typeface="DM Sans"/>
                <a:sym typeface="DM Sans"/>
              </a:rPr>
              <a:t>What edit should be made to correct the sentence below?</a:t>
            </a:r>
            <a:endParaRPr b="1" sz="22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Natural disasters exert the greatest effect in countries where they must already struggle every day to stay alive.</a:t>
            </a:r>
            <a:endParaRPr b="1" sz="2200">
              <a:solidFill>
                <a:schemeClr val="lt1"/>
              </a:solidFill>
              <a:latin typeface="DM Sans"/>
              <a:ea typeface="DM Sans"/>
              <a:cs typeface="DM Sans"/>
              <a:sym typeface="DM Sans"/>
            </a:endParaRPr>
          </a:p>
        </p:txBody>
      </p:sp>
      <p:sp>
        <p:nvSpPr>
          <p:cNvPr id="375" name="Google Shape;375;p38"/>
          <p:cNvSpPr/>
          <p:nvPr/>
        </p:nvSpPr>
        <p:spPr>
          <a:xfrm>
            <a:off x="442850" y="2562805"/>
            <a:ext cx="366600" cy="369300"/>
          </a:xfrm>
          <a:prstGeom prst="ellipse">
            <a:avLst/>
          </a:prstGeom>
          <a:noFill/>
          <a:ln cap="flat" cmpd="sng" w="38100">
            <a:solidFill>
              <a:srgbClr val="C6DE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6" name="Google Shape;376;p38"/>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8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3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83" name="Google Shape;383;p3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10</a:t>
            </a:r>
            <a:endParaRPr sz="4800">
              <a:latin typeface="Merriweather"/>
              <a:ea typeface="Merriweather"/>
              <a:cs typeface="Merriweather"/>
              <a:sym typeface="Merriweather"/>
            </a:endParaRPr>
          </a:p>
        </p:txBody>
      </p:sp>
      <p:pic>
        <p:nvPicPr>
          <p:cNvPr id="384" name="Google Shape;384;p3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85" name="Google Shape;385;p39"/>
          <p:cNvSpPr txBox="1"/>
          <p:nvPr/>
        </p:nvSpPr>
        <p:spPr>
          <a:xfrm>
            <a:off x="557550" y="1540771"/>
            <a:ext cx="8028900" cy="22626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200">
                <a:solidFill>
                  <a:schemeClr val="lt1"/>
                </a:solidFill>
                <a:latin typeface="DM Sans"/>
                <a:ea typeface="DM Sans"/>
                <a:cs typeface="DM Sans"/>
                <a:sym typeface="DM Sans"/>
              </a:rPr>
              <a:t>Locate the sentence that should be revised to correct an </a:t>
            </a:r>
            <a:r>
              <a:rPr b="1" lang="en" sz="2200">
                <a:solidFill>
                  <a:schemeClr val="lt1"/>
                </a:solidFill>
                <a:latin typeface="DM Sans"/>
                <a:ea typeface="DM Sans"/>
                <a:cs typeface="DM Sans"/>
                <a:sym typeface="DM Sans"/>
              </a:rPr>
              <a:t>improper</a:t>
            </a:r>
            <a:r>
              <a:rPr b="1" lang="en" sz="2200">
                <a:solidFill>
                  <a:schemeClr val="lt1"/>
                </a:solidFill>
                <a:latin typeface="DM Sans"/>
                <a:ea typeface="DM Sans"/>
                <a:cs typeface="DM Sans"/>
                <a:sym typeface="DM Sans"/>
              </a:rPr>
              <a:t> pronoun.</a:t>
            </a:r>
            <a:endParaRPr b="1" sz="22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3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(1) The city council passed a new law to reduce traffic in downtown areas. (2) Everyone in the neighborhood were excited about the changes. (3) The new regulations will affect all drivers, cyclists, and pedestrians equally. (4) The city hopes the improvements will encourage more people to use public transit.</a:t>
            </a:r>
            <a:endParaRPr b="1" sz="2400">
              <a:solidFill>
                <a:srgbClr val="FFFFFF"/>
              </a:solidFill>
              <a:latin typeface="DM Sans"/>
              <a:ea typeface="DM Sans"/>
              <a:cs typeface="DM Sans"/>
              <a:sym typeface="DM Sans"/>
            </a:endParaRPr>
          </a:p>
        </p:txBody>
      </p:sp>
      <p:sp>
        <p:nvSpPr>
          <p:cNvPr id="386" name="Google Shape;386;p39"/>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4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93" name="Google Shape;393;p4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10</a:t>
            </a:r>
            <a:endParaRPr sz="4800">
              <a:latin typeface="Merriweather"/>
              <a:ea typeface="Merriweather"/>
              <a:cs typeface="Merriweather"/>
              <a:sym typeface="Merriweather"/>
            </a:endParaRPr>
          </a:p>
        </p:txBody>
      </p:sp>
      <p:pic>
        <p:nvPicPr>
          <p:cNvPr id="394" name="Google Shape;394;p4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95" name="Google Shape;395;p40"/>
          <p:cNvSpPr txBox="1"/>
          <p:nvPr/>
        </p:nvSpPr>
        <p:spPr>
          <a:xfrm>
            <a:off x="547675" y="1546765"/>
            <a:ext cx="8028900" cy="2416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(1) The city council passed a new law to reduce traffic in downtown areas. (2) Everyone in the neighborhood </a:t>
            </a:r>
            <a:r>
              <a:rPr b="1" lang="en" sz="2000">
                <a:solidFill>
                  <a:schemeClr val="lt1"/>
                </a:solidFill>
                <a:latin typeface="DM Sans"/>
                <a:ea typeface="DM Sans"/>
                <a:cs typeface="DM Sans"/>
                <a:sym typeface="DM Sans"/>
              </a:rPr>
              <a:t>were</a:t>
            </a:r>
            <a:r>
              <a:rPr lang="en" sz="2000">
                <a:solidFill>
                  <a:schemeClr val="lt1"/>
                </a:solidFill>
                <a:latin typeface="DM Sans"/>
                <a:ea typeface="DM Sans"/>
                <a:cs typeface="DM Sans"/>
                <a:sym typeface="DM Sans"/>
              </a:rPr>
              <a:t> excited about the changes. (3) The new regulations will affect all drivers, cyclists, and pedestrians equally. (4) The city hopes the improvements will encourage more people to use public transit.</a:t>
            </a:r>
            <a:endParaRPr b="1" sz="2400">
              <a:solidFill>
                <a:schemeClr val="lt1"/>
              </a:solidFill>
              <a:latin typeface="DM Sans"/>
              <a:ea typeface="DM Sans"/>
              <a:cs typeface="DM Sans"/>
              <a:sym typeface="DM Sans"/>
            </a:endParaRPr>
          </a:p>
          <a:p>
            <a:pPr indent="0" lvl="0" marL="0" rtl="0" algn="l">
              <a:spcBef>
                <a:spcPts val="0"/>
              </a:spcBef>
              <a:spcAft>
                <a:spcPts val="0"/>
              </a:spcAft>
              <a:buNone/>
            </a:pPr>
            <a:r>
              <a:t/>
            </a:r>
            <a:endParaRPr b="1" sz="17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i="1" lang="en" sz="2000">
                <a:solidFill>
                  <a:schemeClr val="lt1"/>
                </a:solidFill>
                <a:latin typeface="DM Sans"/>
                <a:ea typeface="DM Sans"/>
                <a:cs typeface="DM Sans"/>
                <a:sym typeface="DM Sans"/>
              </a:rPr>
              <a:t>In sentence 2, “everyone” is singular, therefore we should use a singular verb, “was” instead of the plural “were.”</a:t>
            </a:r>
            <a:endParaRPr b="1" sz="2200">
              <a:solidFill>
                <a:schemeClr val="lt1"/>
              </a:solidFill>
              <a:latin typeface="DM Sans"/>
              <a:ea typeface="DM Sans"/>
              <a:cs typeface="DM Sans"/>
              <a:sym typeface="DM Sans"/>
            </a:endParaRPr>
          </a:p>
        </p:txBody>
      </p:sp>
      <p:sp>
        <p:nvSpPr>
          <p:cNvPr id="396" name="Google Shape;396;p40"/>
          <p:cNvSpPr/>
          <p:nvPr/>
        </p:nvSpPr>
        <p:spPr>
          <a:xfrm>
            <a:off x="1261800" y="1812505"/>
            <a:ext cx="366600" cy="369300"/>
          </a:xfrm>
          <a:prstGeom prst="ellipse">
            <a:avLst/>
          </a:prstGeom>
          <a:noFill/>
          <a:ln cap="flat" cmpd="sng" w="38100">
            <a:solidFill>
              <a:srgbClr val="C6DE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97" name="Google Shape;397;p40"/>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4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04" name="Google Shape;404;p4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11</a:t>
            </a:r>
            <a:endParaRPr sz="4800">
              <a:latin typeface="Merriweather"/>
              <a:ea typeface="Merriweather"/>
              <a:cs typeface="Merriweather"/>
              <a:sym typeface="Merriweather"/>
            </a:endParaRPr>
          </a:p>
        </p:txBody>
      </p:sp>
      <p:pic>
        <p:nvPicPr>
          <p:cNvPr id="405" name="Google Shape;405;p4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06" name="Google Shape;406;p41"/>
          <p:cNvSpPr txBox="1"/>
          <p:nvPr/>
        </p:nvSpPr>
        <p:spPr>
          <a:xfrm>
            <a:off x="557550" y="1540771"/>
            <a:ext cx="8028900" cy="22626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200">
                <a:solidFill>
                  <a:schemeClr val="lt1"/>
                </a:solidFill>
                <a:latin typeface="DM Sans"/>
                <a:ea typeface="DM Sans"/>
                <a:cs typeface="DM Sans"/>
                <a:sym typeface="DM Sans"/>
              </a:rPr>
              <a:t>Identify and revise the sentences that have errors in their construction</a:t>
            </a:r>
            <a:r>
              <a:rPr b="1" lang="en" sz="2200">
                <a:solidFill>
                  <a:schemeClr val="lt1"/>
                </a:solidFill>
                <a:latin typeface="DM Sans"/>
                <a:ea typeface="DM Sans"/>
                <a:cs typeface="DM Sans"/>
                <a:sym typeface="DM Sans"/>
              </a:rPr>
              <a:t>.</a:t>
            </a:r>
            <a:endParaRPr b="1" sz="22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300">
              <a:solidFill>
                <a:schemeClr val="lt1"/>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(1) Neither of the teachers have announced the final exam schedule yet. (2) When my brother and me went to the library, we found that the books were all checked out. (3) Everyone should do their best to prepare for the test. (4) The coach and I is planning a practice session for Saturday morning.</a:t>
            </a:r>
            <a:endParaRPr b="1" sz="2400">
              <a:solidFill>
                <a:srgbClr val="FFFFFF"/>
              </a:solidFill>
              <a:latin typeface="DM Sans"/>
              <a:ea typeface="DM Sans"/>
              <a:cs typeface="DM Sans"/>
              <a:sym typeface="DM Sans"/>
            </a:endParaRPr>
          </a:p>
        </p:txBody>
      </p:sp>
      <p:sp>
        <p:nvSpPr>
          <p:cNvPr id="407" name="Google Shape;407;p41"/>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4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14" name="Google Shape;414;p4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11</a:t>
            </a:r>
            <a:endParaRPr sz="4800">
              <a:latin typeface="Merriweather"/>
              <a:ea typeface="Merriweather"/>
              <a:cs typeface="Merriweather"/>
              <a:sym typeface="Merriweather"/>
            </a:endParaRPr>
          </a:p>
        </p:txBody>
      </p:sp>
      <p:pic>
        <p:nvPicPr>
          <p:cNvPr id="415" name="Google Shape;415;p4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16" name="Google Shape;416;p42"/>
          <p:cNvSpPr txBox="1"/>
          <p:nvPr/>
        </p:nvSpPr>
        <p:spPr>
          <a:xfrm>
            <a:off x="557550" y="1297190"/>
            <a:ext cx="8028900" cy="2940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(1) Neither of the teachers </a:t>
            </a:r>
            <a:r>
              <a:rPr b="1" lang="en" sz="2000">
                <a:solidFill>
                  <a:schemeClr val="lt1"/>
                </a:solidFill>
                <a:latin typeface="DM Sans"/>
                <a:ea typeface="DM Sans"/>
                <a:cs typeface="DM Sans"/>
                <a:sym typeface="DM Sans"/>
              </a:rPr>
              <a:t>have</a:t>
            </a:r>
            <a:r>
              <a:rPr lang="en" sz="2000">
                <a:solidFill>
                  <a:schemeClr val="lt1"/>
                </a:solidFill>
                <a:latin typeface="DM Sans"/>
                <a:ea typeface="DM Sans"/>
                <a:cs typeface="DM Sans"/>
                <a:sym typeface="DM Sans"/>
              </a:rPr>
              <a:t> announced the final exam schedule yet. (2) When </a:t>
            </a:r>
            <a:r>
              <a:rPr b="1" lang="en" sz="2000">
                <a:solidFill>
                  <a:schemeClr val="lt1"/>
                </a:solidFill>
                <a:latin typeface="DM Sans"/>
                <a:ea typeface="DM Sans"/>
                <a:cs typeface="DM Sans"/>
                <a:sym typeface="DM Sans"/>
              </a:rPr>
              <a:t>my brother and me</a:t>
            </a:r>
            <a:r>
              <a:rPr lang="en" sz="2000">
                <a:solidFill>
                  <a:schemeClr val="lt1"/>
                </a:solidFill>
                <a:latin typeface="DM Sans"/>
                <a:ea typeface="DM Sans"/>
                <a:cs typeface="DM Sans"/>
                <a:sym typeface="DM Sans"/>
              </a:rPr>
              <a:t> went to the library, we found that the books were all checked out. (3) Everyone should do their best to prepare for the test. (4) The coach and I </a:t>
            </a:r>
            <a:r>
              <a:rPr b="1" lang="en" sz="2000">
                <a:solidFill>
                  <a:schemeClr val="lt1"/>
                </a:solidFill>
                <a:latin typeface="DM Sans"/>
                <a:ea typeface="DM Sans"/>
                <a:cs typeface="DM Sans"/>
                <a:sym typeface="DM Sans"/>
              </a:rPr>
              <a:t>is</a:t>
            </a:r>
            <a:r>
              <a:rPr lang="en" sz="2000">
                <a:solidFill>
                  <a:schemeClr val="lt1"/>
                </a:solidFill>
                <a:latin typeface="DM Sans"/>
                <a:ea typeface="DM Sans"/>
                <a:cs typeface="DM Sans"/>
                <a:sym typeface="DM Sans"/>
              </a:rPr>
              <a:t> planning a practice session for Saturday morning.</a:t>
            </a:r>
            <a:endParaRPr b="1" sz="2400">
              <a:solidFill>
                <a:schemeClr val="lt1"/>
              </a:solidFill>
              <a:latin typeface="DM Sans"/>
              <a:ea typeface="DM Sans"/>
              <a:cs typeface="DM Sans"/>
              <a:sym typeface="DM Sans"/>
            </a:endParaRPr>
          </a:p>
          <a:p>
            <a:pPr indent="0" lvl="0" marL="0" rtl="0" algn="l">
              <a:spcBef>
                <a:spcPts val="0"/>
              </a:spcBef>
              <a:spcAft>
                <a:spcPts val="0"/>
              </a:spcAft>
              <a:buNone/>
            </a:pPr>
            <a:r>
              <a:t/>
            </a:r>
            <a:endParaRPr b="1" sz="1100">
              <a:solidFill>
                <a:schemeClr val="lt1"/>
              </a:solidFill>
              <a:latin typeface="DM Sans"/>
              <a:ea typeface="DM Sans"/>
              <a:cs typeface="DM Sans"/>
              <a:sym typeface="DM Sans"/>
            </a:endParaRPr>
          </a:p>
          <a:p>
            <a:pPr indent="0" lvl="0" marL="0" rtl="0" algn="l">
              <a:spcBef>
                <a:spcPts val="0"/>
              </a:spcBef>
              <a:spcAft>
                <a:spcPts val="0"/>
              </a:spcAft>
              <a:buNone/>
            </a:pPr>
            <a:r>
              <a:rPr i="1" lang="en" sz="2000">
                <a:solidFill>
                  <a:schemeClr val="lt1"/>
                </a:solidFill>
                <a:latin typeface="DM Sans"/>
                <a:ea typeface="DM Sans"/>
                <a:cs typeface="DM Sans"/>
                <a:sym typeface="DM Sans"/>
              </a:rPr>
              <a:t>In sentence 1, “neither” is singular, therefore we should use a singular ver</a:t>
            </a:r>
            <a:r>
              <a:rPr i="1" lang="en" sz="2000">
                <a:solidFill>
                  <a:schemeClr val="lt1"/>
                </a:solidFill>
                <a:latin typeface="DM Sans"/>
                <a:ea typeface="DM Sans"/>
                <a:cs typeface="DM Sans"/>
                <a:sym typeface="DM Sans"/>
              </a:rPr>
              <a:t>b</a:t>
            </a:r>
            <a:r>
              <a:rPr i="1" lang="en" sz="2000">
                <a:solidFill>
                  <a:schemeClr val="lt1"/>
                </a:solidFill>
                <a:latin typeface="DM Sans"/>
                <a:ea typeface="DM Sans"/>
                <a:cs typeface="DM Sans"/>
                <a:sym typeface="DM Sans"/>
              </a:rPr>
              <a:t>, “has” instead of the plural “have.” The opposite for sentence 4, use the plural “are” instead of “is.” For 2, we need a subject pronoun “I” instead of “me.”</a:t>
            </a:r>
            <a:endParaRPr b="1" sz="2200">
              <a:solidFill>
                <a:schemeClr val="lt1"/>
              </a:solidFill>
              <a:latin typeface="DM Sans"/>
              <a:ea typeface="DM Sans"/>
              <a:cs typeface="DM Sans"/>
              <a:sym typeface="DM Sans"/>
            </a:endParaRPr>
          </a:p>
        </p:txBody>
      </p:sp>
      <p:sp>
        <p:nvSpPr>
          <p:cNvPr id="417" name="Google Shape;417;p42"/>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4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24" name="Google Shape;424;p4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12</a:t>
            </a:r>
            <a:endParaRPr sz="4800">
              <a:latin typeface="Merriweather"/>
              <a:ea typeface="Merriweather"/>
              <a:cs typeface="Merriweather"/>
              <a:sym typeface="Merriweather"/>
            </a:endParaRPr>
          </a:p>
        </p:txBody>
      </p:sp>
      <p:sp>
        <p:nvSpPr>
          <p:cNvPr id="425" name="Google Shape;425;p43"/>
          <p:cNvSpPr txBox="1"/>
          <p:nvPr/>
        </p:nvSpPr>
        <p:spPr>
          <a:xfrm>
            <a:off x="559950" y="1390175"/>
            <a:ext cx="7950000" cy="2232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Correct the pronoun error(s) in the following sentences:</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 1.	When a person comes to class, you should have your homework ready.</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 2.	 Although the motorcycle hit the tree, it was not damaged.</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 3.	I don’t think they should show violence on TV.</a:t>
            </a:r>
            <a:endParaRPr sz="2000">
              <a:solidFill>
                <a:srgbClr val="FFFFFF"/>
              </a:solidFill>
              <a:latin typeface="DM Sans"/>
              <a:ea typeface="DM Sans"/>
              <a:cs typeface="DM Sans"/>
              <a:sym typeface="DM Sans"/>
            </a:endParaRPr>
          </a:p>
        </p:txBody>
      </p:sp>
      <p:pic>
        <p:nvPicPr>
          <p:cNvPr id="426" name="Google Shape;426;p4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27" name="Google Shape;427;p43"/>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8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4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34" name="Google Shape;434;p4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4800">
                <a:solidFill>
                  <a:schemeClr val="dk1"/>
                </a:solidFill>
                <a:latin typeface="Merriweather"/>
                <a:ea typeface="Merriweather"/>
                <a:cs typeface="Merriweather"/>
                <a:sym typeface="Merriweather"/>
              </a:rPr>
              <a:t>Question 12</a:t>
            </a:r>
            <a:endParaRPr sz="4800">
              <a:latin typeface="Merriweather"/>
              <a:ea typeface="Merriweather"/>
              <a:cs typeface="Merriweather"/>
              <a:sym typeface="Merriweather"/>
            </a:endParaRPr>
          </a:p>
        </p:txBody>
      </p:sp>
      <p:sp>
        <p:nvSpPr>
          <p:cNvPr id="435" name="Google Shape;435;p44"/>
          <p:cNvSpPr txBox="1"/>
          <p:nvPr/>
        </p:nvSpPr>
        <p:spPr>
          <a:xfrm>
            <a:off x="559950" y="1390175"/>
            <a:ext cx="7950000" cy="2232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Correct the pronoun </a:t>
            </a:r>
            <a:r>
              <a:rPr b="1" lang="en" sz="2200">
                <a:solidFill>
                  <a:schemeClr val="lt1"/>
                </a:solidFill>
                <a:latin typeface="DM Sans"/>
                <a:ea typeface="DM Sans"/>
                <a:cs typeface="DM Sans"/>
                <a:sym typeface="DM Sans"/>
              </a:rPr>
              <a:t>error(s)</a:t>
            </a:r>
            <a:r>
              <a:rPr b="1" lang="en" sz="2200">
                <a:solidFill>
                  <a:srgbClr val="FFFFFF"/>
                </a:solidFill>
                <a:latin typeface="DM Sans"/>
                <a:ea typeface="DM Sans"/>
                <a:cs typeface="DM Sans"/>
                <a:sym typeface="DM Sans"/>
              </a:rPr>
              <a:t> in the following sentences:</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 1.	</a:t>
            </a:r>
            <a:r>
              <a:rPr lang="en" sz="2000">
                <a:solidFill>
                  <a:schemeClr val="lt1"/>
                </a:solidFill>
                <a:latin typeface="DM Sans"/>
                <a:ea typeface="DM Sans"/>
                <a:cs typeface="DM Sans"/>
                <a:sym typeface="DM Sans"/>
              </a:rPr>
              <a:t>When a person comes to class, </a:t>
            </a:r>
            <a:r>
              <a:rPr b="1" lang="en" sz="2000">
                <a:solidFill>
                  <a:schemeClr val="lt1"/>
                </a:solidFill>
                <a:latin typeface="DM Sans"/>
                <a:ea typeface="DM Sans"/>
                <a:cs typeface="DM Sans"/>
                <a:sym typeface="DM Sans"/>
              </a:rPr>
              <a:t>he or she</a:t>
            </a:r>
            <a:r>
              <a:rPr lang="en" sz="2000">
                <a:solidFill>
                  <a:schemeClr val="lt1"/>
                </a:solidFill>
                <a:latin typeface="DM Sans"/>
                <a:ea typeface="DM Sans"/>
                <a:cs typeface="DM Sans"/>
                <a:sym typeface="DM Sans"/>
              </a:rPr>
              <a:t> should have </a:t>
            </a:r>
            <a:r>
              <a:rPr b="1" lang="en" sz="2000">
                <a:solidFill>
                  <a:schemeClr val="lt1"/>
                </a:solidFill>
                <a:latin typeface="DM Sans"/>
                <a:ea typeface="DM Sans"/>
                <a:cs typeface="DM Sans"/>
                <a:sym typeface="DM Sans"/>
              </a:rPr>
              <a:t>his or her</a:t>
            </a:r>
            <a:r>
              <a:rPr lang="en" sz="2000">
                <a:solidFill>
                  <a:schemeClr val="lt1"/>
                </a:solidFill>
                <a:latin typeface="DM Sans"/>
                <a:ea typeface="DM Sans"/>
                <a:cs typeface="DM Sans"/>
                <a:sym typeface="DM Sans"/>
              </a:rPr>
              <a:t> homework ready.</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i="1" sz="20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rgbClr val="FFFFFF"/>
                </a:solidFill>
                <a:latin typeface="DM Sans"/>
                <a:ea typeface="DM Sans"/>
                <a:cs typeface="DM Sans"/>
                <a:sym typeface="DM Sans"/>
              </a:rPr>
              <a:t>Since </a:t>
            </a:r>
            <a:r>
              <a:rPr i="1" lang="en" sz="2000">
                <a:solidFill>
                  <a:srgbClr val="FFFFFF"/>
                </a:solidFill>
                <a:latin typeface="DM Sans"/>
                <a:ea typeface="DM Sans"/>
                <a:cs typeface="DM Sans"/>
                <a:sym typeface="DM Sans"/>
              </a:rPr>
              <a:t>“a person” is third person, use the third person pronoun “he or she” and “his or her” instead of “you” and “your,” which is second person.</a:t>
            </a:r>
            <a:endParaRPr i="1" sz="2000">
              <a:solidFill>
                <a:srgbClr val="FFFFFF"/>
              </a:solidFill>
              <a:latin typeface="DM Sans"/>
              <a:ea typeface="DM Sans"/>
              <a:cs typeface="DM Sans"/>
              <a:sym typeface="DM Sans"/>
            </a:endParaRPr>
          </a:p>
        </p:txBody>
      </p:sp>
      <p:pic>
        <p:nvPicPr>
          <p:cNvPr id="436" name="Google Shape;436;p4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37" name="Google Shape;437;p44"/>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800"/>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4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44" name="Google Shape;444;p4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4800">
                <a:solidFill>
                  <a:schemeClr val="dk1"/>
                </a:solidFill>
                <a:latin typeface="Merriweather"/>
                <a:ea typeface="Merriweather"/>
                <a:cs typeface="Merriweather"/>
                <a:sym typeface="Merriweather"/>
              </a:rPr>
              <a:t>Question 12</a:t>
            </a:r>
            <a:endParaRPr sz="4800">
              <a:latin typeface="Merriweather"/>
              <a:ea typeface="Merriweather"/>
              <a:cs typeface="Merriweather"/>
              <a:sym typeface="Merriweather"/>
            </a:endParaRPr>
          </a:p>
        </p:txBody>
      </p:sp>
      <p:sp>
        <p:nvSpPr>
          <p:cNvPr id="445" name="Google Shape;445;p45"/>
          <p:cNvSpPr txBox="1"/>
          <p:nvPr/>
        </p:nvSpPr>
        <p:spPr>
          <a:xfrm>
            <a:off x="559950" y="1390175"/>
            <a:ext cx="7950000" cy="2232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Correct the pronoun </a:t>
            </a:r>
            <a:r>
              <a:rPr b="1" lang="en" sz="2200">
                <a:solidFill>
                  <a:schemeClr val="lt1"/>
                </a:solidFill>
                <a:latin typeface="DM Sans"/>
                <a:ea typeface="DM Sans"/>
                <a:cs typeface="DM Sans"/>
                <a:sym typeface="DM Sans"/>
              </a:rPr>
              <a:t>error(s)</a:t>
            </a:r>
            <a:r>
              <a:rPr b="1" lang="en" sz="2200">
                <a:solidFill>
                  <a:srgbClr val="FFFFFF"/>
                </a:solidFill>
                <a:latin typeface="DM Sans"/>
                <a:ea typeface="DM Sans"/>
                <a:cs typeface="DM Sans"/>
                <a:sym typeface="DM Sans"/>
              </a:rPr>
              <a:t> in the following sentences:</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 2.	</a:t>
            </a:r>
            <a:r>
              <a:rPr lang="en" sz="2000">
                <a:solidFill>
                  <a:schemeClr val="lt1"/>
                </a:solidFill>
                <a:latin typeface="DM Sans"/>
                <a:ea typeface="DM Sans"/>
                <a:cs typeface="DM Sans"/>
                <a:sym typeface="DM Sans"/>
              </a:rPr>
              <a:t>Although the motorcycle hit the tree, </a:t>
            </a:r>
            <a:r>
              <a:rPr b="1" lang="en" sz="2000">
                <a:solidFill>
                  <a:schemeClr val="lt1"/>
                </a:solidFill>
                <a:latin typeface="DM Sans"/>
                <a:ea typeface="DM Sans"/>
                <a:cs typeface="DM Sans"/>
                <a:sym typeface="DM Sans"/>
              </a:rPr>
              <a:t>the motorcycle / the tree</a:t>
            </a:r>
            <a:r>
              <a:rPr lang="en" sz="2000">
                <a:solidFill>
                  <a:schemeClr val="lt1"/>
                </a:solidFill>
                <a:latin typeface="DM Sans"/>
                <a:ea typeface="DM Sans"/>
                <a:cs typeface="DM Sans"/>
                <a:sym typeface="DM Sans"/>
              </a:rPr>
              <a:t> was not damaged.</a:t>
            </a:r>
            <a:endParaRPr sz="2000">
              <a:solidFill>
                <a:schemeClr val="lt1"/>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rgbClr val="FFFFFF"/>
                </a:solidFill>
                <a:latin typeface="DM Sans"/>
                <a:ea typeface="DM Sans"/>
                <a:cs typeface="DM Sans"/>
                <a:sym typeface="DM Sans"/>
              </a:rPr>
              <a:t>In this sentence, “it” is an unclear reference to either the motorcycle or the tree, so we must clarify by </a:t>
            </a:r>
            <a:r>
              <a:rPr i="1" lang="en" sz="2000">
                <a:solidFill>
                  <a:srgbClr val="FFFFFF"/>
                </a:solidFill>
                <a:latin typeface="DM Sans"/>
                <a:ea typeface="DM Sans"/>
                <a:cs typeface="DM Sans"/>
                <a:sym typeface="DM Sans"/>
              </a:rPr>
              <a:t>replacing</a:t>
            </a:r>
            <a:r>
              <a:rPr i="1" lang="en" sz="2000">
                <a:solidFill>
                  <a:srgbClr val="FFFFFF"/>
                </a:solidFill>
                <a:latin typeface="DM Sans"/>
                <a:ea typeface="DM Sans"/>
                <a:cs typeface="DM Sans"/>
                <a:sym typeface="DM Sans"/>
              </a:rPr>
              <a:t> it with either “the motorcycle” or “the tree.”</a:t>
            </a:r>
            <a:endParaRPr i="1" sz="2000">
              <a:solidFill>
                <a:srgbClr val="FFFFFF"/>
              </a:solidFill>
              <a:latin typeface="DM Sans"/>
              <a:ea typeface="DM Sans"/>
              <a:cs typeface="DM Sans"/>
              <a:sym typeface="DM Sans"/>
            </a:endParaRPr>
          </a:p>
        </p:txBody>
      </p:sp>
      <p:pic>
        <p:nvPicPr>
          <p:cNvPr id="446" name="Google Shape;446;p4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47" name="Google Shape;447;p45"/>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800"/>
                                        <p:tgtEl>
                                          <p:spTgt spid="4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4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54" name="Google Shape;454;p4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4800">
                <a:solidFill>
                  <a:schemeClr val="dk1"/>
                </a:solidFill>
                <a:latin typeface="Merriweather"/>
                <a:ea typeface="Merriweather"/>
                <a:cs typeface="Merriweather"/>
                <a:sym typeface="Merriweather"/>
              </a:rPr>
              <a:t>Question 12</a:t>
            </a:r>
            <a:endParaRPr sz="4800">
              <a:latin typeface="Merriweather"/>
              <a:ea typeface="Merriweather"/>
              <a:cs typeface="Merriweather"/>
              <a:sym typeface="Merriweather"/>
            </a:endParaRPr>
          </a:p>
        </p:txBody>
      </p:sp>
      <p:sp>
        <p:nvSpPr>
          <p:cNvPr id="455" name="Google Shape;455;p46"/>
          <p:cNvSpPr txBox="1"/>
          <p:nvPr/>
        </p:nvSpPr>
        <p:spPr>
          <a:xfrm>
            <a:off x="559950" y="1390175"/>
            <a:ext cx="7950000" cy="1923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Correct the pronoun </a:t>
            </a:r>
            <a:r>
              <a:rPr b="1" lang="en" sz="2200">
                <a:solidFill>
                  <a:schemeClr val="lt1"/>
                </a:solidFill>
                <a:latin typeface="DM Sans"/>
                <a:ea typeface="DM Sans"/>
                <a:cs typeface="DM Sans"/>
                <a:sym typeface="DM Sans"/>
              </a:rPr>
              <a:t>error(s)</a:t>
            </a:r>
            <a:r>
              <a:rPr b="1" lang="en" sz="2200">
                <a:solidFill>
                  <a:srgbClr val="FFFFFF"/>
                </a:solidFill>
                <a:latin typeface="DM Sans"/>
                <a:ea typeface="DM Sans"/>
                <a:cs typeface="DM Sans"/>
                <a:sym typeface="DM Sans"/>
              </a:rPr>
              <a:t> in the following sentences:</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 3.	</a:t>
            </a:r>
            <a:r>
              <a:rPr lang="en" sz="2000">
                <a:solidFill>
                  <a:schemeClr val="lt1"/>
                </a:solidFill>
                <a:latin typeface="DM Sans"/>
                <a:ea typeface="DM Sans"/>
                <a:cs typeface="DM Sans"/>
                <a:sym typeface="DM Sans"/>
              </a:rPr>
              <a:t>I don’t think </a:t>
            </a:r>
            <a:r>
              <a:rPr b="1" lang="en" sz="2000">
                <a:solidFill>
                  <a:schemeClr val="lt1"/>
                </a:solidFill>
                <a:latin typeface="DM Sans"/>
                <a:ea typeface="DM Sans"/>
                <a:cs typeface="DM Sans"/>
                <a:sym typeface="DM Sans"/>
              </a:rPr>
              <a:t>people</a:t>
            </a:r>
            <a:r>
              <a:rPr lang="en" sz="2000">
                <a:solidFill>
                  <a:schemeClr val="lt1"/>
                </a:solidFill>
                <a:latin typeface="DM Sans"/>
                <a:ea typeface="DM Sans"/>
                <a:cs typeface="DM Sans"/>
                <a:sym typeface="DM Sans"/>
              </a:rPr>
              <a:t> should show violence on TV.</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i="1" sz="20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rgbClr val="FFFFFF"/>
                </a:solidFill>
                <a:latin typeface="DM Sans"/>
                <a:ea typeface="DM Sans"/>
                <a:cs typeface="DM Sans"/>
                <a:sym typeface="DM Sans"/>
              </a:rPr>
              <a:t>In this sentence, </a:t>
            </a:r>
            <a:r>
              <a:rPr i="1" lang="en" sz="2000">
                <a:solidFill>
                  <a:srgbClr val="FFFFFF"/>
                </a:solidFill>
                <a:latin typeface="DM Sans"/>
                <a:ea typeface="DM Sans"/>
                <a:cs typeface="DM Sans"/>
                <a:sym typeface="DM Sans"/>
              </a:rPr>
              <a:t>“they” has no clear antecedent, so replace it with a specific noun instead. It could be “people,” “the announcers,” “the news anchors,” etc.</a:t>
            </a:r>
            <a:endParaRPr i="1" sz="2000">
              <a:solidFill>
                <a:srgbClr val="FFFFFF"/>
              </a:solidFill>
              <a:latin typeface="DM Sans"/>
              <a:ea typeface="DM Sans"/>
              <a:cs typeface="DM Sans"/>
              <a:sym typeface="DM Sans"/>
            </a:endParaRPr>
          </a:p>
        </p:txBody>
      </p:sp>
      <p:pic>
        <p:nvPicPr>
          <p:cNvPr id="456" name="Google Shape;456;p4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57" name="Google Shape;457;p46"/>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8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4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64" name="Google Shape;464;p4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13</a:t>
            </a:r>
            <a:endParaRPr sz="4800">
              <a:latin typeface="Merriweather"/>
              <a:ea typeface="Merriweather"/>
              <a:cs typeface="Merriweather"/>
              <a:sym typeface="Merriweather"/>
            </a:endParaRPr>
          </a:p>
        </p:txBody>
      </p:sp>
      <p:sp>
        <p:nvSpPr>
          <p:cNvPr id="465" name="Google Shape;465;p47"/>
          <p:cNvSpPr txBox="1"/>
          <p:nvPr/>
        </p:nvSpPr>
        <p:spPr>
          <a:xfrm>
            <a:off x="559950" y="1390175"/>
            <a:ext cx="7950000" cy="2232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Correct the pronoun </a:t>
            </a:r>
            <a:r>
              <a:rPr b="1" lang="en" sz="2200">
                <a:solidFill>
                  <a:schemeClr val="lt1"/>
                </a:solidFill>
                <a:latin typeface="DM Sans"/>
                <a:ea typeface="DM Sans"/>
                <a:cs typeface="DM Sans"/>
                <a:sym typeface="DM Sans"/>
              </a:rPr>
              <a:t>error(s)</a:t>
            </a:r>
            <a:r>
              <a:rPr b="1" lang="en" sz="2200">
                <a:solidFill>
                  <a:srgbClr val="FFFFFF"/>
                </a:solidFill>
                <a:latin typeface="DM Sans"/>
                <a:ea typeface="DM Sans"/>
                <a:cs typeface="DM Sans"/>
                <a:sym typeface="DM Sans"/>
              </a:rPr>
              <a:t> in the following sentences:</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 4.	Vacation is coming soon, which is nice.</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 5.	 George worked in a national forest last summer. This may be his life’s work.</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 6.	If you put this sheet into your notebook, they can refer to it.</a:t>
            </a:r>
            <a:endParaRPr sz="2000">
              <a:solidFill>
                <a:srgbClr val="FFFFFF"/>
              </a:solidFill>
              <a:latin typeface="DM Sans"/>
              <a:ea typeface="DM Sans"/>
              <a:cs typeface="DM Sans"/>
              <a:sym typeface="DM Sans"/>
            </a:endParaRPr>
          </a:p>
        </p:txBody>
      </p:sp>
      <p:pic>
        <p:nvPicPr>
          <p:cNvPr id="466" name="Google Shape;466;p4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67" name="Google Shape;467;p47"/>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800"/>
                                        <p:tgtEl>
                                          <p:spTgt spid="4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p4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74" name="Google Shape;474;p4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solidFill>
                  <a:schemeClr val="dk1"/>
                </a:solidFill>
                <a:latin typeface="Merriweather"/>
                <a:ea typeface="Merriweather"/>
                <a:cs typeface="Merriweather"/>
                <a:sym typeface="Merriweather"/>
              </a:rPr>
              <a:t>Question 13</a:t>
            </a:r>
            <a:endParaRPr sz="4800">
              <a:latin typeface="Merriweather"/>
              <a:ea typeface="Merriweather"/>
              <a:cs typeface="Merriweather"/>
              <a:sym typeface="Merriweather"/>
            </a:endParaRPr>
          </a:p>
        </p:txBody>
      </p:sp>
      <p:sp>
        <p:nvSpPr>
          <p:cNvPr id="475" name="Google Shape;475;p48"/>
          <p:cNvSpPr txBox="1"/>
          <p:nvPr/>
        </p:nvSpPr>
        <p:spPr>
          <a:xfrm>
            <a:off x="559950" y="1390175"/>
            <a:ext cx="7950000" cy="19242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Correct the pronoun </a:t>
            </a:r>
            <a:r>
              <a:rPr b="1" lang="en" sz="2200">
                <a:solidFill>
                  <a:schemeClr val="lt1"/>
                </a:solidFill>
                <a:latin typeface="DM Sans"/>
                <a:ea typeface="DM Sans"/>
                <a:cs typeface="DM Sans"/>
                <a:sym typeface="DM Sans"/>
              </a:rPr>
              <a:t>error(s)</a:t>
            </a:r>
            <a:r>
              <a:rPr b="1" lang="en" sz="2200">
                <a:solidFill>
                  <a:srgbClr val="FFFFFF"/>
                </a:solidFill>
                <a:latin typeface="DM Sans"/>
                <a:ea typeface="DM Sans"/>
                <a:cs typeface="DM Sans"/>
                <a:sym typeface="DM Sans"/>
              </a:rPr>
              <a:t> in the following sentences:</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 4.	Vacation is coming soon, </a:t>
            </a:r>
            <a:r>
              <a:rPr b="1" lang="en" sz="2000">
                <a:solidFill>
                  <a:schemeClr val="lt1"/>
                </a:solidFill>
                <a:latin typeface="DM Sans"/>
                <a:ea typeface="DM Sans"/>
                <a:cs typeface="DM Sans"/>
                <a:sym typeface="DM Sans"/>
              </a:rPr>
              <a:t>and that</a:t>
            </a:r>
            <a:r>
              <a:rPr lang="en" sz="2000">
                <a:solidFill>
                  <a:schemeClr val="lt1"/>
                </a:solidFill>
                <a:latin typeface="DM Sans"/>
                <a:ea typeface="DM Sans"/>
                <a:cs typeface="DM Sans"/>
                <a:sym typeface="DM Sans"/>
              </a:rPr>
              <a:t> is nice.</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i="1" sz="20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rgbClr val="FFFFFF"/>
                </a:solidFill>
                <a:latin typeface="DM Sans"/>
                <a:ea typeface="DM Sans"/>
                <a:cs typeface="DM Sans"/>
                <a:sym typeface="DM Sans"/>
              </a:rPr>
              <a:t>“which” is vague, since we don’t know what aspect the narrator is saying is nice about the vacation. Replace it with “and that” to refer to the entire idea of the vacation.</a:t>
            </a:r>
            <a:endParaRPr i="1" sz="2000">
              <a:solidFill>
                <a:srgbClr val="FFFFFF"/>
              </a:solidFill>
              <a:latin typeface="DM Sans"/>
              <a:ea typeface="DM Sans"/>
              <a:cs typeface="DM Sans"/>
              <a:sym typeface="DM Sans"/>
            </a:endParaRPr>
          </a:p>
        </p:txBody>
      </p:sp>
      <p:pic>
        <p:nvPicPr>
          <p:cNvPr id="476" name="Google Shape;476;p4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77" name="Google Shape;477;p48"/>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800"/>
                                        <p:tgtEl>
                                          <p:spTgt spid="4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4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84" name="Google Shape;484;p4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solidFill>
                  <a:schemeClr val="dk1"/>
                </a:solidFill>
                <a:latin typeface="Merriweather"/>
                <a:ea typeface="Merriweather"/>
                <a:cs typeface="Merriweather"/>
                <a:sym typeface="Merriweather"/>
              </a:rPr>
              <a:t>Question 13</a:t>
            </a:r>
            <a:endParaRPr sz="4800">
              <a:latin typeface="Merriweather"/>
              <a:ea typeface="Merriweather"/>
              <a:cs typeface="Merriweather"/>
              <a:sym typeface="Merriweather"/>
            </a:endParaRPr>
          </a:p>
        </p:txBody>
      </p:sp>
      <p:sp>
        <p:nvSpPr>
          <p:cNvPr id="485" name="Google Shape;485;p49"/>
          <p:cNvSpPr txBox="1"/>
          <p:nvPr/>
        </p:nvSpPr>
        <p:spPr>
          <a:xfrm>
            <a:off x="559950" y="1390175"/>
            <a:ext cx="7950000" cy="2232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Correct the pronoun </a:t>
            </a:r>
            <a:r>
              <a:rPr b="1" lang="en" sz="2200">
                <a:solidFill>
                  <a:schemeClr val="lt1"/>
                </a:solidFill>
                <a:latin typeface="DM Sans"/>
                <a:ea typeface="DM Sans"/>
                <a:cs typeface="DM Sans"/>
                <a:sym typeface="DM Sans"/>
              </a:rPr>
              <a:t>error(s)</a:t>
            </a:r>
            <a:r>
              <a:rPr b="1" lang="en" sz="2200">
                <a:solidFill>
                  <a:srgbClr val="FFFFFF"/>
                </a:solidFill>
                <a:latin typeface="DM Sans"/>
                <a:ea typeface="DM Sans"/>
                <a:cs typeface="DM Sans"/>
                <a:sym typeface="DM Sans"/>
              </a:rPr>
              <a:t> in the following sentences:</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 5.	 George worked in a national forest last summer. </a:t>
            </a:r>
            <a:r>
              <a:rPr b="1" lang="en" sz="2000">
                <a:solidFill>
                  <a:schemeClr val="lt1"/>
                </a:solidFill>
                <a:latin typeface="DM Sans"/>
                <a:ea typeface="DM Sans"/>
                <a:cs typeface="DM Sans"/>
                <a:sym typeface="DM Sans"/>
              </a:rPr>
              <a:t>This experience</a:t>
            </a:r>
            <a:r>
              <a:rPr lang="en" sz="2000">
                <a:solidFill>
                  <a:schemeClr val="lt1"/>
                </a:solidFill>
                <a:latin typeface="DM Sans"/>
                <a:ea typeface="DM Sans"/>
                <a:cs typeface="DM Sans"/>
                <a:sym typeface="DM Sans"/>
              </a:rPr>
              <a:t> may be his life’s work.</a:t>
            </a:r>
            <a:endParaRPr sz="2000">
              <a:solidFill>
                <a:schemeClr val="lt1"/>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rgbClr val="FFFFFF"/>
                </a:solidFill>
                <a:latin typeface="DM Sans"/>
                <a:ea typeface="DM Sans"/>
                <a:cs typeface="DM Sans"/>
                <a:sym typeface="DM Sans"/>
              </a:rPr>
              <a:t>Similar</a:t>
            </a:r>
            <a:r>
              <a:rPr i="1" lang="en" sz="2000">
                <a:solidFill>
                  <a:srgbClr val="FFFFFF"/>
                </a:solidFill>
                <a:latin typeface="DM Sans"/>
                <a:ea typeface="DM Sans"/>
                <a:cs typeface="DM Sans"/>
                <a:sym typeface="DM Sans"/>
              </a:rPr>
              <a:t> to the previous question, what “this” is referring to is unclear, so we should specify what “this” is.</a:t>
            </a:r>
            <a:r>
              <a:rPr i="1" lang="en" sz="2000">
                <a:solidFill>
                  <a:srgbClr val="FFFFFF"/>
                </a:solidFill>
                <a:latin typeface="DM Sans"/>
                <a:ea typeface="DM Sans"/>
                <a:cs typeface="DM Sans"/>
                <a:sym typeface="DM Sans"/>
              </a:rPr>
              <a:t> We must clarify by replacing “this” with something about George’s summer program.</a:t>
            </a:r>
            <a:endParaRPr i="1" sz="2000">
              <a:solidFill>
                <a:srgbClr val="FFFFFF"/>
              </a:solidFill>
              <a:latin typeface="DM Sans"/>
              <a:ea typeface="DM Sans"/>
              <a:cs typeface="DM Sans"/>
              <a:sym typeface="DM Sans"/>
            </a:endParaRPr>
          </a:p>
        </p:txBody>
      </p:sp>
      <p:pic>
        <p:nvPicPr>
          <p:cNvPr id="486" name="Google Shape;486;p4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87" name="Google Shape;487;p49"/>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8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5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94" name="Google Shape;494;p5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solidFill>
                  <a:schemeClr val="dk1"/>
                </a:solidFill>
                <a:latin typeface="Merriweather"/>
                <a:ea typeface="Merriweather"/>
                <a:cs typeface="Merriweather"/>
                <a:sym typeface="Merriweather"/>
              </a:rPr>
              <a:t>Question 13</a:t>
            </a:r>
            <a:endParaRPr sz="4800">
              <a:latin typeface="Merriweather"/>
              <a:ea typeface="Merriweather"/>
              <a:cs typeface="Merriweather"/>
              <a:sym typeface="Merriweather"/>
            </a:endParaRPr>
          </a:p>
        </p:txBody>
      </p:sp>
      <p:sp>
        <p:nvSpPr>
          <p:cNvPr id="495" name="Google Shape;495;p50"/>
          <p:cNvSpPr txBox="1"/>
          <p:nvPr/>
        </p:nvSpPr>
        <p:spPr>
          <a:xfrm>
            <a:off x="559950" y="1390175"/>
            <a:ext cx="7950000" cy="2232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rgbClr val="FFFFFF"/>
                </a:solidFill>
                <a:latin typeface="DM Sans"/>
                <a:ea typeface="DM Sans"/>
                <a:cs typeface="DM Sans"/>
                <a:sym typeface="DM Sans"/>
              </a:rPr>
              <a:t>Correct the pronoun </a:t>
            </a:r>
            <a:r>
              <a:rPr b="1" lang="en" sz="2200">
                <a:solidFill>
                  <a:schemeClr val="lt1"/>
                </a:solidFill>
                <a:latin typeface="DM Sans"/>
                <a:ea typeface="DM Sans"/>
                <a:cs typeface="DM Sans"/>
                <a:sym typeface="DM Sans"/>
              </a:rPr>
              <a:t>error(s)</a:t>
            </a:r>
            <a:r>
              <a:rPr b="1" lang="en" sz="2200">
                <a:solidFill>
                  <a:srgbClr val="FFFFFF"/>
                </a:solidFill>
                <a:latin typeface="DM Sans"/>
                <a:ea typeface="DM Sans"/>
                <a:cs typeface="DM Sans"/>
                <a:sym typeface="DM Sans"/>
              </a:rPr>
              <a:t> in the following sentences:</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 6.	If you put this sheet into your notebook, </a:t>
            </a:r>
            <a:r>
              <a:rPr b="1" lang="en" sz="2000">
                <a:solidFill>
                  <a:schemeClr val="lt1"/>
                </a:solidFill>
                <a:latin typeface="DM Sans"/>
                <a:ea typeface="DM Sans"/>
                <a:cs typeface="DM Sans"/>
                <a:sym typeface="DM Sans"/>
              </a:rPr>
              <a:t>your friends</a:t>
            </a:r>
            <a:r>
              <a:rPr lang="en" sz="2000">
                <a:solidFill>
                  <a:schemeClr val="lt1"/>
                </a:solidFill>
                <a:latin typeface="DM Sans"/>
                <a:ea typeface="DM Sans"/>
                <a:cs typeface="DM Sans"/>
                <a:sym typeface="DM Sans"/>
              </a:rPr>
              <a:t> can refer to it.</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i="1" sz="2000">
              <a:solidFill>
                <a:srgbClr val="FFFFFF"/>
              </a:solidFill>
              <a:latin typeface="DM Sans"/>
              <a:ea typeface="DM Sans"/>
              <a:cs typeface="DM Sans"/>
              <a:sym typeface="DM Sans"/>
            </a:endParaRPr>
          </a:p>
          <a:p>
            <a:pPr indent="0" lvl="0" marL="0" rtl="0" algn="l">
              <a:spcBef>
                <a:spcPts val="0"/>
              </a:spcBef>
              <a:spcAft>
                <a:spcPts val="0"/>
              </a:spcAft>
              <a:buNone/>
            </a:pPr>
            <a:r>
              <a:rPr i="1" lang="en" sz="2000">
                <a:solidFill>
                  <a:srgbClr val="FFFFFF"/>
                </a:solidFill>
                <a:latin typeface="DM Sans"/>
                <a:ea typeface="DM Sans"/>
                <a:cs typeface="DM Sans"/>
                <a:sym typeface="DM Sans"/>
              </a:rPr>
              <a:t>In this sentence, “they” has no clear antecedent, so replace it with a specific noun instead. It could be “your friends,” “you,” “your juniors,” etc.</a:t>
            </a:r>
            <a:endParaRPr i="1" sz="2000">
              <a:solidFill>
                <a:srgbClr val="FFFFFF"/>
              </a:solidFill>
              <a:latin typeface="DM Sans"/>
              <a:ea typeface="DM Sans"/>
              <a:cs typeface="DM Sans"/>
              <a:sym typeface="DM Sans"/>
            </a:endParaRPr>
          </a:p>
        </p:txBody>
      </p:sp>
      <p:pic>
        <p:nvPicPr>
          <p:cNvPr id="496" name="Google Shape;496;p5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97" name="Google Shape;497;p50"/>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800"/>
                                        <p:tgtEl>
                                          <p:spTgt spid="4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1"/>
          <p:cNvSpPr/>
          <p:nvPr/>
        </p:nvSpPr>
        <p:spPr>
          <a:xfrm>
            <a:off x="541425" y="1604025"/>
            <a:ext cx="8024100" cy="1086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3" name="Google Shape;503;p5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4" name="Google Shape;504;p5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05" name="Google Shape;505;p5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14</a:t>
            </a:r>
            <a:endParaRPr sz="4800">
              <a:latin typeface="Merriweather"/>
              <a:ea typeface="Merriweather"/>
              <a:cs typeface="Merriweather"/>
              <a:sym typeface="Merriweather"/>
            </a:endParaRPr>
          </a:p>
        </p:txBody>
      </p:sp>
      <p:sp>
        <p:nvSpPr>
          <p:cNvPr id="506" name="Google Shape;506;p51"/>
          <p:cNvSpPr txBox="1"/>
          <p:nvPr/>
        </p:nvSpPr>
        <p:spPr>
          <a:xfrm>
            <a:off x="578475" y="1275509"/>
            <a:ext cx="7950000" cy="1754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100">
                <a:solidFill>
                  <a:srgbClr val="FFFFFF"/>
                </a:solidFill>
                <a:latin typeface="DM Sans"/>
                <a:ea typeface="DM Sans"/>
                <a:cs typeface="DM Sans"/>
                <a:sym typeface="DM Sans"/>
              </a:rPr>
              <a:t>Read the sentence below.</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600">
              <a:solidFill>
                <a:srgbClr val="FFFFFF"/>
              </a:solidFill>
              <a:latin typeface="DM Sans"/>
              <a:ea typeface="DM Sans"/>
              <a:cs typeface="DM Sans"/>
              <a:sym typeface="DM Sans"/>
            </a:endParaRPr>
          </a:p>
          <a:p>
            <a:pPr indent="0" lvl="0" marL="137160" rtl="0" algn="l">
              <a:spcBef>
                <a:spcPts val="0"/>
              </a:spcBef>
              <a:spcAft>
                <a:spcPts val="0"/>
              </a:spcAft>
              <a:buNone/>
            </a:pPr>
            <a:r>
              <a:rPr lang="en" sz="1900">
                <a:solidFill>
                  <a:srgbClr val="FFFFFF"/>
                </a:solidFill>
                <a:latin typeface="DM Sans"/>
                <a:ea typeface="DM Sans"/>
                <a:cs typeface="DM Sans"/>
                <a:sym typeface="DM Sans"/>
              </a:rPr>
              <a:t>My sister and I spent </a:t>
            </a:r>
            <a:r>
              <a:rPr lang="en" sz="1900" u="sng">
                <a:solidFill>
                  <a:srgbClr val="FFFFFF"/>
                </a:solidFill>
                <a:latin typeface="DM Sans"/>
                <a:ea typeface="DM Sans"/>
                <a:cs typeface="DM Sans"/>
                <a:sym typeface="DM Sans"/>
              </a:rPr>
              <a:t>nearly</a:t>
            </a:r>
            <a:r>
              <a:rPr lang="en" sz="1900">
                <a:solidFill>
                  <a:srgbClr val="FFFFFF"/>
                </a:solidFill>
                <a:latin typeface="DM Sans"/>
                <a:ea typeface="DM Sans"/>
                <a:cs typeface="DM Sans"/>
                <a:sym typeface="DM Sans"/>
              </a:rPr>
              <a:t> all of Saturday evening playing tennis at the park, but </a:t>
            </a:r>
            <a:r>
              <a:rPr lang="en" sz="1900" u="sng">
                <a:solidFill>
                  <a:srgbClr val="FFFFFF"/>
                </a:solidFill>
                <a:latin typeface="DM Sans"/>
                <a:ea typeface="DM Sans"/>
                <a:cs typeface="DM Sans"/>
                <a:sym typeface="DM Sans"/>
              </a:rPr>
              <a:t>we</a:t>
            </a:r>
            <a:r>
              <a:rPr lang="en" sz="1900">
                <a:solidFill>
                  <a:srgbClr val="FFFFFF"/>
                </a:solidFill>
                <a:latin typeface="DM Sans"/>
                <a:ea typeface="DM Sans"/>
                <a:cs typeface="DM Sans"/>
                <a:sym typeface="DM Sans"/>
              </a:rPr>
              <a:t> had to stop when it became too difficult </a:t>
            </a:r>
            <a:r>
              <a:rPr lang="en" sz="1900" u="sng">
                <a:solidFill>
                  <a:srgbClr val="FFFFFF"/>
                </a:solidFill>
                <a:latin typeface="DM Sans"/>
                <a:ea typeface="DM Sans"/>
                <a:cs typeface="DM Sans"/>
                <a:sym typeface="DM Sans"/>
              </a:rPr>
              <a:t>and challenging</a:t>
            </a:r>
            <a:r>
              <a:rPr lang="en" sz="1900">
                <a:solidFill>
                  <a:srgbClr val="FFFFFF"/>
                </a:solidFill>
                <a:latin typeface="DM Sans"/>
                <a:ea typeface="DM Sans"/>
                <a:cs typeface="DM Sans"/>
                <a:sym typeface="DM Sans"/>
              </a:rPr>
              <a:t> </a:t>
            </a:r>
            <a:r>
              <a:rPr lang="en" sz="1900" u="sng">
                <a:solidFill>
                  <a:srgbClr val="FFFFFF"/>
                </a:solidFill>
                <a:latin typeface="DM Sans"/>
                <a:ea typeface="DM Sans"/>
                <a:cs typeface="DM Sans"/>
                <a:sym typeface="DM Sans"/>
              </a:rPr>
              <a:t>to see the ball</a:t>
            </a:r>
            <a:r>
              <a:rPr lang="en" sz="1900">
                <a:solidFill>
                  <a:srgbClr val="FFFFFF"/>
                </a:solidFill>
                <a:latin typeface="DM Sans"/>
                <a:ea typeface="DM Sans"/>
                <a:cs typeface="DM Sans"/>
                <a:sym typeface="DM Sans"/>
              </a:rPr>
              <a:t>.</a:t>
            </a:r>
            <a:endParaRPr sz="1900">
              <a:solidFill>
                <a:srgbClr val="FFFFFF"/>
              </a:solidFill>
              <a:latin typeface="DM Sans"/>
              <a:ea typeface="DM Sans"/>
              <a:cs typeface="DM Sans"/>
              <a:sym typeface="DM Sans"/>
            </a:endParaRPr>
          </a:p>
          <a:p>
            <a:pPr indent="0" lvl="0" marL="0" rtl="0" algn="l">
              <a:spcBef>
                <a:spcPts val="0"/>
              </a:spcBef>
              <a:spcAft>
                <a:spcPts val="0"/>
              </a:spcAft>
              <a:buNone/>
            </a:pPr>
            <a:r>
              <a:t/>
            </a:r>
            <a:endParaRPr sz="9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What edit should be made to correct this sentence?</a:t>
            </a:r>
            <a:endParaRPr sz="2100">
              <a:solidFill>
                <a:srgbClr val="FFFFFF"/>
              </a:solidFill>
              <a:latin typeface="DM Sans"/>
              <a:ea typeface="DM Sans"/>
              <a:cs typeface="DM Sans"/>
              <a:sym typeface="DM Sans"/>
            </a:endParaRPr>
          </a:p>
        </p:txBody>
      </p:sp>
      <p:pic>
        <p:nvPicPr>
          <p:cNvPr id="507" name="Google Shape;507;p5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08" name="Google Shape;508;p51"/>
          <p:cNvSpPr txBox="1"/>
          <p:nvPr/>
        </p:nvSpPr>
        <p:spPr>
          <a:xfrm>
            <a:off x="578475" y="3137901"/>
            <a:ext cx="8024100" cy="1169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1900">
                <a:solidFill>
                  <a:srgbClr val="FFFFFF"/>
                </a:solidFill>
                <a:latin typeface="DM Sans"/>
                <a:ea typeface="DM Sans"/>
                <a:cs typeface="DM Sans"/>
                <a:sym typeface="DM Sans"/>
              </a:rPr>
              <a:t>A. Delete </a:t>
            </a:r>
            <a:r>
              <a:rPr i="1" lang="en" sz="1900">
                <a:solidFill>
                  <a:srgbClr val="FFFFFF"/>
                </a:solidFill>
                <a:latin typeface="DM Sans"/>
                <a:ea typeface="DM Sans"/>
                <a:cs typeface="DM Sans"/>
                <a:sym typeface="DM Sans"/>
              </a:rPr>
              <a:t>nearly</a:t>
            </a:r>
            <a:r>
              <a:rPr lang="en" sz="1900">
                <a:solidFill>
                  <a:srgbClr val="FFFFFF"/>
                </a:solidFill>
                <a:latin typeface="DM Sans"/>
                <a:ea typeface="DM Sans"/>
                <a:cs typeface="DM Sans"/>
                <a:sym typeface="DM Sans"/>
              </a:rPr>
              <a:t>.</a:t>
            </a:r>
            <a:endParaRPr sz="1900">
              <a:solidFill>
                <a:srgbClr val="FFFFFF"/>
              </a:solidFill>
              <a:latin typeface="DM Sans"/>
              <a:ea typeface="DM Sans"/>
              <a:cs typeface="DM Sans"/>
              <a:sym typeface="DM Sans"/>
            </a:endParaRPr>
          </a:p>
          <a:p>
            <a:pPr indent="0" lvl="0" marL="0" rtl="0" algn="l">
              <a:spcBef>
                <a:spcPts val="0"/>
              </a:spcBef>
              <a:spcAft>
                <a:spcPts val="0"/>
              </a:spcAft>
              <a:buNone/>
            </a:pPr>
            <a:r>
              <a:rPr lang="en" sz="1900">
                <a:solidFill>
                  <a:srgbClr val="FFFFFF"/>
                </a:solidFill>
                <a:latin typeface="DM Sans"/>
                <a:ea typeface="DM Sans"/>
                <a:cs typeface="DM Sans"/>
                <a:sym typeface="DM Sans"/>
              </a:rPr>
              <a:t>B. Delete </a:t>
            </a:r>
            <a:r>
              <a:rPr i="1" lang="en" sz="1900">
                <a:solidFill>
                  <a:srgbClr val="FFFFFF"/>
                </a:solidFill>
                <a:latin typeface="DM Sans"/>
                <a:ea typeface="DM Sans"/>
                <a:cs typeface="DM Sans"/>
                <a:sym typeface="DM Sans"/>
              </a:rPr>
              <a:t>we</a:t>
            </a:r>
            <a:r>
              <a:rPr lang="en" sz="1900">
                <a:solidFill>
                  <a:srgbClr val="FFFFFF"/>
                </a:solidFill>
                <a:latin typeface="DM Sans"/>
                <a:ea typeface="DM Sans"/>
                <a:cs typeface="DM Sans"/>
                <a:sym typeface="DM Sans"/>
              </a:rPr>
              <a:t>.</a:t>
            </a:r>
            <a:endParaRPr sz="1900">
              <a:solidFill>
                <a:srgbClr val="FFFFFF"/>
              </a:solidFill>
              <a:latin typeface="DM Sans"/>
              <a:ea typeface="DM Sans"/>
              <a:cs typeface="DM Sans"/>
              <a:sym typeface="DM Sans"/>
            </a:endParaRPr>
          </a:p>
          <a:p>
            <a:pPr indent="0" lvl="0" marL="0" rtl="0" algn="l">
              <a:spcBef>
                <a:spcPts val="0"/>
              </a:spcBef>
              <a:spcAft>
                <a:spcPts val="0"/>
              </a:spcAft>
              <a:buNone/>
            </a:pPr>
            <a:r>
              <a:rPr lang="en" sz="1900">
                <a:solidFill>
                  <a:srgbClr val="FFFFFF"/>
                </a:solidFill>
                <a:latin typeface="DM Sans"/>
                <a:ea typeface="DM Sans"/>
                <a:cs typeface="DM Sans"/>
                <a:sym typeface="DM Sans"/>
              </a:rPr>
              <a:t>C. Delete </a:t>
            </a:r>
            <a:r>
              <a:rPr i="1" lang="en" sz="1900">
                <a:solidFill>
                  <a:srgbClr val="FFFFFF"/>
                </a:solidFill>
                <a:latin typeface="DM Sans"/>
                <a:ea typeface="DM Sans"/>
                <a:cs typeface="DM Sans"/>
                <a:sym typeface="DM Sans"/>
              </a:rPr>
              <a:t>and challenging</a:t>
            </a:r>
            <a:r>
              <a:rPr lang="en" sz="1900">
                <a:solidFill>
                  <a:srgbClr val="FFFFFF"/>
                </a:solidFill>
                <a:latin typeface="DM Sans"/>
                <a:ea typeface="DM Sans"/>
                <a:cs typeface="DM Sans"/>
                <a:sym typeface="DM Sans"/>
              </a:rPr>
              <a:t>.</a:t>
            </a:r>
            <a:endParaRPr sz="1900">
              <a:solidFill>
                <a:srgbClr val="FFFFFF"/>
              </a:solidFill>
              <a:latin typeface="DM Sans"/>
              <a:ea typeface="DM Sans"/>
              <a:cs typeface="DM Sans"/>
              <a:sym typeface="DM Sans"/>
            </a:endParaRPr>
          </a:p>
          <a:p>
            <a:pPr indent="0" lvl="0" marL="0" rtl="0" algn="l">
              <a:spcBef>
                <a:spcPts val="0"/>
              </a:spcBef>
              <a:spcAft>
                <a:spcPts val="0"/>
              </a:spcAft>
              <a:buNone/>
            </a:pPr>
            <a:r>
              <a:rPr lang="en" sz="1900">
                <a:solidFill>
                  <a:srgbClr val="FFFFFF"/>
                </a:solidFill>
                <a:latin typeface="DM Sans"/>
                <a:ea typeface="DM Sans"/>
                <a:cs typeface="DM Sans"/>
                <a:sym typeface="DM Sans"/>
              </a:rPr>
              <a:t>D. Delete </a:t>
            </a:r>
            <a:r>
              <a:rPr i="1" lang="en" sz="1900">
                <a:solidFill>
                  <a:srgbClr val="FFFFFF"/>
                </a:solidFill>
                <a:latin typeface="DM Sans"/>
                <a:ea typeface="DM Sans"/>
                <a:cs typeface="DM Sans"/>
                <a:sym typeface="DM Sans"/>
              </a:rPr>
              <a:t>to see the ball</a:t>
            </a:r>
            <a:r>
              <a:rPr lang="en" sz="1900">
                <a:solidFill>
                  <a:srgbClr val="FFFFFF"/>
                </a:solidFill>
                <a:latin typeface="DM Sans"/>
                <a:ea typeface="DM Sans"/>
                <a:cs typeface="DM Sans"/>
                <a:sym typeface="DM Sans"/>
              </a:rPr>
              <a:t>.</a:t>
            </a:r>
            <a:endParaRPr sz="1900">
              <a:solidFill>
                <a:srgbClr val="FFFFFF"/>
              </a:solidFill>
              <a:latin typeface="DM Sans"/>
              <a:ea typeface="DM Sans"/>
              <a:cs typeface="DM Sans"/>
              <a:sym typeface="DM Sans"/>
            </a:endParaRPr>
          </a:p>
        </p:txBody>
      </p:sp>
      <p:sp>
        <p:nvSpPr>
          <p:cNvPr id="509" name="Google Shape;509;p51"/>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800"/>
                                        <p:tgtEl>
                                          <p:spTgt spid="506"/>
                                        </p:tgtEl>
                                      </p:cBhvr>
                                    </p:animEffect>
                                  </p:childTnLst>
                                </p:cTn>
                              </p:par>
                              <p:par>
                                <p:cTn fill="hold" nodeType="with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800"/>
                                        <p:tgtEl>
                                          <p:spTgt spid="5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2"/>
          <p:cNvSpPr/>
          <p:nvPr/>
        </p:nvSpPr>
        <p:spPr>
          <a:xfrm>
            <a:off x="550688" y="1649538"/>
            <a:ext cx="8024100" cy="1086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5" name="Google Shape;515;p5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5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17" name="Google Shape;517;p5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14</a:t>
            </a:r>
            <a:endParaRPr sz="4800">
              <a:latin typeface="Merriweather"/>
              <a:ea typeface="Merriweather"/>
              <a:cs typeface="Merriweather"/>
              <a:sym typeface="Merriweather"/>
            </a:endParaRPr>
          </a:p>
        </p:txBody>
      </p:sp>
      <p:sp>
        <p:nvSpPr>
          <p:cNvPr id="518" name="Google Shape;518;p52"/>
          <p:cNvSpPr txBox="1"/>
          <p:nvPr/>
        </p:nvSpPr>
        <p:spPr>
          <a:xfrm>
            <a:off x="587738" y="1261788"/>
            <a:ext cx="7950000" cy="1893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700">
              <a:solidFill>
                <a:srgbClr val="FFFFFF"/>
              </a:solidFill>
              <a:latin typeface="DM Sans"/>
              <a:ea typeface="DM Sans"/>
              <a:cs typeface="DM Sans"/>
              <a:sym typeface="DM Sans"/>
            </a:endParaRPr>
          </a:p>
          <a:p>
            <a:pPr indent="0" lvl="0" marL="137160" rtl="0" algn="l">
              <a:spcBef>
                <a:spcPts val="0"/>
              </a:spcBef>
              <a:spcAft>
                <a:spcPts val="0"/>
              </a:spcAft>
              <a:buNone/>
            </a:pPr>
            <a:r>
              <a:rPr lang="en" sz="2000">
                <a:solidFill>
                  <a:srgbClr val="FFFFFF"/>
                </a:solidFill>
                <a:latin typeface="DM Sans"/>
                <a:ea typeface="DM Sans"/>
                <a:cs typeface="DM Sans"/>
                <a:sym typeface="DM Sans"/>
              </a:rPr>
              <a:t>My sister and I spent </a:t>
            </a:r>
            <a:r>
              <a:rPr lang="en" sz="2000" u="sng">
                <a:solidFill>
                  <a:srgbClr val="FFFFFF"/>
                </a:solidFill>
                <a:latin typeface="DM Sans"/>
                <a:ea typeface="DM Sans"/>
                <a:cs typeface="DM Sans"/>
                <a:sym typeface="DM Sans"/>
              </a:rPr>
              <a:t>nearly</a:t>
            </a:r>
            <a:r>
              <a:rPr lang="en" sz="2000">
                <a:solidFill>
                  <a:srgbClr val="FFFFFF"/>
                </a:solidFill>
                <a:latin typeface="DM Sans"/>
                <a:ea typeface="DM Sans"/>
                <a:cs typeface="DM Sans"/>
                <a:sym typeface="DM Sans"/>
              </a:rPr>
              <a:t> all of Saturday evening playing tennis at the park, but </a:t>
            </a:r>
            <a:r>
              <a:rPr lang="en" sz="2000" u="sng">
                <a:solidFill>
                  <a:srgbClr val="FFFFFF"/>
                </a:solidFill>
                <a:latin typeface="DM Sans"/>
                <a:ea typeface="DM Sans"/>
                <a:cs typeface="DM Sans"/>
                <a:sym typeface="DM Sans"/>
              </a:rPr>
              <a:t>we</a:t>
            </a:r>
            <a:r>
              <a:rPr lang="en" sz="2000">
                <a:solidFill>
                  <a:srgbClr val="FFFFFF"/>
                </a:solidFill>
                <a:latin typeface="DM Sans"/>
                <a:ea typeface="DM Sans"/>
                <a:cs typeface="DM Sans"/>
                <a:sym typeface="DM Sans"/>
              </a:rPr>
              <a:t> had to stop when it became too difficult </a:t>
            </a:r>
            <a:r>
              <a:rPr lang="en" sz="2100">
                <a:solidFill>
                  <a:schemeClr val="dk1"/>
                </a:solidFill>
                <a:highlight>
                  <a:srgbClr val="C6DED9"/>
                </a:highlight>
                <a:latin typeface="DM Sans"/>
                <a:ea typeface="DM Sans"/>
                <a:cs typeface="DM Sans"/>
                <a:sym typeface="DM Sans"/>
              </a:rPr>
              <a:t>and challenging</a:t>
            </a:r>
            <a:r>
              <a:rPr lang="en" sz="2000">
                <a:solidFill>
                  <a:srgbClr val="FFFFFF"/>
                </a:solidFill>
                <a:latin typeface="DM Sans"/>
                <a:ea typeface="DM Sans"/>
                <a:cs typeface="DM Sans"/>
                <a:sym typeface="DM Sans"/>
              </a:rPr>
              <a:t> </a:t>
            </a:r>
            <a:r>
              <a:rPr lang="en" sz="2000" u="sng">
                <a:solidFill>
                  <a:srgbClr val="FFFFFF"/>
                </a:solidFill>
                <a:latin typeface="DM Sans"/>
                <a:ea typeface="DM Sans"/>
                <a:cs typeface="DM Sans"/>
                <a:sym typeface="DM Sans"/>
              </a:rPr>
              <a:t>to see the ball</a:t>
            </a:r>
            <a:r>
              <a:rPr lang="en" sz="2000">
                <a:solidFill>
                  <a:srgbClr val="FFFFFF"/>
                </a:solidFill>
                <a:latin typeface="DM Sans"/>
                <a:ea typeface="DM Sans"/>
                <a:cs typeface="DM Sans"/>
                <a:sym typeface="DM Sans"/>
              </a:rPr>
              <a:t>.</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1000">
              <a:solidFill>
                <a:srgbClr val="FFFFFF"/>
              </a:solidFill>
              <a:latin typeface="DM Sans"/>
              <a:ea typeface="DM Sans"/>
              <a:cs typeface="DM Sans"/>
              <a:sym typeface="DM Sans"/>
            </a:endParaRPr>
          </a:p>
          <a:p>
            <a:pPr indent="0" lvl="0" marL="0" rtl="0" algn="l">
              <a:spcBef>
                <a:spcPts val="0"/>
              </a:spcBef>
              <a:spcAft>
                <a:spcPts val="0"/>
              </a:spcAft>
              <a:buNone/>
            </a:pPr>
            <a:r>
              <a:t/>
            </a:r>
            <a:endParaRPr sz="2200">
              <a:solidFill>
                <a:srgbClr val="FFFFFF"/>
              </a:solidFill>
              <a:latin typeface="DM Sans"/>
              <a:ea typeface="DM Sans"/>
              <a:cs typeface="DM Sans"/>
              <a:sym typeface="DM Sans"/>
            </a:endParaRPr>
          </a:p>
        </p:txBody>
      </p:sp>
      <p:pic>
        <p:nvPicPr>
          <p:cNvPr id="519" name="Google Shape;519;p5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20" name="Google Shape;520;p52"/>
          <p:cNvSpPr txBox="1"/>
          <p:nvPr/>
        </p:nvSpPr>
        <p:spPr>
          <a:xfrm>
            <a:off x="569213" y="2889767"/>
            <a:ext cx="8024100" cy="123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FFFF"/>
                </a:solidFill>
                <a:latin typeface="DM Sans"/>
                <a:ea typeface="DM Sans"/>
                <a:cs typeface="DM Sans"/>
                <a:sym typeface="DM Sans"/>
              </a:rPr>
              <a:t>A. Delete </a:t>
            </a:r>
            <a:r>
              <a:rPr i="1" lang="en" sz="2000">
                <a:solidFill>
                  <a:srgbClr val="FFFFFF"/>
                </a:solidFill>
                <a:latin typeface="DM Sans"/>
                <a:ea typeface="DM Sans"/>
                <a:cs typeface="DM Sans"/>
                <a:sym typeface="DM Sans"/>
              </a:rPr>
              <a:t>nearly</a:t>
            </a:r>
            <a:r>
              <a:rPr lang="en" sz="2000">
                <a:solidFill>
                  <a:srgbClr val="FFFFFF"/>
                </a:solidFill>
                <a:latin typeface="DM Sans"/>
                <a:ea typeface="DM Sans"/>
                <a:cs typeface="DM Sans"/>
                <a:sym typeface="DM Sans"/>
              </a:rPr>
              <a:t>.</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B. Delete </a:t>
            </a:r>
            <a:r>
              <a:rPr i="1" lang="en" sz="2000">
                <a:solidFill>
                  <a:srgbClr val="FFFFFF"/>
                </a:solidFill>
                <a:latin typeface="DM Sans"/>
                <a:ea typeface="DM Sans"/>
                <a:cs typeface="DM Sans"/>
                <a:sym typeface="DM Sans"/>
              </a:rPr>
              <a:t>we</a:t>
            </a:r>
            <a:r>
              <a:rPr lang="en" sz="2000">
                <a:solidFill>
                  <a:srgbClr val="FFFFFF"/>
                </a:solidFill>
                <a:latin typeface="DM Sans"/>
                <a:ea typeface="DM Sans"/>
                <a:cs typeface="DM Sans"/>
                <a:sym typeface="DM Sans"/>
              </a:rPr>
              <a:t>.</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C. Delete </a:t>
            </a:r>
            <a:r>
              <a:rPr i="1" lang="en" sz="2000">
                <a:solidFill>
                  <a:srgbClr val="FFFFFF"/>
                </a:solidFill>
                <a:latin typeface="DM Sans"/>
                <a:ea typeface="DM Sans"/>
                <a:cs typeface="DM Sans"/>
                <a:sym typeface="DM Sans"/>
              </a:rPr>
              <a:t>and challenging</a:t>
            </a:r>
            <a:r>
              <a:rPr lang="en" sz="2000">
                <a:solidFill>
                  <a:srgbClr val="FFFFFF"/>
                </a:solidFill>
                <a:latin typeface="DM Sans"/>
                <a:ea typeface="DM Sans"/>
                <a:cs typeface="DM Sans"/>
                <a:sym typeface="DM Sans"/>
              </a:rPr>
              <a:t>.</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D. Delete </a:t>
            </a:r>
            <a:r>
              <a:rPr i="1" lang="en" sz="2000">
                <a:solidFill>
                  <a:srgbClr val="FFFFFF"/>
                </a:solidFill>
                <a:latin typeface="DM Sans"/>
                <a:ea typeface="DM Sans"/>
                <a:cs typeface="DM Sans"/>
                <a:sym typeface="DM Sans"/>
              </a:rPr>
              <a:t>to see the ball</a:t>
            </a:r>
            <a:r>
              <a:rPr lang="en" sz="2000">
                <a:solidFill>
                  <a:srgbClr val="FFFFFF"/>
                </a:solidFill>
                <a:latin typeface="DM Sans"/>
                <a:ea typeface="DM Sans"/>
                <a:cs typeface="DM Sans"/>
                <a:sym typeface="DM Sans"/>
              </a:rPr>
              <a:t>.</a:t>
            </a:r>
            <a:endParaRPr sz="2000">
              <a:solidFill>
                <a:srgbClr val="FFFFFF"/>
              </a:solidFill>
              <a:latin typeface="DM Sans"/>
              <a:ea typeface="DM Sans"/>
              <a:cs typeface="DM Sans"/>
              <a:sym typeface="DM Sans"/>
            </a:endParaRPr>
          </a:p>
        </p:txBody>
      </p:sp>
      <p:sp>
        <p:nvSpPr>
          <p:cNvPr id="521" name="Google Shape;521;p52"/>
          <p:cNvSpPr/>
          <p:nvPr/>
        </p:nvSpPr>
        <p:spPr>
          <a:xfrm>
            <a:off x="463906" y="3473827"/>
            <a:ext cx="383100" cy="369300"/>
          </a:xfrm>
          <a:prstGeom prst="ellipse">
            <a:avLst/>
          </a:prstGeom>
          <a:noFill/>
          <a:ln cap="flat" cmpd="sng" w="38100">
            <a:solidFill>
              <a:srgbClr val="C6DE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2" name="Google Shape;522;p52"/>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800"/>
                                        <p:tgtEl>
                                          <p:spTgt spid="518"/>
                                        </p:tgtEl>
                                      </p:cBhvr>
                                    </p:animEffect>
                                  </p:childTnLst>
                                </p:cTn>
                              </p:par>
                              <p:par>
                                <p:cTn fill="hold" nodeType="with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800"/>
                                        <p:tgtEl>
                                          <p:spTgt spid="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3"/>
          <p:cNvSpPr/>
          <p:nvPr/>
        </p:nvSpPr>
        <p:spPr>
          <a:xfrm>
            <a:off x="550688" y="1649538"/>
            <a:ext cx="8024100" cy="1086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5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5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30" name="Google Shape;530;p5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14</a:t>
            </a:r>
            <a:endParaRPr sz="4800">
              <a:latin typeface="Merriweather"/>
              <a:ea typeface="Merriweather"/>
              <a:cs typeface="Merriweather"/>
              <a:sym typeface="Merriweather"/>
            </a:endParaRPr>
          </a:p>
        </p:txBody>
      </p:sp>
      <p:sp>
        <p:nvSpPr>
          <p:cNvPr id="531" name="Google Shape;531;p53"/>
          <p:cNvSpPr txBox="1"/>
          <p:nvPr/>
        </p:nvSpPr>
        <p:spPr>
          <a:xfrm>
            <a:off x="587738" y="1261788"/>
            <a:ext cx="7950000" cy="1893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t/>
            </a:r>
            <a:endParaRPr b="1" sz="2200">
              <a:solidFill>
                <a:srgbClr val="FFFFFF"/>
              </a:solidFill>
              <a:latin typeface="DM Sans"/>
              <a:ea typeface="DM Sans"/>
              <a:cs typeface="DM Sans"/>
              <a:sym typeface="DM Sans"/>
            </a:endParaRPr>
          </a:p>
          <a:p>
            <a:pPr indent="0" lvl="0" marL="0" rtl="0" algn="l">
              <a:spcBef>
                <a:spcPts val="0"/>
              </a:spcBef>
              <a:spcAft>
                <a:spcPts val="0"/>
              </a:spcAft>
              <a:buNone/>
            </a:pPr>
            <a:r>
              <a:t/>
            </a:r>
            <a:endParaRPr b="1" sz="700">
              <a:solidFill>
                <a:srgbClr val="FFFFFF"/>
              </a:solidFill>
              <a:latin typeface="DM Sans"/>
              <a:ea typeface="DM Sans"/>
              <a:cs typeface="DM Sans"/>
              <a:sym typeface="DM Sans"/>
            </a:endParaRPr>
          </a:p>
          <a:p>
            <a:pPr indent="0" lvl="0" marL="137160" rtl="0" algn="l">
              <a:spcBef>
                <a:spcPts val="0"/>
              </a:spcBef>
              <a:spcAft>
                <a:spcPts val="0"/>
              </a:spcAft>
              <a:buNone/>
            </a:pPr>
            <a:r>
              <a:rPr lang="en" sz="2000">
                <a:solidFill>
                  <a:srgbClr val="FFFFFF"/>
                </a:solidFill>
                <a:latin typeface="DM Sans"/>
                <a:ea typeface="DM Sans"/>
                <a:cs typeface="DM Sans"/>
                <a:sym typeface="DM Sans"/>
              </a:rPr>
              <a:t>My sister and I spent </a:t>
            </a:r>
            <a:r>
              <a:rPr lang="en" sz="2000" u="sng">
                <a:solidFill>
                  <a:srgbClr val="FFFFFF"/>
                </a:solidFill>
                <a:latin typeface="DM Sans"/>
                <a:ea typeface="DM Sans"/>
                <a:cs typeface="DM Sans"/>
                <a:sym typeface="DM Sans"/>
              </a:rPr>
              <a:t>nearly</a:t>
            </a:r>
            <a:r>
              <a:rPr lang="en" sz="2000">
                <a:solidFill>
                  <a:srgbClr val="FFFFFF"/>
                </a:solidFill>
                <a:latin typeface="DM Sans"/>
                <a:ea typeface="DM Sans"/>
                <a:cs typeface="DM Sans"/>
                <a:sym typeface="DM Sans"/>
              </a:rPr>
              <a:t> all of Saturday evening playing tennis at the park, but </a:t>
            </a:r>
            <a:r>
              <a:rPr lang="en" sz="2000" u="sng">
                <a:solidFill>
                  <a:srgbClr val="FFFFFF"/>
                </a:solidFill>
                <a:latin typeface="DM Sans"/>
                <a:ea typeface="DM Sans"/>
                <a:cs typeface="DM Sans"/>
                <a:sym typeface="DM Sans"/>
              </a:rPr>
              <a:t>we</a:t>
            </a:r>
            <a:r>
              <a:rPr lang="en" sz="2000">
                <a:solidFill>
                  <a:srgbClr val="FFFFFF"/>
                </a:solidFill>
                <a:latin typeface="DM Sans"/>
                <a:ea typeface="DM Sans"/>
                <a:cs typeface="DM Sans"/>
                <a:sym typeface="DM Sans"/>
              </a:rPr>
              <a:t> had to stop when it became too difficult </a:t>
            </a:r>
            <a:r>
              <a:rPr lang="en" sz="2100">
                <a:solidFill>
                  <a:schemeClr val="dk1"/>
                </a:solidFill>
                <a:highlight>
                  <a:srgbClr val="C6DED9"/>
                </a:highlight>
                <a:latin typeface="DM Sans"/>
                <a:ea typeface="DM Sans"/>
                <a:cs typeface="DM Sans"/>
                <a:sym typeface="DM Sans"/>
              </a:rPr>
              <a:t>and challenging</a:t>
            </a:r>
            <a:r>
              <a:rPr lang="en" sz="2000">
                <a:solidFill>
                  <a:srgbClr val="FFFFFF"/>
                </a:solidFill>
                <a:latin typeface="DM Sans"/>
                <a:ea typeface="DM Sans"/>
                <a:cs typeface="DM Sans"/>
                <a:sym typeface="DM Sans"/>
              </a:rPr>
              <a:t> </a:t>
            </a:r>
            <a:r>
              <a:rPr lang="en" sz="2000" u="sng">
                <a:solidFill>
                  <a:srgbClr val="FFFFFF"/>
                </a:solidFill>
                <a:latin typeface="DM Sans"/>
                <a:ea typeface="DM Sans"/>
                <a:cs typeface="DM Sans"/>
                <a:sym typeface="DM Sans"/>
              </a:rPr>
              <a:t>to see the ball</a:t>
            </a:r>
            <a:r>
              <a:rPr lang="en" sz="2000">
                <a:solidFill>
                  <a:srgbClr val="FFFFFF"/>
                </a:solidFill>
                <a:latin typeface="DM Sans"/>
                <a:ea typeface="DM Sans"/>
                <a:cs typeface="DM Sans"/>
                <a:sym typeface="DM Sans"/>
              </a:rPr>
              <a:t>.</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1000">
              <a:solidFill>
                <a:srgbClr val="FFFFFF"/>
              </a:solidFill>
              <a:latin typeface="DM Sans"/>
              <a:ea typeface="DM Sans"/>
              <a:cs typeface="DM Sans"/>
              <a:sym typeface="DM Sans"/>
            </a:endParaRPr>
          </a:p>
          <a:p>
            <a:pPr indent="0" lvl="0" marL="0" rtl="0" algn="l">
              <a:spcBef>
                <a:spcPts val="0"/>
              </a:spcBef>
              <a:spcAft>
                <a:spcPts val="0"/>
              </a:spcAft>
              <a:buNone/>
            </a:pPr>
            <a:r>
              <a:t/>
            </a:r>
            <a:endParaRPr sz="2200">
              <a:solidFill>
                <a:srgbClr val="FFFFFF"/>
              </a:solidFill>
              <a:latin typeface="DM Sans"/>
              <a:ea typeface="DM Sans"/>
              <a:cs typeface="DM Sans"/>
              <a:sym typeface="DM Sans"/>
            </a:endParaRPr>
          </a:p>
        </p:txBody>
      </p:sp>
      <p:pic>
        <p:nvPicPr>
          <p:cNvPr id="532" name="Google Shape;532;p5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33" name="Google Shape;533;p53"/>
          <p:cNvSpPr txBox="1"/>
          <p:nvPr/>
        </p:nvSpPr>
        <p:spPr>
          <a:xfrm>
            <a:off x="569213" y="2889767"/>
            <a:ext cx="8024100" cy="9234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i="1" lang="en" sz="2000">
                <a:solidFill>
                  <a:srgbClr val="FFFFFF"/>
                </a:solidFill>
                <a:latin typeface="DM Sans"/>
                <a:ea typeface="DM Sans"/>
                <a:cs typeface="DM Sans"/>
                <a:sym typeface="DM Sans"/>
              </a:rPr>
              <a:t>By deleting redundant / repetitive phrases like “and challenging,” a good sentence is created. The words “difficult” and “challenging” both mean it was hard to see the ball here.</a:t>
            </a:r>
            <a:endParaRPr i="1" sz="2000">
              <a:solidFill>
                <a:srgbClr val="FFFFFF"/>
              </a:solidFill>
              <a:latin typeface="DM Sans"/>
              <a:ea typeface="DM Sans"/>
              <a:cs typeface="DM Sans"/>
              <a:sym typeface="DM Sans"/>
            </a:endParaRPr>
          </a:p>
        </p:txBody>
      </p:sp>
      <p:sp>
        <p:nvSpPr>
          <p:cNvPr id="534" name="Google Shape;534;p53"/>
          <p:cNvSpPr/>
          <p:nvPr/>
        </p:nvSpPr>
        <p:spPr>
          <a:xfrm>
            <a:off x="-8" y="4272600"/>
            <a:ext cx="15730575"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he she we her mine yours it they his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800"/>
                                        <p:tgtEl>
                                          <p:spTgt spid="531"/>
                                        </p:tgtEl>
                                      </p:cBhvr>
                                    </p:animEffect>
                                  </p:childTnLst>
                                </p:cTn>
                              </p:par>
                              <p:par>
                                <p:cTn fill="hold" nodeType="with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800"/>
                                        <p:tgtEl>
                                          <p:spTgt spid="5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6DED9"/>
        </a:solidFill>
      </p:bgPr>
    </p:bg>
    <p:spTree>
      <p:nvGrpSpPr>
        <p:cNvPr id="538" name="Shape 538"/>
        <p:cNvGrpSpPr/>
        <p:nvPr/>
      </p:nvGrpSpPr>
      <p:grpSpPr>
        <a:xfrm>
          <a:off x="0" y="0"/>
          <a:ext cx="0" cy="0"/>
          <a:chOff x="0" y="0"/>
          <a:chExt cx="0" cy="0"/>
        </a:xfrm>
      </p:grpSpPr>
      <p:sp>
        <p:nvSpPr>
          <p:cNvPr id="539" name="Google Shape;539;p54"/>
          <p:cNvSpPr/>
          <p:nvPr/>
        </p:nvSpPr>
        <p:spPr>
          <a:xfrm>
            <a:off x="0" y="2642900"/>
            <a:ext cx="9144000" cy="738900"/>
          </a:xfrm>
          <a:prstGeom prst="rect">
            <a:avLst/>
          </a:prstGeom>
          <a:solidFill>
            <a:srgbClr val="6D2A4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0" name="Google Shape;540;p54"/>
          <p:cNvSpPr/>
          <p:nvPr/>
        </p:nvSpPr>
        <p:spPr>
          <a:xfrm>
            <a:off x="228590" y="1324402"/>
            <a:ext cx="2057400" cy="2057400"/>
          </a:xfrm>
          <a:prstGeom prst="ellipse">
            <a:avLst/>
          </a:prstGeom>
          <a:solidFill>
            <a:srgbClr val="6D2A4B"/>
          </a:solidFill>
          <a:ln cap="flat" cmpd="sng" w="152400">
            <a:solidFill>
              <a:srgbClr val="C6DED9"/>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solidFill>
                  <a:srgbClr val="FFFFFF"/>
                </a:solidFill>
                <a:latin typeface="Merriweather"/>
                <a:ea typeface="Merriweather"/>
                <a:cs typeface="Merriweather"/>
                <a:sym typeface="Merriweather"/>
              </a:rPr>
              <a:t>Spring</a:t>
            </a:r>
            <a:endParaRPr sz="3200">
              <a:solidFill>
                <a:srgbClr val="FFFFFF"/>
              </a:solidFill>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solidFill>
                  <a:srgbClr val="FFFFFF"/>
                </a:solidFill>
                <a:latin typeface="Merriweather"/>
                <a:ea typeface="Merriweather"/>
                <a:cs typeface="Merriweather"/>
                <a:sym typeface="Merriweather"/>
              </a:rPr>
              <a:t>2</a:t>
            </a:r>
            <a:endParaRPr sz="9600">
              <a:solidFill>
                <a:srgbClr val="FFFFFF"/>
              </a:solidFill>
              <a:latin typeface="Merriweather"/>
              <a:ea typeface="Merriweather"/>
              <a:cs typeface="Merriweather"/>
              <a:sym typeface="Merriweather"/>
            </a:endParaRPr>
          </a:p>
        </p:txBody>
      </p:sp>
      <p:sp>
        <p:nvSpPr>
          <p:cNvPr id="541" name="Google Shape;541;p54"/>
          <p:cNvSpPr txBox="1"/>
          <p:nvPr/>
        </p:nvSpPr>
        <p:spPr>
          <a:xfrm>
            <a:off x="2514600" y="2642900"/>
            <a:ext cx="64008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solidFill>
                  <a:srgbClr val="FFFFFF"/>
                </a:solidFill>
                <a:latin typeface="Merriweather"/>
                <a:ea typeface="Merriweather"/>
                <a:cs typeface="Merriweather"/>
                <a:sym typeface="Merriweather"/>
              </a:rPr>
              <a:t>Negative Numbers</a:t>
            </a:r>
            <a:endParaRPr sz="4800">
              <a:solidFill>
                <a:srgbClr val="FFFFFF"/>
              </a:solidFill>
              <a:latin typeface="Merriweather"/>
              <a:ea typeface="Merriweather"/>
              <a:cs typeface="Merriweather"/>
              <a:sym typeface="Merriweather"/>
            </a:endParaRPr>
          </a:p>
        </p:txBody>
      </p:sp>
      <p:sp>
        <p:nvSpPr>
          <p:cNvPr id="542" name="Google Shape;542;p54"/>
          <p:cNvSpPr txBox="1"/>
          <p:nvPr/>
        </p:nvSpPr>
        <p:spPr>
          <a:xfrm>
            <a:off x="2514600" y="2106800"/>
            <a:ext cx="64008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200">
                <a:latin typeface="DM Sans"/>
                <a:ea typeface="DM Sans"/>
                <a:cs typeface="DM Sans"/>
                <a:sym typeface="DM Sans"/>
              </a:rPr>
              <a:t>Mathematics</a:t>
            </a:r>
            <a:endParaRPr sz="3200">
              <a:latin typeface="DM Sans"/>
              <a:ea typeface="DM Sans"/>
              <a:cs typeface="DM Sans"/>
              <a:sym typeface="DM Sans"/>
            </a:endParaRPr>
          </a:p>
        </p:txBody>
      </p:sp>
      <p:sp>
        <p:nvSpPr>
          <p:cNvPr id="543" name="Google Shape;543;p54"/>
          <p:cNvSpPr/>
          <p:nvPr/>
        </p:nvSpPr>
        <p:spPr>
          <a:xfrm>
            <a:off x="-8" y="0"/>
            <a:ext cx="14338851" cy="771407"/>
          </a:xfrm>
          <a:prstGeom prst="rect">
            <a:avLst/>
          </a:prstGeom>
        </p:spPr>
        <p:txBody>
          <a:bodyPr>
            <a:prstTxWarp prst="textPlain"/>
          </a:bodyPr>
          <a:lstStyle/>
          <a:p>
            <a:pPr lvl="0" algn="ctr"/>
            <a:r>
              <a:rPr b="0" i="0">
                <a:ln cap="flat" cmpd="sng" w="38100">
                  <a:solidFill>
                    <a:srgbClr val="6D2A4B"/>
                  </a:solidFill>
                  <a:prstDash val="solid"/>
                  <a:round/>
                  <a:headEnd len="sm" w="sm" type="none"/>
                  <a:tailEnd len="sm" w="sm" type="none"/>
                </a:ln>
                <a:noFill/>
                <a:latin typeface="DM Sans"/>
              </a:rPr>
              <a:t>-13 |2 - 25| -53 -1 -240 |-50| -94</a:t>
            </a:r>
          </a:p>
        </p:txBody>
      </p:sp>
      <p:sp>
        <p:nvSpPr>
          <p:cNvPr id="544" name="Google Shape;544;p54"/>
          <p:cNvSpPr/>
          <p:nvPr/>
        </p:nvSpPr>
        <p:spPr>
          <a:xfrm>
            <a:off x="-5194858" y="4372100"/>
            <a:ext cx="15173441" cy="771407"/>
          </a:xfrm>
          <a:prstGeom prst="rect">
            <a:avLst/>
          </a:prstGeom>
        </p:spPr>
        <p:txBody>
          <a:bodyPr>
            <a:prstTxWarp prst="textPlain"/>
          </a:bodyPr>
          <a:lstStyle/>
          <a:p>
            <a:pPr lvl="0" algn="ctr"/>
            <a:r>
              <a:rPr b="0" i="0">
                <a:ln cap="flat" cmpd="sng" w="38100">
                  <a:solidFill>
                    <a:srgbClr val="6D2A4B"/>
                  </a:solidFill>
                  <a:prstDash val="solid"/>
                  <a:round/>
                  <a:headEnd len="sm" w="sm" type="none"/>
                  <a:tailEnd len="sm" w="sm" type="none"/>
                </a:ln>
                <a:noFill/>
                <a:latin typeface="DM Sans"/>
              </a:rPr>
              <a:t>-13 |2 - 25| -6122 -1 -240 |-50| -94</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800"/>
                                        <p:tgtEl>
                                          <p:spTgt spid="542"/>
                                        </p:tgtEl>
                                      </p:cBhvr>
                                    </p:animEffect>
                                  </p:childTnLst>
                                </p:cTn>
                              </p:par>
                              <p:par>
                                <p:cTn fill="hold" nodeType="with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800"/>
                                        <p:tgtEl>
                                          <p:spTgt spid="5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0" name="Google Shape;550;p5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51" name="Google Shape;551;p5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a:t>
            </a:r>
            <a:endParaRPr sz="4800">
              <a:latin typeface="Merriweather"/>
              <a:ea typeface="Merriweather"/>
              <a:cs typeface="Merriweather"/>
              <a:sym typeface="Merriweather"/>
            </a:endParaRPr>
          </a:p>
        </p:txBody>
      </p:sp>
      <p:pic>
        <p:nvPicPr>
          <p:cNvPr id="552" name="Google Shape;552;p5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53" name="Google Shape;553;p55"/>
          <p:cNvSpPr txBox="1"/>
          <p:nvPr/>
        </p:nvSpPr>
        <p:spPr>
          <a:xfrm>
            <a:off x="559950" y="2215325"/>
            <a:ext cx="7051800" cy="153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FFFF"/>
                </a:solidFill>
                <a:latin typeface="DM Sans"/>
                <a:ea typeface="DM Sans"/>
                <a:cs typeface="DM Sans"/>
                <a:sym typeface="DM Sans"/>
              </a:rPr>
              <a:t>−8 + 3 - (-2)</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(2)(-2)(-8) − (−10)</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(-3)(-4) + (-6/-2) × 5</a:t>
            </a:r>
            <a:endParaRPr sz="2000">
              <a:solidFill>
                <a:srgbClr val="FFFFFF"/>
              </a:solidFill>
              <a:latin typeface="DM Sans"/>
              <a:ea typeface="DM Sans"/>
              <a:cs typeface="DM Sans"/>
              <a:sym typeface="DM Sans"/>
            </a:endParaRPr>
          </a:p>
        </p:txBody>
      </p:sp>
      <p:sp>
        <p:nvSpPr>
          <p:cNvPr id="554" name="Google Shape;554;p55"/>
          <p:cNvSpPr txBox="1"/>
          <p:nvPr/>
        </p:nvSpPr>
        <p:spPr>
          <a:xfrm>
            <a:off x="559950" y="1716425"/>
            <a:ext cx="7543800" cy="36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Solve the expressions below.</a:t>
            </a:r>
            <a:endParaRPr sz="2400">
              <a:solidFill>
                <a:srgbClr val="FFFFFF"/>
              </a:solidFill>
              <a:latin typeface="DM Sans"/>
              <a:ea typeface="DM Sans"/>
              <a:cs typeface="DM Sans"/>
              <a:sym typeface="DM Sans"/>
            </a:endParaRPr>
          </a:p>
        </p:txBody>
      </p:sp>
      <p:sp>
        <p:nvSpPr>
          <p:cNvPr id="555" name="Google Shape;555;p55"/>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800"/>
                                        <p:tgtEl>
                                          <p:spTgt spid="5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5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62" name="Google Shape;562;p5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a:t>
            </a:r>
            <a:endParaRPr sz="4800">
              <a:latin typeface="Merriweather"/>
              <a:ea typeface="Merriweather"/>
              <a:cs typeface="Merriweather"/>
              <a:sym typeface="Merriweather"/>
            </a:endParaRPr>
          </a:p>
        </p:txBody>
      </p:sp>
      <p:pic>
        <p:nvPicPr>
          <p:cNvPr id="563" name="Google Shape;563;p5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64" name="Google Shape;564;p56"/>
          <p:cNvSpPr txBox="1"/>
          <p:nvPr/>
        </p:nvSpPr>
        <p:spPr>
          <a:xfrm>
            <a:off x="559950" y="2215325"/>
            <a:ext cx="7051800" cy="153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000">
                <a:solidFill>
                  <a:srgbClr val="FFFFFF"/>
                </a:solidFill>
                <a:latin typeface="DM Sans"/>
                <a:ea typeface="DM Sans"/>
                <a:cs typeface="DM Sans"/>
                <a:sym typeface="DM Sans"/>
              </a:rPr>
              <a:t>−8 + 3 - (-2) =</a:t>
            </a:r>
            <a:r>
              <a:rPr i="1" lang="en" sz="2000">
                <a:solidFill>
                  <a:srgbClr val="FFFFFF"/>
                </a:solidFill>
                <a:latin typeface="DM Sans"/>
                <a:ea typeface="DM Sans"/>
                <a:cs typeface="DM Sans"/>
                <a:sym typeface="DM Sans"/>
              </a:rPr>
              <a:t> -3</a:t>
            </a:r>
            <a:endParaRPr i="1"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(2)(-2)(-8) − (−10) = </a:t>
            </a:r>
            <a:r>
              <a:rPr i="1" lang="en" sz="2000">
                <a:solidFill>
                  <a:srgbClr val="FFFFFF"/>
                </a:solidFill>
                <a:latin typeface="DM Sans"/>
                <a:ea typeface="DM Sans"/>
                <a:cs typeface="DM Sans"/>
                <a:sym typeface="DM Sans"/>
              </a:rPr>
              <a:t>42</a:t>
            </a:r>
            <a:endParaRPr i="1"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chemeClr val="lt1"/>
                </a:solidFill>
                <a:latin typeface="DM Sans"/>
                <a:ea typeface="DM Sans"/>
                <a:cs typeface="DM Sans"/>
                <a:sym typeface="DM Sans"/>
              </a:rPr>
              <a:t>(-3)(-4) + (-6/-2)(5) = </a:t>
            </a:r>
            <a:r>
              <a:rPr i="1" lang="en" sz="2000">
                <a:solidFill>
                  <a:schemeClr val="lt1"/>
                </a:solidFill>
                <a:latin typeface="DM Sans"/>
                <a:ea typeface="DM Sans"/>
                <a:cs typeface="DM Sans"/>
                <a:sym typeface="DM Sans"/>
              </a:rPr>
              <a:t>27</a:t>
            </a:r>
            <a:endParaRPr i="1" sz="2000">
              <a:solidFill>
                <a:srgbClr val="FFFFFF"/>
              </a:solidFill>
              <a:latin typeface="DM Sans"/>
              <a:ea typeface="DM Sans"/>
              <a:cs typeface="DM Sans"/>
              <a:sym typeface="DM Sans"/>
            </a:endParaRPr>
          </a:p>
        </p:txBody>
      </p:sp>
      <p:sp>
        <p:nvSpPr>
          <p:cNvPr id="565" name="Google Shape;565;p56"/>
          <p:cNvSpPr txBox="1"/>
          <p:nvPr/>
        </p:nvSpPr>
        <p:spPr>
          <a:xfrm>
            <a:off x="559950" y="1716425"/>
            <a:ext cx="7543800" cy="36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Solve the expressions below.</a:t>
            </a:r>
            <a:endParaRPr sz="2400">
              <a:solidFill>
                <a:srgbClr val="FFFFFF"/>
              </a:solidFill>
              <a:latin typeface="DM Sans"/>
              <a:ea typeface="DM Sans"/>
              <a:cs typeface="DM Sans"/>
              <a:sym typeface="DM Sans"/>
            </a:endParaRPr>
          </a:p>
        </p:txBody>
      </p:sp>
      <p:sp>
        <p:nvSpPr>
          <p:cNvPr id="566" name="Google Shape;566;p56"/>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800"/>
                                        <p:tgtEl>
                                          <p:spTgt spid="5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5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2" name="Google Shape;572;p5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73" name="Google Shape;573;p5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2</a:t>
            </a:r>
            <a:endParaRPr sz="4800">
              <a:latin typeface="Merriweather"/>
              <a:ea typeface="Merriweather"/>
              <a:cs typeface="Merriweather"/>
              <a:sym typeface="Merriweather"/>
            </a:endParaRPr>
          </a:p>
        </p:txBody>
      </p:sp>
      <p:pic>
        <p:nvPicPr>
          <p:cNvPr id="574" name="Google Shape;574;p5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75" name="Google Shape;575;p57"/>
          <p:cNvSpPr txBox="1"/>
          <p:nvPr/>
        </p:nvSpPr>
        <p:spPr>
          <a:xfrm>
            <a:off x="559950" y="1419250"/>
            <a:ext cx="8024100" cy="2586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Arrange the list of numbers below from smallest to largest:</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-|5|, |-2|, -7, |0|, -</a:t>
            </a:r>
            <a:r>
              <a:rPr lang="en" sz="2000">
                <a:solidFill>
                  <a:srgbClr val="FFFFFF"/>
                </a:solidFill>
                <a:latin typeface="DM Sans"/>
                <a:ea typeface="DM Sans"/>
                <a:cs typeface="DM Sans"/>
                <a:sym typeface="DM Sans"/>
              </a:rPr>
              <a:t>3</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-|8|, |-3|, -6, |5|, -2</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|0.5|, -|4|, -3/2, |2|, -0.1</a:t>
            </a:r>
            <a:endParaRPr sz="2000">
              <a:solidFill>
                <a:srgbClr val="FFFFFF"/>
              </a:solidFill>
              <a:latin typeface="DM Sans"/>
              <a:ea typeface="DM Sans"/>
              <a:cs typeface="DM Sans"/>
              <a:sym typeface="DM Sans"/>
            </a:endParaRPr>
          </a:p>
        </p:txBody>
      </p:sp>
      <p:sp>
        <p:nvSpPr>
          <p:cNvPr id="576" name="Google Shape;576;p57"/>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5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2" name="Google Shape;582;p5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83" name="Google Shape;583;p5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2</a:t>
            </a:r>
            <a:endParaRPr sz="4800">
              <a:latin typeface="Merriweather"/>
              <a:ea typeface="Merriweather"/>
              <a:cs typeface="Merriweather"/>
              <a:sym typeface="Merriweather"/>
            </a:endParaRPr>
          </a:p>
        </p:txBody>
      </p:sp>
      <p:pic>
        <p:nvPicPr>
          <p:cNvPr id="584" name="Google Shape;584;p5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85" name="Google Shape;585;p58"/>
          <p:cNvSpPr txBox="1"/>
          <p:nvPr/>
        </p:nvSpPr>
        <p:spPr>
          <a:xfrm>
            <a:off x="559950" y="1419250"/>
            <a:ext cx="8167200" cy="28938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Arrange the list of numbers below from smallest to largest:</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i="1"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-|5|, |-2|, -7, |0|, -3 → </a:t>
            </a:r>
            <a:r>
              <a:rPr b="1" lang="en" sz="2000">
                <a:solidFill>
                  <a:schemeClr val="lt1"/>
                </a:solidFill>
                <a:latin typeface="DM Sans"/>
                <a:ea typeface="DM Sans"/>
                <a:cs typeface="DM Sans"/>
                <a:sym typeface="DM Sans"/>
              </a:rPr>
              <a:t>-7, -5, -3, 0, 2</a:t>
            </a:r>
            <a:r>
              <a:rPr lang="en" sz="2000">
                <a:solidFill>
                  <a:schemeClr val="lt1"/>
                </a:solidFill>
                <a:latin typeface="DM Sans"/>
                <a:ea typeface="DM Sans"/>
                <a:cs typeface="DM Sans"/>
                <a:sym typeface="DM Sans"/>
              </a:rPr>
              <a:t> </a:t>
            </a:r>
            <a:r>
              <a:rPr i="1" lang="en" sz="2000">
                <a:solidFill>
                  <a:schemeClr val="lt1"/>
                </a:solidFill>
                <a:latin typeface="DM Sans"/>
                <a:ea typeface="DM Sans"/>
                <a:cs typeface="DM Sans"/>
                <a:sym typeface="DM Sans"/>
              </a:rPr>
              <a:t>(-7, -|5|, -3, |0|, |-2|)</a:t>
            </a:r>
            <a:endParaRPr i="1"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-|8|, |-3|, -6, |5|, -2 → </a:t>
            </a:r>
            <a:r>
              <a:rPr b="1" lang="en" sz="2000">
                <a:solidFill>
                  <a:schemeClr val="lt1"/>
                </a:solidFill>
                <a:latin typeface="DM Sans"/>
                <a:ea typeface="DM Sans"/>
                <a:cs typeface="DM Sans"/>
                <a:sym typeface="DM Sans"/>
              </a:rPr>
              <a:t>-8, -6, -2, 3, 5</a:t>
            </a:r>
            <a:r>
              <a:rPr i="1" lang="en" sz="2000">
                <a:solidFill>
                  <a:schemeClr val="lt1"/>
                </a:solidFill>
                <a:latin typeface="DM Sans"/>
                <a:ea typeface="DM Sans"/>
                <a:cs typeface="DM Sans"/>
                <a:sym typeface="DM Sans"/>
              </a:rPr>
              <a:t> (-|8|, -6, -2, |-3|, |5|)</a:t>
            </a:r>
            <a:endParaRPr i="1"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|0.5|, -|2|, -3/2, |2|, -0.1 → </a:t>
            </a:r>
            <a:r>
              <a:rPr b="1" lang="en" sz="2000">
                <a:solidFill>
                  <a:schemeClr val="lt1"/>
                </a:solidFill>
                <a:latin typeface="DM Sans"/>
                <a:ea typeface="DM Sans"/>
                <a:cs typeface="DM Sans"/>
                <a:sym typeface="DM Sans"/>
              </a:rPr>
              <a:t>-2, -3/2, -0.1, 0.5, 2</a:t>
            </a:r>
            <a:r>
              <a:rPr i="1" lang="en" sz="2000">
                <a:solidFill>
                  <a:schemeClr val="lt1"/>
                </a:solidFill>
                <a:latin typeface="DM Sans"/>
                <a:ea typeface="DM Sans"/>
                <a:cs typeface="DM Sans"/>
                <a:sym typeface="DM Sans"/>
              </a:rPr>
              <a:t> (-|2|, -3/2, -0.1, |0.5|, |2|)</a:t>
            </a:r>
            <a:endParaRPr i="1"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i="1" sz="2000">
              <a:solidFill>
                <a:srgbClr val="FFFFFF"/>
              </a:solidFill>
              <a:latin typeface="DM Sans"/>
              <a:ea typeface="DM Sans"/>
              <a:cs typeface="DM Sans"/>
              <a:sym typeface="DM Sans"/>
            </a:endParaRPr>
          </a:p>
        </p:txBody>
      </p:sp>
      <p:sp>
        <p:nvSpPr>
          <p:cNvPr id="586" name="Google Shape;586;p58"/>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5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93" name="Google Shape;593;p5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3</a:t>
            </a:r>
            <a:endParaRPr sz="4800">
              <a:latin typeface="Merriweather"/>
              <a:ea typeface="Merriweather"/>
              <a:cs typeface="Merriweather"/>
              <a:sym typeface="Merriweather"/>
            </a:endParaRPr>
          </a:p>
        </p:txBody>
      </p:sp>
      <p:pic>
        <p:nvPicPr>
          <p:cNvPr id="594" name="Google Shape;594;p5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95" name="Google Shape;595;p59"/>
          <p:cNvSpPr txBox="1"/>
          <p:nvPr/>
        </p:nvSpPr>
        <p:spPr>
          <a:xfrm>
            <a:off x="559950" y="1716425"/>
            <a:ext cx="80586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The difference between the product of -5 and a number and 9 is -29. Find the number.</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b="1" lang="en" sz="2400">
                <a:solidFill>
                  <a:srgbClr val="FFFFFF"/>
                </a:solidFill>
                <a:latin typeface="DM Sans"/>
                <a:ea typeface="DM Sans"/>
                <a:cs typeface="DM Sans"/>
                <a:sym typeface="DM Sans"/>
              </a:rPr>
              <a:t>A number is multiplied by -2 and then 8 is added. The result is 10. Find the number.</a:t>
            </a:r>
            <a:endParaRPr b="1" sz="2400">
              <a:solidFill>
                <a:srgbClr val="FFFFFF"/>
              </a:solidFill>
              <a:latin typeface="DM Sans"/>
              <a:ea typeface="DM Sans"/>
              <a:cs typeface="DM Sans"/>
              <a:sym typeface="DM Sans"/>
            </a:endParaRPr>
          </a:p>
        </p:txBody>
      </p:sp>
      <p:sp>
        <p:nvSpPr>
          <p:cNvPr id="596" name="Google Shape;596;p59"/>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6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2" name="Google Shape;602;p6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03" name="Google Shape;603;p6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3</a:t>
            </a:r>
            <a:endParaRPr sz="4800">
              <a:latin typeface="Merriweather"/>
              <a:ea typeface="Merriweather"/>
              <a:cs typeface="Merriweather"/>
              <a:sym typeface="Merriweather"/>
            </a:endParaRPr>
          </a:p>
        </p:txBody>
      </p:sp>
      <p:pic>
        <p:nvPicPr>
          <p:cNvPr id="604" name="Google Shape;604;p6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05" name="Google Shape;605;p60"/>
          <p:cNvSpPr txBox="1"/>
          <p:nvPr/>
        </p:nvSpPr>
        <p:spPr>
          <a:xfrm>
            <a:off x="559950" y="1607829"/>
            <a:ext cx="8009400" cy="2370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The difference between the product of -5 and a number and 9 is -29. Find the number.</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i="1" lang="en" sz="2400">
                <a:solidFill>
                  <a:srgbClr val="FFFFFF"/>
                </a:solidFill>
                <a:latin typeface="DM Sans"/>
                <a:ea typeface="DM Sans"/>
                <a:cs typeface="DM Sans"/>
                <a:sym typeface="DM Sans"/>
              </a:rPr>
              <a:t>-5x-9 = -29 → x = 4</a:t>
            </a:r>
            <a:endParaRPr i="1" sz="24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0">
              <a:solidFill>
                <a:srgbClr val="FFFFFF"/>
              </a:solidFill>
              <a:latin typeface="DM Sans"/>
              <a:ea typeface="DM Sans"/>
              <a:cs typeface="DM Sans"/>
              <a:sym typeface="DM Sans"/>
            </a:endParaRPr>
          </a:p>
          <a:p>
            <a:pPr indent="0" lvl="0" marL="0" rtl="0" algn="l">
              <a:spcBef>
                <a:spcPts val="0"/>
              </a:spcBef>
              <a:spcAft>
                <a:spcPts val="0"/>
              </a:spcAft>
              <a:buNone/>
            </a:pPr>
            <a:r>
              <a:rPr b="1" lang="en" sz="2400">
                <a:solidFill>
                  <a:srgbClr val="FFFFFF"/>
                </a:solidFill>
                <a:latin typeface="DM Sans"/>
                <a:ea typeface="DM Sans"/>
                <a:cs typeface="DM Sans"/>
                <a:sym typeface="DM Sans"/>
              </a:rPr>
              <a:t>A number is multiplied by -2 and then 8 is added. The result is 10. Find the number.</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i="1" lang="en" sz="2400">
                <a:solidFill>
                  <a:srgbClr val="FFFFFF"/>
                </a:solidFill>
                <a:latin typeface="DM Sans"/>
                <a:ea typeface="DM Sans"/>
                <a:cs typeface="DM Sans"/>
                <a:sym typeface="DM Sans"/>
              </a:rPr>
              <a:t>-2x+8 = 10 → x = -1</a:t>
            </a:r>
            <a:endParaRPr i="1" sz="2400">
              <a:solidFill>
                <a:srgbClr val="FFFFFF"/>
              </a:solidFill>
              <a:latin typeface="DM Sans"/>
              <a:ea typeface="DM Sans"/>
              <a:cs typeface="DM Sans"/>
              <a:sym typeface="DM Sans"/>
            </a:endParaRPr>
          </a:p>
        </p:txBody>
      </p:sp>
      <p:sp>
        <p:nvSpPr>
          <p:cNvPr id="606" name="Google Shape;606;p60"/>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2" name="Google Shape;612;p6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13" name="Google Shape;613;p6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4</a:t>
            </a:r>
            <a:endParaRPr sz="4800">
              <a:latin typeface="Merriweather"/>
              <a:ea typeface="Merriweather"/>
              <a:cs typeface="Merriweather"/>
              <a:sym typeface="Merriweather"/>
            </a:endParaRPr>
          </a:p>
        </p:txBody>
      </p:sp>
      <p:pic>
        <p:nvPicPr>
          <p:cNvPr id="614" name="Google Shape;614;p6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15" name="Google Shape;615;p61"/>
          <p:cNvSpPr txBox="1"/>
          <p:nvPr/>
        </p:nvSpPr>
        <p:spPr>
          <a:xfrm>
            <a:off x="536150" y="1499825"/>
            <a:ext cx="8024700" cy="11082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On a number line, point A is at -3 and point B is at -11. Point C is twice as far from 0 as B, but in the opposite direction. What is C?</a:t>
            </a:r>
            <a:endParaRPr b="1" sz="2400">
              <a:solidFill>
                <a:srgbClr val="FFFFFF"/>
              </a:solidFill>
              <a:latin typeface="DM Sans"/>
              <a:ea typeface="DM Sans"/>
              <a:cs typeface="DM Sans"/>
              <a:sym typeface="DM Sans"/>
            </a:endParaRPr>
          </a:p>
        </p:txBody>
      </p:sp>
      <p:sp>
        <p:nvSpPr>
          <p:cNvPr id="616" name="Google Shape;616;p61"/>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6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2" name="Google Shape;622;p6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23" name="Google Shape;623;p6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4</a:t>
            </a:r>
            <a:endParaRPr sz="4800">
              <a:latin typeface="Merriweather"/>
              <a:ea typeface="Merriweather"/>
              <a:cs typeface="Merriweather"/>
              <a:sym typeface="Merriweather"/>
            </a:endParaRPr>
          </a:p>
        </p:txBody>
      </p:sp>
      <p:pic>
        <p:nvPicPr>
          <p:cNvPr id="624" name="Google Shape;624;p6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25" name="Google Shape;625;p62"/>
          <p:cNvSpPr txBox="1"/>
          <p:nvPr/>
        </p:nvSpPr>
        <p:spPr>
          <a:xfrm>
            <a:off x="536150" y="1499825"/>
            <a:ext cx="8024700" cy="11082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On a number line, point A is at -3 and point B is at -11. Point C is twice as far from 0 as B, but in the opposite direction. What is C? </a:t>
            </a:r>
            <a:r>
              <a:rPr i="1" lang="en" sz="2400">
                <a:solidFill>
                  <a:srgbClr val="FFFFFF"/>
                </a:solidFill>
                <a:latin typeface="DM Sans"/>
                <a:ea typeface="DM Sans"/>
                <a:cs typeface="DM Sans"/>
                <a:sym typeface="DM Sans"/>
              </a:rPr>
              <a:t>C = |-11| * 2 = 22</a:t>
            </a:r>
            <a:endParaRPr i="1" sz="2400">
              <a:solidFill>
                <a:srgbClr val="FFFFFF"/>
              </a:solidFill>
              <a:latin typeface="DM Sans"/>
              <a:ea typeface="DM Sans"/>
              <a:cs typeface="DM Sans"/>
              <a:sym typeface="DM Sans"/>
            </a:endParaRPr>
          </a:p>
        </p:txBody>
      </p:sp>
      <p:pic>
        <p:nvPicPr>
          <p:cNvPr id="626" name="Google Shape;626;p62" title="Screenshot 2026-03-27 at 11.57.54 PM.png"/>
          <p:cNvPicPr preferRelativeResize="0"/>
          <p:nvPr/>
        </p:nvPicPr>
        <p:blipFill>
          <a:blip r:embed="rId4">
            <a:alphaModFix/>
          </a:blip>
          <a:stretch>
            <a:fillRect/>
          </a:stretch>
        </p:blipFill>
        <p:spPr>
          <a:xfrm>
            <a:off x="878750" y="2715081"/>
            <a:ext cx="7682092" cy="1278394"/>
          </a:xfrm>
          <a:prstGeom prst="rect">
            <a:avLst/>
          </a:prstGeom>
          <a:noFill/>
          <a:ln>
            <a:noFill/>
          </a:ln>
        </p:spPr>
      </p:pic>
      <p:sp>
        <p:nvSpPr>
          <p:cNvPr id="627" name="Google Shape;627;p62"/>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6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3" name="Google Shape;633;p6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34" name="Google Shape;634;p6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5</a:t>
            </a:r>
            <a:endParaRPr sz="4800">
              <a:latin typeface="Merriweather"/>
              <a:ea typeface="Merriweather"/>
              <a:cs typeface="Merriweather"/>
              <a:sym typeface="Merriweather"/>
            </a:endParaRPr>
          </a:p>
        </p:txBody>
      </p:sp>
      <p:pic>
        <p:nvPicPr>
          <p:cNvPr id="635" name="Google Shape;635;p6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36" name="Google Shape;636;p63"/>
          <p:cNvSpPr txBox="1"/>
          <p:nvPr/>
        </p:nvSpPr>
        <p:spPr>
          <a:xfrm>
            <a:off x="559950" y="1685804"/>
            <a:ext cx="80241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The product of a number and -8, increased by 6, is -18. Find the number.</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b="1" lang="en" sz="2400">
                <a:solidFill>
                  <a:srgbClr val="FFFFFF"/>
                </a:solidFill>
                <a:latin typeface="DM Sans"/>
                <a:ea typeface="DM Sans"/>
                <a:cs typeface="DM Sans"/>
                <a:sym typeface="DM Sans"/>
              </a:rPr>
              <a:t>The difference between the absolute value of a number and 5 is 8. Find the number.</a:t>
            </a:r>
            <a:endParaRPr b="1" sz="2400">
              <a:solidFill>
                <a:srgbClr val="FFFFFF"/>
              </a:solidFill>
              <a:latin typeface="DM Sans"/>
              <a:ea typeface="DM Sans"/>
              <a:cs typeface="DM Sans"/>
              <a:sym typeface="DM Sans"/>
            </a:endParaRPr>
          </a:p>
        </p:txBody>
      </p:sp>
      <p:sp>
        <p:nvSpPr>
          <p:cNvPr id="637" name="Google Shape;637;p63"/>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6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3" name="Google Shape;643;p6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44" name="Google Shape;644;p6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5</a:t>
            </a:r>
            <a:endParaRPr sz="4800">
              <a:latin typeface="Merriweather"/>
              <a:ea typeface="Merriweather"/>
              <a:cs typeface="Merriweather"/>
              <a:sym typeface="Merriweather"/>
            </a:endParaRPr>
          </a:p>
        </p:txBody>
      </p:sp>
      <p:pic>
        <p:nvPicPr>
          <p:cNvPr id="645" name="Google Shape;645;p6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46" name="Google Shape;646;p64"/>
          <p:cNvSpPr txBox="1"/>
          <p:nvPr/>
        </p:nvSpPr>
        <p:spPr>
          <a:xfrm>
            <a:off x="559950" y="1547604"/>
            <a:ext cx="8024100" cy="2370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The product of a number and -8, increased by 6, is -18. Find the number.</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i="1" lang="en" sz="2400">
                <a:solidFill>
                  <a:srgbClr val="FFFFFF"/>
                </a:solidFill>
                <a:latin typeface="DM Sans"/>
                <a:ea typeface="DM Sans"/>
                <a:cs typeface="DM Sans"/>
                <a:sym typeface="DM Sans"/>
              </a:rPr>
              <a:t>-8x+6=-18 → x = 3</a:t>
            </a:r>
            <a:endParaRPr i="1" sz="24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0">
              <a:solidFill>
                <a:srgbClr val="FFFFFF"/>
              </a:solidFill>
              <a:latin typeface="DM Sans"/>
              <a:ea typeface="DM Sans"/>
              <a:cs typeface="DM Sans"/>
              <a:sym typeface="DM Sans"/>
            </a:endParaRPr>
          </a:p>
          <a:p>
            <a:pPr indent="0" lvl="0" marL="0" rtl="0" algn="l">
              <a:spcBef>
                <a:spcPts val="0"/>
              </a:spcBef>
              <a:spcAft>
                <a:spcPts val="0"/>
              </a:spcAft>
              <a:buNone/>
            </a:pPr>
            <a:r>
              <a:rPr b="1" lang="en" sz="2400">
                <a:solidFill>
                  <a:srgbClr val="FFFFFF"/>
                </a:solidFill>
                <a:latin typeface="DM Sans"/>
                <a:ea typeface="DM Sans"/>
                <a:cs typeface="DM Sans"/>
                <a:sym typeface="DM Sans"/>
              </a:rPr>
              <a:t>The difference between the absolute value of a number and 5 is 8. Find the number.</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i="1" lang="en" sz="2400">
                <a:solidFill>
                  <a:srgbClr val="FFFFFF"/>
                </a:solidFill>
                <a:latin typeface="DM Sans"/>
                <a:ea typeface="DM Sans"/>
                <a:cs typeface="DM Sans"/>
                <a:sym typeface="DM Sans"/>
              </a:rPr>
              <a:t>|x| - 5 = 8 → x = 13 or x = -13</a:t>
            </a:r>
            <a:endParaRPr i="1" sz="2400">
              <a:solidFill>
                <a:srgbClr val="FFFFFF"/>
              </a:solidFill>
              <a:latin typeface="DM Sans"/>
              <a:ea typeface="DM Sans"/>
              <a:cs typeface="DM Sans"/>
              <a:sym typeface="DM Sans"/>
            </a:endParaRPr>
          </a:p>
        </p:txBody>
      </p:sp>
      <p:sp>
        <p:nvSpPr>
          <p:cNvPr id="647" name="Google Shape;647;p64"/>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p6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54" name="Google Shape;654;p6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6</a:t>
            </a:r>
            <a:endParaRPr sz="4800">
              <a:latin typeface="Merriweather"/>
              <a:ea typeface="Merriweather"/>
              <a:cs typeface="Merriweather"/>
              <a:sym typeface="Merriweather"/>
            </a:endParaRPr>
          </a:p>
        </p:txBody>
      </p:sp>
      <p:pic>
        <p:nvPicPr>
          <p:cNvPr id="655" name="Google Shape;655;p6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56" name="Google Shape;656;p65"/>
          <p:cNvSpPr txBox="1"/>
          <p:nvPr/>
        </p:nvSpPr>
        <p:spPr>
          <a:xfrm>
            <a:off x="559950" y="1716425"/>
            <a:ext cx="75438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chemeClr val="lt1"/>
                </a:solidFill>
                <a:latin typeface="DM Sans"/>
                <a:ea typeface="DM Sans"/>
                <a:cs typeface="DM Sans"/>
                <a:sym typeface="DM Sans"/>
              </a:rPr>
              <a:t>Which is greater:</a:t>
            </a:r>
            <a:endParaRPr b="1" sz="24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n" sz="2400">
                <a:solidFill>
                  <a:schemeClr val="lt1"/>
                </a:solidFill>
                <a:latin typeface="DM Sans"/>
                <a:ea typeface="DM Sans"/>
                <a:cs typeface="DM Sans"/>
                <a:sym typeface="DM Sans"/>
              </a:rPr>
              <a:t>-3(4) + 5 </a:t>
            </a:r>
            <a:r>
              <a:rPr lang="en" sz="2400">
                <a:solidFill>
                  <a:schemeClr val="lt1"/>
                </a:solidFill>
                <a:latin typeface="DM Sans"/>
                <a:ea typeface="DM Sans"/>
                <a:cs typeface="DM Sans"/>
                <a:sym typeface="DM Sans"/>
              </a:rPr>
              <a:t>or</a:t>
            </a:r>
            <a:r>
              <a:rPr b="1" lang="en" sz="2400">
                <a:solidFill>
                  <a:schemeClr val="lt1"/>
                </a:solidFill>
                <a:latin typeface="DM Sans"/>
                <a:ea typeface="DM Sans"/>
                <a:cs typeface="DM Sans"/>
                <a:sym typeface="DM Sans"/>
              </a:rPr>
              <a:t> -8 + (-2)(-3)</a:t>
            </a:r>
            <a:endParaRPr b="1" sz="24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n" sz="2400">
                <a:solidFill>
                  <a:schemeClr val="lt1"/>
                </a:solidFill>
                <a:latin typeface="DM Sans"/>
                <a:ea typeface="DM Sans"/>
                <a:cs typeface="DM Sans"/>
                <a:sym typeface="DM Sans"/>
              </a:rPr>
              <a:t>-6 + 3(-2) </a:t>
            </a:r>
            <a:r>
              <a:rPr lang="en" sz="2400">
                <a:solidFill>
                  <a:schemeClr val="lt1"/>
                </a:solidFill>
                <a:latin typeface="DM Sans"/>
                <a:ea typeface="DM Sans"/>
                <a:cs typeface="DM Sans"/>
                <a:sym typeface="DM Sans"/>
              </a:rPr>
              <a:t>or</a:t>
            </a:r>
            <a:r>
              <a:rPr b="1" lang="en" sz="2400">
                <a:solidFill>
                  <a:schemeClr val="lt1"/>
                </a:solidFill>
                <a:latin typeface="DM Sans"/>
                <a:ea typeface="DM Sans"/>
                <a:cs typeface="DM Sans"/>
                <a:sym typeface="DM Sans"/>
              </a:rPr>
              <a:t> -5 + (-1)(-4)(-2)</a:t>
            </a:r>
            <a:endParaRPr b="1" sz="2400">
              <a:solidFill>
                <a:srgbClr val="FFFFFF"/>
              </a:solidFill>
              <a:latin typeface="DM Sans"/>
              <a:ea typeface="DM Sans"/>
              <a:cs typeface="DM Sans"/>
              <a:sym typeface="DM Sans"/>
            </a:endParaRPr>
          </a:p>
        </p:txBody>
      </p:sp>
      <p:sp>
        <p:nvSpPr>
          <p:cNvPr id="657" name="Google Shape;657;p65"/>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6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6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64" name="Google Shape;664;p6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6</a:t>
            </a:r>
            <a:endParaRPr sz="4800">
              <a:latin typeface="Merriweather"/>
              <a:ea typeface="Merriweather"/>
              <a:cs typeface="Merriweather"/>
              <a:sym typeface="Merriweather"/>
            </a:endParaRPr>
          </a:p>
        </p:txBody>
      </p:sp>
      <p:pic>
        <p:nvPicPr>
          <p:cNvPr id="665" name="Google Shape;665;p6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66" name="Google Shape;666;p66"/>
          <p:cNvSpPr txBox="1"/>
          <p:nvPr/>
        </p:nvSpPr>
        <p:spPr>
          <a:xfrm>
            <a:off x="559950" y="1716425"/>
            <a:ext cx="75438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chemeClr val="lt1"/>
                </a:solidFill>
                <a:latin typeface="DM Sans"/>
                <a:ea typeface="DM Sans"/>
                <a:cs typeface="DM Sans"/>
                <a:sym typeface="DM Sans"/>
              </a:rPr>
              <a:t>Which is greater:</a:t>
            </a:r>
            <a:endParaRPr b="1" sz="24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n" sz="2400">
                <a:solidFill>
                  <a:schemeClr val="lt1"/>
                </a:solidFill>
                <a:latin typeface="DM Sans"/>
                <a:ea typeface="DM Sans"/>
                <a:cs typeface="DM Sans"/>
                <a:sym typeface="DM Sans"/>
              </a:rPr>
              <a:t>-3(4) + 5 </a:t>
            </a:r>
            <a:r>
              <a:rPr lang="en" sz="2400">
                <a:solidFill>
                  <a:schemeClr val="lt1"/>
                </a:solidFill>
                <a:latin typeface="DM Sans"/>
                <a:ea typeface="DM Sans"/>
                <a:cs typeface="DM Sans"/>
                <a:sym typeface="DM Sans"/>
              </a:rPr>
              <a:t>or</a:t>
            </a:r>
            <a:r>
              <a:rPr b="1" lang="en" sz="2400">
                <a:solidFill>
                  <a:schemeClr val="lt1"/>
                </a:solidFill>
                <a:latin typeface="DM Sans"/>
                <a:ea typeface="DM Sans"/>
                <a:cs typeface="DM Sans"/>
                <a:sym typeface="DM Sans"/>
              </a:rPr>
              <a:t> -8 + (-2)(-3)</a:t>
            </a:r>
            <a:r>
              <a:rPr lang="en" sz="2400">
                <a:solidFill>
                  <a:schemeClr val="lt1"/>
                </a:solidFill>
                <a:latin typeface="DM Sans"/>
                <a:ea typeface="DM Sans"/>
                <a:cs typeface="DM Sans"/>
                <a:sym typeface="DM Sans"/>
              </a:rPr>
              <a:t> </a:t>
            </a:r>
            <a:r>
              <a:rPr i="1" lang="en" sz="2400">
                <a:solidFill>
                  <a:schemeClr val="lt1"/>
                </a:solidFill>
                <a:latin typeface="DM Sans"/>
                <a:ea typeface="DM Sans"/>
                <a:cs typeface="DM Sans"/>
                <a:sym typeface="DM Sans"/>
              </a:rPr>
              <a:t>→ -7 or -2 → -2</a:t>
            </a:r>
            <a:endParaRPr i="1" sz="24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n" sz="2400">
                <a:solidFill>
                  <a:schemeClr val="lt1"/>
                </a:solidFill>
                <a:latin typeface="DM Sans"/>
                <a:ea typeface="DM Sans"/>
                <a:cs typeface="DM Sans"/>
                <a:sym typeface="DM Sans"/>
              </a:rPr>
              <a:t>-6 + 3(-2) </a:t>
            </a:r>
            <a:r>
              <a:rPr lang="en" sz="2400">
                <a:solidFill>
                  <a:schemeClr val="lt1"/>
                </a:solidFill>
                <a:latin typeface="DM Sans"/>
                <a:ea typeface="DM Sans"/>
                <a:cs typeface="DM Sans"/>
                <a:sym typeface="DM Sans"/>
              </a:rPr>
              <a:t>or</a:t>
            </a:r>
            <a:r>
              <a:rPr b="1" lang="en" sz="2400">
                <a:solidFill>
                  <a:schemeClr val="lt1"/>
                </a:solidFill>
                <a:latin typeface="DM Sans"/>
                <a:ea typeface="DM Sans"/>
                <a:cs typeface="DM Sans"/>
                <a:sym typeface="DM Sans"/>
              </a:rPr>
              <a:t> -5 + (-1)(-4)(-2) </a:t>
            </a:r>
            <a:r>
              <a:rPr i="1" lang="en" sz="2400">
                <a:solidFill>
                  <a:schemeClr val="lt1"/>
                </a:solidFill>
                <a:latin typeface="DM Sans"/>
                <a:ea typeface="DM Sans"/>
                <a:cs typeface="DM Sans"/>
                <a:sym typeface="DM Sans"/>
              </a:rPr>
              <a:t>→ -12 or -13 → -12</a:t>
            </a:r>
            <a:endParaRPr i="1" sz="2400">
              <a:solidFill>
                <a:srgbClr val="FFFFFF"/>
              </a:solidFill>
              <a:latin typeface="DM Sans"/>
              <a:ea typeface="DM Sans"/>
              <a:cs typeface="DM Sans"/>
              <a:sym typeface="DM Sans"/>
            </a:endParaRPr>
          </a:p>
        </p:txBody>
      </p:sp>
      <p:sp>
        <p:nvSpPr>
          <p:cNvPr id="667" name="Google Shape;667;p66"/>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6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3" name="Google Shape;673;p6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74" name="Google Shape;674;p6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7</a:t>
            </a:r>
            <a:endParaRPr sz="4800">
              <a:latin typeface="Merriweather"/>
              <a:ea typeface="Merriweather"/>
              <a:cs typeface="Merriweather"/>
              <a:sym typeface="Merriweather"/>
            </a:endParaRPr>
          </a:p>
        </p:txBody>
      </p:sp>
      <p:pic>
        <p:nvPicPr>
          <p:cNvPr id="675" name="Google Shape;675;p6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76" name="Google Shape;676;p67"/>
          <p:cNvSpPr txBox="1"/>
          <p:nvPr/>
        </p:nvSpPr>
        <p:spPr>
          <a:xfrm>
            <a:off x="559950" y="1462919"/>
            <a:ext cx="7969800" cy="2586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A hiker starts at sea level. She climbs 7 ft, descends 12 ft, climbs 5 ft, and then descends 10 ft. Where is she now relative to sea level?</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n" sz="2400">
                <a:solidFill>
                  <a:schemeClr val="lt1"/>
                </a:solidFill>
                <a:latin typeface="DM Sans"/>
                <a:ea typeface="DM Sans"/>
                <a:cs typeface="DM Sans"/>
                <a:sym typeface="DM Sans"/>
              </a:rPr>
              <a:t>A balloon starts from ground level, then rises 15 ft, descends 20 ft, rises 10 ft, and descends 2 ft. Find its final height.</a:t>
            </a:r>
            <a:endParaRPr b="1" sz="2400">
              <a:solidFill>
                <a:srgbClr val="FFFFFF"/>
              </a:solidFill>
              <a:latin typeface="DM Sans"/>
              <a:ea typeface="DM Sans"/>
              <a:cs typeface="DM Sans"/>
              <a:sym typeface="DM Sans"/>
            </a:endParaRPr>
          </a:p>
        </p:txBody>
      </p:sp>
      <p:sp>
        <p:nvSpPr>
          <p:cNvPr id="677" name="Google Shape;677;p67"/>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6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3" name="Google Shape;683;p6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84" name="Google Shape;684;p6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7</a:t>
            </a:r>
            <a:endParaRPr sz="4800">
              <a:latin typeface="Merriweather"/>
              <a:ea typeface="Merriweather"/>
              <a:cs typeface="Merriweather"/>
              <a:sym typeface="Merriweather"/>
            </a:endParaRPr>
          </a:p>
        </p:txBody>
      </p:sp>
      <p:pic>
        <p:nvPicPr>
          <p:cNvPr id="685" name="Google Shape;685;p6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86" name="Google Shape;686;p68"/>
          <p:cNvSpPr txBox="1"/>
          <p:nvPr/>
        </p:nvSpPr>
        <p:spPr>
          <a:xfrm>
            <a:off x="559950" y="1617700"/>
            <a:ext cx="79698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A hiker starts at sea level. She climbs 7 ft, descends 12 ft, climbs 5 ft, and then descends 10 ft. Where is she now relative to sea level?</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i="1" lang="en" sz="2400">
                <a:solidFill>
                  <a:srgbClr val="FFFFFF"/>
                </a:solidFill>
                <a:latin typeface="DM Sans"/>
                <a:ea typeface="DM Sans"/>
                <a:cs typeface="DM Sans"/>
                <a:sym typeface="DM Sans"/>
              </a:rPr>
              <a:t>7 - 12 + 5 - 10 = -10 → 10 ft below sea level</a:t>
            </a:r>
            <a:endParaRPr b="1" sz="2400">
              <a:solidFill>
                <a:srgbClr val="FFFFFF"/>
              </a:solidFill>
              <a:latin typeface="DM Sans"/>
              <a:ea typeface="DM Sans"/>
              <a:cs typeface="DM Sans"/>
              <a:sym typeface="DM Sans"/>
            </a:endParaRPr>
          </a:p>
        </p:txBody>
      </p:sp>
      <p:sp>
        <p:nvSpPr>
          <p:cNvPr id="687" name="Google Shape;687;p68"/>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6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3" name="Google Shape;693;p6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94" name="Google Shape;694;p6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7</a:t>
            </a:r>
            <a:endParaRPr sz="4800">
              <a:latin typeface="Merriweather"/>
              <a:ea typeface="Merriweather"/>
              <a:cs typeface="Merriweather"/>
              <a:sym typeface="Merriweather"/>
            </a:endParaRPr>
          </a:p>
        </p:txBody>
      </p:sp>
      <p:pic>
        <p:nvPicPr>
          <p:cNvPr id="695" name="Google Shape;695;p6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96" name="Google Shape;696;p69"/>
          <p:cNvSpPr txBox="1"/>
          <p:nvPr/>
        </p:nvSpPr>
        <p:spPr>
          <a:xfrm>
            <a:off x="559950" y="1617700"/>
            <a:ext cx="79698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A balloon starts from ground level, then rises 15 ft, descends 20 ft, rises 10 ft, and descends 2 ft. Find its final height.</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i="1" lang="en" sz="2400">
                <a:solidFill>
                  <a:srgbClr val="FFFFFF"/>
                </a:solidFill>
                <a:latin typeface="DM Sans"/>
                <a:ea typeface="DM Sans"/>
                <a:cs typeface="DM Sans"/>
                <a:sym typeface="DM Sans"/>
              </a:rPr>
              <a:t>15 - 20 + 10 - 2 = 3 → 3 feet above ground level</a:t>
            </a:r>
            <a:endParaRPr i="1" sz="2400">
              <a:solidFill>
                <a:srgbClr val="FFFFFF"/>
              </a:solidFill>
              <a:latin typeface="DM Sans"/>
              <a:ea typeface="DM Sans"/>
              <a:cs typeface="DM Sans"/>
              <a:sym typeface="DM Sans"/>
            </a:endParaRPr>
          </a:p>
        </p:txBody>
      </p:sp>
      <p:sp>
        <p:nvSpPr>
          <p:cNvPr id="697" name="Google Shape;697;p69"/>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7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3" name="Google Shape;703;p7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04" name="Google Shape;704;p7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8</a:t>
            </a:r>
            <a:endParaRPr sz="4800">
              <a:latin typeface="Merriweather"/>
              <a:ea typeface="Merriweather"/>
              <a:cs typeface="Merriweather"/>
              <a:sym typeface="Merriweather"/>
            </a:endParaRPr>
          </a:p>
        </p:txBody>
      </p:sp>
      <p:pic>
        <p:nvPicPr>
          <p:cNvPr id="705" name="Google Shape;705;p7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06" name="Google Shape;706;p70"/>
          <p:cNvSpPr txBox="1"/>
          <p:nvPr/>
        </p:nvSpPr>
        <p:spPr>
          <a:xfrm>
            <a:off x="559950" y="1617700"/>
            <a:ext cx="7969800" cy="11082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chemeClr val="lt1"/>
                </a:solidFill>
                <a:latin typeface="DM Sans"/>
                <a:ea typeface="DM Sans"/>
                <a:cs typeface="DM Sans"/>
                <a:sym typeface="DM Sans"/>
              </a:rPr>
              <a:t>The sum of two numbers is 0. One number has an absolute value of 7. What is the absolute value of the other number?</a:t>
            </a:r>
            <a:endParaRPr b="1" sz="2400">
              <a:solidFill>
                <a:schemeClr val="lt1"/>
              </a:solidFill>
              <a:latin typeface="DM Sans"/>
              <a:ea typeface="DM Sans"/>
              <a:cs typeface="DM Sans"/>
              <a:sym typeface="DM Sans"/>
            </a:endParaRPr>
          </a:p>
        </p:txBody>
      </p:sp>
      <p:sp>
        <p:nvSpPr>
          <p:cNvPr id="707" name="Google Shape;707;p70"/>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7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3" name="Google Shape;713;p7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14" name="Google Shape;714;p7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8</a:t>
            </a:r>
            <a:endParaRPr sz="4800">
              <a:latin typeface="Merriweather"/>
              <a:ea typeface="Merriweather"/>
              <a:cs typeface="Merriweather"/>
              <a:sym typeface="Merriweather"/>
            </a:endParaRPr>
          </a:p>
        </p:txBody>
      </p:sp>
      <p:pic>
        <p:nvPicPr>
          <p:cNvPr id="715" name="Google Shape;715;p7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16" name="Google Shape;716;p71"/>
          <p:cNvSpPr txBox="1"/>
          <p:nvPr/>
        </p:nvSpPr>
        <p:spPr>
          <a:xfrm>
            <a:off x="559950" y="1558169"/>
            <a:ext cx="7969800" cy="2524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chemeClr val="lt1"/>
                </a:solidFill>
                <a:latin typeface="DM Sans"/>
                <a:ea typeface="DM Sans"/>
                <a:cs typeface="DM Sans"/>
                <a:sym typeface="DM Sans"/>
              </a:rPr>
              <a:t>The sum of the absolute value of two numbers is 0. One number has an absolute value of 7. What is the absolute value of the other number?</a:t>
            </a:r>
            <a:endParaRPr b="1" sz="24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20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i="1" lang="en" sz="2400">
                <a:solidFill>
                  <a:schemeClr val="lt1"/>
                </a:solidFill>
                <a:latin typeface="DM Sans"/>
                <a:ea typeface="DM Sans"/>
                <a:cs typeface="DM Sans"/>
                <a:sym typeface="DM Sans"/>
              </a:rPr>
              <a:t>|x| + |y| = 0</a:t>
            </a:r>
            <a:endParaRPr i="1" sz="24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i="1" lang="en" sz="2400">
                <a:solidFill>
                  <a:schemeClr val="lt1"/>
                </a:solidFill>
                <a:latin typeface="DM Sans"/>
                <a:ea typeface="DM Sans"/>
                <a:cs typeface="DM Sans"/>
                <a:sym typeface="DM Sans"/>
              </a:rPr>
              <a:t>|x| = 7 → 7 + |y| = 0</a:t>
            </a:r>
            <a:endParaRPr i="1" sz="2400">
              <a:solidFill>
                <a:schemeClr val="lt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i="1" lang="en" sz="2400">
                <a:solidFill>
                  <a:schemeClr val="lt1"/>
                </a:solidFill>
                <a:latin typeface="DM Sans"/>
                <a:ea typeface="DM Sans"/>
                <a:cs typeface="DM Sans"/>
                <a:sym typeface="DM Sans"/>
              </a:rPr>
              <a:t>What is |y|? → |y| = 7</a:t>
            </a:r>
            <a:endParaRPr i="1" sz="2400">
              <a:solidFill>
                <a:schemeClr val="lt1"/>
              </a:solidFill>
              <a:latin typeface="DM Sans"/>
              <a:ea typeface="DM Sans"/>
              <a:cs typeface="DM Sans"/>
              <a:sym typeface="DM Sans"/>
            </a:endParaRPr>
          </a:p>
        </p:txBody>
      </p:sp>
      <p:sp>
        <p:nvSpPr>
          <p:cNvPr id="717" name="Google Shape;717;p71"/>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7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3" name="Google Shape;723;p7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24" name="Google Shape;724;p7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9</a:t>
            </a:r>
            <a:endParaRPr sz="4800">
              <a:latin typeface="Merriweather"/>
              <a:ea typeface="Merriweather"/>
              <a:cs typeface="Merriweather"/>
              <a:sym typeface="Merriweather"/>
            </a:endParaRPr>
          </a:p>
        </p:txBody>
      </p:sp>
      <p:pic>
        <p:nvPicPr>
          <p:cNvPr id="725" name="Google Shape;725;p7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26" name="Google Shape;726;p72"/>
          <p:cNvSpPr txBox="1"/>
          <p:nvPr/>
        </p:nvSpPr>
        <p:spPr>
          <a:xfrm>
            <a:off x="559950" y="1419250"/>
            <a:ext cx="8024100" cy="2832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What quadrants are these points in:</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(10, 3)</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(-2, 6)</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(0, 7)</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p:txBody>
      </p:sp>
      <p:sp>
        <p:nvSpPr>
          <p:cNvPr id="727" name="Google Shape;727;p72"/>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7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3" name="Google Shape;733;p7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34" name="Google Shape;734;p7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9</a:t>
            </a:r>
            <a:endParaRPr sz="4800">
              <a:latin typeface="Merriweather"/>
              <a:ea typeface="Merriweather"/>
              <a:cs typeface="Merriweather"/>
              <a:sym typeface="Merriweather"/>
            </a:endParaRPr>
          </a:p>
        </p:txBody>
      </p:sp>
      <p:pic>
        <p:nvPicPr>
          <p:cNvPr id="735" name="Google Shape;735;p7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36" name="Google Shape;736;p73"/>
          <p:cNvSpPr txBox="1"/>
          <p:nvPr/>
        </p:nvSpPr>
        <p:spPr>
          <a:xfrm>
            <a:off x="559950" y="1419250"/>
            <a:ext cx="8024100" cy="2832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What quadrants are these points in:</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(10, </a:t>
            </a:r>
            <a:r>
              <a:rPr lang="en" sz="2000">
                <a:solidFill>
                  <a:srgbClr val="FFFFFF"/>
                </a:solidFill>
                <a:latin typeface="DM Sans"/>
                <a:ea typeface="DM Sans"/>
                <a:cs typeface="DM Sans"/>
                <a:sym typeface="DM Sans"/>
              </a:rPr>
              <a:t>3) </a:t>
            </a:r>
            <a:r>
              <a:rPr b="1" lang="en" sz="2000">
                <a:solidFill>
                  <a:srgbClr val="FFFFFF"/>
                </a:solidFill>
                <a:latin typeface="DM Sans"/>
                <a:ea typeface="DM Sans"/>
                <a:cs typeface="DM Sans"/>
                <a:sym typeface="DM Sans"/>
              </a:rPr>
              <a:t>Quadrant 1</a:t>
            </a:r>
            <a:endParaRPr b="1"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(-2, 6) </a:t>
            </a:r>
            <a:r>
              <a:rPr b="1" lang="en" sz="2000">
                <a:solidFill>
                  <a:srgbClr val="FFFFFF"/>
                </a:solidFill>
                <a:latin typeface="DM Sans"/>
                <a:ea typeface="DM Sans"/>
                <a:cs typeface="DM Sans"/>
                <a:sym typeface="DM Sans"/>
              </a:rPr>
              <a:t>Quadrant 2</a:t>
            </a:r>
            <a:endParaRPr b="1"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(0, 7) </a:t>
            </a:r>
            <a:r>
              <a:rPr b="1" lang="en" sz="2000">
                <a:solidFill>
                  <a:srgbClr val="FFFFFF"/>
                </a:solidFill>
                <a:latin typeface="DM Sans"/>
                <a:ea typeface="DM Sans"/>
                <a:cs typeface="DM Sans"/>
                <a:sym typeface="DM Sans"/>
              </a:rPr>
              <a:t>On the y-axis</a:t>
            </a:r>
            <a:endParaRPr b="1"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p:txBody>
      </p:sp>
      <p:sp>
        <p:nvSpPr>
          <p:cNvPr id="737" name="Google Shape;737;p73"/>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7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3" name="Google Shape;743;p7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44" name="Google Shape;744;p7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10</a:t>
            </a:r>
            <a:endParaRPr sz="4800">
              <a:latin typeface="Merriweather"/>
              <a:ea typeface="Merriweather"/>
              <a:cs typeface="Merriweather"/>
              <a:sym typeface="Merriweather"/>
            </a:endParaRPr>
          </a:p>
        </p:txBody>
      </p:sp>
      <p:pic>
        <p:nvPicPr>
          <p:cNvPr id="745" name="Google Shape;745;p7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46" name="Google Shape;746;p74"/>
          <p:cNvSpPr txBox="1"/>
          <p:nvPr/>
        </p:nvSpPr>
        <p:spPr>
          <a:xfrm>
            <a:off x="559950" y="1419250"/>
            <a:ext cx="8024100" cy="2832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What quadrants are these points in:</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(3, -5)</a:t>
            </a:r>
            <a:endParaRPr b="1"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(-25, -100)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(6, 0)</a:t>
            </a:r>
            <a:endParaRPr b="1"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p:txBody>
      </p:sp>
      <p:sp>
        <p:nvSpPr>
          <p:cNvPr id="747" name="Google Shape;747;p74"/>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7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3" name="Google Shape;753;p7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54" name="Google Shape;754;p7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10</a:t>
            </a:r>
            <a:endParaRPr sz="4800">
              <a:latin typeface="Merriweather"/>
              <a:ea typeface="Merriweather"/>
              <a:cs typeface="Merriweather"/>
              <a:sym typeface="Merriweather"/>
            </a:endParaRPr>
          </a:p>
        </p:txBody>
      </p:sp>
      <p:pic>
        <p:nvPicPr>
          <p:cNvPr id="755" name="Google Shape;755;p7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56" name="Google Shape;756;p75"/>
          <p:cNvSpPr txBox="1"/>
          <p:nvPr/>
        </p:nvSpPr>
        <p:spPr>
          <a:xfrm>
            <a:off x="559950" y="1419250"/>
            <a:ext cx="8024100" cy="2832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What quadrants are these points in:</a:t>
            </a:r>
            <a:endParaRPr b="1" sz="24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(3, -5) </a:t>
            </a:r>
            <a:r>
              <a:rPr b="1" lang="en" sz="2000">
                <a:solidFill>
                  <a:srgbClr val="FFFFFF"/>
                </a:solidFill>
                <a:latin typeface="DM Sans"/>
                <a:ea typeface="DM Sans"/>
                <a:cs typeface="DM Sans"/>
                <a:sym typeface="DM Sans"/>
              </a:rPr>
              <a:t>Quadrant 4</a:t>
            </a:r>
            <a:endParaRPr b="1"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(-25, -100) </a:t>
            </a:r>
            <a:r>
              <a:rPr b="1" lang="en" sz="2000">
                <a:solidFill>
                  <a:srgbClr val="FFFFFF"/>
                </a:solidFill>
                <a:latin typeface="DM Sans"/>
                <a:ea typeface="DM Sans"/>
                <a:cs typeface="DM Sans"/>
                <a:sym typeface="DM Sans"/>
              </a:rPr>
              <a:t>Quadrant 3</a:t>
            </a:r>
            <a:endParaRPr b="1"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(6, 0) </a:t>
            </a:r>
            <a:r>
              <a:rPr b="1" lang="en" sz="2000">
                <a:solidFill>
                  <a:srgbClr val="FFFFFF"/>
                </a:solidFill>
                <a:latin typeface="DM Sans"/>
                <a:ea typeface="DM Sans"/>
                <a:cs typeface="DM Sans"/>
                <a:sym typeface="DM Sans"/>
              </a:rPr>
              <a:t>On the x-axis</a:t>
            </a:r>
            <a:endParaRPr b="1"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2000">
              <a:solidFill>
                <a:srgbClr val="FFFFFF"/>
              </a:solidFill>
              <a:latin typeface="DM Sans"/>
              <a:ea typeface="DM Sans"/>
              <a:cs typeface="DM Sans"/>
              <a:sym typeface="DM Sans"/>
            </a:endParaRPr>
          </a:p>
        </p:txBody>
      </p:sp>
      <p:sp>
        <p:nvSpPr>
          <p:cNvPr id="757" name="Google Shape;757;p75"/>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pic>
        <p:nvPicPr>
          <p:cNvPr id="762" name="Google Shape;762;p76"/>
          <p:cNvPicPr preferRelativeResize="0"/>
          <p:nvPr/>
        </p:nvPicPr>
        <p:blipFill rotWithShape="1">
          <a:blip r:embed="rId3">
            <a:alphaModFix/>
          </a:blip>
          <a:srcRect b="4898" l="0" r="0" t="0"/>
          <a:stretch/>
        </p:blipFill>
        <p:spPr>
          <a:xfrm>
            <a:off x="559950" y="1099138"/>
            <a:ext cx="3410950" cy="3272963"/>
          </a:xfrm>
          <a:prstGeom prst="rect">
            <a:avLst/>
          </a:prstGeom>
          <a:noFill/>
          <a:ln>
            <a:noFill/>
          </a:ln>
        </p:spPr>
      </p:pic>
      <p:sp>
        <p:nvSpPr>
          <p:cNvPr id="763" name="Google Shape;763;p7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4" name="Google Shape;764;p7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65" name="Google Shape;765;p7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11</a:t>
            </a:r>
            <a:endParaRPr sz="4800">
              <a:latin typeface="Merriweather"/>
              <a:ea typeface="Merriweather"/>
              <a:cs typeface="Merriweather"/>
              <a:sym typeface="Merriweather"/>
            </a:endParaRPr>
          </a:p>
        </p:txBody>
      </p:sp>
      <p:pic>
        <p:nvPicPr>
          <p:cNvPr id="766" name="Google Shape;766;p76" title="1.png"/>
          <p:cNvPicPr preferRelativeResize="0"/>
          <p:nvPr/>
        </p:nvPicPr>
        <p:blipFill>
          <a:blip r:embed="rId4">
            <a:alphaModFix/>
          </a:blip>
          <a:stretch>
            <a:fillRect/>
          </a:stretch>
        </p:blipFill>
        <p:spPr>
          <a:xfrm>
            <a:off x="228600" y="228600"/>
            <a:ext cx="1033200" cy="1033200"/>
          </a:xfrm>
          <a:prstGeom prst="rect">
            <a:avLst/>
          </a:prstGeom>
          <a:noFill/>
          <a:ln>
            <a:noFill/>
          </a:ln>
        </p:spPr>
      </p:pic>
      <p:sp>
        <p:nvSpPr>
          <p:cNvPr id="767" name="Google Shape;767;p76"/>
          <p:cNvSpPr txBox="1"/>
          <p:nvPr/>
        </p:nvSpPr>
        <p:spPr>
          <a:xfrm>
            <a:off x="4393225" y="1442625"/>
            <a:ext cx="3929100" cy="22164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Point A is at (4, -3) and point B is at (-2, 5). Graph point A and B on the coordinate plane below, and locate the quadrant each point exists in.</a:t>
            </a:r>
            <a:endParaRPr sz="2400">
              <a:solidFill>
                <a:srgbClr val="FFFFFF"/>
              </a:solidFill>
              <a:latin typeface="DM Sans"/>
              <a:ea typeface="DM Sans"/>
              <a:cs typeface="DM Sans"/>
              <a:sym typeface="DM Sans"/>
            </a:endParaRPr>
          </a:p>
        </p:txBody>
      </p:sp>
      <p:sp>
        <p:nvSpPr>
          <p:cNvPr id="768" name="Google Shape;768;p76"/>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pic>
        <p:nvPicPr>
          <p:cNvPr id="773" name="Google Shape;773;p77"/>
          <p:cNvPicPr preferRelativeResize="0"/>
          <p:nvPr/>
        </p:nvPicPr>
        <p:blipFill rotWithShape="1">
          <a:blip r:embed="rId3">
            <a:alphaModFix/>
          </a:blip>
          <a:srcRect b="4898" l="0" r="0" t="0"/>
          <a:stretch/>
        </p:blipFill>
        <p:spPr>
          <a:xfrm>
            <a:off x="559950" y="1099138"/>
            <a:ext cx="3410950" cy="3272963"/>
          </a:xfrm>
          <a:prstGeom prst="rect">
            <a:avLst/>
          </a:prstGeom>
          <a:noFill/>
          <a:ln>
            <a:noFill/>
          </a:ln>
        </p:spPr>
      </p:pic>
      <p:sp>
        <p:nvSpPr>
          <p:cNvPr id="774" name="Google Shape;774;p7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5" name="Google Shape;775;p7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76" name="Google Shape;776;p7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11</a:t>
            </a:r>
            <a:endParaRPr sz="4800">
              <a:latin typeface="Merriweather"/>
              <a:ea typeface="Merriweather"/>
              <a:cs typeface="Merriweather"/>
              <a:sym typeface="Merriweather"/>
            </a:endParaRPr>
          </a:p>
        </p:txBody>
      </p:sp>
      <p:pic>
        <p:nvPicPr>
          <p:cNvPr id="777" name="Google Shape;777;p77" title="1.png"/>
          <p:cNvPicPr preferRelativeResize="0"/>
          <p:nvPr/>
        </p:nvPicPr>
        <p:blipFill>
          <a:blip r:embed="rId4">
            <a:alphaModFix/>
          </a:blip>
          <a:stretch>
            <a:fillRect/>
          </a:stretch>
        </p:blipFill>
        <p:spPr>
          <a:xfrm>
            <a:off x="228600" y="228600"/>
            <a:ext cx="1033200" cy="1033200"/>
          </a:xfrm>
          <a:prstGeom prst="rect">
            <a:avLst/>
          </a:prstGeom>
          <a:noFill/>
          <a:ln>
            <a:noFill/>
          </a:ln>
        </p:spPr>
      </p:pic>
      <p:sp>
        <p:nvSpPr>
          <p:cNvPr id="778" name="Google Shape;778;p77"/>
          <p:cNvSpPr txBox="1"/>
          <p:nvPr/>
        </p:nvSpPr>
        <p:spPr>
          <a:xfrm>
            <a:off x="4393225" y="1442625"/>
            <a:ext cx="39291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Point A: (4, -3)</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i="1" lang="en" sz="2400">
                <a:solidFill>
                  <a:srgbClr val="FFFFFF"/>
                </a:solidFill>
                <a:latin typeface="DM Sans"/>
                <a:ea typeface="DM Sans"/>
                <a:cs typeface="DM Sans"/>
                <a:sym typeface="DM Sans"/>
              </a:rPr>
              <a:t>Quadrant 4</a:t>
            </a:r>
            <a:endParaRPr i="1" sz="2400">
              <a:solidFill>
                <a:srgbClr val="FFFFFF"/>
              </a:solidFill>
              <a:latin typeface="DM Sans"/>
              <a:ea typeface="DM Sans"/>
              <a:cs typeface="DM Sans"/>
              <a:sym typeface="DM Sans"/>
            </a:endParaRPr>
          </a:p>
          <a:p>
            <a:pPr indent="0" lvl="0" marL="0" rtl="0" algn="l">
              <a:spcBef>
                <a:spcPts val="0"/>
              </a:spcBef>
              <a:spcAft>
                <a:spcPts val="0"/>
              </a:spcAft>
              <a:buNone/>
            </a:pPr>
            <a:r>
              <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b="1" lang="en" sz="2400">
                <a:solidFill>
                  <a:srgbClr val="FFFFFF"/>
                </a:solidFill>
                <a:latin typeface="DM Sans"/>
                <a:ea typeface="DM Sans"/>
                <a:cs typeface="DM Sans"/>
                <a:sym typeface="DM Sans"/>
              </a:rPr>
              <a:t>Point B: (-2, 5)</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i="1" lang="en" sz="2400">
                <a:solidFill>
                  <a:srgbClr val="FFFFFF"/>
                </a:solidFill>
                <a:latin typeface="DM Sans"/>
                <a:ea typeface="DM Sans"/>
                <a:cs typeface="DM Sans"/>
                <a:sym typeface="DM Sans"/>
              </a:rPr>
              <a:t>Quadrant 2</a:t>
            </a:r>
            <a:endParaRPr i="1" sz="2400">
              <a:solidFill>
                <a:srgbClr val="FFFFFF"/>
              </a:solidFill>
              <a:latin typeface="DM Sans"/>
              <a:ea typeface="DM Sans"/>
              <a:cs typeface="DM Sans"/>
              <a:sym typeface="DM Sans"/>
            </a:endParaRPr>
          </a:p>
        </p:txBody>
      </p:sp>
      <p:sp>
        <p:nvSpPr>
          <p:cNvPr id="779" name="Google Shape;779;p77"/>
          <p:cNvSpPr/>
          <p:nvPr/>
        </p:nvSpPr>
        <p:spPr>
          <a:xfrm>
            <a:off x="3087502" y="3434427"/>
            <a:ext cx="74700" cy="678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0" name="Google Shape;780;p77"/>
          <p:cNvSpPr/>
          <p:nvPr/>
        </p:nvSpPr>
        <p:spPr>
          <a:xfrm>
            <a:off x="1787775" y="1707171"/>
            <a:ext cx="74700" cy="678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1" name="Google Shape;781;p77"/>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7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7" name="Google Shape;787;p7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88" name="Google Shape;788;p7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12</a:t>
            </a:r>
            <a:endParaRPr sz="4800">
              <a:latin typeface="Merriweather"/>
              <a:ea typeface="Merriweather"/>
              <a:cs typeface="Merriweather"/>
              <a:sym typeface="Merriweather"/>
            </a:endParaRPr>
          </a:p>
        </p:txBody>
      </p:sp>
      <p:pic>
        <p:nvPicPr>
          <p:cNvPr id="789" name="Google Shape;789;p7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90" name="Google Shape;790;p78"/>
          <p:cNvSpPr txBox="1"/>
          <p:nvPr/>
        </p:nvSpPr>
        <p:spPr>
          <a:xfrm>
            <a:off x="550075" y="1192150"/>
            <a:ext cx="4603200" cy="2955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Plot (3, -2). Which quadrant is it in?</a:t>
            </a:r>
            <a:endParaRPr sz="2400">
              <a:solidFill>
                <a:srgbClr val="FFFFFF"/>
              </a:solidFill>
              <a:latin typeface="DM Sans"/>
              <a:ea typeface="DM Sans"/>
              <a:cs typeface="DM Sans"/>
              <a:sym typeface="DM Sans"/>
            </a:endParaRPr>
          </a:p>
          <a:p>
            <a:pPr indent="0" lvl="0" marL="0" rtl="0" algn="l">
              <a:spcBef>
                <a:spcPts val="0"/>
              </a:spcBef>
              <a:spcAft>
                <a:spcPts val="0"/>
              </a:spcAft>
              <a:buNone/>
            </a:pPr>
            <a:r>
              <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b="1" lang="en" sz="2400">
                <a:solidFill>
                  <a:srgbClr val="FFFFFF"/>
                </a:solidFill>
                <a:latin typeface="DM Sans"/>
                <a:ea typeface="DM Sans"/>
                <a:cs typeface="DM Sans"/>
                <a:sym typeface="DM Sans"/>
              </a:rPr>
              <a:t>Which point is on the x-axis: (5, 0), (0, 3), or (-4, -1)?</a:t>
            </a:r>
            <a:endParaRPr sz="2400">
              <a:solidFill>
                <a:srgbClr val="FFFFFF"/>
              </a:solidFill>
              <a:latin typeface="DM Sans"/>
              <a:ea typeface="DM Sans"/>
              <a:cs typeface="DM Sans"/>
              <a:sym typeface="DM Sans"/>
            </a:endParaRPr>
          </a:p>
          <a:p>
            <a:pPr indent="0" lvl="0" marL="0" rtl="0" algn="l">
              <a:spcBef>
                <a:spcPts val="0"/>
              </a:spcBef>
              <a:spcAft>
                <a:spcPts val="0"/>
              </a:spcAft>
              <a:buNone/>
            </a:pPr>
            <a:r>
              <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b="1" lang="en" sz="2400">
                <a:solidFill>
                  <a:srgbClr val="FFFFFF"/>
                </a:solidFill>
                <a:latin typeface="DM Sans"/>
                <a:ea typeface="DM Sans"/>
                <a:cs typeface="DM Sans"/>
                <a:sym typeface="DM Sans"/>
              </a:rPr>
              <a:t>The point (-2, 4) is in which quadrant?</a:t>
            </a:r>
            <a:endParaRPr sz="2400">
              <a:solidFill>
                <a:srgbClr val="FFFFFF"/>
              </a:solidFill>
              <a:latin typeface="DM Sans"/>
              <a:ea typeface="DM Sans"/>
              <a:cs typeface="DM Sans"/>
              <a:sym typeface="DM Sans"/>
            </a:endParaRPr>
          </a:p>
        </p:txBody>
      </p:sp>
      <p:pic>
        <p:nvPicPr>
          <p:cNvPr id="791" name="Google Shape;791;p78"/>
          <p:cNvPicPr preferRelativeResize="0"/>
          <p:nvPr/>
        </p:nvPicPr>
        <p:blipFill rotWithShape="1">
          <a:blip r:embed="rId4">
            <a:alphaModFix/>
          </a:blip>
          <a:srcRect b="4898" l="0" r="0" t="0"/>
          <a:stretch/>
        </p:blipFill>
        <p:spPr>
          <a:xfrm>
            <a:off x="5504450" y="1033313"/>
            <a:ext cx="3410950" cy="3272963"/>
          </a:xfrm>
          <a:prstGeom prst="rect">
            <a:avLst/>
          </a:prstGeom>
          <a:noFill/>
          <a:ln>
            <a:noFill/>
          </a:ln>
        </p:spPr>
      </p:pic>
      <p:sp>
        <p:nvSpPr>
          <p:cNvPr id="792" name="Google Shape;792;p78"/>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7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8" name="Google Shape;798;p7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99" name="Google Shape;799;p7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12</a:t>
            </a:r>
            <a:endParaRPr sz="4800">
              <a:latin typeface="Merriweather"/>
              <a:ea typeface="Merriweather"/>
              <a:cs typeface="Merriweather"/>
              <a:sym typeface="Merriweather"/>
            </a:endParaRPr>
          </a:p>
        </p:txBody>
      </p:sp>
      <p:pic>
        <p:nvPicPr>
          <p:cNvPr id="800" name="Google Shape;800;p79" title="1.png"/>
          <p:cNvPicPr preferRelativeResize="0"/>
          <p:nvPr/>
        </p:nvPicPr>
        <p:blipFill>
          <a:blip r:embed="rId3">
            <a:alphaModFix/>
          </a:blip>
          <a:stretch>
            <a:fillRect/>
          </a:stretch>
        </p:blipFill>
        <p:spPr>
          <a:xfrm>
            <a:off x="228600" y="228600"/>
            <a:ext cx="1033200" cy="1033200"/>
          </a:xfrm>
          <a:prstGeom prst="rect">
            <a:avLst/>
          </a:prstGeom>
          <a:noFill/>
          <a:ln>
            <a:noFill/>
          </a:ln>
        </p:spPr>
      </p:pic>
      <p:pic>
        <p:nvPicPr>
          <p:cNvPr id="801" name="Google Shape;801;p79"/>
          <p:cNvPicPr preferRelativeResize="0"/>
          <p:nvPr/>
        </p:nvPicPr>
        <p:blipFill rotWithShape="1">
          <a:blip r:embed="rId4">
            <a:alphaModFix/>
          </a:blip>
          <a:srcRect b="4898" l="0" r="0" t="0"/>
          <a:stretch/>
        </p:blipFill>
        <p:spPr>
          <a:xfrm>
            <a:off x="5504450" y="1033313"/>
            <a:ext cx="3410950" cy="3272963"/>
          </a:xfrm>
          <a:prstGeom prst="rect">
            <a:avLst/>
          </a:prstGeom>
          <a:noFill/>
          <a:ln>
            <a:noFill/>
          </a:ln>
        </p:spPr>
      </p:pic>
      <p:sp>
        <p:nvSpPr>
          <p:cNvPr id="802" name="Google Shape;802;p79"/>
          <p:cNvSpPr txBox="1"/>
          <p:nvPr/>
        </p:nvSpPr>
        <p:spPr>
          <a:xfrm>
            <a:off x="550075" y="1774625"/>
            <a:ext cx="4603200" cy="11082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Plot (3, -2). Which quadrant is it in?</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i="1" lang="en" sz="2400">
                <a:solidFill>
                  <a:srgbClr val="FFFFFF"/>
                </a:solidFill>
                <a:latin typeface="DM Sans"/>
                <a:ea typeface="DM Sans"/>
                <a:cs typeface="DM Sans"/>
                <a:sym typeface="DM Sans"/>
              </a:rPr>
              <a:t>Fourth quadrant</a:t>
            </a:r>
            <a:endParaRPr i="1" sz="2400">
              <a:solidFill>
                <a:srgbClr val="FFFFFF"/>
              </a:solidFill>
              <a:latin typeface="DM Sans"/>
              <a:ea typeface="DM Sans"/>
              <a:cs typeface="DM Sans"/>
              <a:sym typeface="DM Sans"/>
            </a:endParaRPr>
          </a:p>
        </p:txBody>
      </p:sp>
      <p:sp>
        <p:nvSpPr>
          <p:cNvPr id="803" name="Google Shape;803;p79"/>
          <p:cNvSpPr/>
          <p:nvPr/>
        </p:nvSpPr>
        <p:spPr>
          <a:xfrm>
            <a:off x="7818900" y="3148825"/>
            <a:ext cx="62100" cy="597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4" name="Google Shape;804;p79"/>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8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0" name="Google Shape;810;p8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11" name="Google Shape;811;p8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12</a:t>
            </a:r>
            <a:endParaRPr sz="4800">
              <a:latin typeface="Merriweather"/>
              <a:ea typeface="Merriweather"/>
              <a:cs typeface="Merriweather"/>
              <a:sym typeface="Merriweather"/>
            </a:endParaRPr>
          </a:p>
        </p:txBody>
      </p:sp>
      <p:pic>
        <p:nvPicPr>
          <p:cNvPr id="812" name="Google Shape;812;p8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13" name="Google Shape;813;p80"/>
          <p:cNvSpPr txBox="1"/>
          <p:nvPr/>
        </p:nvSpPr>
        <p:spPr>
          <a:xfrm>
            <a:off x="572250" y="1746250"/>
            <a:ext cx="79995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Which point is on the x-axis: (5, 0), (0, 3), or (-4, -1)?</a:t>
            </a:r>
            <a:r>
              <a:rPr lang="en" sz="2400">
                <a:solidFill>
                  <a:srgbClr val="FFFFFF"/>
                </a:solidFill>
                <a:latin typeface="DM Sans"/>
                <a:ea typeface="DM Sans"/>
                <a:cs typeface="DM Sans"/>
                <a:sym typeface="DM Sans"/>
              </a:rPr>
              <a:t> </a:t>
            </a:r>
            <a:r>
              <a:rPr i="1" lang="en" sz="2400">
                <a:solidFill>
                  <a:srgbClr val="FFFFFF"/>
                </a:solidFill>
                <a:latin typeface="DM Sans"/>
                <a:ea typeface="DM Sans"/>
                <a:cs typeface="DM Sans"/>
                <a:sym typeface="DM Sans"/>
              </a:rPr>
              <a:t>(5, 0)</a:t>
            </a:r>
            <a:endParaRPr i="1" sz="2400">
              <a:solidFill>
                <a:srgbClr val="FFFFFF"/>
              </a:solidFill>
              <a:latin typeface="DM Sans"/>
              <a:ea typeface="DM Sans"/>
              <a:cs typeface="DM Sans"/>
              <a:sym typeface="DM Sans"/>
            </a:endParaRPr>
          </a:p>
          <a:p>
            <a:pPr indent="0" lvl="0" marL="0" rtl="0" algn="l">
              <a:spcBef>
                <a:spcPts val="0"/>
              </a:spcBef>
              <a:spcAft>
                <a:spcPts val="0"/>
              </a:spcAft>
              <a:buNone/>
            </a:pPr>
            <a:r>
              <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b="1" lang="en" sz="2400">
                <a:solidFill>
                  <a:srgbClr val="FFFFFF"/>
                </a:solidFill>
                <a:latin typeface="DM Sans"/>
                <a:ea typeface="DM Sans"/>
                <a:cs typeface="DM Sans"/>
                <a:sym typeface="DM Sans"/>
              </a:rPr>
              <a:t>The point (-2, 4) is in which quadrant?</a:t>
            </a:r>
            <a:r>
              <a:rPr lang="en" sz="2400">
                <a:solidFill>
                  <a:srgbClr val="FFFFFF"/>
                </a:solidFill>
                <a:latin typeface="DM Sans"/>
                <a:ea typeface="DM Sans"/>
                <a:cs typeface="DM Sans"/>
                <a:sym typeface="DM Sans"/>
              </a:rPr>
              <a:t> </a:t>
            </a:r>
            <a:r>
              <a:rPr i="1" lang="en" sz="2400">
                <a:solidFill>
                  <a:srgbClr val="FFFFFF"/>
                </a:solidFill>
                <a:latin typeface="DM Sans"/>
                <a:ea typeface="DM Sans"/>
                <a:cs typeface="DM Sans"/>
                <a:sym typeface="DM Sans"/>
              </a:rPr>
              <a:t>Second quadrant</a:t>
            </a:r>
            <a:endParaRPr i="1" sz="2400">
              <a:solidFill>
                <a:srgbClr val="FFFFFF"/>
              </a:solidFill>
              <a:latin typeface="DM Sans"/>
              <a:ea typeface="DM Sans"/>
              <a:cs typeface="DM Sans"/>
              <a:sym typeface="DM Sans"/>
            </a:endParaRPr>
          </a:p>
        </p:txBody>
      </p:sp>
      <p:sp>
        <p:nvSpPr>
          <p:cNvPr id="814" name="Google Shape;814;p80"/>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8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0" name="Google Shape;820;p8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21" name="Google Shape;821;p8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13</a:t>
            </a:r>
            <a:endParaRPr sz="4800">
              <a:latin typeface="Merriweather"/>
              <a:ea typeface="Merriweather"/>
              <a:cs typeface="Merriweather"/>
              <a:sym typeface="Merriweather"/>
            </a:endParaRPr>
          </a:p>
        </p:txBody>
      </p:sp>
      <p:pic>
        <p:nvPicPr>
          <p:cNvPr id="822" name="Google Shape;822;p8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23" name="Google Shape;823;p81"/>
          <p:cNvSpPr txBox="1"/>
          <p:nvPr/>
        </p:nvSpPr>
        <p:spPr>
          <a:xfrm>
            <a:off x="800100" y="1655375"/>
            <a:ext cx="7543800" cy="14778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A point P is in the second quadrant. Its y-coordinate is 7, and the sum of its coordinates is 3. Find the x-coordinate.</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t/>
            </a:r>
            <a:endParaRPr b="1" sz="2400">
              <a:solidFill>
                <a:srgbClr val="FFFFFF"/>
              </a:solidFill>
              <a:latin typeface="DM Sans"/>
              <a:ea typeface="DM Sans"/>
              <a:cs typeface="DM Sans"/>
              <a:sym typeface="DM Sans"/>
            </a:endParaRPr>
          </a:p>
        </p:txBody>
      </p:sp>
      <p:sp>
        <p:nvSpPr>
          <p:cNvPr id="824" name="Google Shape;824;p81"/>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8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0" name="Google Shape;830;p8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31" name="Google Shape;831;p8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13</a:t>
            </a:r>
            <a:endParaRPr sz="4800">
              <a:latin typeface="Merriweather"/>
              <a:ea typeface="Merriweather"/>
              <a:cs typeface="Merriweather"/>
              <a:sym typeface="Merriweather"/>
            </a:endParaRPr>
          </a:p>
        </p:txBody>
      </p:sp>
      <p:pic>
        <p:nvPicPr>
          <p:cNvPr id="832" name="Google Shape;832;p8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33" name="Google Shape;833;p82"/>
          <p:cNvSpPr txBox="1"/>
          <p:nvPr/>
        </p:nvSpPr>
        <p:spPr>
          <a:xfrm>
            <a:off x="800100" y="1655375"/>
            <a:ext cx="7543800" cy="22164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A point P is in the second quadrant. Its y-coordinate is 7, and the sum of its coordinates is 3. Find the x-coordinate.</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i="1" lang="en" sz="2400">
                <a:solidFill>
                  <a:srgbClr val="FFFFFF"/>
                </a:solidFill>
                <a:latin typeface="DM Sans"/>
                <a:ea typeface="DM Sans"/>
                <a:cs typeface="DM Sans"/>
                <a:sym typeface="DM Sans"/>
              </a:rPr>
              <a:t>P(x, y) → y = 7, x+y = 3</a:t>
            </a:r>
            <a:endParaRPr i="1" sz="2400">
              <a:solidFill>
                <a:srgbClr val="FFFFFF"/>
              </a:solidFill>
              <a:latin typeface="DM Sans"/>
              <a:ea typeface="DM Sans"/>
              <a:cs typeface="DM Sans"/>
              <a:sym typeface="DM Sans"/>
            </a:endParaRPr>
          </a:p>
          <a:p>
            <a:pPr indent="0" lvl="0" marL="0" rtl="0" algn="l">
              <a:spcBef>
                <a:spcPts val="0"/>
              </a:spcBef>
              <a:spcAft>
                <a:spcPts val="0"/>
              </a:spcAft>
              <a:buNone/>
            </a:pPr>
            <a:r>
              <a:rPr i="1" lang="en" sz="2400">
                <a:solidFill>
                  <a:srgbClr val="FFFFFF"/>
                </a:solidFill>
                <a:latin typeface="DM Sans"/>
                <a:ea typeface="DM Sans"/>
                <a:cs typeface="DM Sans"/>
                <a:sym typeface="DM Sans"/>
              </a:rPr>
              <a:t>x = -4</a:t>
            </a:r>
            <a:endParaRPr i="1" sz="2400">
              <a:solidFill>
                <a:srgbClr val="FFFFFF"/>
              </a:solidFill>
              <a:latin typeface="DM Sans"/>
              <a:ea typeface="DM Sans"/>
              <a:cs typeface="DM Sans"/>
              <a:sym typeface="DM Sans"/>
            </a:endParaRPr>
          </a:p>
        </p:txBody>
      </p:sp>
      <p:sp>
        <p:nvSpPr>
          <p:cNvPr id="834" name="Google Shape;834;p82"/>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8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0" name="Google Shape;840;p8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41" name="Google Shape;841;p8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14</a:t>
            </a:r>
            <a:endParaRPr sz="4800">
              <a:latin typeface="Merriweather"/>
              <a:ea typeface="Merriweather"/>
              <a:cs typeface="Merriweather"/>
              <a:sym typeface="Merriweather"/>
            </a:endParaRPr>
          </a:p>
        </p:txBody>
      </p:sp>
      <p:pic>
        <p:nvPicPr>
          <p:cNvPr id="842" name="Google Shape;842;p8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43" name="Google Shape;843;p83"/>
          <p:cNvSpPr txBox="1"/>
          <p:nvPr/>
        </p:nvSpPr>
        <p:spPr>
          <a:xfrm>
            <a:off x="559950" y="2215325"/>
            <a:ext cx="7051800" cy="153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-x + 7 = 12</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|x + 3| - 4 = 5</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(-2 * x) - (-3 * 4) = 10</a:t>
            </a:r>
            <a:endParaRPr sz="2000">
              <a:solidFill>
                <a:srgbClr val="FFFFFF"/>
              </a:solidFill>
              <a:latin typeface="DM Sans"/>
              <a:ea typeface="DM Sans"/>
              <a:cs typeface="DM Sans"/>
              <a:sym typeface="DM Sans"/>
            </a:endParaRPr>
          </a:p>
        </p:txBody>
      </p:sp>
      <p:sp>
        <p:nvSpPr>
          <p:cNvPr id="844" name="Google Shape;844;p83"/>
          <p:cNvSpPr txBox="1"/>
          <p:nvPr/>
        </p:nvSpPr>
        <p:spPr>
          <a:xfrm>
            <a:off x="559950" y="1716425"/>
            <a:ext cx="7543800" cy="36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Find x in the equations below.</a:t>
            </a:r>
            <a:endParaRPr sz="2400">
              <a:solidFill>
                <a:srgbClr val="FFFFFF"/>
              </a:solidFill>
              <a:latin typeface="DM Sans"/>
              <a:ea typeface="DM Sans"/>
              <a:cs typeface="DM Sans"/>
              <a:sym typeface="DM Sans"/>
            </a:endParaRPr>
          </a:p>
        </p:txBody>
      </p:sp>
      <p:sp>
        <p:nvSpPr>
          <p:cNvPr id="845" name="Google Shape;845;p83"/>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800"/>
                                        <p:tgtEl>
                                          <p:spTgt spid="8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8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1" name="Google Shape;851;p8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52" name="Google Shape;852;p8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14</a:t>
            </a:r>
            <a:endParaRPr sz="4800">
              <a:latin typeface="Merriweather"/>
              <a:ea typeface="Merriweather"/>
              <a:cs typeface="Merriweather"/>
              <a:sym typeface="Merriweather"/>
            </a:endParaRPr>
          </a:p>
        </p:txBody>
      </p:sp>
      <p:pic>
        <p:nvPicPr>
          <p:cNvPr id="853" name="Google Shape;853;p8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54" name="Google Shape;854;p84"/>
          <p:cNvSpPr txBox="1"/>
          <p:nvPr/>
        </p:nvSpPr>
        <p:spPr>
          <a:xfrm>
            <a:off x="559950" y="2106729"/>
            <a:ext cx="70518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000">
                <a:solidFill>
                  <a:schemeClr val="lt1"/>
                </a:solidFill>
                <a:latin typeface="DM Sans"/>
                <a:ea typeface="DM Sans"/>
                <a:cs typeface="DM Sans"/>
                <a:sym typeface="DM Sans"/>
              </a:rPr>
              <a:t>-x + 7 = 12 → </a:t>
            </a:r>
            <a:r>
              <a:rPr i="1" lang="en" sz="2000">
                <a:solidFill>
                  <a:schemeClr val="lt1"/>
                </a:solidFill>
                <a:latin typeface="DM Sans"/>
                <a:ea typeface="DM Sans"/>
                <a:cs typeface="DM Sans"/>
                <a:sym typeface="DM Sans"/>
              </a:rPr>
              <a:t>x = -5</a:t>
            </a:r>
            <a:endParaRPr i="1"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|x + 3| - 4 = 5</a:t>
            </a:r>
            <a:r>
              <a:rPr lang="en" sz="2000">
                <a:solidFill>
                  <a:schemeClr val="lt1"/>
                </a:solidFill>
                <a:latin typeface="DM Sans"/>
                <a:ea typeface="DM Sans"/>
                <a:cs typeface="DM Sans"/>
                <a:sym typeface="DM Sans"/>
              </a:rPr>
              <a:t> → |</a:t>
            </a:r>
            <a:r>
              <a:rPr i="1" lang="en" sz="2000">
                <a:solidFill>
                  <a:schemeClr val="lt1"/>
                </a:solidFill>
                <a:latin typeface="DM Sans"/>
                <a:ea typeface="DM Sans"/>
                <a:cs typeface="DM Sans"/>
                <a:sym typeface="DM Sans"/>
              </a:rPr>
              <a:t>x + 3| = 9 → x + 3 = 9 and x + 3 = -9</a:t>
            </a:r>
            <a:endParaRPr i="1" sz="2000">
              <a:solidFill>
                <a:schemeClr val="lt1"/>
              </a:solidFill>
              <a:latin typeface="DM Sans"/>
              <a:ea typeface="DM Sans"/>
              <a:cs typeface="DM Sans"/>
              <a:sym typeface="DM Sans"/>
            </a:endParaRPr>
          </a:p>
          <a:p>
            <a:pPr indent="0" lvl="0" marL="2743200" rtl="0" algn="l">
              <a:spcBef>
                <a:spcPts val="0"/>
              </a:spcBef>
              <a:spcAft>
                <a:spcPts val="0"/>
              </a:spcAft>
              <a:buNone/>
            </a:pPr>
            <a:r>
              <a:rPr i="1" lang="en" sz="2000">
                <a:solidFill>
                  <a:schemeClr val="lt1"/>
                </a:solidFill>
                <a:latin typeface="DM Sans"/>
                <a:ea typeface="DM Sans"/>
                <a:cs typeface="DM Sans"/>
                <a:sym typeface="DM Sans"/>
              </a:rPr>
              <a:t>    → x = 6 and x = -12</a:t>
            </a:r>
            <a:endParaRPr sz="2000">
              <a:solidFill>
                <a:srgbClr val="FFFFFF"/>
              </a:solidFill>
              <a:latin typeface="DM Sans"/>
              <a:ea typeface="DM Sans"/>
              <a:cs typeface="DM Sans"/>
              <a:sym typeface="DM Sans"/>
            </a:endParaRPr>
          </a:p>
          <a:p>
            <a:pPr indent="0" lvl="0" marL="0" rtl="0" algn="l">
              <a:spcBef>
                <a:spcPts val="0"/>
              </a:spcBef>
              <a:spcAft>
                <a:spcPts val="0"/>
              </a:spcAft>
              <a:buNone/>
            </a:pPr>
            <a:r>
              <a:t/>
            </a:r>
            <a:endParaRPr sz="2000">
              <a:solidFill>
                <a:srgbClr val="FFFFFF"/>
              </a:solidFill>
              <a:latin typeface="DM Sans"/>
              <a:ea typeface="DM Sans"/>
              <a:cs typeface="DM Sans"/>
              <a:sym typeface="DM Sans"/>
            </a:endParaRPr>
          </a:p>
          <a:p>
            <a:pPr indent="0" lvl="0" marL="0" rtl="0" algn="l">
              <a:spcBef>
                <a:spcPts val="0"/>
              </a:spcBef>
              <a:spcAft>
                <a:spcPts val="0"/>
              </a:spcAft>
              <a:buNone/>
            </a:pPr>
            <a:r>
              <a:rPr lang="en" sz="2000">
                <a:solidFill>
                  <a:srgbClr val="FFFFFF"/>
                </a:solidFill>
                <a:latin typeface="DM Sans"/>
                <a:ea typeface="DM Sans"/>
                <a:cs typeface="DM Sans"/>
                <a:sym typeface="DM Sans"/>
              </a:rPr>
              <a:t>(-2 * x) - (-3 * 4) = 10</a:t>
            </a:r>
            <a:r>
              <a:rPr lang="en" sz="2000">
                <a:solidFill>
                  <a:schemeClr val="lt1"/>
                </a:solidFill>
                <a:latin typeface="DM Sans"/>
                <a:ea typeface="DM Sans"/>
                <a:cs typeface="DM Sans"/>
                <a:sym typeface="DM Sans"/>
              </a:rPr>
              <a:t> → </a:t>
            </a:r>
            <a:r>
              <a:rPr i="1" lang="en" sz="2000">
                <a:solidFill>
                  <a:schemeClr val="lt1"/>
                </a:solidFill>
                <a:latin typeface="DM Sans"/>
                <a:ea typeface="DM Sans"/>
                <a:cs typeface="DM Sans"/>
                <a:sym typeface="DM Sans"/>
              </a:rPr>
              <a:t>x = 1</a:t>
            </a:r>
            <a:endParaRPr sz="2000">
              <a:solidFill>
                <a:srgbClr val="FFFFFF"/>
              </a:solidFill>
              <a:latin typeface="DM Sans"/>
              <a:ea typeface="DM Sans"/>
              <a:cs typeface="DM Sans"/>
              <a:sym typeface="DM Sans"/>
            </a:endParaRPr>
          </a:p>
        </p:txBody>
      </p:sp>
      <p:sp>
        <p:nvSpPr>
          <p:cNvPr id="855" name="Google Shape;855;p84"/>
          <p:cNvSpPr txBox="1"/>
          <p:nvPr/>
        </p:nvSpPr>
        <p:spPr>
          <a:xfrm>
            <a:off x="559950" y="1607829"/>
            <a:ext cx="7543800" cy="36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Find x in the equations below.</a:t>
            </a:r>
            <a:endParaRPr sz="2400">
              <a:solidFill>
                <a:srgbClr val="FFFFFF"/>
              </a:solidFill>
              <a:latin typeface="DM Sans"/>
              <a:ea typeface="DM Sans"/>
              <a:cs typeface="DM Sans"/>
              <a:sym typeface="DM Sans"/>
            </a:endParaRPr>
          </a:p>
        </p:txBody>
      </p:sp>
      <p:sp>
        <p:nvSpPr>
          <p:cNvPr id="856" name="Google Shape;856;p84"/>
          <p:cNvSpPr/>
          <p:nvPr/>
        </p:nvSpPr>
        <p:spPr>
          <a:xfrm>
            <a:off x="-5194858" y="4372100"/>
            <a:ext cx="15173441" cy="771407"/>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-13 |2 - 25| -6122 -1 -240 |-50| -94</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54"/>
                                        </p:tgtEl>
                                        <p:attrNameLst>
                                          <p:attrName>style.visibility</p:attrName>
                                        </p:attrNameLst>
                                      </p:cBhvr>
                                      <p:to>
                                        <p:strVal val="visible"/>
                                      </p:to>
                                    </p:set>
                                    <p:animEffect filter="fade" transition="in">
                                      <p:cBhvr>
                                        <p:cTn dur="800"/>
                                        <p:tgtEl>
                                          <p:spTgt spid="8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6DED9"/>
        </a:solidFill>
      </p:bgPr>
    </p:bg>
    <p:spTree>
      <p:nvGrpSpPr>
        <p:cNvPr id="860" name="Shape 860"/>
        <p:cNvGrpSpPr/>
        <p:nvPr/>
      </p:nvGrpSpPr>
      <p:grpSpPr>
        <a:xfrm>
          <a:off x="0" y="0"/>
          <a:ext cx="0" cy="0"/>
          <a:chOff x="0" y="0"/>
          <a:chExt cx="0" cy="0"/>
        </a:xfrm>
      </p:grpSpPr>
      <p:sp>
        <p:nvSpPr>
          <p:cNvPr id="861" name="Google Shape;861;p85"/>
          <p:cNvSpPr/>
          <p:nvPr/>
        </p:nvSpPr>
        <p:spPr>
          <a:xfrm>
            <a:off x="-228600" y="518400"/>
            <a:ext cx="9601200" cy="1477800"/>
          </a:xfrm>
          <a:prstGeom prst="rect">
            <a:avLst/>
          </a:prstGeom>
          <a:solidFill>
            <a:srgbClr val="6D2A4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2" name="Google Shape;862;p85"/>
          <p:cNvSpPr/>
          <p:nvPr/>
        </p:nvSpPr>
        <p:spPr>
          <a:xfrm>
            <a:off x="228590" y="228602"/>
            <a:ext cx="2057400" cy="2057400"/>
          </a:xfrm>
          <a:prstGeom prst="ellipse">
            <a:avLst/>
          </a:prstGeom>
          <a:solidFill>
            <a:srgbClr val="C6DED9"/>
          </a:solidFill>
          <a:ln cap="flat" cmpd="sng" w="152400">
            <a:solidFill>
              <a:srgbClr val="6D2A4B"/>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solidFill>
                  <a:schemeClr val="dk1"/>
                </a:solidFill>
                <a:latin typeface="Merriweather"/>
                <a:ea typeface="Merriweather"/>
                <a:cs typeface="Merriweather"/>
                <a:sym typeface="Merriweather"/>
              </a:rPr>
              <a:t>Spring</a:t>
            </a:r>
            <a:endParaRPr sz="3200">
              <a:solidFill>
                <a:schemeClr val="dk1"/>
              </a:solidFill>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solidFill>
                  <a:schemeClr val="dk1"/>
                </a:solidFill>
                <a:latin typeface="Merriweather"/>
                <a:ea typeface="Merriweather"/>
                <a:cs typeface="Merriweather"/>
                <a:sym typeface="Merriweather"/>
              </a:rPr>
              <a:t>2</a:t>
            </a:r>
            <a:endParaRPr sz="9600">
              <a:solidFill>
                <a:schemeClr val="dk1"/>
              </a:solidFill>
              <a:latin typeface="Merriweather"/>
              <a:ea typeface="Merriweather"/>
              <a:cs typeface="Merriweather"/>
              <a:sym typeface="Merriweather"/>
            </a:endParaRPr>
          </a:p>
        </p:txBody>
      </p:sp>
      <p:sp>
        <p:nvSpPr>
          <p:cNvPr id="863" name="Google Shape;863;p85"/>
          <p:cNvSpPr/>
          <p:nvPr/>
        </p:nvSpPr>
        <p:spPr>
          <a:xfrm>
            <a:off x="-228600" y="3118800"/>
            <a:ext cx="9601200" cy="1477800"/>
          </a:xfrm>
          <a:prstGeom prst="rect">
            <a:avLst/>
          </a:prstGeom>
          <a:noFill/>
          <a:ln cap="flat" cmpd="sng" w="152400">
            <a:solidFill>
              <a:srgbClr val="6D2A4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4" name="Google Shape;864;p85"/>
          <p:cNvSpPr/>
          <p:nvPr/>
        </p:nvSpPr>
        <p:spPr>
          <a:xfrm>
            <a:off x="6857990" y="2829002"/>
            <a:ext cx="2057400" cy="20574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80000"/>
              </a:lnSpc>
              <a:spcBef>
                <a:spcPts val="0"/>
              </a:spcBef>
              <a:spcAft>
                <a:spcPts val="0"/>
              </a:spcAft>
              <a:buNone/>
            </a:pPr>
            <a:r>
              <a:t/>
            </a:r>
            <a:endParaRPr sz="9600">
              <a:latin typeface="Leckerli One"/>
              <a:ea typeface="Leckerli One"/>
              <a:cs typeface="Leckerli One"/>
              <a:sym typeface="Leckerli One"/>
            </a:endParaRPr>
          </a:p>
        </p:txBody>
      </p:sp>
      <p:pic>
        <p:nvPicPr>
          <p:cNvPr id="865" name="Google Shape;865;p85" title="1.png"/>
          <p:cNvPicPr preferRelativeResize="0"/>
          <p:nvPr/>
        </p:nvPicPr>
        <p:blipFill>
          <a:blip r:embed="rId3">
            <a:alphaModFix/>
          </a:blip>
          <a:stretch>
            <a:fillRect/>
          </a:stretch>
        </p:blipFill>
        <p:spPr>
          <a:xfrm>
            <a:off x="6857990" y="2829000"/>
            <a:ext cx="2057400" cy="2057400"/>
          </a:xfrm>
          <a:prstGeom prst="rect">
            <a:avLst/>
          </a:prstGeom>
          <a:noFill/>
          <a:ln>
            <a:noFill/>
          </a:ln>
        </p:spPr>
      </p:pic>
      <p:sp>
        <p:nvSpPr>
          <p:cNvPr id="866" name="Google Shape;866;p85"/>
          <p:cNvSpPr txBox="1"/>
          <p:nvPr/>
        </p:nvSpPr>
        <p:spPr>
          <a:xfrm>
            <a:off x="0" y="3211200"/>
            <a:ext cx="6629400" cy="130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3600">
                <a:solidFill>
                  <a:schemeClr val="dk1"/>
                </a:solidFill>
                <a:latin typeface="Merriweather"/>
                <a:ea typeface="Merriweather"/>
                <a:cs typeface="Merriweather"/>
                <a:sym typeface="Merriweather"/>
              </a:rPr>
              <a:t>Kahoot for </a:t>
            </a:r>
            <a:r>
              <a:rPr lang="en" sz="3600" u="sng">
                <a:solidFill>
                  <a:schemeClr val="accent5"/>
                </a:solidFill>
                <a:latin typeface="Merriweather"/>
                <a:ea typeface="Merriweather"/>
                <a:cs typeface="Merriweather"/>
                <a:sym typeface="Merriweather"/>
                <a:hlinkClick r:id="rId4">
                  <a:extLst>
                    <a:ext uri="{A12FA001-AC4F-418D-AE19-62706E023703}">
                      <ahyp:hlinkClr val="tx"/>
                    </a:ext>
                  </a:extLst>
                </a:hlinkClick>
              </a:rPr>
              <a:t>Pronouns</a:t>
            </a:r>
            <a:endParaRPr sz="3600">
              <a:solidFill>
                <a:schemeClr val="accent5"/>
              </a:solidFill>
              <a:latin typeface="Merriweather"/>
              <a:ea typeface="Merriweather"/>
              <a:cs typeface="Merriweather"/>
              <a:sym typeface="Merriweather"/>
            </a:endParaRPr>
          </a:p>
          <a:p>
            <a:pPr indent="0" lvl="0" marL="0" rtl="0" algn="r">
              <a:spcBef>
                <a:spcPts val="0"/>
              </a:spcBef>
              <a:spcAft>
                <a:spcPts val="0"/>
              </a:spcAft>
              <a:buNone/>
            </a:pPr>
            <a:r>
              <a:rPr lang="en" sz="3600">
                <a:solidFill>
                  <a:schemeClr val="dk1"/>
                </a:solidFill>
                <a:latin typeface="Merriweather"/>
                <a:ea typeface="Merriweather"/>
                <a:cs typeface="Merriweather"/>
                <a:sym typeface="Merriweather"/>
              </a:rPr>
              <a:t>Kahoot for </a:t>
            </a:r>
            <a:r>
              <a:rPr lang="en" sz="3600" u="sng">
                <a:solidFill>
                  <a:schemeClr val="accent5"/>
                </a:solidFill>
                <a:latin typeface="Merriweather"/>
                <a:ea typeface="Merriweather"/>
                <a:cs typeface="Merriweather"/>
                <a:sym typeface="Merriweather"/>
                <a:hlinkClick r:id="rId5">
                  <a:extLst>
                    <a:ext uri="{A12FA001-AC4F-418D-AE19-62706E023703}">
                      <ahyp:hlinkClr val="tx"/>
                    </a:ext>
                  </a:extLst>
                </a:hlinkClick>
              </a:rPr>
              <a:t>Negative Numbers</a:t>
            </a:r>
            <a:endParaRPr sz="3600">
              <a:solidFill>
                <a:schemeClr val="dk1"/>
              </a:solidFill>
              <a:latin typeface="Merriweather"/>
              <a:ea typeface="Merriweather"/>
              <a:cs typeface="Merriweather"/>
              <a:sym typeface="Merriweather"/>
            </a:endParaRPr>
          </a:p>
        </p:txBody>
      </p:sp>
      <p:sp>
        <p:nvSpPr>
          <p:cNvPr id="867" name="Google Shape;867;p85"/>
          <p:cNvSpPr txBox="1"/>
          <p:nvPr/>
        </p:nvSpPr>
        <p:spPr>
          <a:xfrm>
            <a:off x="2514600" y="518400"/>
            <a:ext cx="6400800" cy="147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solidFill>
                  <a:schemeClr val="lt1"/>
                </a:solidFill>
                <a:latin typeface="Merriweather"/>
                <a:ea typeface="Merriweather"/>
                <a:cs typeface="Merriweather"/>
                <a:sym typeface="Merriweather"/>
              </a:rPr>
              <a:t>Pronouns &amp;</a:t>
            </a:r>
            <a:endParaRPr sz="4800">
              <a:solidFill>
                <a:schemeClr val="lt1"/>
              </a:solidFill>
              <a:latin typeface="Merriweather"/>
              <a:ea typeface="Merriweather"/>
              <a:cs typeface="Merriweather"/>
              <a:sym typeface="Merriweather"/>
            </a:endParaRPr>
          </a:p>
          <a:p>
            <a:pPr indent="0" lvl="0" marL="0" rtl="0" algn="l">
              <a:spcBef>
                <a:spcPts val="0"/>
              </a:spcBef>
              <a:spcAft>
                <a:spcPts val="0"/>
              </a:spcAft>
              <a:buNone/>
            </a:pPr>
            <a:r>
              <a:rPr lang="en" sz="4800">
                <a:solidFill>
                  <a:schemeClr val="lt1"/>
                </a:solidFill>
                <a:latin typeface="Merriweather"/>
                <a:ea typeface="Merriweather"/>
                <a:cs typeface="Merriweather"/>
                <a:sym typeface="Merriweather"/>
              </a:rPr>
              <a:t>Negative Numbers</a:t>
            </a:r>
            <a:endParaRPr sz="4800">
              <a:solidFill>
                <a:schemeClr val="lt1"/>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