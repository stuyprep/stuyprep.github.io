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</p:sldIdLst>
  <p:sldSz cy="5143500" cx="9144000"/>
  <p:notesSz cx="6858000" cy="9144000"/>
  <p:embeddedFontLst>
    <p:embeddedFont>
      <p:font typeface="Roboto"/>
      <p:regular r:id="rId54"/>
      <p:bold r:id="rId55"/>
      <p:italic r:id="rId56"/>
      <p:boldItalic r:id="rId57"/>
    </p:embeddedFont>
    <p:embeddedFont>
      <p:font typeface="Leckerli One"/>
      <p:regular r:id="rId58"/>
    </p:embeddedFont>
    <p:embeddedFont>
      <p:font typeface="DM Sans"/>
      <p:regular r:id="rId59"/>
      <p:bold r:id="rId60"/>
      <p:italic r:id="rId61"/>
      <p:boldItalic r:id="rId62"/>
    </p:embeddedFont>
    <p:embeddedFont>
      <p:font typeface="Merriweather"/>
      <p:regular r:id="rId63"/>
      <p:bold r:id="rId64"/>
      <p:italic r:id="rId65"/>
      <p:boldItalic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DMSans-boldItalic.fntdata"/><Relationship Id="rId61" Type="http://schemas.openxmlformats.org/officeDocument/2006/relationships/font" Target="fonts/DMSans-italic.fntdata"/><Relationship Id="rId20" Type="http://schemas.openxmlformats.org/officeDocument/2006/relationships/slide" Target="slides/slide15.xml"/><Relationship Id="rId64" Type="http://schemas.openxmlformats.org/officeDocument/2006/relationships/font" Target="fonts/Merriweather-bold.fntdata"/><Relationship Id="rId63" Type="http://schemas.openxmlformats.org/officeDocument/2006/relationships/font" Target="fonts/Merriweather-regular.fntdata"/><Relationship Id="rId22" Type="http://schemas.openxmlformats.org/officeDocument/2006/relationships/slide" Target="slides/slide17.xml"/><Relationship Id="rId66" Type="http://schemas.openxmlformats.org/officeDocument/2006/relationships/font" Target="fonts/Merriweather-boldItalic.fntdata"/><Relationship Id="rId21" Type="http://schemas.openxmlformats.org/officeDocument/2006/relationships/slide" Target="slides/slide16.xml"/><Relationship Id="rId65" Type="http://schemas.openxmlformats.org/officeDocument/2006/relationships/font" Target="fonts/Merriweather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DMSans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font" Target="fonts/Roboto-bold.fntdata"/><Relationship Id="rId10" Type="http://schemas.openxmlformats.org/officeDocument/2006/relationships/slide" Target="slides/slide5.xml"/><Relationship Id="rId54" Type="http://schemas.openxmlformats.org/officeDocument/2006/relationships/font" Target="fonts/Roboto-regular.fntdata"/><Relationship Id="rId13" Type="http://schemas.openxmlformats.org/officeDocument/2006/relationships/slide" Target="slides/slide8.xml"/><Relationship Id="rId57" Type="http://schemas.openxmlformats.org/officeDocument/2006/relationships/font" Target="fonts/Roboto-boldItalic.fntdata"/><Relationship Id="rId12" Type="http://schemas.openxmlformats.org/officeDocument/2006/relationships/slide" Target="slides/slide7.xml"/><Relationship Id="rId56" Type="http://schemas.openxmlformats.org/officeDocument/2006/relationships/font" Target="fonts/Roboto-italic.fntdata"/><Relationship Id="rId15" Type="http://schemas.openxmlformats.org/officeDocument/2006/relationships/slide" Target="slides/slide10.xml"/><Relationship Id="rId59" Type="http://schemas.openxmlformats.org/officeDocument/2006/relationships/font" Target="fonts/DMSans-regular.fntdata"/><Relationship Id="rId14" Type="http://schemas.openxmlformats.org/officeDocument/2006/relationships/slide" Target="slides/slide9.xml"/><Relationship Id="rId58" Type="http://schemas.openxmlformats.org/officeDocument/2006/relationships/font" Target="fonts/LeckerliOne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presentation/d/1xKAndUYPnQE3b46g8FY_QkUDx2Au4h383PZeMF0stkg/edit?usp=sharing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950f14bc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950f14b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Benjamin Xie. Logo designed by Madeleine Villamil.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c950f14bc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c950f14bc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Amy Shrestha &amp; Benjamin Xie.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c950f14bcf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c950f14bcf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Text from 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SHSAT: Math &amp; Reading/Writing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Slide designed by Amy Shrestha &amp; Benjamin Xie.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950f14bcf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950f14bcf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Amy Shrestha.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950f14bcf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950f14bcf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Amy Shrestha.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950f14bcf_3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950f14bcf_3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Amy Shrestha.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950f14bcf_3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c950f14bcf_3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Amy Shrestha.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950f14bcf_0_9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c950f14bcf_0_9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Amy Shrestha.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950f14bcf_3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c950f14bcf_3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Amy Shrestha.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950f14bcf_3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c950f14bcf_3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Amy Shrestha.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950f14bcf_3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c950f14bcf_3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Amy Shrestha.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950f14bcf_3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c950f14bcf_3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Amy Shrestha.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c950f14bcf_3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c950f14bcf_3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Amy Shrestha.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c950f14bcf_3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c950f14bcf_3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Amy Shrestha.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9694f43c1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9694f43c1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Amy Shrestha.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9694f43c11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9694f43c11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Amy Shrestha.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9694f43c11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9694f43c11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Amy Shrestha.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9694f43c11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9694f43c11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Amy Shrestha.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9694f43c11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9694f43c11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Amy Shrestha.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9694f43c11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9694f43c11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Amy Shrestha.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9694f43c11_1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9694f43c11_1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Amy Shrestha.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9694f43c11_1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9694f43c11_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Amy Shrestha.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9694f43c11_1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9694f43c11_1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Amy Shrestha.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9694f43c11_1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9694f43c11_1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Amy Shrestha.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9694f43c11_1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9694f43c11_1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Amy Shrestha.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9694f43c11_1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9694f43c11_1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Also acceptable: Neither of the girls brought </a:t>
            </a: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an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umbrella.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Amy Shrestha.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c950f14bcf_0_6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c950f14bcf_0_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Benjamin Xie.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9694f43c11_1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9694f43c11_1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Amy Shrestha.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9694f43c11_1_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9694f43c11_1_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Amy Shrestha.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9694f43c11_1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9694f43c11_1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Amy Shrestha.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9694f43c11_1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9694f43c11_1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Amy Shrestha.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9694f43c11_1_5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9694f43c11_1_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Amy Shrestha.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9694f43c11_1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9694f43c11_1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Amy Shrestha.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c950f14bcf_0_6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c950f14bcf_0_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Amy Shrestha.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6f2e652d15241fc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6f2e652d15241fc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Amy Shrestha.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9694f43c11_1_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9694f43c11_1_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Amy Shrestha.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6f2e652d15241fc4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6f2e652d15241fc4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489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Amy Shrestha.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6f2e652d15241fc4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6f2e652d15241fc4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59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Amy Shrestha.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9694f43c11_1_6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9694f43c11_1_6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-1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Amy Shrestha.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9694f43c11_1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9694f43c11_1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Amy Shrestha.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9694f43c11_1_5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9694f43c11_1_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Amy Shrestha.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9694f43c11_1_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9694f43c11_1_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Amy Shrestha.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9694f43c11_1_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9694f43c11_1_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Amy Shrestha.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9694f43c11_1_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9694f43c11_1_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Amy Shrestha.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6f2e652d15241fc4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6f2e652d15241fc4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Amy Shrestha.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6f2e652d15241fc4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6f2e652d15241fc4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Amy Shrestha.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6f2e652d15241fc4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6f2e652d15241fc4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Amy Shrestha.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c950f14bcf_0_8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3c950f14bcf_0_8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Benjamin Xie. 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Logo designed by Madeleine Villamil.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slow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5D3A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-228600" y="518400"/>
            <a:ext cx="9601200" cy="1477800"/>
          </a:xfrm>
          <a:prstGeom prst="rect">
            <a:avLst/>
          </a:prstGeom>
          <a:solidFill>
            <a:srgbClr val="C6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228590" y="228602"/>
            <a:ext cx="2057400" cy="2057400"/>
          </a:xfrm>
          <a:prstGeom prst="ellipse">
            <a:avLst/>
          </a:prstGeom>
          <a:solidFill>
            <a:srgbClr val="8B5D3A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2286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Spring</a:t>
            </a:r>
            <a:endParaRPr sz="32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2</a:t>
            </a:r>
            <a:endParaRPr sz="96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-228600" y="3118800"/>
            <a:ext cx="9601200" cy="1477800"/>
          </a:xfrm>
          <a:prstGeom prst="rect">
            <a:avLst/>
          </a:prstGeom>
          <a:noFill/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6857990" y="2829002"/>
            <a:ext cx="2057400" cy="2057400"/>
          </a:xfrm>
          <a:prstGeom prst="ellipse">
            <a:avLst/>
          </a:prstGeom>
          <a:solidFill>
            <a:srgbClr val="C6DED9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2286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00">
              <a:latin typeface="Leckerli One"/>
              <a:ea typeface="Leckerli One"/>
              <a:cs typeface="Leckerli One"/>
              <a:sym typeface="Leckerli One"/>
            </a:endParaRPr>
          </a:p>
        </p:txBody>
      </p:sp>
      <p:pic>
        <p:nvPicPr>
          <p:cNvPr id="58" name="Google Shape;58;p13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7990" y="2829000"/>
            <a:ext cx="2057400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/>
        </p:nvSpPr>
        <p:spPr>
          <a:xfrm>
            <a:off x="228600" y="3211200"/>
            <a:ext cx="6400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Stuy Prep</a:t>
            </a:r>
            <a:endParaRPr sz="36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Lesson 26S2</a:t>
            </a:r>
            <a:endParaRPr sz="48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2514600" y="518400"/>
            <a:ext cx="64008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Pronouns</a:t>
            </a:r>
            <a:r>
              <a:rPr lang="en" sz="4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&amp;</a:t>
            </a:r>
            <a:endParaRPr sz="4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Negative Numbers</a:t>
            </a:r>
            <a:endParaRPr sz="4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5D3A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-1522208" y="4131550"/>
            <a:ext cx="11479688" cy="101196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C6DED9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₊✩‧₊˚౨ৎ˚₊✩‧₊ ✮ ⋆ ˚｡⋆｡°✩⋆˚˖°</a:t>
            </a:r>
          </a:p>
        </p:txBody>
      </p:sp>
      <p:sp>
        <p:nvSpPr>
          <p:cNvPr id="66" name="Google Shape;66;p14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C6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C6DED9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Homework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652500" y="1327025"/>
            <a:ext cx="7839000" cy="369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Questions on the homework?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70" name="Google Shape;70;p14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/>
        </p:nvSpPr>
        <p:spPr>
          <a:xfrm>
            <a:off x="652500" y="1924925"/>
            <a:ext cx="7839000" cy="369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Homework #1</a:t>
            </a:r>
            <a:endParaRPr i="1" sz="20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-152212" y="2457600"/>
            <a:ext cx="91044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</a:rPr>
              <a:t>⠀⣀⠀⠀⠀⠀⠀⠀⠀⠀⠀⢀⣀⠀⠀⠀⠀⠀⠀⠀⠀⣀⣠⣶⣿⣶⡾⠁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</a:rPr>
              <a:t>⠠⣿⡀⠀⠀⠀⢀⣀⣤⣶⣿⣿⣿⣿⣿⣿⣿⣿⣿⣿⣿⣿⣿⣿⣿⣿⡿⠀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</a:rPr>
              <a:t>⠀⠙⢿⣶⣶⣾⣿⠿⢿⣿⣿⣿⣿⣿⣿⣿⣿⣿⣿⣿⣿⣿⣿⡿⠛⠿⠃⠀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</a:rPr>
              <a:t>⠀⠀⠀⠀⠀⠀⠀⠀⢸⣿⣿⣿⣿⣿⣿⣿⣿⣿⣿⣿⣿⣿⣿⡃⠀⠀⠀⠀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</a:rPr>
              <a:t>⠀⠀⠀⠀⠀⠀⠀⣰⣿⣿⢿⣿⣿⠟⠁⠀⠀⠀⠈⢿⣿⠛⠻⢿⣦⡀⠀⠀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</a:rPr>
              <a:t>⠀⠀⠀⠀⠀⠀⠀⣿⠟⠁⠘⢿⣿⠀⠀⠀⠀⠀⠀⠸⣿⡀⠀⠀⠹⠷⠀⠀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</a:rPr>
              <a:t>⠀⠀⠀⠀⠀⠀⠀⣿⣤⠀⠀⠀⠙⠷⠶⠀⠀⠀⠀⠀⠙⠛⠁⠀⠀⠀⠀⠀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5D3A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/>
        </p:nvSpPr>
        <p:spPr>
          <a:xfrm>
            <a:off x="4202200" y="232050"/>
            <a:ext cx="4875000" cy="46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⠀⠀⠀⠀⠀⠀⠀⠀⠀⠀⠀⠀⠀⠀⠀⠀⠀⠀⠀⠀⠀⠀⠀⠀⠀⠀⠀⠀⠀⠀⠀⠀⠀⠀⠀⠀⠀⠀⠀⠀⠀⠀⠀⠀⠀⠀⣰⡀⠀⠀⠀⠀⠀⠀⠀⠀⠀⠀⠀⠀⠀⠀⠀⠀⠀⠀⠀⠀⠀⠀⠀⠀⠀⠀⠀⠀⠀⠀⠀⠀⠀⠀⠀⠀⠀⠀⠀⠀⠀⠀⠀⠀⠀⠀⠀⠀⠀⠀⠀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⠀⠀⠀⠀⠀⠀⠀⠀⠀⠀⠀⠀⠀⠀⠀⠀⠀⠀⠀⠀⠀⠀⠀⠀⠀⠀⠀⠀⠀⠀⠀⠀⠀⠀⠀⠀⠀⠀⠀⠀⠀⠀⠀⠀⠀⢠⡟⢷⣖⡀⠀⠀⠀⠀⠀⠀⠀⠀⠀⠀⠀⠀⠀⠀⠀⠀⠀⠀⠀⠀⠀⠀⠀⠀⠀⠀⠀⠀⠀⠀⠀⠀⠀⠀⠀⠀⠀⠀⠀⠀⠀⠀⠀⠀⠀⠀⠀⠀⠀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⠀⠀⠀⠀⠀⠀⠀⠀⠀⠀⠀⠀⠀⠀⠀⠀⠀⠀⠀⠀⠀⠀⠀⠀⠀⠀⠀⠀⠀⠀⠀⠀⠀⠀⠀⠀⠀⠀⠀⠀⠀⠀⠀⠀⢀⣿⠃⡆⠙⢻⣦⡀⠀⠀⠀⠀⠀⠀⠀⠀⠀⠀⠀⠀⠀⠀⠀⠀⠀⠀⠀⠀⠀⠀⠀⠀⠀⠀⠀⠀⠀⠀⠀⠀⠀⠀⠀⠀⠀⠀⠀⠀⠀⠀⠀⠀⠀⠀⠀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⠀⠀⠀⠀⠀⠀⠀⠀⠀⠀⠀⠀⠀⠀⠀⠀⠀⠀⠀⠀⠀⠀⠀⠀⠀⠀⠀⠀⠀⠀⠀⠀⠀⠀⠀⠀⠀⠀⠀⠀⠀⠀⠀⠀⣾⠇⠀⣇⠀⠀⠘⢿⣦⣀⠀⠀⠀⠀⠀⠀⠀⠀⠀⠀⠀⠀⠀⠀⠀⠀⠀⠀⠀⠀⠀⠀⠀⠀⠀⠀⠀⠀⠀⠀⠀⠀⠀⠀⠀⠀⠀⠀⠀⠀⠀⠀⠀⠀⠀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⠀⠀⠀⠀⠀⠀⠀⠀⠀⠀⠀⠀⠀⠀⠀⠀⠀⠀⠀⠀⠀⠀⠀⠀⠀⠀⠀⠀⠀⠀⠀⠀⠀⠀⠀⠀⠀⠀⠀⠀⠀⠀⠀⣼⡏⢀⠀⢸⠀⠀⠀⠀⠙⢿⣦⡄⠀⠀⠀⠀⠀⠀⠀⠀⠀⠀⠀⠀⠀⠀⠀⠀⠀⠀⠀⠀⠀⠀⠀⠀⠀⠀⠀⠀⠀⠀⠀⠀⠀⠀⠀⠀⠀⠀⠀⠀⠀⠀⠀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⠀⠀⠀⠀⠀⠀⠀⠀⠀⠀⠀⠀⠀⠀⠀⠀⠀⠀⠀⠀⠀⠀⠀⠀⠀⠀⠀⠀⠀⠀⠀⠀⠀⠀⠀⠀⠀⠀⠀⠀⠀⠀⣸⡟⠀⠀⠀⢸⠀⠀⠀⠀⠀⠀⠙⢿⣦⡅⠄⠀⠀⠀⠀⠀⠀⠀⠀⠀⠀⠀⠀⠀⠀⠀⠀⠀⠀⠀⠀⠀⠀⠀⠀⠀⠀⠀⠀⠀⠀⠀⠀⠀⠀⠀⠀⠀⠀⠀⠀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⠀⠀⠀⠀⠀⠀⠀⠀⠀⠀⠀⠀⠀⠀⠀⠀⠀⠀⠀⠀⠀⠀⠀⠀⠀⠀⠀⠀⠀⠀⠀⠀⠀⠀⠀⠀⠀⠀⠀⠀⠀⣰⡟⠀⠀⠀⠀⢸⠀⠀⠀⠀⠀⠀⠀⠀⠙⢿⣷⣄⠀⠀⠀⠀⠀⠀⠀⠀⠀⠀⠀⠀⠀⠀⠀⠀⠀⠀⠀⠀⠀⠀⠀⠀⠀⠀⠀⠀⠀⠀⠀⠀⠀⠀⠀⠀⠀⠀⠀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⠀⠀⠀⠀⠀⠀⠀⠀⠀⠀⠀⠀⠀⠀⠀⠀⠀⠀⠀⠀⠀⠀⠀⠀⠀⠀⠀⠀⠀⠀⠀⠀⠀⠀⠀⠀⠀⠀⠀⠀⢠⡿⠀⠀⠀⠀⠀⠸⡇⠀⠀⠀⠀⠀⠀⠀⠀⠀⠙⢿⣷⣄⠀⠀⠀⠀⠀⠀⠀⠀⠀⠀⠀⠀⠀⠀⠀⠀⠀⠀⠀⠀⠀⠀⠀⠀⠀⠀⠀⠀⠀⠀⠀⠀⠀⠀⠀⠀⠀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⠀⠀⠀⠀⠀⠀⠀⠀⠀⠀⠀⠀⠀⠀⠀⠀⠀⠀⠀⠀⠀⠀⠀⠀⠀⠀⠀⠀⠀⠀⠀⠀⠀⠀⠀⠀⠀⠀⠀⢀⣿⠁⠀⠀⠀⠀⠀⠀⡇⠀⠀⠀⠀⠀⠀⠀⠀⠀⠀⠀⠙⢿⣿⣄⠄⠀⠀⠀⠀⠀⠀⠀⠀⠀⠀⠀⠀⠀⠀⠀⠀⠀⠀⠀⠀⠀⠀⠀⠀⠀⠀⠀⠀⠀⠀⠀⠀⠀⠀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⠀⠀⠀⠀⠀⠀⠀⠀⠀⠀⠀⠀⠀⠀⠀⠀⠀⠀⠀⠀⠀⠀⠀⠀⠀⠀⠀⠀⠀⠀⠀⠀⠀⠀⠀⠀⠀⠀⠀⣾⠃⠠⠀⠀⠀⠀⠀⠀⡇⠀⠀⠀⠀⠀⠀⠀⠀⠀⠀⠀⠀⠀⠙⢿⣷⣄⠀⠀⠀⠀⠀⠀⠀⠀⠀⠀⠀⠀⠀⠀⠀⠀⠀⠀⠀⠀⠀⠀⠀⠀⠀⠀⠀⠀⠀⠀⠀⠀⠀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⠀⠀⠀⠀⠀⠀⠀⠀⠀⠀⠀⠀⠀⠀⠀⠀⠀⠀⠀⠀⠀⠀⠀⠀⠀⠀⠀⠀⠀⠀⠀⠀⠀⠀⠀⠀⠀⠀⣼⠏⠀⠀⠀⠀⠀⠀⠀⠀⢻⠀⠀⠀⠀⠀⠀⠀⠀⠀⠀⠀⠀⠀⠀⠀⠛⢿⣿⣅⢀⠀⠀⠀⠀⠀⠀⠀⠀⠀⠀⠀⠀⠀⠀⠀⠀⠀⠀⠀⠀⠀⠀⠀⠀⠀⠀⠀⠀⠀⠀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⠀⠀⠀⠀⠀⠀⠀⠀⠀⠀⠀⠀⠀⠀⠀⠀⠀⠀⠀⠀⠀⠀⠀⠀⠀⠀⠀⠀⠀⠀⠀⠀⠀⠀⠀⠀⠀⢰⡿⠀⠀⠀⠀⠀⠀⠀⠀⠀⢸⠀⠀⠀⠀⠀⠀⠀⠀⠀⠀⠀⠀⠀⠀⠀⠀⠀⠙⢿⣷⣄⠀⠀⠀⠀⠀⠀⠀⠀⠀⠀⠀⠀⠀⠀⠀⠀⠀⠀⠀⠀⠀⠀⠀⠀⠀⠀⠀⠀⠀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⠀⠀⠀⠀⠀⠀⠀⠀⠀⠀⠀⠀⠀⠀⠀⠀⠀⠀⠀⠀⠀⠀⠀⠀⠀⠀⠀⠀⠀⠀⠀⠀⠀⠀⠀⠀⢠⣿⠁⠀⠀⠀⠀⠀⠀⠀⠀⠀⠘⠀⠀⠀⠀⠀⠀⠀⠀⠀⠀⠀⠀⠀⠀⠀⠀⠀⠀⠀⠙⠿⣷⣄⠀⠀⠀⠀⠀⠀⠀⠀⠀⠀⠀⠀⠀⠀⠀⠀⠀⠀⠀⠀⠀⠀⠀⠀⠀⠀⠀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⠀⠀⠀⠀⠀⠀⠀⠀⠀⠀⠀⠀⠀⠀⠀⠀⠀⠀⠀⠀⠀⠀⠀⠀⠀⠀⠀⠀⠀⠀⠀⠀⠀⠀⠀⠀⣾⠏⠀⠀⠀⠀⠀⠀⠀⠀⠀⠀⠈⡇⠀⠀⠀⠀⠀⠀⠀⠀⠀⠀⠀⠀⠀⠀⢆⠀⠀⠀⠀⠀⠉⠻⣷⣄⡀⠀⠀⠀⠀⠀⠀⠀⠀⠀⠀⠀⠀⠀⠀⠀⠀⠀⠀⠀⠀⠀⠀⠀⠀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⠀⠀⠀⠀⠀⠀⠀⠀⠀⠀⠀⠀⠀⠀⠀⠀⠀⠀⠀⠀⠀⠀⠀⠀⠀⠀⠀⠀⠀⠀⠀⠀⠀⠀⠀⣸⡟⠀⠀⠀⠀⠀⠀⠀⠀⠀⠀⠀⠀⠇⠀⠀⠀⠀⠀⠀⠀⠀⠀⠀⠀⠀⠀⠀⢸⡄⠀⠀⠀⠀⠀⠀⠈⠻⢷⣆⡀⠀⠀⠀⠀⠀⠀⠀⠀⠀⠀⠀⠀⠀⠀⠀⠀⠀⠀⠀⠀⠀⠀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⠀⠀⠀⠀⠀⠀⠀⠀⠀⠀⠀⠀⠀⠀⠀⠀⠀⠀⠀⠀⠀⠀⠀⠀⠀⠀⠀⠀⠀⠀⠀⠀⠀⠀⢰⡟⠀⠀⠀⠀⠀⠀⠀⠀⠀⠀⠀⠀⠀⠀⠀⠀⠀⠀⠀⠀⠀⠀⠀⠀⠀⠀⠀⠀⠀⡇⠀⠀⠀⠀⠀⠀⠀⠀⠀⠙⢷⣆⢀⠀⠀⠀⠀⠀⠀⠀⠀⠀⠀⠀⠀⠀⠀⠀⠀⠀⠀⠀⠀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⠀⠀⠀⠀⠀⠀⠀⠀⠀⠀⠀⠀⠀⠀⠀⠀⠀⠀⠀⠀⠀⠀⠀⠀⠀⠀⠀⠀⠀⠀⠀⠀⠀⢀⣾⠁⠀⠀⠀⠀⠀⠀⠀⠀⠀⠀⠀⠀⠀⠀⠀⠀⠀⠀⠀⠀⠀⠀⠀⠀⠀⠀⠀⠀⠀⠀⠀⠀⠀⠀⠀⠀⠀⠀⠀⠀⠈⠙⢿⣔⠀⠀⠀⠀⠀⠀⠀⠀⠀⠀⠀⠀⠀⠀⠀⠀⠀⠀⠀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⠀⠀⠀⠀⠀⠀⠀⠀⠀⠀⠀⠀⠀⠀⠀⠀⠀⠀⠀⠀⠀⠀⠀⠀⠀⠀⠀⠀⠀⠀⠀⠀⠀⣼⠇⠀⠀⠀⠀⠀⠀⠀⠀⠀⠀⠀⠀⠀⠀⠀⠀⠀⠀⠀⠀⠀⠀⠀⠀⠀⠀⠀⠀⠀⠀⠀⠀⠀⠀⠀⠀⠀⠀⠀⠀⠀⠀⠀⠀⠻⣧⡀⠀⠀⠀⠀⠀⠀⠀⠀⠀⠀⠀⠀⠀⠀⠀⠀⠀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⠀⠀⠀⠀⠀⠀⠀⠀⠀⠀⠀⠀⠀⠀⠀⠀⠀⠀⠀⠀⠀⠀⠀⠀⠀⠀⠀⠀⠀⠀⠀⠀⢸⡟⠀⠀⠀⠀⠀⠀⠀⠀⠀⠀⠀⠀⠀⠀⠀⠀⠀⠀⠀⠀⠀⠀⠀⠀⠀⠀⠀⠀⠀⠀⠀⠀⠀⠀⠀⠀⠀⠀⠀⠀⠀⠀⠀⠀⠀⠀⠈⢻⣤⣠⣤⣦⠴⣦⠀⠀⠀⠀⠀⠀⠀⠀⠀⠀⠀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⠀⠀⠀⠀⠀⠀⠀⠀⠀⠀⠀⠀⠀⠀⠀⠀⠀⠀⠀⠀⠀⠀⠀⠀⠀⠀⠀⠀⠀⠀⠀⢠⡿⠁⠀⠀⠀⠀⠀⠀⠀⠀⠀⠀⠀⠀⠀⠀⠀⠀⠀⠀⠀⠀⠀⠀⠀⠀⠀⠀⠀⠀⠀⠀⠀⠀⠀⠀⠀⠀⠀⠀⠀⠀⠀⠠⠤⠀⠀⠐⠂⠈⠉⠁⠀⠀⠀⣿⡆⠀⠀⠀⠀⠀⠀⠀⠀⠀⠀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⠀⠀⠀⠀⠀⠀⠀⠀⠀⠀⠀⠀⠀⠀⠀⠀⠀⠀⠀⠀⠀⠀⠀⠀⠀⠀⠀⠀⠀⠀⢀⣾⠁⠀⠀⠀⠀⠀⠀⠀⠀⠀⠀⠀⠀⠀⠀⠀⠀⠀⠀⠀⠀⠀⠀⠀⠀⠀⠀⠀⠀⠀⠀⠀⠀⠀⠀⠀⠀⠀⠀⠀⠀⠀⠀⠀⠀⠀⠀⠀⠀⢆⠀⠀⠀⠀⠀⢸⡇⠀⠀⠀⠀⠀⠀⠀⠀⠀⠀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⠀⠀⠀⠀⠀⠀⠀⠀⠀⠀⠀⠀⠀⠀⠀⠀⠀⠀⠀⠀⠀⠀⠀⠀⠀⠀⠀⠀⠀⠀⣼⠇⠀⠀⠀⠀⠀⠀⠀⠀⠀⠀⠀⠀⠀⠀⠀⠀⠀⠀⠀⠀⠀⠀⠀⠀⠀⠀⠀⠀⠀⠀⠀⠀⠀⠀⠀⠀⠀⠀⠀⠀⠀⠀⠀⠀⠀⠀⠀⠀⠀⠀⠙⠦⡀⠀⠀⢘⣿⠀⠀⠀⠀⠀⠀⠀⠀⠀⠀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⠀⠀⠀⠀⠀⠀⠀⠀⠀⠀⠀⠀⠀⠀⠀⠀⠀⠀⠀⠀⠀⠀⠀⠀⠀⠀⠀⡀⠀⢸⡏⢀⣀⣀⣠⣤⡤⠤⠔⠦⠀⠀⠀⠀⠀⠀⠀⠀⠀⠀⠀⠀⠀⠀⠀⠀⠀⠀⠀⠀⠀⠀⠀⠀⠀⠀⠀⠀⠀⠀⠀⠀⠀⠀⠀⠀⠀⠀⠀⠀⠀⠀⠀⠀⠈⠢⠀⠀⣿⠀⠀⠀⠀⠀⠀⠀⠀⠀⠀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⠀⠀⠀⠀⠀⠀⠀⠀⠀⠀⠀⠀⠀⠀⠀⠀⠀⠀⠀⠀⠀⠀⠀⠀⠀⠀⠀⣿⠉⠛⠉⠁⠀⠀⠀⠀⠀⠀⠀⠀⠀⠀⠀⠀⠀⠀⠀⠀⠀⠀⢰⠀⠀⠀⠀⠀⠀⠀⠀⠀⠀⠀⠀⠀⠀⠀⠀⠀⠀⠀⠀⠀⠀⠀⠀⠀⠀⠀⠀⠀⠀⣀⣀⣀⣠⣤⣤⣾⠿⠘⠀⠀⠀⠀⠀⠀⠀⠀⠀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⠀⠀⠀⠀⠀⠀⠀⠀⠀⠀⠀⠀⠀⠀⠀⠀⠀⠀⠀⠀⠀⠀⠀⠀⠀⠀⠀⢹⣇⠀⠀⠀⠀⠀⠀⠀⠀⠀⠀⠀⠀⠀⠀⠀⠀⠀⠀⠀⠀⠀⢸⠀⠀⠀⠀⠀⠀⠀⠀⠀⠀⠀⠀⠀⠀⠀⣀⣀⣀⣀⣠⣠⣤⣴⣶⣶⣶⣾⣿⣿⢿⠿⠿⡟⢿⣿⡉⠀⠀⠀⠀⠀⠀⠀⠀⠀⠀⠀⠀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⠀⠀⠀⠀⠀⠀⠀⠀⠀⠀⠀⠀⠀⠀⠀⠀⠀⠀⠀⠀⠀⠀⠀⠀⠀⠀⠀⠀⣿⡀⠀⠀⠀⠀⠀⠀⠀⠀⠀⠀⠀⠀⠀⠀⠀⠀⠀⠀⠀⠀⠈⠀⣀⣀⣀⣤⣤⣤⣴⣶⣶⣶⣷⣿⣿⡿⣿⠿⢿⣻⡟⣻⢻⡹⣍⢧⡙⢦⡓⢾⣮⡙⢧⡙⢦⠻⣷⡄⠀⠀⠀⠀⠀⠀⠀⠀⠀⠀⠀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⠀⠀⠀⠀⠀⠀⠀⠀⠀⠀⠀⠀⠀⠀⠀⠀⠀⠀⠀⠀⠀⠀⠀⠀⠀⢀⣀⣀⣸⣷⠀⠀⠀⠀⢀⣀⣀⣀⣀⣤⣤⣤⣤⣴⣦⣶⣶⣶⣾⣿⣿⡿⡿⢿⡛⢿⡛⣏⢻⡍⢯⡱⣹⣼⣶⡿⠿⣿⣷⣿⣭⣳⢃⠷⡌⣶⢩⢖⡹⢎⣽⣏⠶⣙⢎⡳⢻⣇⠀⠀⠀⠀⠀⠀⠀⠀⠀⠀⠀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⠀⠀⠀⠀⠀⠀⠀⠀⠀⠀⠀⠀⠀⠀⠀⠀⠀⠀⠀⠀⠀⠀⠀⣤⣾⡿⣛⣽⡿⢿⠿⠿⣿⠿⡿⠿⡿⣟⢛⣛⣿⣛⣯⡿⢭⣯⡵⣯⠶⣧⠷⣘⠵⢣⡙⢦⡛⡽⣦⡙⣶⣿⣻⣷⣿⣿⣿⣿⣶⣯⣟⢿⣯⣞⡱⣚⢿⡦⣽⡪⢜⣿⢮⡱⣎⡵⢻⡟⠀⠀⠀⠀⠀⠀⠀⠀⠀⠀⠀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⠀⠀⠀⠀⠀⠀⠀⠀⠀⠀⠀⠀⠀⠀⠀⠀⠀⠀⠀⠀⢀⣠⣼⡿⡟⢩⢹⣧⣾⡿⣷⠥⣟⢻⣏⢟⡹⠿⣌⠻⠻⠿⣏⢰⣿⠯⣿⣁⣾⢻⣧⠍⡞⣥⢛⡦⡝⡜⣧⣳⣿⢣⣾⣿⣿⣿⣿⣿⣿⣿⣿⣏⢿⣿⡴⡯⣞⡛⠼⣿⡬⡙⢯⣷⠽⣯⣿⡇⠀⠀⠀⠀⠀⠀⠀⠀⠀⠀⠀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⣠⣠⣀⣀⡀⠀⠀⠀⠀⠀⠀⠀⠀⠀⠀⠀⠀⠀⠀⠀⠀⠀⠀⠀⠀⠀⠀⠀⠀⠀⠀⠀⠀⠀⠀⢀⣤⣴⡿⣟⣋⣿⣷⣿⢿⣿⣧⣿⡥⢫⡜⣏⢣⠻⣬⢳⡹⢼⡛⣏⠘⢿⠖⡇⠀⣯⣟⣹⡜⢩⣟⣴⢣⢏⣶⡝⣼⡯⣽⣧⢻⣿⣿⣿⣿⣿⣿⣿⣿⣿⣿⡇⣿⣯⡗⣧⢹⡳⣬⣿⢿⠛⠛⠿⡿⠛⠛⠿⣶⣄⠀⠀⠀⠀⠀⠀⠀⠀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⢠⣷⣾⣿⣿⣿⣟⡿⣷⣶⣤⣤⣀⡀⠀⠀⠀⠀⠀⠀⠀⠀⠀⠀⠀⠀⠀⠀⠀⠀⠀⠀⠀⠀⠀⠀⣀⡴⣿⣯⠙⠷⠶⡿⣿⣟⣟⣿⣿⣿⠯⡿⣉⢶⡾⠛⢿⣔⡣⣽⠺⣷⡘⢿⣆⢹⣷⣤⡍⣥⡜⢋⣼⡇⣸⡿⢶⣾⢻⣖⣷⣹⣷⡭⣿⣿⣿⣿⣿⣿⣿⣿⣿⡿⣱⣿⡛⡿⣐⡫⣵⡿⠁⠠⠂⠀⠀⠀⡀⠀⠀⣸⡟⠇⠀⠀⠀⠀⠀⠀⠀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⢰⣶⣾⣿⣿⣻⣿⣿⣿⣿⣷⣿⣽⣿⣿⣿⣷⣶⣦⣤⣀⡀⠀⠀⠀⠀⠀⠀⠀⠀⠀⠀⠀⠀⠀⠀⢀⣾⣏⠚⣿⠈⣴⢫⡔⣧⡃⢭⡙⣭⣙⣥⣾⣷⡘⣿⣶⢮⡴⢹⣧⢣⣻⠴⣟⠦⡟⣷⣦⣴⡎⣿⣐⠎⣽⠡⣽⠭⠙⡏⣾⡟⣿⣧⣻⣿⣮⣛⡻⢿⡿⣿⡿⣿⣯⣾⣿⢫⡜⣱⢣⡓⣽⣷⣤⣀⣀⣠⣴⣾⣷⣶⣾⣿⣄⡀⠀⠀⠀⠀⠀⠀⠀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⢸⣿⡹⣿⣿⣿⣿⣿⣿⣿⣿⣿⡿⣯⣿⣽⣿⢿⣿⣿⣿⣿⣷⣦⣤⣀⣀⣀⣠⣀⣀⣀⠀⠀⠀⠀⣺⣿⠿⢈⡙⠛⢇⣂⢣⡙⢓⣯⣿⣄⣿⣿⡟⡿⠟⢠⡶⢾⣥⢈⡿⠟⢻⡜⣬⠳⡽⠳⢿⢿⣆⡻⡟⢧⣼⠷⣼⣇⠘⠿⠿⢧⡟⢹⣞⠶⣽⣻⠿⡿⢿⡿⠿⣟⡻⠕⣎⠧⡜⣥⠳⡜⣢⠝⣛⢿⡻⠿⣿⣿⣿⣿⣿⣿⣿⣿⢷⣤⣀⠀⠀⠀⠀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⣻⣿⡽⣿⣿⣿⣿⣿⣿⣿⣿⣿⣷⣯⣟⡿⣿⣾⣟⣿⣿⣿⣿⣿⣿⣿⡛⠛⣻⣿⣿⣿⣶⣤⣼⡿⢻⡖⡀⠒⡉⣌⣗⡐⢨⠠⣿⣷⣟⡻⣿⣿⡿⠆⣹⡷⢈⣹⣯⣼⡏⡘⣯⣶⢟⠋⣴⠟⡰⢿⣿⢻⢷⡶⣬⣏⣾⢻⡱⠺⢏⡔⢺⡉⣮⢻⡏⣿⣹⣷⢚⡝⢦⡙⣭⢲⡙⡞⣴⢣⠳⣡⢛⡬⢲⡙⣧⢹⠿⣿⣿⣿⣿⣿⣿⣿⢪⣟⠷⣦⣄⠀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⠈⢻⣿⣿⣿⣿⣯⣿⣻⣿⣿⡿⣿⢿⣿⣿⣷⣭⣟⣿⣾⣿⣿⣿⡿⢁⡄⣽⣿⣿⣿⣿⣿⣿⣿⢰⣿⣗⣞⠡⣸⡿⢁⣧⠈⣶⠛⣯⣹⡗⣈⡡⢰⡾⣌⠛⢿⣿⣡⡺⣧⣼⢻⣇⡼⢞⡷⢬⡶⢯⠷⢻⡞⣼⠱⢮⣙⠧⣽⣙⠞⡶⣭⣷⣶⡿⣷⣬⣥⣛⠻⡞⢦⡙⢦⢣⡝⠶⡡⢏⡚⣥⢫⢜⡣⡝⡴⢛⡼⣡⢏⡹⢻⢿⣿⣿⡻⡞⢯⣭⣟⣷⣦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⠈⢻⣿⣿⣿⣿⡼⣷⣻⣿⡗⣿⣿⣾⣿⣿⢿⣿⣿⣿⣿⣿⣿⢃⢒⣰⣿⣿⣿⣿⣿⣿⣿⣿⣦⡝⢻⣯⡕⣿⣧⣒⣃⡖⣸⣧⠺⢿⣷⣿⣧⡌⠻⢷⣌⢺⣿⡿⢿⣿⣾⡱⣎⣴⡿⢋⡞⣇⠢⣄⢻⡇⢼⡟⣭⠹⢾⡴⣩⡟⢺⣼⢬⠗⣾⡿⢷⣯⣿⡾⡟⢳⡝⢮⡱⢎⡳⣍⢧⡙⣆⢏⡲⣱⢹⣌⠳⡜⡥⢎⡵⢋⡖⡿⢩⢿⡙⢦⣳⣼⣿⡾⣿⣦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⠹⣿⣿⣿⣷⢿⣟⣿⣿⣻⣿⣿⡟⠗⣺⣿⣿⣿⣿⣿⣿⡌⠢⢄⣿⣿⣿⣿⣿⣿⣿⣿⣿⠏⠱⣿⣷⡈⠟⠿⠻⢡⡆⠉⠝⠯⠝⣁⣿⣥⣵⡾⣇⣿⣙⠛⠏⣹⡦⢉⣯⡐⣤⠏⣯⢇⡿⢯⠘⣧⣟⡱⣮⡙⣦⠹⣾⣳⠛⠾⠳⣜⣰⢧⡂⠥⢙⣿⣯⣶⣿⢶⡝⣪⣕⠾⣦⡝⣮⢎⡝⢦⡫⣔⠫⡵⣙⣾⣜⣣⡝⣰⣋⢦⣙⢣⢿⣦⣙⠃⡾⠾⢿⣦⡁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⠘⢿⣿⣿⣯⢿⣾⣿⣟⣿⡇⠧⣈⠘⣿⣿⣿⣿⣿⣿⣿⠳⢠⠻⣿⣿⣿⣿⣿⣿⣿⣇⢊⣡⣼⣿⠟⠠⢡⢈⣿⡄⣍⠘⡄⢺⢼⣿⣌⠗⡐⠌⣽⠧⡈⣱⣾⢧⣦⢽⣻⣇⣼⣇⠢⣐⣾⡇⢼⣇⡘⠡⢌⡸⢗⡋⢽⡛⢶⡟⠛⣧⣈⡿⠲⠏⡄⠛⣿⣧⣾⣌⠳⢾⣿⠿⡹⣜⢫⡜⣳⢛⡾⢷⠟⣌⢳⣌⡳⢬⡱⡜⢦⣋⣎⠶⣩⣟⠷⣶⢻⣾⡽⢿⣄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⠸⢿⣿⣿⣿⢿⣞⣿⣿⣷⠡⣐⢾⣿⣿⣿⣿⣿⣿⠻⠌⣁⠆⣹⣿⣿⣿⣿⣿⣿⣿⣷⣾⣿⣿⣷⣮⣶⠟⢩⠙⣯⣴⡈⣼⡏⣹⣿⣴⡈⠆⢿⣦⣵⢾⣗⣢⣴⡾⣛⣧⣬⣽⠟⡍⣦⣹⣩⡟⠷⡦⢿⡅⢊⠍⣹⣿⡌⢻⣮⡽⢣⢙⣦⠑⡌⢡⠣⣿⣿⣿⣮⡜⣟⠳⣿⣎⠷⣼⡑⡞⣜⢣⣿⠸⣇⡝⢿⣡⣇⢿⢻⡼⢬⢷⣧⢚⣳⢶⣎⢷⡞⣯⢿⣦⠄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⠸⢿⣿⣿⣾⢿⣿⣿⣿⡥⠨⢽⣿⣿⣿⣿⣿⣿⣏⠡⠌⢸⣿⣿⣿⣿⣿⣿⣿⣿⡿⢹⡿⣿⣿⠥⢺⡇⢌⣰⠄⣌⡌⢻⣷⣇⣲⠴⡇⣸⡗⠠⠆⠌⣉⠍⡑⢢⢁⠋⡍⠦⡑⡆⣸⣷⢨⡟⠶⣥⡻⢷⣬⣾⠛⣴⣹⢣⡽⢷⡟⢢⠌⣋⠜⡠⠱⡬⠿⣿⣿⣡⣿⡶⣿⢯⡙⢦⣙⢾⡈⢷⠸⣟⡥⢿⡎⢷⣛⣾⣌⡿⢎⠶⣌⡳⢼⡏⣽⣎⣿⡺⣿⣿⡶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⠸⣿⣿⣿⣿⣿⣿⠩⢃⠡⠌⢿⣿⣿⣿⣿⣿⣿⡧⠌⠜⣿⣿⣿⣿⣿⣿⣿⣿⡇⡬⠑⣿⣿⣿⣥⠿⢶⡞⢨⣿⠱⡈⠭⢙⠻⢏⡴⣹⡣⢑⡨⢸⣿⢄⡉⢢⠡⠎⢴⡟⡄⡧⢘⢿⣴⣿⡖⣹⣧⣉⣙⣤⡍⢿⣵⣂⣶⡿⢆⣹⡗⠦⠟⣣⠡⡙⢴⠿⣿⣿⠇⢴⠿⢶⣯⢹⡎⣞⢳⡜⣮⡇⣟⠼⡿⣼⡇⢺⠹⣿⣎⢳⡜⣿⢣⡝⣼⢻⡼⡷⣽⣧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⠸⣿⣿⣿⣿⠌⣰⠁⠮⢉⣼⣿⣿⣿⣿⣿⣿⡀⠌⠠⢿⣿⣿⣿⣿⣿⣿⣿⡿⣎⠡⣙⢻⣿⣿⡿⢈⣷⡘⠻⠶⢷⡋⢰⢈⣲⠄⡹⢷⣬⣵⠌⡛⠾⢛⠟⢃⡚⣸⣿⣰⣉⣲⡆⢰⡸⣏⢹⣎⣭⡉⣼⡔⢢⡘⠭⣍⡑⠢⠼⣿⣶⣿⠿⢁⠼⢸⣷⣿⣿⡗⣶⣄⣾⣿⢺⣕⣻⣦⡟⡼⡷⣹⣶⢻⡟⣧⣿⡖⡽⣧⢾⣼⣘⠳⣼⡿⣽⢛⣷⣹⣿⡄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⠸⣿⣿⣿⡇⣀⠇⢨⣿⣿⣿⣿⣿⣿⣿⣿⣌⠆⠡⢀⢹⣿⣿⣿⣿⣿⣿⠁⠞⡰⢠⣾⣿⡿⠅⢆⢡⠌⣿⢒⠸⢦⣝⡠⢿⣰⡐⣶⠈⡄⠚⣠⠕⡈⠜⡰⣤⢡⠉⡍⡍⡘⢛⠛⡡⣸⢁⠆⣌⠙⣿⡰⣠⣵⢂⢻⣄⣣⣦⠟⣉⢃⠒⠌⢒⠠⢻⣿⡽⡷⢭⣹⣄⠓⢹⣷⡎⢿⠻⡴⣧⡙⢿⣏⢿⡸⣿⡹⢾⢽⡏⢿⣌⠳⣿⣱⡿⣯⢼⣩⣿⠃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⠸⢿⣿⣿⡈⢰⠠⣿⣿⣿⣿⣿⣿⣿⣿⠿⢂⠁⢢⣿⣿⣿⣿⣿⣿⣿⠈⢆⠱⢸⣿⣿⣦⣛⣡⢆⢺⣟⠈⢳⠌⣷⣶⠾⢇⣸⢃⠡⢼⡧⢸⣦⡕⠧⡘⣿⣦⣑⣤⣿⠈⢆⠱⡐⣿⡌⣶⠠⡉⠻⢋⠝⣹⣤⠢⣍⢉⡄⠚⡄⠻⣌⠘⡄⢃⠂⣿⣷⣣⠹⣯⢹⣛⢭⣫⢼⢫⣧⣱⣈⣿⡣⣿⡾⣷⡹⣗⡏⣼⣠⢾⣯⣹⡗⢾⡗⣯⡟⡴⣿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⠈⣿⣿⣿⣆⣹⣹⣿⣿⣿⣿⣿⣿⣏⡆⢂⠡⢺⣿⣿⣿⣿⣿⣿⣿⡎⣄⠃⠔⣈⡝⣿⣿⢟⣜⡆⠛⠿⠟⡛⢋⠔⢢⡖⢻⣤⣾⢿⣗⠠⠡⢴⢸⡇⠤⡉⢍⣣⠄⢃⠎⡰⢁⡚⢹⡟⠺⠐⡱⠨⡄⣉⢹⣟⣳⢾⣇⣡⠘⠤⢈⠲⣀⢃⢂⡙⣿⣯⢗⣶⣬⣍⢺⠹⣾⣧⢿⢹⣷⢺⣱⣧⢿⣭⠳⣽⣯⡙⢦⣯⣿⣲⣏⢾⡟⣼⡟⡖⣽⡄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⠈⢻⣿⠑⣿⣿⣿⣿⣿⣿⣿⣿⣷⡐⠌⡰⣰⢸⣿⣿⣿⣿⣿⣿⣿⣦⣓⢬⢀⠆⡙⣿⣿⣋⣟⡘⠤⢃⡌⢡⡊⢼⡇⠲⠠⢄⡞⠻⠿⠟⠫⠘⣷⣦⡅⢌⣿⡐⠌⢒⡁⠦⠌⣻⡄⢣⣱⢖⠡⠐⡄⠢⡈⠍⡉⢩⢉⠣⠜⣀⠃⢌⢂⠂⡔⣻⣿⡜⡶⣧⢛⡞⠾⣇⠿⣻⢮⣽⣼⣷⢻⣆⣻⡷⣘⢿⡝⡶⣏⢶⢻⡜⡾⣹⡿⣸⢣⣿⠇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⠹⣿⣿⣿⣿⣿⣿⣿⣿⡿⢀⠃⡌⡐⢡⣿⣿⣿⣿⣿⣿⣿⣿⣿⣿⡷⢎⡰⠁⠆⣻⣟⢠⡆⡑⠢⢌⣿⠃⢌⠛⢛⠲⢨⣟⠀⢆⠉⣣⣱⡤⢀⣓⡌⡿⠷⣼⣶⠿⠐⢂⣉⠻⢋⠅⠺⠶⢓⠢⠁⠆⡥⠘⡄⠣⡐⠦⢠⠉⡔⢂⠡⡀⢻⣿⣇⣟⣧⢛⣎⡓⣮⢜⣱⣳⢌⡿⡜⣧⢚⡭⢳⡹⡖⣻⣖⣹⢎⣶⡿⣱⡟⣧⡕⣎⣿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⠹⣿⣿⣿⣿⣿⣿⣿⣇⣢⡌⠐⣈⢺⣿⣿⣿⣿⣿⣿⣿⣿⣿⣿⠃⡖⢀⠃⠜⡀⣿⡟⣱⢃⠱⢸⣿⡁⠎⣌⠂⣿⣀⠛⢿⡶⢟⠣⠈⢷⠦⡴⠤⣿⡐⠤⣀⣢⡟⠠⣉⡐⢩⠌⡑⠌⠢⢌⠡⣿⢁⡖⢈⢡⠰⠌⢂⡑⣆⢉⣴⡐⣨⣿⡧⡷⣟⢬⢲⢩⢳⣎⢶⣹⢺⣇⠯⣧⢛⡯⢧⡱⣿⢹⡧⣞⢣⣾⠧⣽⢚⣿⡱⢺⡿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⠘⢿⣿⣿⣿⣿⣿⡟⡑⣡⠡⢀⠎⣿⣿⣿⣿⣿⣿⣿⣿⣿⣿⡆⣘⠄⠽⣠⢂⡹⢿⠯⣡⠃⡌⢻⢿⣶⣤⡃⠜⡛⠞⣫⡕⠚⠶⠟⢻⡆⡑⠆⡙⠷⠷⠞⢋⡙⢣⠡⡘⡎⡐⢒⢈⢡⠢⠘⠿⣦⠴⡌⢺⡅⠸⠤⡈⢝⡛⠡⣐⢰⣿⡏⣷⡟⡜⢮⢥⢫⣿⢚⡷⢭⢿⡘⣿⡹⣿⢢⣓⠿⣓⡷⣩⢾⣟⢳⢬⠻⣥⣋⣿⠇⠃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⠹⣿⣿⣿⣿⣿⡰⠄⢂⡁⠢⢈⢿⣿⣿⣿⣿⣿⣿⣿⣿⣿⣦⡬⠁⢌⠢⣁⠢⣬⣡⠃⠬⠔⣨⠐⠸⣇⣹⠐⠃⣼⡇⢩⣂⣩⡿⢃⠰⡉⢄⢣⡘⢌⠢⢄⠃⢃⠌⠳⠾⠴⠋⣸⣇⣁⠒⡀⠆⠄⡉⠛⡅⢂⠱⠘⣧⢁⡒⣸⣿⡱⣯⢳⡟⡜⢮⡱⢎⣧⢺⡜⣲⡟⣼⠗⣿⢣⡻⡜⣽⣓⣧⡿⢬⡗⣎⢷⢆⣳⡿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⠈⠻⣿⣿⣿⣿⠇⢂⠤⠑⡠⠘⠻⣿⣿⣿⣿⣿⣿⣿⣿⣿⣷⣙⢲⠠⢀⠂⣴⡷⢉⠐⡌⠠⡘⠂⢼⠉⣿⠴⠚⠿⠶⢋⢹⣷⠈⠰⠔⡈⠼⣄⣢⡴⢈⢲⠈⢄⡓⠐⢂⠣⡀⢌⡁⠆⢌⡐⠹⡆⢡⠐⡡⢚⠠⢉⠛⣤⣿⣿⡔⣣⢏⡵⣙⢦⡝⣺⡧⣛⢮⢽⡏⣷⢛⣯⢳⠳⡭⣿⡜⡿⡱⣿⠹⣼⠧⣾⣿⠃⠂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⠙⢿⣿⣷⡬⣄⠂⠥⢠⠁⠂⠌⡉⠛⠿⣿⣿⣿⣿⣿⣿⣿⠯⢂⠂⢾⣿⡤⢇⣂⠄⢃⠘⠠⢹⣦⢅⣼⠇⢈⠒⡀⢊⠻⠿⠷⠟⢃⡶⠀⠆⡐⢢⢀⡉⠤⣧⣘⢀⢂⠁⣦⠐⡈⠄⢂⠑⣧⡂⡼⣧⠂⣅⢊⡔⣾⡿⡜⡵⢣⠞⡼⡱⢎⡼⣡⠗⣭⢚⣼⣚⡿⣎⡽⣧⢻⣜⣹⡜⡵⣹⢆⡻⣬⣷⣿⠏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⠈⠻⣿⣮⡷⣅⠂⢡⠁⢒⠠⠉⣼⣿⣿⣿⣿⣿⣿⣿⢲⡌⠄⡙⠿⣿⣷⣾⠐⣌⠂⡑⠠⡀⢬⣿⠀⢂⠡⡈⢼⡆⠐⡄⠌⠸⣇⣱⡜⠀⠆⡀⠲⠠⠄⣉⠉⢂⠌⣿⡀⠘⢄⣃⡼⢀⠙⡡⠘⠻⢼⢠⣼⣿⢯⡵⣍⢧⡛⡴⣙⢎⡶⢥⠻⡔⣯⡟⡴⢟⡴⣋⠶⣯⢲⣹⡮⡱⢿⣌⡳⣼⣿⠃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⠀⠀⠈⠻⣿⣭⡻⣄⡌⢁⠢⠡⢻⣿⣿⣿⣿⣿⣿⣿⡌⠡⢘⠠⠑⠬⠤⣿⣃⣖⠠⠑⡐⠠⣿⡹⠷⠶⡖⣧⡘⢧⣂⡐⠘⢂⠉⡉⠻⠶⣦⠁⠢⣁⠂⠄⠃⠆⡌⠙⠷⠿⠞⢋⠐⡈⠔⠤⢉⠢⢸⣾⣿⢯⣏⠷⣸⢦⡹⡱⣍⠞⣼⢣⢏⡳⣥⢻⣜⢣⢞⣌⢻⣏⡇⡞⣝⢳⣙⡦⣿⣿⠃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⠀⠀⠀⠀⠐⠙⢿⣾⣝⠦⣆⠡⢉⠛⠿⣿⣿⣿⣿⣿⣧⡐⢢⡌⣐⢀⠂⢛⠛⣿⣦⣥⣼⣅⠻⣷⡭⣹⢱⣙⣷⡼⣋⡡⢁⢂⠘⠠⢑⠠⢿⣤⣥⠶⢹⣤⠙⢧⡐⢉⡶⠁⢎⠡⢊⠔⡡⠂⡅⣲⣿⣿⢯⢏⣬⠳⡱⢎⡵⢳⡜⣏⠶⡹⢎⡵⢪⢵⣏⠞⡼⣨⢛⣧⣞⣼⣌⠳⣭⣿⠟⠁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⠀⠀⠀⠀⠀⠀⠀⠈⠛⠿⣾⣟⡶⡬⢙⠊⣿⣿⣿⣿⣿⣿⣷⣶⣿⠠⠚⣀⠎⣼⣿⣿⣿⠏⡰⢀⡑⠻⣾⠿⢋⠡⠌⢰⣶⠏⡀⢃⠂⢆⠉⡉⠤⡁⠆⡐⠌⡌⡁⠎⣇⣉⢆⡘⡄⢊⠴⣱⣼⣿⣟⡟⡜⣎⠶⣩⠽⣿⡔⣣⢞⡥⢫⡕⣫⢞⡱⢾⣋⡞⡱⣷⢍⡞⣭⢲⠬⣷⣿⠏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⠀⠀⠀⠀⠀⠀⠀⠀⠀⠀⠈⠙⠿⣷⣥⣚⢈⡙⠛⣿⣿⣿⣿⣿⣿⡐⢡⡄⢂⣽⣿⣿⣿⣦⣱⣠⢁⣣⡄⠒⣈⡉⠄⢿⣇⡂⠳⠌⡌⡐⢸⡇⠒⡤⠑⡨⠐⡄⡉⢆⠩⡍⠡⢆⢉⣦⣿⣿⡿⣏⠶⡹⡜⣬⢳⡱⢏⡽⣿⢶⡻⣜⣳⡼⢱⢎⡵⢻⡧⢞⡱⣛⠼⣘⢦⢫⣿⡿⠃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⠀⠀⠀⠀⠀⠀⠀⠀⠀⠀⠀⠀⠀⠀⠉⠻⣿⣶⣥⣻⣿⣿⣿⣿⣿⣿⣷⣇⠂⠜⠻⢿⣿⡿⣿⣿⣛⡋⡄⠡⢄⡰⢉⠌⠻⠷⠷⠶⠤⢁⠺⢷⣥⣔⠡⡐⢡⠒⠅⢊⠔⣈⣥⣾⣿⣿⣟⣧⢳⡙⡮⣕⢯⡜⣣⢞⠳⣜⣱⡎⢶⣱⢚⠿⣧⡚⣜⣳⡛⣬⠳⣌⡳⢭⣾⣿⠟⠁⠀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⠀⠀⠀⠀⠀⠀⠀⠀⠀⠀⠀⠀⠀⠀⠀⠀⠈⠙⢯⣟⠻⣿⣿⣿⣿⣿⣿⣿⣶⣧⣓⢢⠐⡄⢻⣿⣿⡞⢢⡑⠢⡐⠡⢊⡑⠚⢤⠑⠌⣂⠓⢢⠐⡌⠒⠡⢆⣉⣸⣬⣶⣿⣿⠟⠋⠈⠀⠐⣣⣝⢲⣿⡜⢮⡱⢎⡟⡴⢣⢿⣧⠲⢭⡚⢥⣛⡴⢋⠷⣆⠯⣹⣼⣿⡿⠃⠀⠀⠀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⠀⠀⠀⠀⠀⠀⠀⠀⠀⠀⠀⠀⠀⠀⠀⠀⠀⠀⠀⠉⠳⢦⣄⡙⠛⠻⢿⣿⣿⣿⣿⣶⣁⣂⡥⢉⠛⢿⣾⣃⠱⢈⡁⠆⡌⢡⢌⣂⣉⣴⣬⣤⣧⣴⣿⣿⣿⠿⠿⠛⠋⠁⠀⠀⠀⠀⠀⠀⠀⣿⡸⢿⣺⣥⡟⡼⣸⣱⢋⡖⣻⡟⢶⣙⠲⣱⠘⣍⡳⣮⣿⣿⣟⠋⠀⠀⠀⠀⠀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⠀⠀⠀⠀⠀⠀⠀⠀⠀⠀⠀⠀⠀⠀⠀⠀⠀⠀⠀⠀⠀⠀⠈⠙⠳⢶⣄⣀⠀⠉⠉⠛⠛⠛⠿⠿⠿⠿⠿⠿⠿⠿⠿⠿⠟⠛⠛⠛⠛⠋⠉⠉⠉⠉⠁⠀⠀⠀⠀⠀⠀⠀⠀⠀⠀⠀⠀⠀⠀⠈⣿⢖⡥⢫⡝⣷⣵⡨⢏⡜⣡⢛⡦⡹⢗⡌⣯⣴⣷⣿⠿⠛⠛⠿⣷⣦⣄⡀⠀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⠀⠀⠀⠀⠀⠀⠀⠀⠀⠀⠀⠀⠀⠀⠀⠀⠀⠀⠀⠀⠀⠀⠀⠀⠀⠀⠈⠙⠓⠷⣄⣀⠀⠀⠀⠀⠀⠀⠀⠀⠀⠀⠀⠀⠀⠀⠀⠀⠀⠀⠀⠀⠀⠀⠀⠀⠀⠀⠀⠀⠀⠀⠀⠀⠀⠀⠀⠀⠀⠀⢻⣎⡵⢳⠼⡱⢎⣽⣦⢹⡰⢩⡕⣭⣶⣾⣿⣿⢛⠙⠿⢶⣯⣤⣤⣭⣿⠿⠀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⠀⠀⠀⠀⠀⠀⠀⠀⠀⠀⠀⠀⠀⠀⠀⠀⠀⠀⠀⠀⠀⠀⠀⠀⠀⠀⠀⠀⠀⠀⠈⠉⠻⣦⡀⠀⠀⠀⠀⠀⠀⠀⠀⠀⠀⠀⠀⠀⠀⠀⠀⠀⠀⠀⠀⠀⠀⠀⠀⠀⠀⠀⠀⠀⠀⠀⠀⠀⠀⠀⣾⢣⢞⡡⢿⠰⣃⢦⣩⣭⣼⣿⣿⣿⣛⠯⢡⠙⠻⣿⣶⣄⡉⠛⢿⣯⣀⠀⠀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⠀⠀⠀⠀⠀⠀⠀⠀⠀⠀⠀⠀⠀⠀⠀⠀⠀⠀⠀⠀⠀⠀⠀⠀⠀⠀⠀⠀⠀⠀⠀⠀⠈⠨⠻⢶⣄⡀⠀⠀⠀⠀⠀⠀⠀⠀⠀⠀⠀⠀⠀⠀⠀⠀⠀⠀⠀⠀⠀⠀⠀⠀⠀⠀⠀⠀⠀⠀⠀⢀⣸⠟⣩⣽⣾⣷⣿⠿⠟⠛⡏⢡⡿⠈⠙⠷⣮⣍⣰⠈⠹⢻⣿⣮⣄⣈⡹⣿⣦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⠀⠀⠀⠀⠀⠀⠀⠀⠀⠀⠀⠀⠀⠀⠀⠀⠀⠀⠀⠀⠀⠀⠀⠀⠀⠀⠀⠀⠀⠀⠀⠀⠀⠀⠈⠀⠙⠻⣦⡀⠀⠀⠀⠀⠀⠀⠀⠀⠀⠀⠀⠀⠀⠀⠀⠀⠀⠀⠀⠀⠀⠀⠀⠀⡀⠀⠀⠀⣀⣾⡿⠟⠋⠉⠁⠀⠀⠀⠀⠰⢿⠿⠁⠀⠀⠀⠀⠉⠙⠛⠷⣦⣤⣝⣿⢟⠛⠛⠋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⠀⠀⠀⠀⠀⠀⠀⠀⠀⠀⠀⠀⠀⠀⠀⠀⠀⠀⠀⠀⠀⠀⠀⠀⠀⠀⠀⠀⠀⠀⠀⠀⠀⠀⠀⠀⠀⠈⠀⠙⣷⡄⠀⠀⠀⠀⠀⠀⠀⠀⠀⠀⠀⠀⠀⠀⠀⠀⠀⠀⠀⢠⣴⣿⡏⣤⣶⣾⠛⠁⠀⠀⠀⠀⠀⠀⠀⠀⠀⠀⠀⠀⠀⠀⠀⠀⠀⠀⠀⠀⠀⠀⠈⠉⠁⠀⠀⠀⠀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⠀⠀⠀⠀⠀⠀⠀⠀⠀⠀⠀⠀⠀⠀⠀⠀⠀⠀⠀⠀⠀⠀⠀⠀⠀⠀⠀⠀⠀⠀⠀⠀⠀⠀⠀⠀⠀⠀⠀⠀⠀⠉⣳⣦⣄⣠⡄⠀⠀⡀⢀⡀⠀⣤⠀⠀⠀⠀⢠⣤⢾⠛⠋⠟⠋⠉⠉⠀⠀⠀⠀⠀⠀⠀⠀⠀⠀⠀⠀⠀⠀⠀⠀⠀⠀⠀⠀⠀⠀⠀⠀⠀⠀⠀⠀⠀⠀⠀⠀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⠀⠀⠀⠀⠀⠀⠀⠀⠀⠀⠀⠀⠀⠀⠀⠀⠀⠀⠀⠀⠀⠀⠀⠀⠀⠀⠀⠀⠀⠀⠀⠀⠀⠀⠀⠀⠀⠀⣠⡴⠞⠛⢋⣡⣭⡿⠿⣶⠿⠻⢾⣿⠛⠻⠶⣶⣶⠛⠛⢿⣦⣁⠀⠀⠀⠀⠀⠀⠀⠀⠀⠀⠀⠀⠀⠀⠀⠀⠀⠀⠀⠀⠀⠀⠀⠀⠀⠀⠀⠀⠀⠀⠀⠀⠀⠀⠀⠀⠀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⠀⠀⠀⠀⠀⠀⠀⠀⠀⠀⠀⠀⠀⠀⠀⠀⠀⠀⠀⠀⠀⠀⠀⠀⠀⠀⠀⠀⠀⠀⠀⠀⠀⠀⠀⠀⠀⠀⠙⠛⠛⠛⠛⠉⠁⠀⠀⠛⣷⡄⢂⠹⣿⣆⡐⠘⢿⣿⣤⣂⠈⠿⣧⡀⠀⠀⠀⠀⠀⠀⠀⠀⠀⠀⠀⠀⠀⠀⠀⠀⠀⠀⠀⠀⠀⠀⠀⠀⠀⠀⠀⠀⠀⠀⠀⠀⠀⠀⠀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⠀⠀⠀⠀⠀⠀⠀⠀⠀⠀⠀⠀⠀⠀⠀⠀⠀⠀⠀⠀⠀⠀⠀⠀⠀⠀⠀⠀⠀⠀⠀⠀⠀⠀⠀⠀⠀⠀⠀⠀⠀⠀⠀⠀⠀⠀⠀⠀⠙⣿⣄⠂⠽⣿⣷⣆⠠⠙⢿⣝⠻⠶⢦⣿⠇⠀⠀⠀⠀⠀⠀⠀⠀⠀⠀⠀⠀⠀⠀⠀⠀⠀⠀⠀⠀⠀⠀⠀⠀⠀⠀⠀⠀⠀⠀⠀⠀⠀⠀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⠀⠀⠀⠀⠀⠀⠀⠀⠀⠀⠀⠀⠀⠀⠀⠀⠀⠀⠀⠀⠀⠀⠀⠀⠀⠀⠀⠀⠀⠀⠀⠀⠀⠀⠀⠀⠀⠀⠀⠀⠀⠀⠀⠀⠀⠀⠀⠀⠀⠈⢿⣦⠁⢼⣿⠻⣿⣦⣩⠻⣦⡀⠀⠀⠀⠀⠀⠀⠀⠀⠀⠀⠀⠀⠀⠀⠀⠀⠀⠀⠀⠀⠀⠀⠀⠀⠀⠀⠀⠀⠀⠀⠀⠀⠀⠀⠀⠀⠀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⠀⠀⠀⠀⠀⠀⠀⠀⠀⠀⠀⠀⠀⠀⠀⠀⠀⠀⠀⠀⠀⠀⠀⠀⠀⠀⠀⠀⠀⠀⠀⠀⠀⠀⠀⠀⠀⠀⠀⠀⠀⠀⠀⠀⠀⠀⠀⠀⠀⠀⠀⠀⠀⠀⠀⠀⠀⠀⠀⠀⠀⠀⠀⠀⠀⠀⠀⠀⠀⠀⠀⠀⠀⠀⠀⠻⢷⣦⣿⡆⠂⠙⠛⠿⠿⠃⠀⠀⠀⠀⠀⠀⠀⠀⠀⠀⠀⠀⠀⠀⠀⠀⠀⠀⠀⠀⠀⠀⠀⠀⠀⠀⠀⠀⠀⠀⠀⠀⠀⠀⠀⠀⠀⠀⠀⠀⠀⠀⠀⠀⠀⠀</a:t>
            </a:r>
            <a:endParaRPr sz="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chemeClr val="lt1"/>
              </a:solidFill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-1522208" y="4131550"/>
            <a:ext cx="11479688" cy="101196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C6DED9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₊✩‧₊˚౨ৎ˚₊✩‧₊ ✮ ⋆ ˚｡⋆｡°✩⋆˚˖°</a:t>
            </a:r>
          </a:p>
        </p:txBody>
      </p:sp>
      <p:sp>
        <p:nvSpPr>
          <p:cNvPr id="79" name="Google Shape;79;p15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C6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C6DED9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Icebreaker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82" name="Google Shape;82;p15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 txBox="1"/>
          <p:nvPr/>
        </p:nvSpPr>
        <p:spPr>
          <a:xfrm>
            <a:off x="652500" y="1590700"/>
            <a:ext cx="7839000" cy="13698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Would you rather…</a:t>
            </a:r>
            <a:endParaRPr i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- OR -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853038" y="2237525"/>
            <a:ext cx="2324100" cy="7389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always walk like a penguin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5966863" y="2237525"/>
            <a:ext cx="2324100" cy="7389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always walk like a pigeon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0" y="1221725"/>
            <a:ext cx="35160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lt1"/>
                </a:solidFill>
              </a:rPr>
              <a:t>⠀⠀⠀⠀⠀⠀⠀⠀⠀⠀⠀⠀⠀⠀⠀⠀⠀⢀⣤⣴⣶⣶⣾⣶⣤⣀⠀⠀⠀⠀⠀⠀⠀⠀⠀⠀⠀⠀⠀⠀⠀⠀⠀⠀⠀⠀⠀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lt1"/>
                </a:solidFill>
              </a:rPr>
              <a:t>⠀⠀⠀⠀⠀⠀⠀⠀⠀⠀⠀⠀⠀⠀⠀⣠⣼⣿⣿⣿⣿⠛⠉⠉⠙⠻⣿⣦⡄⠀⠀⠀⠀⠀⠀⠀⠀⠀⠀⠀⠀⠀⠀⠀⠀⠀⠀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lt1"/>
                </a:solidFill>
              </a:rPr>
              <a:t>⠀⠀⠀⠀⠀⠀⠀⠀⠀⠀⠀⠀⠀⠀⣰⣿⣿⣿⣿⣿⡇⠀⢀⡄⠀⠀⠈⢻⣿⣦⠀⠀⠀⠀⠀⠀⠀⠀⠀⠀⠀⠀⠀⠀⠀⠀⠀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lt1"/>
                </a:solidFill>
              </a:rPr>
              <a:t>⠀⠀⠀⠀⠀⠀⠀⠀⠀⠀⠀⠀⠀⢸⣿⣿⢿⣿⣿⣿⣷⡀⠈⣶⣿⣿⠆⠀⠀⠹⣷⡀⠀⠀⠀⠀⠀⠀⠀⠀⠀⠀⠀⠀⠀⠀⠀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lt1"/>
                </a:solidFill>
              </a:rPr>
              <a:t>⠀⠀⠀⠀⠀⠀⠀⠀⠀⠀⠀⠀⠀⢾⡏⠀⠀⠈⠻⣿⣿⣷⣄⠈⢉⡄⠀⠀⠀⠀⢿⣷⡀⠀⠀⠀⠀⠀⠀⠀⠀⠀⠀⠀⠀⠀⠀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lt1"/>
                </a:solidFill>
              </a:rPr>
              <a:t>⠀⠀⠀⠀⠀⠀⠀⠀⠀⠀⠀⠀⠀⠘⣇⠀⢯⣵⣦⠘⣿⣿⣿⡿⣿⡇⠀⠀⠀⢠⣿⣿⣇⠀⠀⠀⠀⢀⣀⣴⠒⠛⠓⢦⣄⠀⠀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lt1"/>
                </a:solidFill>
              </a:rPr>
              <a:t>⠀⠀⠀⠀⠀⠀⠀⠀⠀⠀⠀⠀⠀⠀⠹⣦⠈⠛⠋⢠⣿⣿⣿⣾⡿⠁⠀⠀⣠⡾⠛⣿⡟⣷⡤⠒⣉⣡⣤⡾⠶⠶⣤⣀⠹⣷⡄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lt1"/>
                </a:solidFill>
              </a:rPr>
              <a:t>⠀⠀⠀⠀⠀⠀⠀⠀⠀⠀⠀⠀⠀⠀⠀⢹⣇⠀⠀⠀⠈⠉⠉⠁⠀⣀⣤⣾⣿⠀⠀⠈⢿⣧⡙⠛⠉⠁⠀⠀⠀⠀⠀⠀⣱⡬⠿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lt1"/>
                </a:solidFill>
              </a:rPr>
              <a:t>⠀⠀⠀⠀⠀⠀⠀⠀⠀⠀⢀⡠⠴⠒⠚⠋⠈⠳⣤⣀⣠⠤⠤⠖⠛⠋⠈⡿⠃⠀⠀⠀⠈⣿⢷⣀⣀⣀⡠⠤⠤⠤⠖⠋⠀⠀⠀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lt1"/>
                </a:solidFill>
              </a:rPr>
              <a:t>⠀⠀⠀⠀⢀⣀⠤⠤⠒⢊⣁⡤⠾⣿⢆⡄⠀⠀⠀⠀⠀⠀⠀⠀⠀⠀⢸⡅⠀⠀⠀⠀⣠⣿⡇⢸⠃⠀⠀⠀⠀⠀⠀⠀⠀⠀⠀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lt1"/>
                </a:solidFill>
              </a:rPr>
              <a:t>⠀⢀⣴⣾⣥⣴⠶⠾⠛⠁⠋⠀⣴⣋⡚⠀⠀⠀⠀⠀⠀⠀⠀⠀⠀⠀⠈⡏⠀⠀⠀⣰⠿⣿⣷⣈⡇⠀⠀⠀⠀⠀⠀⠀⠀⠀⠀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lt1"/>
                </a:solidFill>
              </a:rPr>
              <a:t>⢠⠎⢹⠏⠀⠀⠀⠀⠀⠀⣰⠟⠁⠈⢉⡄⠀⠀⠀⠀⠀⠀⠀⠀⠀⠀⠀⠁⠀⢀⡴⠃⠀⢿⣿⣿⡇⠀⠀⠀⠀⠀⠀⠀⠀⠀⠀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lt1"/>
                </a:solidFill>
              </a:rPr>
              <a:t>⡎⢠⠇⠀⠀⠀⠀⠀⢀⣴⠟⠉⠀⠀⠀⠉⠓⠒⠤⠤⢀⠀⡀⠀⣀⣠⣆⡠⠖⠉⠀⣄⠀⠈⠛⠋⣿⠀⠀⠀⠀⠀⠀⠀⠀⠀⠀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lt1"/>
                </a:solidFill>
              </a:rPr>
              <a:t>⡇⢸⠀⢠⠴⠒⠛⠉⣽⡇⠀⠀⠀⠀⠀⠀⠀⠀⠀⠀⠀⠈⠉⠉⠉⠉⠀⠀⣴⣆⠀⢀⠓⠀⠀⠀⢹⣷⠀⠀⠀⠀⠀⠀⠀⠀⠀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lt1"/>
                </a:solidFill>
              </a:rPr>
              <a:t>⠻⠾⠗⠁⠀⠀⠀⣰⠏⠀⠀⠀⠀⠀⠀⠀⠀⠀⠀⠀⠀⠀⠀⣠⠆⠴⠓⠀⢻⡝⢦⡀⢷⡀⠀⠀⢨⣿⠆⠀⠀⠀⠀⠀⠀⠀⠀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lt1"/>
                </a:solidFill>
              </a:rPr>
              <a:t>⠀⠀⠀⠀⠀⠀⢀⣿⠂⠀⠀⠀⠀⠀⠀⠀⠀⠀⠀⠀⠀⠀⢰⡛⡋⠘⠺⣆⠙⢟⣧⣧⡀⠁⠀⠀⢸⣿⣄⠀⠀⠀⠀⠀⠀⠀⠀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lt1"/>
                </a:solidFill>
              </a:rPr>
              <a:t>⠀⠀⠀⠀⠀⠀⡿⠁⠀⠀⠀⠀⠀⠀⠀⠀⠀⠀⠀⠈⠀⠠⢋⡰⣿⣶⣾⣿⣷⣜⣯⠙⣿⡄⠀⠀⠀⣿⣷⡄⠀⠀⠀⠀⠀⠀⠀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lt1"/>
                </a:solidFill>
              </a:rPr>
              <a:t>⠀⠀⠀⠀⠀⣸⡇⠀⠀⠀⠀⠀⠀⠤⠀⠀⠀⠀⠀⠀⠀⢾⢇⡞⣽⠴⢿⠼⣿⣯⣷⡐⢤⡀⠀⠀⠀⢾⣧⠀⠀⠀⠀⠀⠀⠀⠀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lt1"/>
                </a:solidFill>
              </a:rPr>
              <a:t>⠀⠀⠀⠀⠀⢹⡿⠀⠀⠀⠀⠀⠀⠂⠀⠀⠀⠀⠀⠀⠈⠃⣀⡰⠃⠀⣸⠀⢿⡿⢿⣿⣦⣿⡀⠀⠀⠀⣿⡷⠀⠀⠀⠀⠀⠀⠀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lt1"/>
                </a:solidFill>
              </a:rPr>
              <a:t>⠀⠀⠀⠀⠀⣾⠇⠀⠀⠀⠀⠀⠀⠂⠁⠀⠀⠀⠀⠀⠒⣿⡿⠁⣰⢻⣿⠆⣾⣿⣴⣯⣧⣙⠻⣆⠀⠀⢾⣿⠀⠀⠀⠀⠀⠀⠀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lt1"/>
                </a:solidFill>
              </a:rPr>
              <a:t>⠀⠀⠀⠀⢠⣿⣄⠀⠀⠀⠀⡀⠔⢠⣄⠀⢠⣤⣀⣠⡞⠃⠤⢾⣿⣿⡏⣸⣿⣻⣿⣿⣿⣿⡿⣿⣦⡀⢸⣿⠀⠀⠀⠀⠀⠀⠀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lt1"/>
                </a:solidFill>
              </a:rPr>
              <a:t>⠀⠀⠀⠀⠸⣿⣯⠀⠀⠀⠚⢁⠀⡼⢋⠀⣸⡟⠁⣼⢁⣤⣶⣿⣿⣿⣿⠋⣸⣿⣿⣽⣷⣿⣟⢾⣙⠻⣾⣿⡆⠀⠀⠀⠀⠀⠀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lt1"/>
                </a:solidFill>
              </a:rPr>
              <a:t>⠀⠀⠀⠀⠀⢻⣯⡄⠀⣠⠖⣡⡞⢁⣾⣾⣉⣼⣿⣿⣿⢛⣥⣿⢿⣿⣿⣿⣿⡿⣿⣿⣿⣆⢻⣶⣿⣿⣿⡿⠁⠀⠀⠀⠀⠀⠀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lt1"/>
                </a:solidFill>
              </a:rPr>
              <a:t>⠀⠀⠀⠀⠀⠀⠹⣿⣿⣷⣾⣻⣿⣿⣿⣿⣿⣿⣿⣿⣿⣿⣿⣿⣿⣿⣿⣿⣿⣿⣿⣿⣿⣿⣿⣿⣿⣿⣿⠇⠀⠀⠀⠀⠀⠀⠀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lt1"/>
                </a:solidFill>
              </a:rPr>
              <a:t>⠀⠀⠀⠀⠀⠀⠀⠈⠋⢻⣿⣿⣿⣿⣿⣿⣿⣿⢿⣿⣿⣿⣿⣿⣿⣿⡿⠋⣹⣿⣿⣿⣿⣿⣿⣿⣿⠏⠁⠀⠀⠀⠀⠀⠀⠀⠀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lt1"/>
                </a:solidFill>
              </a:rPr>
              <a:t>⠀⠀⠀⠀⠀⠀⠀⠀⠀⠈⠻⣿⣿⡿⣿⣿⣿⣿⡇⠀⠁⠈⠁⠀⠀⠀⠀⠀⠿⠿⣿⡿⢿⣿⡿⠛⠁⠀⠀⠀⠀⠀⠀⠀⠀⠀⠀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lt1"/>
                </a:solidFill>
              </a:rPr>
              <a:t>⠀⠀⠀⠀⠀⠀⠀⠀⠀⠀⠀⠈⠋⠀⠈⠉⠁⠉⠁⠀⠀⠀⠀⠀⠀⠀⠀⠀⠀⠀⠀⠀⠀⠀⠀⠀⠀⠀⠀⠀⠀⠀⠀⠀⠀⠀⠀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6DED9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/>
          <p:nvPr/>
        </p:nvSpPr>
        <p:spPr>
          <a:xfrm>
            <a:off x="-5304833" y="-12"/>
            <a:ext cx="18684597" cy="90387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8B5D3A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he she his mine theirs you they us yourself</a:t>
            </a:r>
          </a:p>
        </p:txBody>
      </p:sp>
      <p:sp>
        <p:nvSpPr>
          <p:cNvPr id="92" name="Google Shape;92;p16"/>
          <p:cNvSpPr/>
          <p:nvPr/>
        </p:nvSpPr>
        <p:spPr>
          <a:xfrm>
            <a:off x="0" y="1547100"/>
            <a:ext cx="9144000" cy="738900"/>
          </a:xfrm>
          <a:prstGeom prst="rect">
            <a:avLst/>
          </a:prstGeom>
          <a:solidFill>
            <a:srgbClr val="8B5D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228590" y="228602"/>
            <a:ext cx="2057400" cy="2057400"/>
          </a:xfrm>
          <a:prstGeom prst="ellipse">
            <a:avLst/>
          </a:prstGeom>
          <a:solidFill>
            <a:srgbClr val="8B5D3A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2286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Spring</a:t>
            </a:r>
            <a:endParaRPr sz="3200">
              <a:solidFill>
                <a:srgbClr val="FFFFFF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2</a:t>
            </a:r>
            <a:endParaRPr sz="9600">
              <a:solidFill>
                <a:srgbClr val="FFFFF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2514600" y="1547100"/>
            <a:ext cx="6400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Pronouns</a:t>
            </a:r>
            <a:endParaRPr sz="4800">
              <a:solidFill>
                <a:srgbClr val="FFFFF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2514600" y="1011000"/>
            <a:ext cx="6400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DM Sans"/>
                <a:ea typeface="DM Sans"/>
                <a:cs typeface="DM Sans"/>
                <a:sym typeface="DM Sans"/>
              </a:rPr>
              <a:t>English Language Arts</a:t>
            </a:r>
            <a:endParaRPr sz="3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228600" y="2514600"/>
            <a:ext cx="4114800" cy="11082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FFFFFF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DM Sans"/>
                <a:ea typeface="DM Sans"/>
                <a:cs typeface="DM Sans"/>
                <a:sym typeface="DM Sans"/>
              </a:rPr>
              <a:t>Aim:</a:t>
            </a:r>
            <a:r>
              <a:rPr lang="en" sz="2400">
                <a:latin typeface="DM Sans"/>
                <a:ea typeface="DM Sans"/>
                <a:cs typeface="DM Sans"/>
                <a:sym typeface="DM Sans"/>
              </a:rPr>
              <a:t> Recognize and understand pronouns and when to use them correctly.</a:t>
            </a:r>
            <a:endParaRPr sz="24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4800600" y="2518650"/>
            <a:ext cx="4114800" cy="7389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FFFFFF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DM Sans"/>
                <a:ea typeface="DM Sans"/>
                <a:cs typeface="DM Sans"/>
                <a:sym typeface="DM Sans"/>
              </a:rPr>
              <a:t>Do Now:</a:t>
            </a:r>
            <a:r>
              <a:rPr lang="en" sz="2400">
                <a:latin typeface="DM Sans"/>
                <a:ea typeface="DM Sans"/>
                <a:cs typeface="DM Sans"/>
                <a:sym typeface="DM Sans"/>
              </a:rPr>
              <a:t> What are your pronouns?</a:t>
            </a:r>
            <a:endParaRPr sz="24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-8" y="4272600"/>
            <a:ext cx="15730575" cy="90387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8B5D3A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he she we her mine yours it they his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5D3A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/>
          <p:nvPr/>
        </p:nvSpPr>
        <p:spPr>
          <a:xfrm>
            <a:off x="-3465308" y="4229100"/>
            <a:ext cx="15730575" cy="90387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C6DED9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he she we her mine yours it they his</a:t>
            </a:r>
          </a:p>
        </p:txBody>
      </p:sp>
      <p:sp>
        <p:nvSpPr>
          <p:cNvPr id="104" name="Google Shape;104;p17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C6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C6DED9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Pronouns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228600" y="1595225"/>
            <a:ext cx="4114800" cy="7389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 pronoun is a word that takes the place of a noun.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4800600" y="1895275"/>
            <a:ext cx="4114800" cy="369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Example</a:t>
            </a:r>
            <a:endParaRPr i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09" name="Google Shape;109;p17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7"/>
          <p:cNvSpPr txBox="1"/>
          <p:nvPr/>
        </p:nvSpPr>
        <p:spPr>
          <a:xfrm>
            <a:off x="228600" y="2493175"/>
            <a:ext cx="4114800" cy="11082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Instead of calling someone by their name, you call them by “her” or “him</a:t>
            </a: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.”</a:t>
            </a:r>
            <a:endParaRPr i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4800600" y="2493175"/>
            <a:ext cx="4114800" cy="11082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Karen lost </a:t>
            </a:r>
            <a:r>
              <a:rPr b="1" i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her</a:t>
            </a:r>
            <a:r>
              <a:rPr i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phone, and Maria noticed, asking, “Did </a:t>
            </a:r>
            <a:r>
              <a:rPr b="1" i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you</a:t>
            </a:r>
            <a:r>
              <a:rPr i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lose </a:t>
            </a:r>
            <a:r>
              <a:rPr b="1" i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your</a:t>
            </a:r>
            <a:r>
              <a:rPr i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phone?”</a:t>
            </a:r>
            <a:endParaRPr i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5D3A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C6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8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C6DED9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Pronouns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228600" y="1490400"/>
            <a:ext cx="4114800" cy="369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Use pronouns to . . .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4800600" y="1490400"/>
            <a:ext cx="4114800" cy="369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Example (before)</a:t>
            </a:r>
            <a:endParaRPr i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21" name="Google Shape;121;p18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8"/>
          <p:cNvSpPr txBox="1"/>
          <p:nvPr/>
        </p:nvSpPr>
        <p:spPr>
          <a:xfrm>
            <a:off x="228600" y="2088300"/>
            <a:ext cx="4114800" cy="369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Avoid repetition!</a:t>
            </a:r>
            <a:endParaRPr i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3" name="Google Shape;123;p18"/>
          <p:cNvSpPr txBox="1"/>
          <p:nvPr/>
        </p:nvSpPr>
        <p:spPr>
          <a:xfrm>
            <a:off x="4800600" y="2088300"/>
            <a:ext cx="4114800" cy="11082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Maria forgot </a:t>
            </a:r>
            <a:r>
              <a:rPr b="1"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Maria’s</a:t>
            </a:r>
            <a:r>
              <a:rPr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backpack, so </a:t>
            </a:r>
            <a:r>
              <a:rPr b="1"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Maria</a:t>
            </a:r>
            <a:r>
              <a:rPr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went back for </a:t>
            </a:r>
            <a:r>
              <a:rPr b="1"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Maria’s backpack</a:t>
            </a:r>
            <a:r>
              <a:rPr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i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-3465308" y="4229100"/>
            <a:ext cx="15730575" cy="90387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C6DED9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he she we her mine yours it they his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5D3A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C6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9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C6DED9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Pronouns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2" name="Google Shape;132;p19"/>
          <p:cNvSpPr txBox="1"/>
          <p:nvPr/>
        </p:nvSpPr>
        <p:spPr>
          <a:xfrm>
            <a:off x="228600" y="1490400"/>
            <a:ext cx="4114800" cy="369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Use pronouns to . . .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3" name="Google Shape;133;p19"/>
          <p:cNvSpPr txBox="1"/>
          <p:nvPr/>
        </p:nvSpPr>
        <p:spPr>
          <a:xfrm>
            <a:off x="4800600" y="1490400"/>
            <a:ext cx="4114800" cy="369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Example (after)</a:t>
            </a:r>
            <a:endParaRPr i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34" name="Google Shape;134;p19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9"/>
          <p:cNvSpPr txBox="1"/>
          <p:nvPr/>
        </p:nvSpPr>
        <p:spPr>
          <a:xfrm>
            <a:off x="228600" y="2088300"/>
            <a:ext cx="4114800" cy="369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Avoid repetition!</a:t>
            </a:r>
            <a:endParaRPr i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6" name="Google Shape;136;p19"/>
          <p:cNvSpPr txBox="1"/>
          <p:nvPr/>
        </p:nvSpPr>
        <p:spPr>
          <a:xfrm>
            <a:off x="4800600" y="2088300"/>
            <a:ext cx="4114800" cy="7389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Maria forgot </a:t>
            </a:r>
            <a:r>
              <a:rPr b="1"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her</a:t>
            </a:r>
            <a:r>
              <a:rPr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backpack, so </a:t>
            </a:r>
            <a:r>
              <a:rPr b="1"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she</a:t>
            </a:r>
            <a:r>
              <a:rPr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went back for </a:t>
            </a:r>
            <a:r>
              <a:rPr b="1"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it</a:t>
            </a:r>
            <a:r>
              <a:rPr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i="1" sz="24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-3465308" y="4229100"/>
            <a:ext cx="15730575" cy="90387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C6DED9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he she we her mine yours it they his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5D3A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/>
          <p:nvPr/>
        </p:nvSpPr>
        <p:spPr>
          <a:xfrm>
            <a:off x="-3465308" y="4229100"/>
            <a:ext cx="15730575" cy="90387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C6DED9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he she we her mine yours it they his</a:t>
            </a:r>
          </a:p>
        </p:txBody>
      </p:sp>
      <p:sp>
        <p:nvSpPr>
          <p:cNvPr id="143" name="Google Shape;143;p20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C6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0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C6DED9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145" name="Google Shape;145;p20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Antecedents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228600" y="1595225"/>
            <a:ext cx="4114800" cy="7389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</a:t>
            </a:r>
            <a:r>
              <a:rPr b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antecedent is the noun replaced by the pronoun.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7" name="Google Shape;147;p20"/>
          <p:cNvSpPr txBox="1"/>
          <p:nvPr/>
        </p:nvSpPr>
        <p:spPr>
          <a:xfrm>
            <a:off x="4800600" y="1895275"/>
            <a:ext cx="4114800" cy="369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Example</a:t>
            </a:r>
            <a:endParaRPr i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48" name="Google Shape;148;p20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0"/>
          <p:cNvSpPr txBox="1"/>
          <p:nvPr/>
        </p:nvSpPr>
        <p:spPr>
          <a:xfrm>
            <a:off x="228600" y="2493175"/>
            <a:ext cx="4114800" cy="11082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You refer to someone by their name directly instead of “her” or “him.”</a:t>
            </a:r>
            <a:endParaRPr i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0" name="Google Shape;150;p20"/>
          <p:cNvSpPr txBox="1"/>
          <p:nvPr/>
        </p:nvSpPr>
        <p:spPr>
          <a:xfrm>
            <a:off x="4800600" y="2493175"/>
            <a:ext cx="4114800" cy="11082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Karen</a:t>
            </a:r>
            <a:r>
              <a:rPr i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lost </a:t>
            </a:r>
            <a:r>
              <a:rPr i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her</a:t>
            </a:r>
            <a:r>
              <a:rPr i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phone, and </a:t>
            </a:r>
            <a:r>
              <a:rPr b="1" i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Maria</a:t>
            </a:r>
            <a:r>
              <a:rPr i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noticed, asking, “Did </a:t>
            </a:r>
            <a:r>
              <a:rPr i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you</a:t>
            </a:r>
            <a:r>
              <a:rPr i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lose </a:t>
            </a:r>
            <a:r>
              <a:rPr i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your</a:t>
            </a:r>
            <a:r>
              <a:rPr i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phone?”</a:t>
            </a:r>
            <a:endParaRPr i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5D3A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/>
          <p:nvPr/>
        </p:nvSpPr>
        <p:spPr>
          <a:xfrm>
            <a:off x="-3465308" y="4229100"/>
            <a:ext cx="15730575" cy="90387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C6DED9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he she we her mine yours it they his</a:t>
            </a:r>
          </a:p>
        </p:txBody>
      </p:sp>
      <p:sp>
        <p:nvSpPr>
          <p:cNvPr id="156" name="Google Shape;156;p21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C6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1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C6DED9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158" name="Google Shape;158;p21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Antecedents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59" name="Google Shape;159;p21"/>
          <p:cNvSpPr txBox="1"/>
          <p:nvPr/>
        </p:nvSpPr>
        <p:spPr>
          <a:xfrm>
            <a:off x="228600" y="1595225"/>
            <a:ext cx="4114800" cy="7389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antecedent is the noun replaced by the pronoun.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0" name="Google Shape;160;p21"/>
          <p:cNvSpPr txBox="1"/>
          <p:nvPr/>
        </p:nvSpPr>
        <p:spPr>
          <a:xfrm>
            <a:off x="4800600" y="1895275"/>
            <a:ext cx="4114800" cy="369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Example</a:t>
            </a:r>
            <a:endParaRPr i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61" name="Google Shape;161;p21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1"/>
          <p:cNvSpPr txBox="1"/>
          <p:nvPr/>
        </p:nvSpPr>
        <p:spPr>
          <a:xfrm>
            <a:off x="228600" y="2493175"/>
            <a:ext cx="4114800" cy="14778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antecedent usually comes before the pronoun, in the same sentence or a previous sentence.</a:t>
            </a:r>
            <a:endParaRPr i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3" name="Google Shape;163;p21"/>
          <p:cNvSpPr txBox="1"/>
          <p:nvPr/>
        </p:nvSpPr>
        <p:spPr>
          <a:xfrm>
            <a:off x="4800600" y="2493175"/>
            <a:ext cx="4114800" cy="7389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Maria</a:t>
            </a:r>
            <a:r>
              <a:rPr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forgot her backpack, so she went back for it.</a:t>
            </a:r>
            <a:endParaRPr i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5D3A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C6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2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C6DED9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170" name="Google Shape;170;p22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Personal </a:t>
            </a: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Pronouns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1" name="Google Shape;171;p22"/>
          <p:cNvSpPr txBox="1"/>
          <p:nvPr/>
        </p:nvSpPr>
        <p:spPr>
          <a:xfrm>
            <a:off x="228600" y="1490400"/>
            <a:ext cx="4114800" cy="369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Subject Pronouns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2" name="Google Shape;172;p22"/>
          <p:cNvSpPr txBox="1"/>
          <p:nvPr/>
        </p:nvSpPr>
        <p:spPr>
          <a:xfrm>
            <a:off x="4800600" y="1490400"/>
            <a:ext cx="4114800" cy="369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Example</a:t>
            </a:r>
            <a:endParaRPr i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73" name="Google Shape;173;p22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2"/>
          <p:cNvSpPr txBox="1"/>
          <p:nvPr/>
        </p:nvSpPr>
        <p:spPr>
          <a:xfrm>
            <a:off x="228600" y="2088300"/>
            <a:ext cx="4114800" cy="14778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Used when the pronoun is the </a:t>
            </a:r>
            <a:r>
              <a:rPr b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subject</a:t>
            </a: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of the sentence.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I, you, he, she, it, we, they</a:t>
            </a:r>
            <a:endParaRPr i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5" name="Google Shape;175;p22"/>
          <p:cNvSpPr txBox="1"/>
          <p:nvPr/>
        </p:nvSpPr>
        <p:spPr>
          <a:xfrm>
            <a:off x="4800600" y="2088300"/>
            <a:ext cx="4114800" cy="11082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They</a:t>
            </a:r>
            <a:r>
              <a:rPr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are late; it’s been </a:t>
            </a:r>
            <a:r>
              <a:rPr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nearly 20 minutes since the arranged time!</a:t>
            </a:r>
            <a:endParaRPr i="1" sz="24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6" name="Google Shape;176;p22"/>
          <p:cNvSpPr/>
          <p:nvPr/>
        </p:nvSpPr>
        <p:spPr>
          <a:xfrm>
            <a:off x="-3465308" y="4229100"/>
            <a:ext cx="15730575" cy="90387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C6DED9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he she we her mine yours it they his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5D3A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C6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3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C6DED9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183" name="Google Shape;183;p23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Personal </a:t>
            </a: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Pronouns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4" name="Google Shape;184;p23"/>
          <p:cNvSpPr txBox="1"/>
          <p:nvPr/>
        </p:nvSpPr>
        <p:spPr>
          <a:xfrm>
            <a:off x="228600" y="1490400"/>
            <a:ext cx="4114800" cy="369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Object</a:t>
            </a:r>
            <a:r>
              <a:rPr b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Pronouns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5" name="Google Shape;185;p23"/>
          <p:cNvSpPr txBox="1"/>
          <p:nvPr/>
        </p:nvSpPr>
        <p:spPr>
          <a:xfrm>
            <a:off x="4800600" y="1490400"/>
            <a:ext cx="4114800" cy="369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Example</a:t>
            </a:r>
            <a:endParaRPr i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86" name="Google Shape;186;p23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3"/>
          <p:cNvSpPr txBox="1"/>
          <p:nvPr/>
        </p:nvSpPr>
        <p:spPr>
          <a:xfrm>
            <a:off x="228600" y="2088300"/>
            <a:ext cx="4114800" cy="14778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Used when the pronoun is the </a:t>
            </a:r>
            <a:r>
              <a:rPr b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object</a:t>
            </a: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of the sentence.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me, you, him, her, it, us, them</a:t>
            </a:r>
            <a:endParaRPr i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8" name="Google Shape;188;p23"/>
          <p:cNvSpPr txBox="1"/>
          <p:nvPr/>
        </p:nvSpPr>
        <p:spPr>
          <a:xfrm>
            <a:off x="4800600" y="2088300"/>
            <a:ext cx="4114800" cy="7389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Give the </a:t>
            </a:r>
            <a:r>
              <a:rPr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chocolate</a:t>
            </a:r>
            <a:r>
              <a:rPr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bar you’ve been </a:t>
            </a:r>
            <a:r>
              <a:rPr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hiding</a:t>
            </a:r>
            <a:r>
              <a:rPr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to </a:t>
            </a:r>
            <a:r>
              <a:rPr b="1"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me</a:t>
            </a:r>
            <a:r>
              <a:rPr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i="1" sz="24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9" name="Google Shape;189;p23"/>
          <p:cNvSpPr/>
          <p:nvPr/>
        </p:nvSpPr>
        <p:spPr>
          <a:xfrm>
            <a:off x="-3465308" y="4229100"/>
            <a:ext cx="15730575" cy="90387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C6DED9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he she we her mine yours it they his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5D3A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4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C6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4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C6DED9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196" name="Google Shape;196;p24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Possessive </a:t>
            </a: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Pronouns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7" name="Google Shape;197;p24"/>
          <p:cNvSpPr txBox="1"/>
          <p:nvPr/>
        </p:nvSpPr>
        <p:spPr>
          <a:xfrm>
            <a:off x="228600" y="1490400"/>
            <a:ext cx="4114800" cy="369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Use pronouns to . . .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8" name="Google Shape;198;p24"/>
          <p:cNvSpPr txBox="1"/>
          <p:nvPr/>
        </p:nvSpPr>
        <p:spPr>
          <a:xfrm>
            <a:off x="4800600" y="1490400"/>
            <a:ext cx="4114800" cy="369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Example</a:t>
            </a:r>
            <a:endParaRPr i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99" name="Google Shape;199;p24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4"/>
          <p:cNvSpPr txBox="1"/>
          <p:nvPr/>
        </p:nvSpPr>
        <p:spPr>
          <a:xfrm>
            <a:off x="228600" y="2088300"/>
            <a:ext cx="4114800" cy="7389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Show ownership or possession.</a:t>
            </a:r>
            <a:endParaRPr i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1" name="Google Shape;201;p24"/>
          <p:cNvSpPr txBox="1"/>
          <p:nvPr/>
        </p:nvSpPr>
        <p:spPr>
          <a:xfrm>
            <a:off x="4800600" y="2088300"/>
            <a:ext cx="4114800" cy="11082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That book on the teacher’s desk with the blue cover is </a:t>
            </a:r>
            <a:r>
              <a:rPr b="1"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hers</a:t>
            </a:r>
            <a:r>
              <a:rPr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, not </a:t>
            </a:r>
            <a:r>
              <a:rPr b="1"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mine</a:t>
            </a:r>
            <a:r>
              <a:rPr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i="1" sz="24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2" name="Google Shape;202;p24"/>
          <p:cNvSpPr/>
          <p:nvPr/>
        </p:nvSpPr>
        <p:spPr>
          <a:xfrm>
            <a:off x="-3465308" y="4229100"/>
            <a:ext cx="15730575" cy="90387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C6DED9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he she we her mine yours it they his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5D3A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5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C6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5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C6DED9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209" name="Google Shape;209;p25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Relative </a:t>
            </a: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Pronouns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10" name="Google Shape;210;p25"/>
          <p:cNvSpPr txBox="1"/>
          <p:nvPr/>
        </p:nvSpPr>
        <p:spPr>
          <a:xfrm>
            <a:off x="228600" y="1490400"/>
            <a:ext cx="4114800" cy="369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Use pronouns to . . .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1" name="Google Shape;211;p25"/>
          <p:cNvSpPr txBox="1"/>
          <p:nvPr/>
        </p:nvSpPr>
        <p:spPr>
          <a:xfrm>
            <a:off x="4800600" y="1490400"/>
            <a:ext cx="4114800" cy="369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Example</a:t>
            </a:r>
            <a:endParaRPr i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12" name="Google Shape;212;p25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5"/>
          <p:cNvSpPr txBox="1"/>
          <p:nvPr/>
        </p:nvSpPr>
        <p:spPr>
          <a:xfrm>
            <a:off x="228600" y="2088300"/>
            <a:ext cx="4114800" cy="11082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Combine clauses (independent and dependent clauses).</a:t>
            </a:r>
            <a:endParaRPr i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4" name="Google Shape;214;p25"/>
          <p:cNvSpPr txBox="1"/>
          <p:nvPr/>
        </p:nvSpPr>
        <p:spPr>
          <a:xfrm>
            <a:off x="4800600" y="2088300"/>
            <a:ext cx="4114800" cy="14778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The student </a:t>
            </a:r>
            <a:r>
              <a:rPr b="1"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who</a:t>
            </a:r>
            <a:r>
              <a:rPr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won the science fair smiled proudly as she walked up to receive her award.</a:t>
            </a:r>
            <a:endParaRPr i="1" sz="24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5" name="Google Shape;215;p25"/>
          <p:cNvSpPr/>
          <p:nvPr/>
        </p:nvSpPr>
        <p:spPr>
          <a:xfrm>
            <a:off x="-3465308" y="4229100"/>
            <a:ext cx="15730575" cy="90387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C6DED9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he she we her mine yours it they his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5D3A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C6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6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C6DED9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222" name="Google Shape;222;p26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Interrogative </a:t>
            </a: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Pronouns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23" name="Google Shape;223;p26"/>
          <p:cNvSpPr txBox="1"/>
          <p:nvPr/>
        </p:nvSpPr>
        <p:spPr>
          <a:xfrm>
            <a:off x="228600" y="1490400"/>
            <a:ext cx="4114800" cy="369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Use pronouns to . . .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4" name="Google Shape;224;p26"/>
          <p:cNvSpPr txBox="1"/>
          <p:nvPr/>
        </p:nvSpPr>
        <p:spPr>
          <a:xfrm>
            <a:off x="4800600" y="1490400"/>
            <a:ext cx="4114800" cy="369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Example</a:t>
            </a:r>
            <a:endParaRPr i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25" name="Google Shape;225;p26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6"/>
          <p:cNvSpPr txBox="1"/>
          <p:nvPr/>
        </p:nvSpPr>
        <p:spPr>
          <a:xfrm>
            <a:off x="394900" y="2088300"/>
            <a:ext cx="3948600" cy="11082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Ask questions (not the 5 W’s, but: who, whom, whose, which, what).</a:t>
            </a:r>
            <a:endParaRPr i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7" name="Google Shape;227;p26"/>
          <p:cNvSpPr txBox="1"/>
          <p:nvPr/>
        </p:nvSpPr>
        <p:spPr>
          <a:xfrm>
            <a:off x="4800600" y="2088300"/>
            <a:ext cx="4114800" cy="11082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Which</a:t>
            </a:r>
            <a:r>
              <a:rPr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of these two desserts do you want for your birthday party tonight?</a:t>
            </a:r>
            <a:endParaRPr i="1" sz="24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8" name="Google Shape;228;p26"/>
          <p:cNvSpPr/>
          <p:nvPr/>
        </p:nvSpPr>
        <p:spPr>
          <a:xfrm>
            <a:off x="-3465308" y="4229100"/>
            <a:ext cx="15730575" cy="90387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C6DED9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he she we her mine yours it they his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5D3A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C6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7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C6DED9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235" name="Google Shape;235;p27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Common Pronoun Errors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36" name="Google Shape;236;p27"/>
          <p:cNvSpPr txBox="1"/>
          <p:nvPr/>
        </p:nvSpPr>
        <p:spPr>
          <a:xfrm>
            <a:off x="228600" y="1490400"/>
            <a:ext cx="4114800" cy="369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Missing</a:t>
            </a:r>
            <a:r>
              <a:rPr b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Antecedent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7" name="Google Shape;237;p27"/>
          <p:cNvSpPr txBox="1"/>
          <p:nvPr/>
        </p:nvSpPr>
        <p:spPr>
          <a:xfrm>
            <a:off x="4800600" y="1490400"/>
            <a:ext cx="4114800" cy="369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Example (before)</a:t>
            </a:r>
            <a:endParaRPr i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38" name="Google Shape;238;p27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7"/>
          <p:cNvSpPr txBox="1"/>
          <p:nvPr/>
        </p:nvSpPr>
        <p:spPr>
          <a:xfrm>
            <a:off x="228600" y="2088300"/>
            <a:ext cx="4114800" cy="7389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Pronouns must have an antecedent.</a:t>
            </a:r>
            <a:endParaRPr i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0" name="Google Shape;240;p27"/>
          <p:cNvSpPr txBox="1"/>
          <p:nvPr/>
        </p:nvSpPr>
        <p:spPr>
          <a:xfrm>
            <a:off x="4800600" y="2088300"/>
            <a:ext cx="4114800" cy="7389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In the newspaper, </a:t>
            </a:r>
            <a:r>
              <a:rPr b="1"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it</a:t>
            </a:r>
            <a:r>
              <a:rPr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says that the </a:t>
            </a:r>
            <a:r>
              <a:rPr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governor</a:t>
            </a:r>
            <a:r>
              <a:rPr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will resign.</a:t>
            </a:r>
            <a:endParaRPr i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1" name="Google Shape;241;p27"/>
          <p:cNvSpPr/>
          <p:nvPr/>
        </p:nvSpPr>
        <p:spPr>
          <a:xfrm>
            <a:off x="-3465308" y="4229100"/>
            <a:ext cx="15730575" cy="90387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C6DED9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he she we her mine yours it they his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5D3A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8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C6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8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C6DED9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248" name="Google Shape;248;p28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Common Pronoun Errors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49" name="Google Shape;249;p28"/>
          <p:cNvSpPr txBox="1"/>
          <p:nvPr/>
        </p:nvSpPr>
        <p:spPr>
          <a:xfrm>
            <a:off x="228600" y="1490400"/>
            <a:ext cx="4114800" cy="369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Missing Antecedent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0" name="Google Shape;250;p28"/>
          <p:cNvSpPr txBox="1"/>
          <p:nvPr/>
        </p:nvSpPr>
        <p:spPr>
          <a:xfrm>
            <a:off x="4800600" y="1490400"/>
            <a:ext cx="4114800" cy="369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Example (after)</a:t>
            </a:r>
            <a:endParaRPr i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51" name="Google Shape;251;p28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8"/>
          <p:cNvSpPr txBox="1"/>
          <p:nvPr/>
        </p:nvSpPr>
        <p:spPr>
          <a:xfrm>
            <a:off x="228600" y="2088300"/>
            <a:ext cx="4114800" cy="18471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 this sentence, there is no antecedent, because we don’t know what the word “it” is taking the </a:t>
            </a: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place</a:t>
            </a: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of in this sentence.</a:t>
            </a:r>
            <a:endParaRPr i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3" name="Google Shape;253;p28"/>
          <p:cNvSpPr txBox="1"/>
          <p:nvPr/>
        </p:nvSpPr>
        <p:spPr>
          <a:xfrm>
            <a:off x="4800600" y="2088300"/>
            <a:ext cx="4114800" cy="11082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In the newspaper, </a:t>
            </a:r>
            <a:r>
              <a:rPr b="1"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the board</a:t>
            </a:r>
            <a:r>
              <a:rPr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says that the governor will resign.</a:t>
            </a:r>
            <a:endParaRPr i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4" name="Google Shape;254;p28"/>
          <p:cNvSpPr/>
          <p:nvPr/>
        </p:nvSpPr>
        <p:spPr>
          <a:xfrm>
            <a:off x="-3465308" y="4229100"/>
            <a:ext cx="15730575" cy="90387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C6DED9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he she we her mine yours it they his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5D3A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9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C6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9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C6DED9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261" name="Google Shape;261;p29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Common Pronoun Errors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62" name="Google Shape;262;p29"/>
          <p:cNvSpPr txBox="1"/>
          <p:nvPr/>
        </p:nvSpPr>
        <p:spPr>
          <a:xfrm>
            <a:off x="228600" y="1490400"/>
            <a:ext cx="4114800" cy="369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Antecedent Disagreement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3" name="Google Shape;263;p29"/>
          <p:cNvSpPr txBox="1"/>
          <p:nvPr/>
        </p:nvSpPr>
        <p:spPr>
          <a:xfrm>
            <a:off x="4800600" y="1490400"/>
            <a:ext cx="4114800" cy="369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Example (before)</a:t>
            </a:r>
            <a:endParaRPr i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64" name="Google Shape;264;p29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9"/>
          <p:cNvSpPr txBox="1"/>
          <p:nvPr/>
        </p:nvSpPr>
        <p:spPr>
          <a:xfrm>
            <a:off x="228600" y="2088300"/>
            <a:ext cx="4114800" cy="11082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Correctly used pronouns must </a:t>
            </a: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agree</a:t>
            </a: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in number and in person with the </a:t>
            </a: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antecedent.</a:t>
            </a:r>
            <a:endParaRPr i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6" name="Google Shape;266;p29"/>
          <p:cNvSpPr txBox="1"/>
          <p:nvPr/>
        </p:nvSpPr>
        <p:spPr>
          <a:xfrm>
            <a:off x="4800600" y="2088300"/>
            <a:ext cx="4114800" cy="7389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Someone left </a:t>
            </a:r>
            <a:r>
              <a:rPr b="1"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their</a:t>
            </a:r>
            <a:r>
              <a:rPr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coat on the chair.</a:t>
            </a:r>
            <a:endParaRPr i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7" name="Google Shape;267;p29"/>
          <p:cNvSpPr/>
          <p:nvPr/>
        </p:nvSpPr>
        <p:spPr>
          <a:xfrm>
            <a:off x="-3465308" y="4229100"/>
            <a:ext cx="15730575" cy="90387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C6DED9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he she we her mine yours it they his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5D3A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0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C6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0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C6DED9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274" name="Google Shape;274;p30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Common Pronoun Errors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75" name="Google Shape;275;p30"/>
          <p:cNvSpPr txBox="1"/>
          <p:nvPr/>
        </p:nvSpPr>
        <p:spPr>
          <a:xfrm>
            <a:off x="228600" y="1490400"/>
            <a:ext cx="4114800" cy="369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Antecedent Disagreement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6" name="Google Shape;276;p30"/>
          <p:cNvSpPr txBox="1"/>
          <p:nvPr/>
        </p:nvSpPr>
        <p:spPr>
          <a:xfrm>
            <a:off x="4800600" y="1490400"/>
            <a:ext cx="4114800" cy="369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Example (after)</a:t>
            </a:r>
            <a:endParaRPr i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77" name="Google Shape;277;p30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0"/>
          <p:cNvSpPr txBox="1"/>
          <p:nvPr/>
        </p:nvSpPr>
        <p:spPr>
          <a:xfrm>
            <a:off x="228600" y="2088300"/>
            <a:ext cx="4114800" cy="18471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singular antecedent “someone” disagrees with the plural pronoun “their.” The correct pronoun is “his” or “her.”</a:t>
            </a:r>
            <a:endParaRPr i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9" name="Google Shape;279;p30"/>
          <p:cNvSpPr txBox="1"/>
          <p:nvPr/>
        </p:nvSpPr>
        <p:spPr>
          <a:xfrm>
            <a:off x="4800600" y="2088300"/>
            <a:ext cx="4114800" cy="7389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Someone left </a:t>
            </a:r>
            <a:r>
              <a:rPr b="1"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his or her</a:t>
            </a:r>
            <a:r>
              <a:rPr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coat on the chair.</a:t>
            </a:r>
            <a:endParaRPr i="1" sz="24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0" name="Google Shape;280;p30"/>
          <p:cNvSpPr/>
          <p:nvPr/>
        </p:nvSpPr>
        <p:spPr>
          <a:xfrm>
            <a:off x="-3465308" y="4229100"/>
            <a:ext cx="15730575" cy="90387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C6DED9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he she we her mine yours it they his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5D3A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1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C6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1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C6DED9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287" name="Google Shape;287;p31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Common Pronoun Errors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88" name="Google Shape;288;p31"/>
          <p:cNvSpPr txBox="1"/>
          <p:nvPr/>
        </p:nvSpPr>
        <p:spPr>
          <a:xfrm>
            <a:off x="228600" y="1490400"/>
            <a:ext cx="4114800" cy="369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Ambiguous</a:t>
            </a:r>
            <a:r>
              <a:rPr b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Pronoun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9" name="Google Shape;289;p31"/>
          <p:cNvSpPr txBox="1"/>
          <p:nvPr/>
        </p:nvSpPr>
        <p:spPr>
          <a:xfrm>
            <a:off x="4800600" y="1490400"/>
            <a:ext cx="4114800" cy="369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Example (before)</a:t>
            </a:r>
            <a:endParaRPr i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90" name="Google Shape;290;p31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1"/>
          <p:cNvSpPr txBox="1"/>
          <p:nvPr/>
        </p:nvSpPr>
        <p:spPr>
          <a:xfrm>
            <a:off x="228600" y="2088300"/>
            <a:ext cx="4114800" cy="18471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 sentence may use an </a:t>
            </a: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antecedent</a:t>
            </a: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like “his” or “her,” and it’s unclear which specific person is being mentioned.</a:t>
            </a:r>
            <a:endParaRPr i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2" name="Google Shape;292;p31"/>
          <p:cNvSpPr txBox="1"/>
          <p:nvPr/>
        </p:nvSpPr>
        <p:spPr>
          <a:xfrm>
            <a:off x="4800600" y="2088300"/>
            <a:ext cx="4114800" cy="7389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John and Bob took </a:t>
            </a:r>
            <a:r>
              <a:rPr b="1"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his</a:t>
            </a:r>
            <a:r>
              <a:rPr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car to the store.</a:t>
            </a:r>
            <a:endParaRPr i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3" name="Google Shape;293;p31"/>
          <p:cNvSpPr/>
          <p:nvPr/>
        </p:nvSpPr>
        <p:spPr>
          <a:xfrm>
            <a:off x="-3465308" y="4229100"/>
            <a:ext cx="15730575" cy="90387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C6DED9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he she we her mine yours it they his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5D3A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2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C6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2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C6DED9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300" name="Google Shape;300;p32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Common Pronoun Errors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01" name="Google Shape;301;p32"/>
          <p:cNvSpPr txBox="1"/>
          <p:nvPr/>
        </p:nvSpPr>
        <p:spPr>
          <a:xfrm>
            <a:off x="228600" y="1273208"/>
            <a:ext cx="4114800" cy="369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Ambiguous Pronoun</a:t>
            </a:r>
            <a:endParaRPr b="1" sz="24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2" name="Google Shape;302;p32"/>
          <p:cNvSpPr txBox="1"/>
          <p:nvPr/>
        </p:nvSpPr>
        <p:spPr>
          <a:xfrm>
            <a:off x="4800600" y="1273208"/>
            <a:ext cx="4114800" cy="369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Example (after)</a:t>
            </a:r>
            <a:endParaRPr i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03" name="Google Shape;303;p32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2"/>
          <p:cNvSpPr txBox="1"/>
          <p:nvPr/>
        </p:nvSpPr>
        <p:spPr>
          <a:xfrm>
            <a:off x="228600" y="1871108"/>
            <a:ext cx="4114800" cy="22164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pronoun “his” has two possible singular antecedents: John or Bob. To correct the sentence, the pronoun has to be replaced with a possessive noun.</a:t>
            </a:r>
            <a:endParaRPr i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5" name="Google Shape;305;p32"/>
          <p:cNvSpPr txBox="1"/>
          <p:nvPr/>
        </p:nvSpPr>
        <p:spPr>
          <a:xfrm>
            <a:off x="4800600" y="1871108"/>
            <a:ext cx="4114800" cy="14778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While walking to the bus stop, </a:t>
            </a:r>
            <a:r>
              <a:rPr b="1"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Gina </a:t>
            </a:r>
            <a:r>
              <a:rPr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was drenched by the rain.</a:t>
            </a:r>
            <a:endParaRPr i="1" sz="24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4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6" name="Google Shape;306;p32"/>
          <p:cNvSpPr/>
          <p:nvPr/>
        </p:nvSpPr>
        <p:spPr>
          <a:xfrm>
            <a:off x="-3465308" y="4229100"/>
            <a:ext cx="15730575" cy="90387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C6DED9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he she we her mine yours it they his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5D3A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3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C6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3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C6DED9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313" name="Google Shape;313;p33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Modifiers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14" name="Google Shape;314;p33"/>
          <p:cNvSpPr txBox="1"/>
          <p:nvPr/>
        </p:nvSpPr>
        <p:spPr>
          <a:xfrm>
            <a:off x="228600" y="1273208"/>
            <a:ext cx="4114800" cy="369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Modifiers are…</a:t>
            </a:r>
            <a:endParaRPr b="1" sz="24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5" name="Google Shape;315;p33"/>
          <p:cNvSpPr txBox="1"/>
          <p:nvPr/>
        </p:nvSpPr>
        <p:spPr>
          <a:xfrm>
            <a:off x="4800600" y="1273208"/>
            <a:ext cx="4114800" cy="369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INCORRECT Example</a:t>
            </a:r>
            <a:endParaRPr i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16" name="Google Shape;316;p33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3"/>
          <p:cNvSpPr txBox="1"/>
          <p:nvPr/>
        </p:nvSpPr>
        <p:spPr>
          <a:xfrm>
            <a:off x="228600" y="1871108"/>
            <a:ext cx="4114800" cy="18471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 </a:t>
            </a:r>
            <a:r>
              <a:rPr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word or phrase that describes, clarifies, or provides additional information about another part of the sentence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8" name="Google Shape;318;p33"/>
          <p:cNvSpPr txBox="1"/>
          <p:nvPr/>
        </p:nvSpPr>
        <p:spPr>
          <a:xfrm>
            <a:off x="4800600" y="1871108"/>
            <a:ext cx="4114800" cy="18471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John and Bob took </a:t>
            </a:r>
            <a:r>
              <a:rPr b="1"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John’s</a:t>
            </a:r>
            <a:r>
              <a:rPr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car to the store.</a:t>
            </a:r>
            <a:endParaRPr i="1" sz="24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4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John and Bob took </a:t>
            </a:r>
            <a:r>
              <a:rPr b="1"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Bob’s</a:t>
            </a:r>
            <a:r>
              <a:rPr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car to the store.</a:t>
            </a:r>
            <a:endParaRPr i="1" sz="24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9" name="Google Shape;319;p33"/>
          <p:cNvSpPr/>
          <p:nvPr/>
        </p:nvSpPr>
        <p:spPr>
          <a:xfrm>
            <a:off x="-3465308" y="4229100"/>
            <a:ext cx="15730575" cy="90387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C6DED9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he she we her mine yours it they his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5D3A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4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C6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4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C6DED9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326" name="Google Shape;326;p34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Modifiers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27" name="Google Shape;327;p34"/>
          <p:cNvSpPr txBox="1"/>
          <p:nvPr/>
        </p:nvSpPr>
        <p:spPr>
          <a:xfrm>
            <a:off x="228600" y="1273208"/>
            <a:ext cx="4114800" cy="369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Modifiers are…</a:t>
            </a:r>
            <a:endParaRPr b="1" sz="24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8" name="Google Shape;328;p34"/>
          <p:cNvSpPr txBox="1"/>
          <p:nvPr/>
        </p:nvSpPr>
        <p:spPr>
          <a:xfrm>
            <a:off x="4800600" y="1273208"/>
            <a:ext cx="4114800" cy="369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CORRECT </a:t>
            </a:r>
            <a:r>
              <a:rPr b="1"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Example</a:t>
            </a:r>
            <a:endParaRPr i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9" name="Google Shape;329;p34"/>
          <p:cNvSpPr txBox="1"/>
          <p:nvPr/>
        </p:nvSpPr>
        <p:spPr>
          <a:xfrm>
            <a:off x="228600" y="1871108"/>
            <a:ext cx="4114800" cy="18471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placed </a:t>
            </a:r>
            <a:r>
              <a:rPr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closest to the word they are describing as possible. In this case, Gina was walking to the bus stop, not the rain.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30" name="Google Shape;330;p34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4"/>
          <p:cNvSpPr txBox="1"/>
          <p:nvPr/>
        </p:nvSpPr>
        <p:spPr>
          <a:xfrm>
            <a:off x="4800600" y="1871108"/>
            <a:ext cx="4114800" cy="14778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While walking to the bus stop, </a:t>
            </a:r>
            <a:r>
              <a:rPr b="1"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Gina </a:t>
            </a:r>
            <a:r>
              <a:rPr i="1" lang="en"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was drenched by the rain.</a:t>
            </a:r>
            <a:endParaRPr i="1" sz="24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4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2" name="Google Shape;332;p34"/>
          <p:cNvSpPr/>
          <p:nvPr/>
        </p:nvSpPr>
        <p:spPr>
          <a:xfrm>
            <a:off x="-3465308" y="4229100"/>
            <a:ext cx="15730575" cy="90387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C6DED9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he she we her mine yours it they his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5D3A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5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C6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5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C6DED9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339" name="Google Shape;339;p35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Practice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40" name="Google Shape;340;p35"/>
          <p:cNvSpPr txBox="1"/>
          <p:nvPr/>
        </p:nvSpPr>
        <p:spPr>
          <a:xfrm>
            <a:off x="559950" y="1390175"/>
            <a:ext cx="7950000" cy="22320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Correct the pronoun error(s) in the following sentences:</a:t>
            </a:r>
            <a:endParaRPr b="1" sz="22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1.	</a:t>
            </a:r>
            <a:r>
              <a:rPr lang="en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If a student parks a car on </a:t>
            </a:r>
            <a:r>
              <a:rPr lang="en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campus, they have to buy a parking sticker.</a:t>
            </a:r>
            <a:endParaRPr sz="20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2.	Everybody ought to do our best.</a:t>
            </a:r>
            <a:endParaRPr sz="20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3.	Neither of the girls brought their umbrella.</a:t>
            </a:r>
            <a:endParaRPr sz="20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41" name="Google Shape;341;p35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5"/>
          <p:cNvSpPr/>
          <p:nvPr/>
        </p:nvSpPr>
        <p:spPr>
          <a:xfrm>
            <a:off x="-8" y="4272600"/>
            <a:ext cx="15730575" cy="90387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C6DED9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he she we her mine yours it they his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5D3A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6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C6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36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C6DED9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349" name="Google Shape;349;p36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Practice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50" name="Google Shape;350;p36"/>
          <p:cNvSpPr txBox="1"/>
          <p:nvPr/>
        </p:nvSpPr>
        <p:spPr>
          <a:xfrm>
            <a:off x="559950" y="1390175"/>
            <a:ext cx="7950000" cy="19242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Correct the pronoun </a:t>
            </a:r>
            <a:r>
              <a:rPr b="1" lang="en" sz="2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error(s)</a:t>
            </a:r>
            <a:r>
              <a:rPr b="1" lang="en" sz="2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in the following sentences:</a:t>
            </a:r>
            <a:endParaRPr b="1" sz="22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1.	If a student parks a car on campus, </a:t>
            </a:r>
            <a:r>
              <a:rPr b="1" lang="en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he or she</a:t>
            </a:r>
            <a:r>
              <a:rPr lang="en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have to buy a parking sticker.</a:t>
            </a:r>
            <a:endParaRPr sz="20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Since “a student” is singular, so use the singular pronoun “he or she” instead of the plural pronoun “they.”</a:t>
            </a:r>
            <a:endParaRPr i="1" sz="20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51" name="Google Shape;351;p36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6"/>
          <p:cNvSpPr/>
          <p:nvPr/>
        </p:nvSpPr>
        <p:spPr>
          <a:xfrm>
            <a:off x="-8" y="4272600"/>
            <a:ext cx="15730575" cy="90387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C6DED9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he she we her mine yours it they his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5D3A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7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C6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37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C6DED9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359" name="Google Shape;359;p37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Practice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60" name="Google Shape;360;p37"/>
          <p:cNvSpPr txBox="1"/>
          <p:nvPr/>
        </p:nvSpPr>
        <p:spPr>
          <a:xfrm>
            <a:off x="559950" y="1390175"/>
            <a:ext cx="7950000" cy="16161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Correct the pronoun </a:t>
            </a:r>
            <a:r>
              <a:rPr b="1" lang="en" sz="2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error(s)</a:t>
            </a:r>
            <a:r>
              <a:rPr b="1" lang="en" sz="2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in the following sentences:</a:t>
            </a:r>
            <a:endParaRPr b="1" sz="22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2.	Everybody ought to do </a:t>
            </a:r>
            <a:r>
              <a:rPr b="1" lang="en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their</a:t>
            </a:r>
            <a:r>
              <a:rPr lang="en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best.</a:t>
            </a:r>
            <a:endParaRPr sz="20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Although </a:t>
            </a:r>
            <a:r>
              <a:rPr i="1" lang="en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“Everybody” looks singular, it is actually plural since it means “each person.” Therefore, we use the plural pronoun “their.”</a:t>
            </a:r>
            <a:endParaRPr i="1" sz="20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61" name="Google Shape;361;p37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7"/>
          <p:cNvSpPr/>
          <p:nvPr/>
        </p:nvSpPr>
        <p:spPr>
          <a:xfrm>
            <a:off x="-8" y="4272600"/>
            <a:ext cx="15730575" cy="90387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C6DED9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he she we her mine yours it they his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5D3A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8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C6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8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C6DED9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369" name="Google Shape;369;p38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Practice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70" name="Google Shape;370;p38"/>
          <p:cNvSpPr txBox="1"/>
          <p:nvPr/>
        </p:nvSpPr>
        <p:spPr>
          <a:xfrm>
            <a:off x="559950" y="1390175"/>
            <a:ext cx="7950000" cy="19242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Correct the pronoun </a:t>
            </a:r>
            <a:r>
              <a:rPr b="1" lang="en" sz="2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error(s)</a:t>
            </a:r>
            <a:r>
              <a:rPr b="1" lang="en" sz="2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in the following sentences:</a:t>
            </a:r>
            <a:endParaRPr b="1" sz="22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3.	Neither of the girls brought </a:t>
            </a:r>
            <a:r>
              <a:rPr b="1" lang="en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her</a:t>
            </a:r>
            <a:r>
              <a:rPr lang="en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umbrella.</a:t>
            </a:r>
            <a:endParaRPr sz="20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“Neither” means “not one,” so it’s singular. Since we know it’s referring to not one of the girls, we can use the singular pronoun “she.”</a:t>
            </a:r>
            <a:endParaRPr i="1" sz="20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71" name="Google Shape;371;p38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8"/>
          <p:cNvSpPr/>
          <p:nvPr/>
        </p:nvSpPr>
        <p:spPr>
          <a:xfrm>
            <a:off x="-8" y="4272600"/>
            <a:ext cx="15730575" cy="90387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C6DED9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he she we her mine yours it they his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6DED9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9"/>
          <p:cNvSpPr/>
          <p:nvPr/>
        </p:nvSpPr>
        <p:spPr>
          <a:xfrm>
            <a:off x="-8" y="0"/>
            <a:ext cx="14338851" cy="77140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8B5D3A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-13 |2 - 25| -53 -1 -240 |-50| -94</a:t>
            </a:r>
          </a:p>
        </p:txBody>
      </p:sp>
      <p:sp>
        <p:nvSpPr>
          <p:cNvPr id="378" name="Google Shape;378;p39"/>
          <p:cNvSpPr/>
          <p:nvPr/>
        </p:nvSpPr>
        <p:spPr>
          <a:xfrm>
            <a:off x="0" y="1547100"/>
            <a:ext cx="9144000" cy="738900"/>
          </a:xfrm>
          <a:prstGeom prst="rect">
            <a:avLst/>
          </a:prstGeom>
          <a:solidFill>
            <a:srgbClr val="8B5D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9"/>
          <p:cNvSpPr/>
          <p:nvPr/>
        </p:nvSpPr>
        <p:spPr>
          <a:xfrm>
            <a:off x="228590" y="228602"/>
            <a:ext cx="2057400" cy="2057400"/>
          </a:xfrm>
          <a:prstGeom prst="ellipse">
            <a:avLst/>
          </a:prstGeom>
          <a:solidFill>
            <a:srgbClr val="8B5D3A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2286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Spring</a:t>
            </a:r>
            <a:endParaRPr sz="3200">
              <a:solidFill>
                <a:srgbClr val="FFFFFF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2</a:t>
            </a:r>
            <a:endParaRPr sz="9600">
              <a:solidFill>
                <a:srgbClr val="FFFFF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80" name="Google Shape;380;p39"/>
          <p:cNvSpPr txBox="1"/>
          <p:nvPr/>
        </p:nvSpPr>
        <p:spPr>
          <a:xfrm>
            <a:off x="2514600" y="1547100"/>
            <a:ext cx="6400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Negative Numbers</a:t>
            </a:r>
            <a:endParaRPr sz="4800">
              <a:solidFill>
                <a:srgbClr val="FFFFF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81" name="Google Shape;381;p39"/>
          <p:cNvSpPr txBox="1"/>
          <p:nvPr/>
        </p:nvSpPr>
        <p:spPr>
          <a:xfrm>
            <a:off x="2514600" y="1011000"/>
            <a:ext cx="6400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DM Sans"/>
                <a:ea typeface="DM Sans"/>
                <a:cs typeface="DM Sans"/>
                <a:sym typeface="DM Sans"/>
              </a:rPr>
              <a:t>Mathematics</a:t>
            </a:r>
            <a:endParaRPr sz="3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2" name="Google Shape;382;p39"/>
          <p:cNvSpPr txBox="1"/>
          <p:nvPr/>
        </p:nvSpPr>
        <p:spPr>
          <a:xfrm>
            <a:off x="228600" y="2514600"/>
            <a:ext cx="4114800" cy="11082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FFFFFF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DM Sans"/>
                <a:ea typeface="DM Sans"/>
                <a:cs typeface="DM Sans"/>
                <a:sym typeface="DM Sans"/>
              </a:rPr>
              <a:t>Aim:</a:t>
            </a:r>
            <a:r>
              <a:rPr lang="en" sz="2400">
                <a:latin typeface="DM Sans"/>
                <a:ea typeface="DM Sans"/>
                <a:cs typeface="DM Sans"/>
                <a:sym typeface="DM Sans"/>
              </a:rPr>
              <a:t> Understand negative numbers and how they exist on the number line.</a:t>
            </a:r>
            <a:endParaRPr sz="24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3" name="Google Shape;383;p39"/>
          <p:cNvSpPr txBox="1"/>
          <p:nvPr/>
        </p:nvSpPr>
        <p:spPr>
          <a:xfrm>
            <a:off x="4800600" y="2518650"/>
            <a:ext cx="4114800" cy="7389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FFFFFF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DM Sans"/>
                <a:ea typeface="DM Sans"/>
                <a:cs typeface="DM Sans"/>
                <a:sym typeface="DM Sans"/>
              </a:rPr>
              <a:t>Do Now:</a:t>
            </a:r>
            <a:r>
              <a:rPr lang="en" sz="2400">
                <a:latin typeface="DM Sans"/>
                <a:ea typeface="DM Sans"/>
                <a:cs typeface="DM Sans"/>
                <a:sym typeface="DM Sans"/>
              </a:rPr>
              <a:t> What are opposite numbers?</a:t>
            </a:r>
            <a:endParaRPr sz="24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4" name="Google Shape;384;p39"/>
          <p:cNvSpPr/>
          <p:nvPr/>
        </p:nvSpPr>
        <p:spPr>
          <a:xfrm>
            <a:off x="-5194858" y="4372100"/>
            <a:ext cx="15173441" cy="77140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8B5D3A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-13 |2 - 25| -6122 -1 -240 |-50| -94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5D3A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0"/>
          <p:cNvSpPr/>
          <p:nvPr/>
        </p:nvSpPr>
        <p:spPr>
          <a:xfrm>
            <a:off x="-5194858" y="4372100"/>
            <a:ext cx="15173441" cy="77140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C6DED9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-13 |2 - 25| -6122 -1 -240 |-50| -94</a:t>
            </a:r>
          </a:p>
        </p:txBody>
      </p:sp>
      <p:sp>
        <p:nvSpPr>
          <p:cNvPr id="390" name="Google Shape;390;p40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C6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40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C6DED9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pic>
        <p:nvPicPr>
          <p:cNvPr id="392" name="Google Shape;392;p40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40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Negative Numbers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94" name="Google Shape;394;p40"/>
          <p:cNvSpPr txBox="1"/>
          <p:nvPr/>
        </p:nvSpPr>
        <p:spPr>
          <a:xfrm>
            <a:off x="440750" y="1547880"/>
            <a:ext cx="8206200" cy="22164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Negative numbers</a:t>
            </a: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, or opposite numbers, are numbers with the same value but different signs. Every positive number has its </a:t>
            </a: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negative</a:t>
            </a: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counterpart, except 0.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negative, or opposite, of 4 is -4. </a:t>
            </a: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</a:t>
            </a: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opposite of -12 is 12.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5D3A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"/>
          <p:cNvSpPr/>
          <p:nvPr/>
        </p:nvSpPr>
        <p:spPr>
          <a:xfrm>
            <a:off x="-5194858" y="4372100"/>
            <a:ext cx="15173441" cy="77140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C6DED9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-13 |2 - 25| -6122 -1 -240 |-50| -94</a:t>
            </a:r>
          </a:p>
        </p:txBody>
      </p:sp>
      <p:sp>
        <p:nvSpPr>
          <p:cNvPr id="400" name="Google Shape;400;p41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C6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41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C6DED9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pic>
        <p:nvPicPr>
          <p:cNvPr id="402" name="Google Shape;402;p41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41"/>
          <p:cNvSpPr txBox="1"/>
          <p:nvPr/>
        </p:nvSpPr>
        <p:spPr>
          <a:xfrm>
            <a:off x="544325" y="1925400"/>
            <a:ext cx="3658800" cy="15237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If they have the same sign, you add them and keep the negative sign.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-3 + (-4) = -7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4" name="Google Shape;404;p41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Operations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05" name="Google Shape;405;p41"/>
          <p:cNvSpPr txBox="1"/>
          <p:nvPr/>
        </p:nvSpPr>
        <p:spPr>
          <a:xfrm>
            <a:off x="4940875" y="1526380"/>
            <a:ext cx="3658800" cy="22626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If they have opposite signs, you subtract them and keep the sign of the larger number (number with larger value).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-7 + 5 = 5-7 = -2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6" name="Google Shape;406;p41"/>
          <p:cNvSpPr txBox="1"/>
          <p:nvPr/>
        </p:nvSpPr>
        <p:spPr>
          <a:xfrm>
            <a:off x="544325" y="1447570"/>
            <a:ext cx="8206200" cy="369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Adding Negative Numbers</a:t>
            </a:r>
            <a:endParaRPr b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5D3A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2"/>
          <p:cNvSpPr/>
          <p:nvPr/>
        </p:nvSpPr>
        <p:spPr>
          <a:xfrm>
            <a:off x="-5194858" y="4372100"/>
            <a:ext cx="15173441" cy="77140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C6DED9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-13 |2 - 25| -6122 -1 -240 |-50| -94</a:t>
            </a:r>
          </a:p>
        </p:txBody>
      </p:sp>
      <p:sp>
        <p:nvSpPr>
          <p:cNvPr id="412" name="Google Shape;412;p42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C6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42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C6DED9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pic>
        <p:nvPicPr>
          <p:cNvPr id="414" name="Google Shape;414;p42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42"/>
          <p:cNvSpPr txBox="1"/>
          <p:nvPr/>
        </p:nvSpPr>
        <p:spPr>
          <a:xfrm>
            <a:off x="468900" y="1488198"/>
            <a:ext cx="8206200" cy="26166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Subtracting</a:t>
            </a:r>
            <a:r>
              <a:rPr b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Negative Numbers</a:t>
            </a:r>
            <a:endParaRPr b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When subtracting negative numbers, you turn the negative number being </a:t>
            </a: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subtracted into a positive number and switch the minus sign to a plus.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-5 - (-10) = -5 + 10 = 5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Remember: </a:t>
            </a:r>
            <a:r>
              <a:rPr b="1" lang="en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Keep-Change-Change!</a:t>
            </a:r>
            <a:endParaRPr b="1" sz="20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6" name="Google Shape;416;p42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Operations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5D3A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3"/>
          <p:cNvSpPr/>
          <p:nvPr/>
        </p:nvSpPr>
        <p:spPr>
          <a:xfrm>
            <a:off x="-5194858" y="4372100"/>
            <a:ext cx="15173441" cy="77140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C6DED9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-13 |2 - 25| -6122 -1 -240 |-50| -94</a:t>
            </a:r>
          </a:p>
        </p:txBody>
      </p:sp>
      <p:sp>
        <p:nvSpPr>
          <p:cNvPr id="422" name="Google Shape;422;p43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C6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43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C6DED9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pic>
        <p:nvPicPr>
          <p:cNvPr id="424" name="Google Shape;424;p43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43"/>
          <p:cNvSpPr txBox="1"/>
          <p:nvPr/>
        </p:nvSpPr>
        <p:spPr>
          <a:xfrm>
            <a:off x="468900" y="1488198"/>
            <a:ext cx="8206200" cy="23088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Multiplying/Dividing</a:t>
            </a:r>
            <a:r>
              <a:rPr b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Negative Numbers</a:t>
            </a:r>
            <a:endParaRPr b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If the two values being multiplied or divided are the same sign (both negative), the result is positive.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(-3)(-6) = 18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-15/-5 = 3</a:t>
            </a:r>
            <a:endParaRPr b="1" sz="20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6" name="Google Shape;426;p43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Operations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5D3A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4"/>
          <p:cNvSpPr/>
          <p:nvPr/>
        </p:nvSpPr>
        <p:spPr>
          <a:xfrm>
            <a:off x="-5194858" y="4372100"/>
            <a:ext cx="15173441" cy="77140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C6DED9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-13 |2 - 25| -6122 -1 -240 |-50| -94</a:t>
            </a:r>
          </a:p>
        </p:txBody>
      </p:sp>
      <p:sp>
        <p:nvSpPr>
          <p:cNvPr id="432" name="Google Shape;432;p44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C6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44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C6DED9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pic>
        <p:nvPicPr>
          <p:cNvPr id="434" name="Google Shape;434;p44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44"/>
          <p:cNvSpPr txBox="1"/>
          <p:nvPr/>
        </p:nvSpPr>
        <p:spPr>
          <a:xfrm>
            <a:off x="468900" y="1488198"/>
            <a:ext cx="8206200" cy="25398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Multiplying/Dividing Negative Numbers</a:t>
            </a:r>
            <a:endParaRPr b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If the two values being multiplied or divided are opposite signs (one positive and one negative), the result is negative.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(-3)(2) = -6 or (3)(-2) = -6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-18/6 = -3 or 18/-6 = -3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36" name="Google Shape;436;p44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Operations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5D3A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5"/>
          <p:cNvSpPr/>
          <p:nvPr/>
        </p:nvSpPr>
        <p:spPr>
          <a:xfrm>
            <a:off x="1538100" y="2396312"/>
            <a:ext cx="6067800" cy="1651200"/>
          </a:xfrm>
          <a:prstGeom prst="roundRect">
            <a:avLst>
              <a:gd fmla="val 16667" name="adj"/>
            </a:avLst>
          </a:prstGeom>
          <a:solidFill>
            <a:srgbClr val="C6DED9"/>
          </a:solidFill>
          <a:ln cap="flat" cmpd="sng" w="91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375" lIns="87375" spcFirstLastPara="1" rIns="87375" wrap="square" tIns="87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8"/>
          </a:p>
        </p:txBody>
      </p:sp>
      <p:sp>
        <p:nvSpPr>
          <p:cNvPr id="442" name="Google Shape;442;p45"/>
          <p:cNvSpPr/>
          <p:nvPr/>
        </p:nvSpPr>
        <p:spPr>
          <a:xfrm>
            <a:off x="-5194858" y="4372100"/>
            <a:ext cx="15173441" cy="77140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C6DED9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-13 |2 - 25| -6122 -1 -240 |-50| -94</a:t>
            </a:r>
          </a:p>
        </p:txBody>
      </p:sp>
      <p:sp>
        <p:nvSpPr>
          <p:cNvPr id="443" name="Google Shape;443;p45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C6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45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C6DED9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pic>
        <p:nvPicPr>
          <p:cNvPr id="445" name="Google Shape;445;p45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45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Number Lines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47" name="Google Shape;447;p45"/>
          <p:cNvSpPr txBox="1"/>
          <p:nvPr/>
        </p:nvSpPr>
        <p:spPr>
          <a:xfrm>
            <a:off x="440750" y="1490400"/>
            <a:ext cx="8206200" cy="7389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 </a:t>
            </a:r>
            <a:r>
              <a:rPr b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number line</a:t>
            </a: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is a horizontal line numbered at regular intervals, from smallest on the left to biggest on the right.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448" name="Google Shape;448;p45"/>
          <p:cNvGrpSpPr/>
          <p:nvPr/>
        </p:nvGrpSpPr>
        <p:grpSpPr>
          <a:xfrm>
            <a:off x="1811898" y="2579182"/>
            <a:ext cx="5520609" cy="1223385"/>
            <a:chOff x="1658550" y="2412450"/>
            <a:chExt cx="5775300" cy="1279825"/>
          </a:xfrm>
        </p:grpSpPr>
        <p:pic>
          <p:nvPicPr>
            <p:cNvPr id="449" name="Google Shape;449;p45"/>
            <p:cNvPicPr preferRelativeResize="0"/>
            <p:nvPr/>
          </p:nvPicPr>
          <p:blipFill rotWithShape="1">
            <a:blip r:embed="rId4">
              <a:alphaModFix/>
            </a:blip>
            <a:srcRect b="0" l="30614" r="30800" t="40884"/>
            <a:stretch/>
          </p:blipFill>
          <p:spPr>
            <a:xfrm>
              <a:off x="2172450" y="2412450"/>
              <a:ext cx="4799100" cy="12798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50" name="Google Shape;450;p45"/>
            <p:cNvCxnSpPr/>
            <p:nvPr/>
          </p:nvCxnSpPr>
          <p:spPr>
            <a:xfrm>
              <a:off x="1658550" y="2823500"/>
              <a:ext cx="5775300" cy="29700"/>
            </a:xfrm>
            <a:prstGeom prst="straightConnector1">
              <a:avLst/>
            </a:prstGeom>
            <a:noFill/>
            <a:ln cap="flat" cmpd="sng" w="7282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5D3A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6"/>
          <p:cNvSpPr/>
          <p:nvPr/>
        </p:nvSpPr>
        <p:spPr>
          <a:xfrm>
            <a:off x="573600" y="1372589"/>
            <a:ext cx="7996800" cy="1086000"/>
          </a:xfrm>
          <a:prstGeom prst="roundRect">
            <a:avLst>
              <a:gd fmla="val 41819" name="adj"/>
            </a:avLst>
          </a:prstGeom>
          <a:solidFill>
            <a:srgbClr val="C6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46"/>
          <p:cNvSpPr/>
          <p:nvPr/>
        </p:nvSpPr>
        <p:spPr>
          <a:xfrm>
            <a:off x="-5194858" y="4372100"/>
            <a:ext cx="15173441" cy="77140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C6DED9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-13 |2 - 25| -6122 -1 -240 |-50| -94</a:t>
            </a:r>
          </a:p>
        </p:txBody>
      </p:sp>
      <p:sp>
        <p:nvSpPr>
          <p:cNvPr id="457" name="Google Shape;457;p46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C6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46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C6DED9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pic>
        <p:nvPicPr>
          <p:cNvPr id="459" name="Google Shape;459;p46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46"/>
          <p:cNvSpPr txBox="1"/>
          <p:nvPr/>
        </p:nvSpPr>
        <p:spPr>
          <a:xfrm>
            <a:off x="1490400" y="228600"/>
            <a:ext cx="7425000" cy="7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Number Lines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61" name="Google Shape;461;p46"/>
          <p:cNvSpPr txBox="1"/>
          <p:nvPr/>
        </p:nvSpPr>
        <p:spPr>
          <a:xfrm>
            <a:off x="440750" y="1490400"/>
            <a:ext cx="8206200" cy="25860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Most number lines place 0 in the middle, but not all of them do. Depending on the problem, the number line could include only positive numbers, only negative numbers, or both.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462" name="Google Shape;462;p46"/>
          <p:cNvGrpSpPr/>
          <p:nvPr/>
        </p:nvGrpSpPr>
        <p:grpSpPr>
          <a:xfrm>
            <a:off x="955465" y="1490400"/>
            <a:ext cx="2892600" cy="771400"/>
            <a:chOff x="937878" y="1668450"/>
            <a:chExt cx="2892600" cy="771400"/>
          </a:xfrm>
        </p:grpSpPr>
        <p:pic>
          <p:nvPicPr>
            <p:cNvPr id="463" name="Google Shape;463;p46"/>
            <p:cNvPicPr preferRelativeResize="0"/>
            <p:nvPr/>
          </p:nvPicPr>
          <p:blipFill rotWithShape="1">
            <a:blip r:embed="rId4">
              <a:alphaModFix/>
            </a:blip>
            <a:srcRect b="0" l="14107" r="52442" t="40884"/>
            <a:stretch/>
          </p:blipFill>
          <p:spPr>
            <a:xfrm>
              <a:off x="1138075" y="1668450"/>
              <a:ext cx="2507575" cy="7714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64" name="Google Shape;464;p46"/>
            <p:cNvCxnSpPr/>
            <p:nvPr/>
          </p:nvCxnSpPr>
          <p:spPr>
            <a:xfrm>
              <a:off x="937878" y="1925125"/>
              <a:ext cx="2892600" cy="9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465" name="Google Shape;465;p46"/>
          <p:cNvGrpSpPr/>
          <p:nvPr/>
        </p:nvGrpSpPr>
        <p:grpSpPr>
          <a:xfrm>
            <a:off x="5295929" y="1490400"/>
            <a:ext cx="2892600" cy="771400"/>
            <a:chOff x="5286029" y="1668450"/>
            <a:chExt cx="2892600" cy="771400"/>
          </a:xfrm>
        </p:grpSpPr>
        <p:pic>
          <p:nvPicPr>
            <p:cNvPr id="466" name="Google Shape;466;p46"/>
            <p:cNvPicPr preferRelativeResize="0"/>
            <p:nvPr/>
          </p:nvPicPr>
          <p:blipFill rotWithShape="1">
            <a:blip r:embed="rId4">
              <a:alphaModFix/>
            </a:blip>
            <a:srcRect b="0" l="52166" r="14384" t="40884"/>
            <a:stretch/>
          </p:blipFill>
          <p:spPr>
            <a:xfrm>
              <a:off x="5483500" y="1668450"/>
              <a:ext cx="2507575" cy="7714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67" name="Google Shape;467;p46"/>
            <p:cNvCxnSpPr/>
            <p:nvPr/>
          </p:nvCxnSpPr>
          <p:spPr>
            <a:xfrm>
              <a:off x="5286029" y="1925125"/>
              <a:ext cx="2892600" cy="9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5D3A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7"/>
          <p:cNvSpPr/>
          <p:nvPr/>
        </p:nvSpPr>
        <p:spPr>
          <a:xfrm>
            <a:off x="573600" y="3106492"/>
            <a:ext cx="7996800" cy="1098300"/>
          </a:xfrm>
          <a:prstGeom prst="roundRect">
            <a:avLst>
              <a:gd fmla="val 41819" name="adj"/>
            </a:avLst>
          </a:prstGeom>
          <a:solidFill>
            <a:srgbClr val="C6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47"/>
          <p:cNvSpPr/>
          <p:nvPr/>
        </p:nvSpPr>
        <p:spPr>
          <a:xfrm>
            <a:off x="-5194858" y="4372100"/>
            <a:ext cx="15173441" cy="77140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C6DED9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-13 |2 - 25| -6122 -1 -240 |-50| -94</a:t>
            </a:r>
          </a:p>
        </p:txBody>
      </p:sp>
      <p:sp>
        <p:nvSpPr>
          <p:cNvPr id="474" name="Google Shape;474;p47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C6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47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C6DED9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pic>
        <p:nvPicPr>
          <p:cNvPr id="476" name="Google Shape;476;p47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47"/>
          <p:cNvSpPr txBox="1"/>
          <p:nvPr/>
        </p:nvSpPr>
        <p:spPr>
          <a:xfrm>
            <a:off x="1490400" y="228600"/>
            <a:ext cx="7425000" cy="7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Number Lines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78" name="Google Shape;478;p47"/>
          <p:cNvSpPr txBox="1"/>
          <p:nvPr/>
        </p:nvSpPr>
        <p:spPr>
          <a:xfrm>
            <a:off x="440750" y="1470650"/>
            <a:ext cx="8206200" cy="14778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While some number lines use integers for the markers, others also represent </a:t>
            </a:r>
            <a:r>
              <a:rPr b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fractions and decimals</a:t>
            </a: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 When placing them on a number line, they are placed in between the numbers they fall into.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479" name="Google Shape;479;p47"/>
          <p:cNvGrpSpPr/>
          <p:nvPr/>
        </p:nvGrpSpPr>
        <p:grpSpPr>
          <a:xfrm>
            <a:off x="1476375" y="3170850"/>
            <a:ext cx="6191250" cy="892759"/>
            <a:chOff x="1476375" y="3161125"/>
            <a:chExt cx="6191250" cy="892759"/>
          </a:xfrm>
        </p:grpSpPr>
        <p:pic>
          <p:nvPicPr>
            <p:cNvPr id="480" name="Google Shape;480;p47"/>
            <p:cNvPicPr preferRelativeResize="0"/>
            <p:nvPr/>
          </p:nvPicPr>
          <p:blipFill rotWithShape="1">
            <a:blip r:embed="rId4">
              <a:alphaModFix/>
            </a:blip>
            <a:srcRect b="43223" l="0" r="0" t="41465"/>
            <a:stretch/>
          </p:blipFill>
          <p:spPr>
            <a:xfrm>
              <a:off x="1476375" y="3161125"/>
              <a:ext cx="6191250" cy="6417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1" name="Google Shape;481;p47"/>
            <p:cNvSpPr txBox="1"/>
            <p:nvPr/>
          </p:nvSpPr>
          <p:spPr>
            <a:xfrm>
              <a:off x="4373100" y="3592184"/>
              <a:ext cx="397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0</a:t>
              </a:r>
              <a:endParaRPr sz="1800">
                <a:solidFill>
                  <a:schemeClr val="dk1"/>
                </a:solidFill>
              </a:endParaRPr>
            </a:p>
          </p:txBody>
        </p:sp>
        <p:sp>
          <p:nvSpPr>
            <p:cNvPr id="482" name="Google Shape;482;p47"/>
            <p:cNvSpPr txBox="1"/>
            <p:nvPr/>
          </p:nvSpPr>
          <p:spPr>
            <a:xfrm>
              <a:off x="6294450" y="3592184"/>
              <a:ext cx="397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2</a:t>
              </a:r>
              <a:endParaRPr sz="1800">
                <a:solidFill>
                  <a:schemeClr val="dk1"/>
                </a:solidFill>
              </a:endParaRPr>
            </a:p>
          </p:txBody>
        </p:sp>
        <p:sp>
          <p:nvSpPr>
            <p:cNvPr id="483" name="Google Shape;483;p47"/>
            <p:cNvSpPr txBox="1"/>
            <p:nvPr/>
          </p:nvSpPr>
          <p:spPr>
            <a:xfrm>
              <a:off x="5193975" y="3592184"/>
              <a:ext cx="677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1</a:t>
              </a:r>
              <a:endParaRPr sz="1800">
                <a:solidFill>
                  <a:schemeClr val="dk1"/>
                </a:solidFill>
              </a:endParaRPr>
            </a:p>
          </p:txBody>
        </p:sp>
        <p:sp>
          <p:nvSpPr>
            <p:cNvPr id="484" name="Google Shape;484;p47"/>
            <p:cNvSpPr txBox="1"/>
            <p:nvPr/>
          </p:nvSpPr>
          <p:spPr>
            <a:xfrm>
              <a:off x="2740675" y="3592184"/>
              <a:ext cx="836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-3/2</a:t>
              </a:r>
              <a:endParaRPr sz="1800">
                <a:solidFill>
                  <a:schemeClr val="dk1"/>
                </a:solidFill>
              </a:endParaRPr>
            </a:p>
          </p:txBody>
        </p:sp>
        <p:sp>
          <p:nvSpPr>
            <p:cNvPr id="485" name="Google Shape;485;p47"/>
            <p:cNvSpPr txBox="1"/>
            <p:nvPr/>
          </p:nvSpPr>
          <p:spPr>
            <a:xfrm>
              <a:off x="2451750" y="3592175"/>
              <a:ext cx="397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-</a:t>
              </a:r>
              <a:r>
                <a:rPr lang="en" sz="1800">
                  <a:solidFill>
                    <a:schemeClr val="dk1"/>
                  </a:solidFill>
                </a:rPr>
                <a:t>2</a:t>
              </a:r>
              <a:endParaRPr sz="1800">
                <a:solidFill>
                  <a:schemeClr val="dk1"/>
                </a:solidFill>
              </a:endParaRPr>
            </a:p>
          </p:txBody>
        </p:sp>
        <p:sp>
          <p:nvSpPr>
            <p:cNvPr id="486" name="Google Shape;486;p47"/>
            <p:cNvSpPr txBox="1"/>
            <p:nvPr/>
          </p:nvSpPr>
          <p:spPr>
            <a:xfrm>
              <a:off x="4770900" y="3592175"/>
              <a:ext cx="550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0.5</a:t>
              </a:r>
              <a:endParaRPr sz="18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5D3A"/>
        </a:solid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8"/>
          <p:cNvSpPr/>
          <p:nvPr/>
        </p:nvSpPr>
        <p:spPr>
          <a:xfrm>
            <a:off x="-5194858" y="4372100"/>
            <a:ext cx="15173441" cy="77140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C6DED9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-13 |2 - 25| -6122 -1 -240 |-50| -94</a:t>
            </a:r>
          </a:p>
        </p:txBody>
      </p:sp>
      <p:sp>
        <p:nvSpPr>
          <p:cNvPr id="492" name="Google Shape;492;p48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C6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48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C6DED9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pic>
        <p:nvPicPr>
          <p:cNvPr id="494" name="Google Shape;494;p48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48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Absolute Value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96" name="Google Shape;496;p48"/>
          <p:cNvSpPr txBox="1"/>
          <p:nvPr/>
        </p:nvSpPr>
        <p:spPr>
          <a:xfrm>
            <a:off x="440750" y="1490400"/>
            <a:ext cx="8206200" cy="2478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</a:t>
            </a:r>
            <a:r>
              <a:rPr b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absolute value</a:t>
            </a: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of a number is the magnitude of that number. In other words, the distance of that number from zero (on the number line).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For example, the number 5 is 5 units away from the number line, so the absolute value of 5 is 5. The absolute value of -5 is also 5.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5D3A"/>
        </a:solid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9"/>
          <p:cNvSpPr/>
          <p:nvPr/>
        </p:nvSpPr>
        <p:spPr>
          <a:xfrm>
            <a:off x="-5194858" y="4372100"/>
            <a:ext cx="15173441" cy="77140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C6DED9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-13 |2 - 25| -6122 -1 -240 |-50| -94</a:t>
            </a:r>
          </a:p>
        </p:txBody>
      </p:sp>
      <p:sp>
        <p:nvSpPr>
          <p:cNvPr id="502" name="Google Shape;502;p49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C6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49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C6DED9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pic>
        <p:nvPicPr>
          <p:cNvPr id="504" name="Google Shape;504;p49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9"/>
          <p:cNvSpPr txBox="1"/>
          <p:nvPr/>
        </p:nvSpPr>
        <p:spPr>
          <a:xfrm>
            <a:off x="1490400" y="228600"/>
            <a:ext cx="7425000" cy="7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Absolute Value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06" name="Google Shape;506;p49"/>
          <p:cNvSpPr txBox="1"/>
          <p:nvPr/>
        </p:nvSpPr>
        <p:spPr>
          <a:xfrm>
            <a:off x="440750" y="1490400"/>
            <a:ext cx="8206200" cy="28629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An easy way to think about the absolute value is to change whatever the number is to a positive number. 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absolute value is represented using two | lines.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|8| = 8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|-10| = 10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|-489| = ?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5D3A"/>
        </a:solid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0"/>
          <p:cNvSpPr/>
          <p:nvPr/>
        </p:nvSpPr>
        <p:spPr>
          <a:xfrm>
            <a:off x="-5194858" y="4372100"/>
            <a:ext cx="15173441" cy="77140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C6DED9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-13 |2 - 25| -6122 -1 -240 |-50| -94</a:t>
            </a:r>
          </a:p>
        </p:txBody>
      </p:sp>
      <p:sp>
        <p:nvSpPr>
          <p:cNvPr id="512" name="Google Shape;512;p50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C6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50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C6DED9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pic>
        <p:nvPicPr>
          <p:cNvPr id="514" name="Google Shape;514;p50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50"/>
          <p:cNvSpPr txBox="1"/>
          <p:nvPr/>
        </p:nvSpPr>
        <p:spPr>
          <a:xfrm>
            <a:off x="1490400" y="228600"/>
            <a:ext cx="7425000" cy="7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Absolute Value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16" name="Google Shape;516;p50"/>
          <p:cNvSpPr txBox="1"/>
          <p:nvPr/>
        </p:nvSpPr>
        <p:spPr>
          <a:xfrm>
            <a:off x="468900" y="1490400"/>
            <a:ext cx="8206200" cy="24321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When solving equations that use the absolute value symbol, always solve the inside of the absolute value to its most simplified form.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Tip: Make sure you don't confuse your 1’s with |!</a:t>
            </a:r>
            <a:endParaRPr b="1" sz="20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|39-40| = |-1| = 1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|72-13| = ?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5D3A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1"/>
          <p:cNvSpPr/>
          <p:nvPr/>
        </p:nvSpPr>
        <p:spPr>
          <a:xfrm>
            <a:off x="-5194858" y="4372100"/>
            <a:ext cx="15173441" cy="77140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C6DED9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-13 |2 - 25| -6122 -1 -240 |-50| -94</a:t>
            </a:r>
          </a:p>
        </p:txBody>
      </p:sp>
      <p:sp>
        <p:nvSpPr>
          <p:cNvPr id="522" name="Google Shape;522;p51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C6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51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C6DED9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pic>
        <p:nvPicPr>
          <p:cNvPr id="524" name="Google Shape;524;p51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51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Absolute Value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26" name="Google Shape;526;p51"/>
          <p:cNvSpPr txBox="1"/>
          <p:nvPr/>
        </p:nvSpPr>
        <p:spPr>
          <a:xfrm>
            <a:off x="468900" y="1490400"/>
            <a:ext cx="8206200" cy="21549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When the negative sign is outside the absolute value sign, the negative </a:t>
            </a: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sign</a:t>
            </a: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stays.</a:t>
            </a:r>
            <a:endParaRPr b="1" sz="20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-</a:t>
            </a: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|52| = -(52) = -52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-|-4| = -(4) = -4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-|25-26| = ?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5D3A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2"/>
          <p:cNvSpPr/>
          <p:nvPr/>
        </p:nvSpPr>
        <p:spPr>
          <a:xfrm>
            <a:off x="-5194858" y="4372100"/>
            <a:ext cx="15173441" cy="77140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C6DED9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-13 |2 - 25| -6122 -1 -240 |-50| -94</a:t>
            </a:r>
          </a:p>
        </p:txBody>
      </p:sp>
      <p:sp>
        <p:nvSpPr>
          <p:cNvPr id="532" name="Google Shape;532;p52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C6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52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C6DED9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pic>
        <p:nvPicPr>
          <p:cNvPr id="534" name="Google Shape;534;p52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52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Graphing Points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36" name="Google Shape;536;p52"/>
          <p:cNvSpPr txBox="1"/>
          <p:nvPr/>
        </p:nvSpPr>
        <p:spPr>
          <a:xfrm>
            <a:off x="468900" y="1490400"/>
            <a:ext cx="8206200" cy="24936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</a:t>
            </a:r>
            <a:r>
              <a:rPr b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coordinate plane</a:t>
            </a: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is formed by two number lines, one vertical (the y-axis) and one horizontal (the x-axis). The two number lines meet at the origin, or (0, 0).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 </a:t>
            </a:r>
            <a:r>
              <a:rPr b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point</a:t>
            </a: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on the coordinate plane is defined by (x, y), where x represents how far left/right the point is, and y how far up/down the point is.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5D3A"/>
        </a:solidFill>
      </p:bgPr>
    </p:bg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1" name="Google Shape;541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525" y="1236057"/>
            <a:ext cx="3263090" cy="2957900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53"/>
          <p:cNvSpPr/>
          <p:nvPr/>
        </p:nvSpPr>
        <p:spPr>
          <a:xfrm>
            <a:off x="-5194858" y="4372100"/>
            <a:ext cx="15173441" cy="77140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C6DED9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-13 |2 - 25| -6122 -1 -240 |-50| -94</a:t>
            </a:r>
          </a:p>
        </p:txBody>
      </p:sp>
      <p:sp>
        <p:nvSpPr>
          <p:cNvPr id="543" name="Google Shape;543;p53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C6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53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C6DED9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pic>
        <p:nvPicPr>
          <p:cNvPr id="545" name="Google Shape;545;p53" title="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53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Graphing Points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47" name="Google Shape;547;p53"/>
          <p:cNvSpPr txBox="1"/>
          <p:nvPr/>
        </p:nvSpPr>
        <p:spPr>
          <a:xfrm>
            <a:off x="4296275" y="1236057"/>
            <a:ext cx="4093200" cy="2955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By having two number lines cut into each other, we </a:t>
            </a: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create</a:t>
            </a: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four separate spaces, known as </a:t>
            </a:r>
            <a:r>
              <a:rPr b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quadrants</a:t>
            </a: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 There are four quadrants, each with different combinations of signs of the x and y coordinates.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5D3A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" name="Google Shape;552;p54"/>
          <p:cNvPicPr preferRelativeResize="0"/>
          <p:nvPr/>
        </p:nvPicPr>
        <p:blipFill rotWithShape="1">
          <a:blip r:embed="rId3">
            <a:alphaModFix/>
          </a:blip>
          <a:srcRect b="7749" l="7376" r="8036" t="10685"/>
          <a:stretch/>
        </p:blipFill>
        <p:spPr>
          <a:xfrm>
            <a:off x="666600" y="1151675"/>
            <a:ext cx="3287789" cy="316025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54"/>
          <p:cNvSpPr/>
          <p:nvPr/>
        </p:nvSpPr>
        <p:spPr>
          <a:xfrm>
            <a:off x="-5194858" y="4372100"/>
            <a:ext cx="15173441" cy="77140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C6DED9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-13 |2 - 25| -6122 -1 -240 |-50| -94</a:t>
            </a:r>
          </a:p>
        </p:txBody>
      </p:sp>
      <p:sp>
        <p:nvSpPr>
          <p:cNvPr id="554" name="Google Shape;554;p54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C6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54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C6DED9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pic>
        <p:nvPicPr>
          <p:cNvPr id="556" name="Google Shape;556;p54" title="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54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Graphing Points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58" name="Google Shape;558;p54"/>
          <p:cNvSpPr txBox="1"/>
          <p:nvPr/>
        </p:nvSpPr>
        <p:spPr>
          <a:xfrm>
            <a:off x="4296275" y="1261800"/>
            <a:ext cx="4417800" cy="29400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To graph a point (x, y):</a:t>
            </a:r>
            <a:endParaRPr b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DM Sans"/>
              <a:buAutoNum type="arabicPeriod"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Start at (0, 0)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DM Sans"/>
              <a:buAutoNum type="arabicPeriod"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Move x units left/right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DM Sans"/>
              <a:buAutoNum type="arabicPeriod"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Move y units up/down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DM Sans"/>
              <a:buAutoNum type="arabicPeriod"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Plot the point.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If x (y) is positive, move right (up).</a:t>
            </a:r>
            <a:endParaRPr sz="22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If x (y) is negative, move left (down).</a:t>
            </a:r>
            <a:endParaRPr sz="22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5D3A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55"/>
          <p:cNvSpPr/>
          <p:nvPr/>
        </p:nvSpPr>
        <p:spPr>
          <a:xfrm>
            <a:off x="-5194858" y="4372100"/>
            <a:ext cx="15173441" cy="77140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C6DED9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-13 |2 - 25| -6122 -1 -240 |-50| -94</a:t>
            </a:r>
          </a:p>
        </p:txBody>
      </p:sp>
      <p:sp>
        <p:nvSpPr>
          <p:cNvPr id="564" name="Google Shape;564;p55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C6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55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C6DED9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pic>
        <p:nvPicPr>
          <p:cNvPr id="566" name="Google Shape;566;p55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55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Graphing Points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68" name="Google Shape;568;p55"/>
          <p:cNvSpPr txBox="1"/>
          <p:nvPr/>
        </p:nvSpPr>
        <p:spPr>
          <a:xfrm>
            <a:off x="657625" y="1627425"/>
            <a:ext cx="4417800" cy="22164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Graph the point (-3, 4).</a:t>
            </a:r>
            <a:endParaRPr b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DM Sans"/>
              <a:buAutoNum type="arabicPeriod"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Start from (0, 0).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DM Sans"/>
              <a:buAutoNum type="arabicPeriod"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Move 3 units to the left (because -3 is negative).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DM Sans"/>
              <a:buAutoNum type="arabicPeriod"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Move 4 units to the up.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DM Sans"/>
              <a:buAutoNum type="arabicPeriod"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Plot the point.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69" name="Google Shape;569;p55"/>
          <p:cNvPicPr preferRelativeResize="0"/>
          <p:nvPr/>
        </p:nvPicPr>
        <p:blipFill rotWithShape="1">
          <a:blip r:embed="rId4">
            <a:alphaModFix/>
          </a:blip>
          <a:srcRect b="4898" l="0" r="0" t="0"/>
          <a:stretch/>
        </p:blipFill>
        <p:spPr>
          <a:xfrm>
            <a:off x="5075425" y="1099138"/>
            <a:ext cx="3410950" cy="3272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5D3A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56"/>
          <p:cNvSpPr/>
          <p:nvPr/>
        </p:nvSpPr>
        <p:spPr>
          <a:xfrm>
            <a:off x="-5194858" y="4372100"/>
            <a:ext cx="15173441" cy="77140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C6DED9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-13 |2 - 25| -6122 -1 -240 |-50| -94</a:t>
            </a:r>
          </a:p>
        </p:txBody>
      </p:sp>
      <p:sp>
        <p:nvSpPr>
          <p:cNvPr id="575" name="Google Shape;575;p56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C6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56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C6DED9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pic>
        <p:nvPicPr>
          <p:cNvPr id="577" name="Google Shape;577;p56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56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Practice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79" name="Google Shape;579;p56"/>
          <p:cNvSpPr txBox="1"/>
          <p:nvPr/>
        </p:nvSpPr>
        <p:spPr>
          <a:xfrm>
            <a:off x="468900" y="1546063"/>
            <a:ext cx="8206200" cy="16008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For what value of h is the value of (h-2)(h+3)(h-4) negative?</a:t>
            </a:r>
            <a:endParaRPr b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A. -3       B. -2       C. 1       D. 3       E. 4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0" name="Google Shape;580;p56"/>
          <p:cNvSpPr/>
          <p:nvPr/>
        </p:nvSpPr>
        <p:spPr>
          <a:xfrm>
            <a:off x="3913989" y="2400392"/>
            <a:ext cx="383100" cy="369300"/>
          </a:xfrm>
          <a:prstGeom prst="ellipse">
            <a:avLst/>
          </a:prstGeom>
          <a:noFill/>
          <a:ln cap="flat" cmpd="sng" w="381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1" name="Google Shape;581;p56"/>
          <p:cNvSpPr txBox="1"/>
          <p:nvPr/>
        </p:nvSpPr>
        <p:spPr>
          <a:xfrm>
            <a:off x="468900" y="2991042"/>
            <a:ext cx="8206200" cy="11082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 order for the value of the expression to be negative, either all three of (h-2), (h+3), and (h-4) have to be negative, or only one of those values is negative.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5D3A"/>
        </a:solidFill>
      </p:bgPr>
    </p:bg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57"/>
          <p:cNvSpPr/>
          <p:nvPr/>
        </p:nvSpPr>
        <p:spPr>
          <a:xfrm>
            <a:off x="-5194858" y="4372100"/>
            <a:ext cx="15173441" cy="77140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C6DED9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-13 |2 - 25| -6122 -1 -240 |-50| -94</a:t>
            </a:r>
          </a:p>
        </p:txBody>
      </p:sp>
      <p:sp>
        <p:nvSpPr>
          <p:cNvPr id="587" name="Google Shape;587;p57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C6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57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C6DED9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pic>
        <p:nvPicPr>
          <p:cNvPr id="589" name="Google Shape;589;p57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57"/>
          <p:cNvSpPr txBox="1"/>
          <p:nvPr/>
        </p:nvSpPr>
        <p:spPr>
          <a:xfrm>
            <a:off x="1490400" y="228600"/>
            <a:ext cx="7425000" cy="7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Practice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91" name="Google Shape;591;p57"/>
          <p:cNvSpPr txBox="1"/>
          <p:nvPr/>
        </p:nvSpPr>
        <p:spPr>
          <a:xfrm>
            <a:off x="468900" y="1490400"/>
            <a:ext cx="8206200" cy="18279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What is the value of 4|x| - 7|y| if x=-5 and y=-12?</a:t>
            </a:r>
            <a:endParaRPr b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What is the value of |x-y| + |y+x| if x=-2 and y=-4?</a:t>
            </a:r>
            <a:endParaRPr b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5D3A"/>
        </a:solidFill>
      </p:bgPr>
    </p:bg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8"/>
          <p:cNvSpPr/>
          <p:nvPr/>
        </p:nvSpPr>
        <p:spPr>
          <a:xfrm>
            <a:off x="-5194858" y="4372100"/>
            <a:ext cx="15173441" cy="77140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C6DED9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-13 |2 - 25| -6122 -1 -240 |-50| -94</a:t>
            </a:r>
          </a:p>
        </p:txBody>
      </p:sp>
      <p:sp>
        <p:nvSpPr>
          <p:cNvPr id="597" name="Google Shape;597;p58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C6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58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C6DED9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pic>
        <p:nvPicPr>
          <p:cNvPr id="599" name="Google Shape;599;p58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58"/>
          <p:cNvSpPr txBox="1"/>
          <p:nvPr/>
        </p:nvSpPr>
        <p:spPr>
          <a:xfrm>
            <a:off x="1490400" y="228600"/>
            <a:ext cx="7425000" cy="7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Practice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01" name="Google Shape;601;p58"/>
          <p:cNvSpPr txBox="1"/>
          <p:nvPr/>
        </p:nvSpPr>
        <p:spPr>
          <a:xfrm>
            <a:off x="468900" y="1490400"/>
            <a:ext cx="8206200" cy="22626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What is the value of 4|x| - 7|y| if x=-5 and y=-12?</a:t>
            </a:r>
            <a:endParaRPr b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4|x| - 7|y| = 4|-5| - 7|-12|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                = 4(5) - 7(12)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                = 20 - 84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                = </a:t>
            </a:r>
            <a:r>
              <a:rPr b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-64</a:t>
            </a:r>
            <a:endParaRPr b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5D3A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59"/>
          <p:cNvSpPr/>
          <p:nvPr/>
        </p:nvSpPr>
        <p:spPr>
          <a:xfrm>
            <a:off x="-5194858" y="4372100"/>
            <a:ext cx="15173441" cy="77140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C6DED9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-13 |2 - 25| -6122 -1 -240 |-50| -94</a:t>
            </a:r>
          </a:p>
        </p:txBody>
      </p:sp>
      <p:sp>
        <p:nvSpPr>
          <p:cNvPr id="607" name="Google Shape;607;p59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C6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59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C6DED9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pic>
        <p:nvPicPr>
          <p:cNvPr id="609" name="Google Shape;609;p59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59"/>
          <p:cNvSpPr txBox="1"/>
          <p:nvPr/>
        </p:nvSpPr>
        <p:spPr>
          <a:xfrm>
            <a:off x="1490400" y="228600"/>
            <a:ext cx="7425000" cy="7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Practice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11" name="Google Shape;611;p59"/>
          <p:cNvSpPr txBox="1"/>
          <p:nvPr/>
        </p:nvSpPr>
        <p:spPr>
          <a:xfrm>
            <a:off x="468900" y="1537450"/>
            <a:ext cx="8206200" cy="22626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000000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What is the value of </a:t>
            </a:r>
            <a:r>
              <a:rPr b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|x-y| + |y+x| </a:t>
            </a:r>
            <a:r>
              <a:rPr b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if x=-2 and y=-4?</a:t>
            </a:r>
            <a:endParaRPr b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|x-y| + |y+x|</a:t>
            </a: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= |-2-(-4)| - |-4+(-2)|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                    = |-2+4| - |-4-2|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                    = |2| - |-6|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                    = 2 - 6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                    = </a:t>
            </a:r>
            <a:r>
              <a:rPr b="1" lang="en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-4</a:t>
            </a:r>
            <a:endParaRPr b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6DED9"/>
        </a:solidFill>
      </p:bgPr>
    </p:bg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60"/>
          <p:cNvSpPr/>
          <p:nvPr/>
        </p:nvSpPr>
        <p:spPr>
          <a:xfrm>
            <a:off x="-228600" y="518400"/>
            <a:ext cx="9601200" cy="1477800"/>
          </a:xfrm>
          <a:prstGeom prst="rect">
            <a:avLst/>
          </a:prstGeom>
          <a:solidFill>
            <a:srgbClr val="8B5D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60"/>
          <p:cNvSpPr/>
          <p:nvPr/>
        </p:nvSpPr>
        <p:spPr>
          <a:xfrm>
            <a:off x="228590" y="228602"/>
            <a:ext cx="2057400" cy="2057400"/>
          </a:xfrm>
          <a:prstGeom prst="ellipse">
            <a:avLst/>
          </a:prstGeom>
          <a:solidFill>
            <a:srgbClr val="C6DED9"/>
          </a:solidFill>
          <a:ln cap="flat" cmpd="sng" w="152400">
            <a:solidFill>
              <a:srgbClr val="8B5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2286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Merriweather"/>
                <a:ea typeface="Merriweather"/>
                <a:cs typeface="Merriweather"/>
                <a:sym typeface="Merriweather"/>
              </a:rPr>
              <a:t>Spring</a:t>
            </a:r>
            <a:endParaRPr sz="32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latin typeface="Merriweather"/>
                <a:ea typeface="Merriweather"/>
                <a:cs typeface="Merriweather"/>
                <a:sym typeface="Merriweather"/>
              </a:rPr>
              <a:t>2</a:t>
            </a:r>
            <a:endParaRPr sz="96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18" name="Google Shape;618;p60"/>
          <p:cNvSpPr/>
          <p:nvPr/>
        </p:nvSpPr>
        <p:spPr>
          <a:xfrm>
            <a:off x="-228600" y="3118800"/>
            <a:ext cx="9601200" cy="1477800"/>
          </a:xfrm>
          <a:prstGeom prst="rect">
            <a:avLst/>
          </a:prstGeom>
          <a:noFill/>
          <a:ln cap="flat" cmpd="sng" w="152400">
            <a:solidFill>
              <a:srgbClr val="8B5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60"/>
          <p:cNvSpPr/>
          <p:nvPr/>
        </p:nvSpPr>
        <p:spPr>
          <a:xfrm>
            <a:off x="6857990" y="2829002"/>
            <a:ext cx="2057400" cy="2057400"/>
          </a:xfrm>
          <a:prstGeom prst="ellipse">
            <a:avLst/>
          </a:prstGeom>
          <a:solidFill>
            <a:srgbClr val="C6DED9"/>
          </a:solidFill>
          <a:ln cap="flat" cmpd="sng" w="152400">
            <a:solidFill>
              <a:srgbClr val="C6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2286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00">
              <a:latin typeface="Leckerli One"/>
              <a:ea typeface="Leckerli One"/>
              <a:cs typeface="Leckerli One"/>
              <a:sym typeface="Leckerli One"/>
            </a:endParaRPr>
          </a:p>
        </p:txBody>
      </p:sp>
      <p:pic>
        <p:nvPicPr>
          <p:cNvPr id="620" name="Google Shape;620;p60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7990" y="2829000"/>
            <a:ext cx="2057400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60"/>
          <p:cNvSpPr txBox="1"/>
          <p:nvPr/>
        </p:nvSpPr>
        <p:spPr>
          <a:xfrm>
            <a:off x="228600" y="3488250"/>
            <a:ext cx="6400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Merriweather"/>
                <a:ea typeface="Merriweather"/>
                <a:cs typeface="Merriweather"/>
                <a:sym typeface="Merriweather"/>
              </a:rPr>
              <a:t>Remember to come back after the 10-minute break!</a:t>
            </a:r>
            <a:endParaRPr sz="24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22" name="Google Shape;622;p60"/>
          <p:cNvSpPr txBox="1"/>
          <p:nvPr/>
        </p:nvSpPr>
        <p:spPr>
          <a:xfrm>
            <a:off x="2514600" y="518400"/>
            <a:ext cx="64008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Thanks for coming! Questions?</a:t>
            </a:r>
            <a:endParaRPr sz="4800">
              <a:solidFill>
                <a:srgbClr val="FFFFF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