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5143500" cx="9144000"/>
  <p:notesSz cx="6858000" cy="9144000"/>
  <p:embeddedFontLst>
    <p:embeddedFont>
      <p:font typeface="Bebas Neue"/>
      <p:regular r:id="rId39"/>
    </p:embeddedFont>
    <p:embeddedFont>
      <p:font typeface="Libre Baskerville"/>
      <p:regular r:id="rId40"/>
      <p:bold r:id="rId41"/>
      <p:italic r:id="rId42"/>
      <p:boldItalic r:id="rId43"/>
    </p:embeddedFont>
    <p:embeddedFont>
      <p:font typeface="Leckerli One"/>
      <p:regular r:id="rId44"/>
    </p:embeddedFont>
    <p:embeddedFont>
      <p:font typeface="DM Sans"/>
      <p:regular r:id="rId45"/>
      <p:bold r:id="rId46"/>
      <p:italic r:id="rId47"/>
      <p:boldItalic r:id="rId48"/>
    </p:embeddedFont>
    <p:embeddedFont>
      <p:font typeface="Merriweather"/>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tuyprep"/>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2C92BE-DFCF-426A-AE0B-EC3EA5D4017D}">
  <a:tblStyle styleId="{362C92BE-DFCF-426A-AE0B-EC3EA5D4017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Baskerville-regular.fntdata"/><Relationship Id="rId42" Type="http://schemas.openxmlformats.org/officeDocument/2006/relationships/font" Target="fonts/LibreBaskerville-italic.fntdata"/><Relationship Id="rId41" Type="http://schemas.openxmlformats.org/officeDocument/2006/relationships/font" Target="fonts/LibreBaskerville-bold.fntdata"/><Relationship Id="rId44" Type="http://schemas.openxmlformats.org/officeDocument/2006/relationships/font" Target="fonts/LeckerliOne-regular.fntdata"/><Relationship Id="rId43" Type="http://schemas.openxmlformats.org/officeDocument/2006/relationships/font" Target="fonts/LibreBaskerville-boldItalic.fntdata"/><Relationship Id="rId46" Type="http://schemas.openxmlformats.org/officeDocument/2006/relationships/font" Target="fonts/DMSans-bold.fntdata"/><Relationship Id="rId45" Type="http://schemas.openxmlformats.org/officeDocument/2006/relationships/font" Target="fonts/DM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DMSans-boldItalic.fntdata"/><Relationship Id="rId47" Type="http://schemas.openxmlformats.org/officeDocument/2006/relationships/font" Target="fonts/DMSans-italic.fntdata"/><Relationship Id="rId49" Type="http://schemas.openxmlformats.org/officeDocument/2006/relationships/font" Target="fonts/Merriweather-regular.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font" Target="fonts/BebasNeue-regular.fntdata"/><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erriweather-italic.fntdata"/><Relationship Id="rId50" Type="http://schemas.openxmlformats.org/officeDocument/2006/relationships/font" Target="fonts/Merriweather-bold.fntdata"/><Relationship Id="rId52" Type="http://schemas.openxmlformats.org/officeDocument/2006/relationships/font" Target="fonts/Merriweather-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4T01:43:50.544">
    <p:pos x="6000" y="0"/>
    <p:text>For Citing Evidence and T/CI, you can take text from Spring Week 3, but we don’t really need to take the practice questions. You also don’t need to go as in-depth.
Citing Evidence you must review. It is very very important and if there is one thing that all tutees could take away from this program (and they forgot everything else), it is to find evidence for the answers!!!
T/CI: Focus more on the development of the theme/central idea. Spring Week 3 already talks about what theme/central idea is so you can write these slides assuming the tutees know what it is already
Visual Text is a unique section for this week and you need to make new slides for it. The goal of that section is to be able to make connections between graphs, diagrams, etc. and the text.
—BX</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ela-standards.pdf"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ysed.gov/sites/default/files/programs/standards-instruction/nys-next-generation-mathematics-p-12-standards.pdf"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Slide designed by Benjamin Xie. Logo designed by Madeleine Villamil.</a:t>
            </a:r>
            <a:endParaRPr sz="1200">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a4a20be9a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a4a20be9a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Amy Shrestha &amp; Benjamin Xie.</a:t>
            </a:r>
            <a:r>
              <a:rPr lang="en" sz="1200">
                <a:solidFill>
                  <a:schemeClr val="dk1"/>
                </a:solidFill>
                <a:latin typeface="DM Sans"/>
                <a:ea typeface="DM Sans"/>
                <a:cs typeface="DM Sans"/>
                <a:sym typeface="DM Sans"/>
              </a:rPr>
              <a:t>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8ddc1d96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8ddc1d96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English Language Arts Learning Standards</a:t>
            </a:r>
            <a:r>
              <a:rPr lang="en" sz="1200">
                <a:latin typeface="DM Sans"/>
                <a:ea typeface="DM Sans"/>
                <a:cs typeface="DM Sans"/>
                <a:sym typeface="DM Sans"/>
              </a:rPr>
              <a:t>. Slide designed by Benjamin Xie.</a:t>
            </a:r>
            <a:endParaRPr sz="1200">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aa0a22190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faa0a22190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8R1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68d8ff32d67157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h68d8ff32d67157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8R1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68d8ff32d671573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h68d8ff32d671573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8R1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68d8ff32d671573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h68d8ff32d671573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Answer: C</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Why? It shows that even after failing more than once, Jordan continues working.</a:t>
            </a:r>
            <a:endParaRPr sz="1200">
              <a:solidFill>
                <a:schemeClr val="dk1"/>
              </a:solidFill>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h797406d027c99808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h797406d027c99808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8R2</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68d8ff32d671573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h68d8ff32d671573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8R1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68d8ff32d671573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h68d8ff32d671573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8R1</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h797406d027c99808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h797406d027c99808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6R9</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68d8ff32d671573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h68d8ff32d671573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6R9</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68d8ff32d671573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68d8ff32d671573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6R9</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h68d8ff32d6715732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h68d8ff32d671573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Standard approximation: 6R9</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solidFill>
                <a:schemeClr val="dk1"/>
              </a:solidFill>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h68d8ff32d671573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h68d8ff32d671573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1. Citing Evidence</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What should you do before choosing an answer about a passage?</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Find evidence in the text that supports it.</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2. Theme/Central Idea</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What should you pay attention to when asked how a theme or central idea develops?</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How details, events, or information build the idea throughout the text.</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3. Visual Text</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When a passage includes a graph or diagram, what should you ask?</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n" sz="1200">
                <a:solidFill>
                  <a:schemeClr val="dk1"/>
                </a:solidFill>
                <a:latin typeface="DM Sans"/>
                <a:ea typeface="DM Sans"/>
                <a:cs typeface="DM Sans"/>
                <a:sym typeface="DM Sans"/>
              </a:rPr>
              <a:t>What information does the visual add to, support, or clarify in the text?</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8ddc1d960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8ddc1d960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a:t>
            </a:r>
            <a:endParaRPr sz="1200">
              <a:solidFill>
                <a:schemeClr val="dk1"/>
              </a:solidFill>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797406d027c99808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797406d027c99808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NY-8.G.1</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6d6d50c73b75841e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6d6d50c73b75841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NY-8.G.1, NY-8.G.3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630b2d1200091b9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h630b2d1200091b9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NY-8.G.1</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6d6d50c73b75841e_3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h6d6d50c73b75841e_3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NY-8.G.1, NY-8.G.3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h6d6d50c73b75841e_3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h6d6d50c73b75841e_3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NY-8.G.1, NY-8.G.3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h23e50396e71e018e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h23e50396e71e018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NY-8.G.1</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h6d6d50c73b75841e_3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h6d6d50c73b75841e_3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NY-8.G.1, NY-8.G.3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h23e50396e71e018e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h23e50396e71e018e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NY-8.G.1</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h23e50396e71e018e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h23e50396e71e018e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NY-8.G.2</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Catharine Maitner,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h43502c7dfd38760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h43502c7dfd38760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NY-8.G.2</a:t>
            </a:r>
            <a:endParaRPr sz="1200">
              <a:latin typeface="DM Sans"/>
              <a:ea typeface="DM Sans"/>
              <a:cs typeface="DM Sans"/>
              <a:sym typeface="DM Sans"/>
            </a:endParaRPr>
          </a:p>
          <a:p>
            <a:pPr indent="0" lvl="0" marL="0" rtl="0" algn="l">
              <a:spcBef>
                <a:spcPts val="0"/>
              </a:spcBef>
              <a:spcAft>
                <a:spcPts val="0"/>
              </a:spcAft>
              <a:buNone/>
            </a:pP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h6d6d50c73b75841e_3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h6d6d50c73b75841e_3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h6d6d50c73b75841e_3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h6d6d50c73b75841e_3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NY-8.G.3</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h6d6d50c73b75841e_3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h6d6d50c73b75841e_3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NY-8.G.4</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Catharine Maitner,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h6d6d50c73b75841e_3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h6d6d50c73b75841e_3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Standard approximation: NY-8.G.4</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Text from Catharine Maitner, </a:t>
            </a:r>
            <a:r>
              <a:rPr lang="en" sz="1200" u="sng">
                <a:latin typeface="DM Sans"/>
                <a:ea typeface="DM Sans"/>
                <a:cs typeface="DM Sans"/>
                <a:sym typeface="DM Sans"/>
                <a:hlinkClick r:id="rId2"/>
              </a:rPr>
              <a:t>New York State Education Department</a:t>
            </a:r>
            <a:r>
              <a:rPr lang="en" sz="1200">
                <a:latin typeface="DM Sans"/>
                <a:ea typeface="DM Sans"/>
                <a:cs typeface="DM Sans"/>
                <a:sym typeface="DM Sans"/>
              </a:rPr>
              <a:t>. Slide designed by Benjamin Xie.</a:t>
            </a:r>
            <a:r>
              <a:rPr lang="en" sz="1200">
                <a:solidFill>
                  <a:schemeClr val="dk1"/>
                </a:solidFill>
                <a:latin typeface="DM Sans"/>
                <a:ea typeface="DM Sans"/>
                <a:cs typeface="DM Sans"/>
                <a:sym typeface="DM Sans"/>
              </a:rPr>
              <a:t> Logo designed by Madeleine Villamil.</a:t>
            </a:r>
            <a:endParaRPr sz="1200">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c8ddc1d960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c8ddc1d960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Slide designed by Benjamin Xie. Logo designed by Madeleine Villamil.</a:t>
            </a:r>
            <a:endParaRPr sz="1200">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_1">
    <p:bg>
      <p:bgPr>
        <a:solidFill>
          <a:schemeClr val="lt2"/>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mt="75000"/>
          </a:blip>
          <a:stretch>
            <a:fillRect/>
          </a:stretch>
        </p:blipFill>
        <p:spPr>
          <a:xfrm>
            <a:off x="4350075" y="665212"/>
            <a:ext cx="4078151" cy="3927375"/>
          </a:xfrm>
          <a:prstGeom prst="rect">
            <a:avLst/>
          </a:prstGeom>
          <a:noFill/>
          <a:ln>
            <a:noFill/>
          </a:ln>
        </p:spPr>
      </p:pic>
      <p:pic>
        <p:nvPicPr>
          <p:cNvPr id="52" name="Google Shape;52;p13"/>
          <p:cNvPicPr preferRelativeResize="0"/>
          <p:nvPr/>
        </p:nvPicPr>
        <p:blipFill>
          <a:blip r:embed="rId3">
            <a:alphaModFix amt="55000"/>
          </a:blip>
          <a:stretch>
            <a:fillRect/>
          </a:stretch>
        </p:blipFill>
        <p:spPr>
          <a:xfrm flipH="1">
            <a:off x="490460" y="1223675"/>
            <a:ext cx="3227225" cy="3330400"/>
          </a:xfrm>
          <a:prstGeom prst="rect">
            <a:avLst/>
          </a:prstGeom>
          <a:noFill/>
          <a:ln>
            <a:noFill/>
          </a:ln>
        </p:spPr>
      </p:pic>
      <p:sp>
        <p:nvSpPr>
          <p:cNvPr id="53" name="Google Shape;53;p13"/>
          <p:cNvSpPr txBox="1"/>
          <p:nvPr>
            <p:ph type="title"/>
          </p:nvPr>
        </p:nvSpPr>
        <p:spPr>
          <a:xfrm>
            <a:off x="4552901" y="1696025"/>
            <a:ext cx="3875400" cy="365700"/>
          </a:xfrm>
          <a:prstGeom prst="rect">
            <a:avLst/>
          </a:prstGeom>
          <a:noFill/>
        </p:spPr>
        <p:txBody>
          <a:bodyPr anchorCtr="0" anchor="ctr" bIns="91425" lIns="91425" spcFirstLastPara="1" rIns="91425" wrap="square" tIns="91425">
            <a:normAutofit/>
          </a:bodyPr>
          <a:lstStyle>
            <a:lvl1pPr lvl="0" algn="r">
              <a:spcBef>
                <a:spcPts val="0"/>
              </a:spcBef>
              <a:spcAft>
                <a:spcPts val="0"/>
              </a:spcAft>
              <a:buClr>
                <a:schemeClr val="accent2"/>
              </a:buClr>
              <a:buSzPts val="1800"/>
              <a:buNone/>
              <a:defRPr sz="2000">
                <a:solidFill>
                  <a:schemeClr val="dk2"/>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54" name="Google Shape;54;p13"/>
          <p:cNvSpPr txBox="1"/>
          <p:nvPr>
            <p:ph idx="1" type="subTitle"/>
          </p:nvPr>
        </p:nvSpPr>
        <p:spPr>
          <a:xfrm>
            <a:off x="4342325" y="2333775"/>
            <a:ext cx="4087500" cy="15681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None/>
              <a:defRPr sz="1600"/>
            </a:lvl1pPr>
            <a:lvl2pPr lvl="1" algn="r">
              <a:lnSpc>
                <a:spcPct val="100000"/>
              </a:lnSpc>
              <a:spcBef>
                <a:spcPts val="1200"/>
              </a:spcBef>
              <a:spcAft>
                <a:spcPts val="0"/>
              </a:spcAft>
              <a:buNone/>
              <a:defRPr sz="1600"/>
            </a:lvl2pPr>
            <a:lvl3pPr lvl="2" algn="r">
              <a:lnSpc>
                <a:spcPct val="100000"/>
              </a:lnSpc>
              <a:spcBef>
                <a:spcPts val="1200"/>
              </a:spcBef>
              <a:spcAft>
                <a:spcPts val="0"/>
              </a:spcAft>
              <a:buNone/>
              <a:defRPr sz="1600"/>
            </a:lvl3pPr>
            <a:lvl4pPr lvl="3" algn="r">
              <a:lnSpc>
                <a:spcPct val="100000"/>
              </a:lnSpc>
              <a:spcBef>
                <a:spcPts val="1200"/>
              </a:spcBef>
              <a:spcAft>
                <a:spcPts val="0"/>
              </a:spcAft>
              <a:buNone/>
              <a:defRPr sz="1600"/>
            </a:lvl4pPr>
            <a:lvl5pPr lvl="4" algn="r">
              <a:lnSpc>
                <a:spcPct val="100000"/>
              </a:lnSpc>
              <a:spcBef>
                <a:spcPts val="1200"/>
              </a:spcBef>
              <a:spcAft>
                <a:spcPts val="0"/>
              </a:spcAft>
              <a:buNone/>
              <a:defRPr sz="1600"/>
            </a:lvl5pPr>
            <a:lvl6pPr lvl="5" algn="r">
              <a:lnSpc>
                <a:spcPct val="100000"/>
              </a:lnSpc>
              <a:spcBef>
                <a:spcPts val="1200"/>
              </a:spcBef>
              <a:spcAft>
                <a:spcPts val="0"/>
              </a:spcAft>
              <a:buNone/>
              <a:defRPr sz="1600"/>
            </a:lvl6pPr>
            <a:lvl7pPr lvl="6" algn="r">
              <a:lnSpc>
                <a:spcPct val="100000"/>
              </a:lnSpc>
              <a:spcBef>
                <a:spcPts val="1200"/>
              </a:spcBef>
              <a:spcAft>
                <a:spcPts val="0"/>
              </a:spcAft>
              <a:buNone/>
              <a:defRPr sz="1600"/>
            </a:lvl7pPr>
            <a:lvl8pPr lvl="7" algn="r">
              <a:lnSpc>
                <a:spcPct val="100000"/>
              </a:lnSpc>
              <a:spcBef>
                <a:spcPts val="1200"/>
              </a:spcBef>
              <a:spcAft>
                <a:spcPts val="0"/>
              </a:spcAft>
              <a:buNone/>
              <a:defRPr sz="1600"/>
            </a:lvl8pPr>
            <a:lvl9pPr lvl="8" algn="r">
              <a:lnSpc>
                <a:spcPct val="100000"/>
              </a:lnSpc>
              <a:spcBef>
                <a:spcPts val="1200"/>
              </a:spcBef>
              <a:spcAft>
                <a:spcPts val="1200"/>
              </a:spcAft>
              <a:buNone/>
              <a:defRPr sz="1600"/>
            </a:lvl9pPr>
          </a:lstStyle>
          <a:p/>
        </p:txBody>
      </p:sp>
      <p:sp>
        <p:nvSpPr>
          <p:cNvPr id="55" name="Google Shape;55;p13"/>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ph idx="2" type="title"/>
          </p:nvPr>
        </p:nvSpPr>
        <p:spPr>
          <a:xfrm>
            <a:off x="714125" y="546825"/>
            <a:ext cx="7715700" cy="365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2"/>
              </a:buClr>
              <a:buSzPts val="2400"/>
              <a:buNone/>
              <a:defRPr sz="3000"/>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HEADER_1">
    <p:bg>
      <p:bgPr>
        <a:solidFill>
          <a:schemeClr val="lt2"/>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mt="35000"/>
          </a:blip>
          <a:stretch>
            <a:fillRect/>
          </a:stretch>
        </p:blipFill>
        <p:spPr>
          <a:xfrm>
            <a:off x="1176338" y="1157288"/>
            <a:ext cx="6791325" cy="2828925"/>
          </a:xfrm>
          <a:prstGeom prst="rect">
            <a:avLst/>
          </a:prstGeom>
          <a:noFill/>
          <a:ln>
            <a:noFill/>
          </a:ln>
        </p:spPr>
      </p:pic>
      <p:sp>
        <p:nvSpPr>
          <p:cNvPr id="59" name="Google Shape;59;p14"/>
          <p:cNvSpPr txBox="1"/>
          <p:nvPr>
            <p:ph idx="1" type="subTitle"/>
          </p:nvPr>
        </p:nvSpPr>
        <p:spPr>
          <a:xfrm>
            <a:off x="2863350" y="3448131"/>
            <a:ext cx="3417300" cy="4104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None/>
              <a:defRPr sz="2000"/>
            </a:lvl1pPr>
            <a:lvl2pPr lvl="1">
              <a:spcBef>
                <a:spcPts val="0"/>
              </a:spcBef>
              <a:spcAft>
                <a:spcPts val="0"/>
              </a:spcAft>
              <a:buNone/>
              <a:defRPr sz="2000"/>
            </a:lvl2pPr>
            <a:lvl3pPr lvl="2">
              <a:spcBef>
                <a:spcPts val="0"/>
              </a:spcBef>
              <a:spcAft>
                <a:spcPts val="0"/>
              </a:spcAft>
              <a:buNone/>
              <a:defRPr sz="2000"/>
            </a:lvl3pPr>
            <a:lvl4pPr lvl="3">
              <a:spcBef>
                <a:spcPts val="0"/>
              </a:spcBef>
              <a:spcAft>
                <a:spcPts val="0"/>
              </a:spcAft>
              <a:buNone/>
              <a:defRPr sz="2000"/>
            </a:lvl4pPr>
            <a:lvl5pPr lvl="4">
              <a:spcBef>
                <a:spcPts val="0"/>
              </a:spcBef>
              <a:spcAft>
                <a:spcPts val="0"/>
              </a:spcAft>
              <a:buNone/>
              <a:defRPr sz="2000"/>
            </a:lvl5pPr>
            <a:lvl6pPr lvl="5">
              <a:spcBef>
                <a:spcPts val="0"/>
              </a:spcBef>
              <a:spcAft>
                <a:spcPts val="0"/>
              </a:spcAft>
              <a:buNone/>
              <a:defRPr sz="2000"/>
            </a:lvl6pPr>
            <a:lvl7pPr lvl="6">
              <a:spcBef>
                <a:spcPts val="0"/>
              </a:spcBef>
              <a:spcAft>
                <a:spcPts val="0"/>
              </a:spcAft>
              <a:buNone/>
              <a:defRPr sz="2000"/>
            </a:lvl7pPr>
            <a:lvl8pPr lvl="7">
              <a:spcBef>
                <a:spcPts val="0"/>
              </a:spcBef>
              <a:spcAft>
                <a:spcPts val="0"/>
              </a:spcAft>
              <a:buNone/>
              <a:defRPr sz="2000"/>
            </a:lvl8pPr>
            <a:lvl9pPr lvl="8">
              <a:spcBef>
                <a:spcPts val="0"/>
              </a:spcBef>
              <a:spcAft>
                <a:spcPts val="0"/>
              </a:spcAft>
              <a:buNone/>
              <a:defRPr sz="2000"/>
            </a:lvl9pPr>
          </a:lstStyle>
          <a:p/>
        </p:txBody>
      </p:sp>
      <p:sp>
        <p:nvSpPr>
          <p:cNvPr id="60" name="Google Shape;60;p14"/>
          <p:cNvSpPr txBox="1"/>
          <p:nvPr>
            <p:ph type="title"/>
          </p:nvPr>
        </p:nvSpPr>
        <p:spPr>
          <a:xfrm>
            <a:off x="1345800" y="1284969"/>
            <a:ext cx="6452400" cy="2067300"/>
          </a:xfrm>
          <a:prstGeom prst="rect">
            <a:avLst/>
          </a:prstGeom>
        </p:spPr>
        <p:txBody>
          <a:bodyPr anchorCtr="0" anchor="ctr" bIns="91425" lIns="91425" spcFirstLastPara="1" rIns="91425" wrap="square" tIns="91425">
            <a:normAutofit/>
          </a:bodyPr>
          <a:lstStyle>
            <a:lvl1pPr lvl="0" algn="ctr">
              <a:lnSpc>
                <a:spcPct val="115000"/>
              </a:lnSpc>
              <a:spcBef>
                <a:spcPts val="0"/>
              </a:spcBef>
              <a:spcAft>
                <a:spcPts val="0"/>
              </a:spcAft>
              <a:buClr>
                <a:schemeClr val="accent2"/>
              </a:buClr>
              <a:buSzPts val="2400"/>
              <a:buNone/>
              <a:defRPr sz="2900">
                <a:solidFill>
                  <a:schemeClr val="dk2"/>
                </a:solidFill>
              </a:defRPr>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p:txBody>
      </p:sp>
      <p:sp>
        <p:nvSpPr>
          <p:cNvPr id="61" name="Google Shape;61;p14"/>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SECTION_HEADER_1_1_1_1_2_1">
    <p:bg>
      <p:bgPr>
        <a:solidFill>
          <a:schemeClr val="lt2"/>
        </a:solidFill>
      </p:bgPr>
    </p:bg>
    <p:spTree>
      <p:nvGrpSpPr>
        <p:cNvPr id="62" name="Shape 62"/>
        <p:cNvGrpSpPr/>
        <p:nvPr/>
      </p:nvGrpSpPr>
      <p:grpSpPr>
        <a:xfrm>
          <a:off x="0" y="0"/>
          <a:ext cx="0" cy="0"/>
          <a:chOff x="0" y="0"/>
          <a:chExt cx="0" cy="0"/>
        </a:xfrm>
      </p:grpSpPr>
      <p:pic>
        <p:nvPicPr>
          <p:cNvPr id="63" name="Google Shape;63;p15"/>
          <p:cNvPicPr preferRelativeResize="0"/>
          <p:nvPr/>
        </p:nvPicPr>
        <p:blipFill>
          <a:blip r:embed="rId2">
            <a:alphaModFix amt="55000"/>
          </a:blip>
          <a:stretch>
            <a:fillRect/>
          </a:stretch>
        </p:blipFill>
        <p:spPr>
          <a:xfrm flipH="1">
            <a:off x="2914735" y="693875"/>
            <a:ext cx="3227225" cy="3330400"/>
          </a:xfrm>
          <a:prstGeom prst="rect">
            <a:avLst/>
          </a:prstGeom>
          <a:noFill/>
          <a:ln>
            <a:noFill/>
          </a:ln>
        </p:spPr>
      </p:pic>
      <p:pic>
        <p:nvPicPr>
          <p:cNvPr id="64" name="Google Shape;64;p15"/>
          <p:cNvPicPr preferRelativeResize="0"/>
          <p:nvPr/>
        </p:nvPicPr>
        <p:blipFill>
          <a:blip r:embed="rId3">
            <a:alphaModFix amt="75000"/>
          </a:blip>
          <a:stretch>
            <a:fillRect/>
          </a:stretch>
        </p:blipFill>
        <p:spPr>
          <a:xfrm>
            <a:off x="0" y="0"/>
            <a:ext cx="2060450" cy="1984276"/>
          </a:xfrm>
          <a:prstGeom prst="rect">
            <a:avLst/>
          </a:prstGeom>
          <a:noFill/>
          <a:ln>
            <a:noFill/>
          </a:ln>
        </p:spPr>
      </p:pic>
      <p:pic>
        <p:nvPicPr>
          <p:cNvPr id="65" name="Google Shape;65;p15"/>
          <p:cNvPicPr preferRelativeResize="0"/>
          <p:nvPr/>
        </p:nvPicPr>
        <p:blipFill>
          <a:blip r:embed="rId3">
            <a:alphaModFix amt="75000"/>
          </a:blip>
          <a:stretch>
            <a:fillRect/>
          </a:stretch>
        </p:blipFill>
        <p:spPr>
          <a:xfrm rot="10800000">
            <a:off x="7083550" y="3159225"/>
            <a:ext cx="2060450" cy="1984276"/>
          </a:xfrm>
          <a:prstGeom prst="rect">
            <a:avLst/>
          </a:prstGeom>
          <a:noFill/>
          <a:ln>
            <a:noFill/>
          </a:ln>
        </p:spPr>
      </p:pic>
      <p:sp>
        <p:nvSpPr>
          <p:cNvPr id="66" name="Google Shape;66;p15"/>
          <p:cNvSpPr txBox="1"/>
          <p:nvPr>
            <p:ph type="title"/>
          </p:nvPr>
        </p:nvSpPr>
        <p:spPr>
          <a:xfrm>
            <a:off x="714125" y="544075"/>
            <a:ext cx="7715700" cy="365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2"/>
              </a:buClr>
              <a:buSzPts val="2400"/>
              <a:buNone/>
              <a:defRPr sz="3000"/>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p:txBody>
      </p:sp>
      <p:sp>
        <p:nvSpPr>
          <p:cNvPr id="67" name="Google Shape;67;p15"/>
          <p:cNvSpPr/>
          <p:nvPr/>
        </p:nvSpPr>
        <p:spPr>
          <a:xfrm flipH="1">
            <a:off x="226985" y="206940"/>
            <a:ext cx="8690031" cy="4729620"/>
          </a:xfrm>
          <a:custGeom>
            <a:rect b="b" l="l" r="r" t="t"/>
            <a:pathLst>
              <a:path extrusionOk="0" fill="none" h="182031" w="284476">
                <a:moveTo>
                  <a:pt x="284476" y="174380"/>
                </a:moveTo>
                <a:lnTo>
                  <a:pt x="284476" y="7619"/>
                </a:lnTo>
                <a:cubicBezTo>
                  <a:pt x="280258" y="7619"/>
                  <a:pt x="276824" y="4219"/>
                  <a:pt x="276824" y="1"/>
                </a:cubicBezTo>
                <a:lnTo>
                  <a:pt x="7620" y="1"/>
                </a:lnTo>
                <a:cubicBezTo>
                  <a:pt x="7620" y="4219"/>
                  <a:pt x="4219" y="7619"/>
                  <a:pt x="1" y="7619"/>
                </a:cubicBezTo>
                <a:lnTo>
                  <a:pt x="1" y="174380"/>
                </a:lnTo>
                <a:cubicBezTo>
                  <a:pt x="4219" y="174380"/>
                  <a:pt x="7620" y="177780"/>
                  <a:pt x="7620" y="182031"/>
                </a:cubicBezTo>
                <a:lnTo>
                  <a:pt x="276824" y="182031"/>
                </a:lnTo>
                <a:cubicBezTo>
                  <a:pt x="276824" y="177780"/>
                  <a:pt x="280258" y="174380"/>
                  <a:pt x="284476" y="174380"/>
                </a:cubicBezTo>
                <a:close/>
              </a:path>
            </a:pathLst>
          </a:custGeom>
          <a:noFill/>
          <a:ln cap="rnd" cmpd="sng" w="269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idx="1" type="subTitle"/>
          </p:nvPr>
        </p:nvSpPr>
        <p:spPr>
          <a:xfrm flipH="1">
            <a:off x="6125100" y="1374075"/>
            <a:ext cx="2298900" cy="438600"/>
          </a:xfrm>
          <a:prstGeom prst="rect">
            <a:avLst/>
          </a:prstGeom>
        </p:spPr>
        <p:txBody>
          <a:bodyPr anchorCtr="0" anchor="t" bIns="91425" lIns="91425" spcFirstLastPara="1" rIns="91425" wrap="square" tIns="91425">
            <a:normAutofit/>
          </a:bodyPr>
          <a:lstStyle>
            <a:lvl1pPr lvl="0" algn="r">
              <a:lnSpc>
                <a:spcPct val="100000"/>
              </a:lnSpc>
              <a:spcBef>
                <a:spcPts val="0"/>
              </a:spcBef>
              <a:spcAft>
                <a:spcPts val="0"/>
              </a:spcAft>
              <a:buSzPts val="1800"/>
              <a:buFont typeface="Bebas Neue"/>
              <a:buNone/>
              <a:defRPr b="1" sz="2000">
                <a:latin typeface="Libre Baskerville"/>
                <a:ea typeface="Libre Baskerville"/>
                <a:cs typeface="Libre Baskerville"/>
                <a:sym typeface="Libre Baskerville"/>
              </a:defRPr>
            </a:lvl1pPr>
            <a:lvl2pPr lvl="1" algn="ctr">
              <a:lnSpc>
                <a:spcPct val="100000"/>
              </a:lnSpc>
              <a:spcBef>
                <a:spcPts val="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0"/>
              </a:spcBef>
              <a:spcAft>
                <a:spcPts val="0"/>
              </a:spcAft>
              <a:buSzPts val="1400"/>
              <a:buFont typeface="Bebas Neue"/>
              <a:buNone/>
              <a:defRPr>
                <a:latin typeface="Bebas Neue"/>
                <a:ea typeface="Bebas Neue"/>
                <a:cs typeface="Bebas Neue"/>
                <a:sym typeface="Bebas Neue"/>
              </a:defRPr>
            </a:lvl9pPr>
          </a:lstStyle>
          <a:p/>
        </p:txBody>
      </p:sp>
      <p:sp>
        <p:nvSpPr>
          <p:cNvPr id="69" name="Google Shape;69;p15"/>
          <p:cNvSpPr txBox="1"/>
          <p:nvPr>
            <p:ph idx="2" type="subTitle"/>
          </p:nvPr>
        </p:nvSpPr>
        <p:spPr>
          <a:xfrm flipH="1">
            <a:off x="720025" y="2847050"/>
            <a:ext cx="2298900" cy="438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Font typeface="Bebas Neue"/>
              <a:buNone/>
              <a:defRPr b="1" sz="2000">
                <a:latin typeface="Libre Baskerville"/>
                <a:ea typeface="Libre Baskerville"/>
                <a:cs typeface="Libre Baskerville"/>
                <a:sym typeface="Libre Baskerville"/>
              </a:defRPr>
            </a:lvl1pPr>
            <a:lvl2pPr lvl="1" algn="ctr">
              <a:lnSpc>
                <a:spcPct val="100000"/>
              </a:lnSpc>
              <a:spcBef>
                <a:spcPts val="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0"/>
              </a:spcBef>
              <a:spcAft>
                <a:spcPts val="0"/>
              </a:spcAft>
              <a:buSzPts val="1400"/>
              <a:buFont typeface="Bebas Neue"/>
              <a:buNone/>
              <a:defRPr>
                <a:latin typeface="Bebas Neue"/>
                <a:ea typeface="Bebas Neue"/>
                <a:cs typeface="Bebas Neue"/>
                <a:sym typeface="Bebas Neue"/>
              </a:defRPr>
            </a:lvl9pPr>
          </a:lstStyle>
          <a:p/>
        </p:txBody>
      </p:sp>
      <p:sp>
        <p:nvSpPr>
          <p:cNvPr id="70" name="Google Shape;70;p15"/>
          <p:cNvSpPr txBox="1"/>
          <p:nvPr>
            <p:ph idx="3" type="subTitle"/>
          </p:nvPr>
        </p:nvSpPr>
        <p:spPr>
          <a:xfrm flipH="1">
            <a:off x="4572000" y="1876339"/>
            <a:ext cx="3852000" cy="8628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 name="Google Shape;71;p15"/>
          <p:cNvSpPr txBox="1"/>
          <p:nvPr>
            <p:ph idx="4" type="subTitle"/>
          </p:nvPr>
        </p:nvSpPr>
        <p:spPr>
          <a:xfrm flipH="1">
            <a:off x="720025" y="3349800"/>
            <a:ext cx="3852000" cy="8628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2">
    <p:bg>
      <p:bgPr>
        <a:solidFill>
          <a:schemeClr val="dk2"/>
        </a:solidFill>
      </p:bgPr>
    </p:bg>
    <p:spTree>
      <p:nvGrpSpPr>
        <p:cNvPr id="72" name="Shape 72"/>
        <p:cNvGrpSpPr/>
        <p:nvPr/>
      </p:nvGrpSpPr>
      <p:grpSpPr>
        <a:xfrm>
          <a:off x="0" y="0"/>
          <a:ext cx="0" cy="0"/>
          <a:chOff x="0" y="0"/>
          <a:chExt cx="0" cy="0"/>
        </a:xfrm>
      </p:grpSpPr>
      <p:grpSp>
        <p:nvGrpSpPr>
          <p:cNvPr id="73" name="Google Shape;73;p16"/>
          <p:cNvGrpSpPr/>
          <p:nvPr/>
        </p:nvGrpSpPr>
        <p:grpSpPr>
          <a:xfrm>
            <a:off x="0" y="0"/>
            <a:ext cx="9144091" cy="5143648"/>
            <a:chOff x="0" y="0"/>
            <a:chExt cx="7440875" cy="4152456"/>
          </a:xfrm>
        </p:grpSpPr>
        <p:sp>
          <p:nvSpPr>
            <p:cNvPr id="74" name="Google Shape;74;p16"/>
            <p:cNvSpPr/>
            <p:nvPr/>
          </p:nvSpPr>
          <p:spPr>
            <a:xfrm>
              <a:off x="265057"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583651"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902179"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p:nvPr/>
          </p:nvSpPr>
          <p:spPr>
            <a:xfrm>
              <a:off x="1220641"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1539169"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1857762" y="0"/>
              <a:ext cx="7414" cy="2884827"/>
            </a:xfrm>
            <a:custGeom>
              <a:rect b="b" l="l" r="r" t="t"/>
              <a:pathLst>
                <a:path extrusionOk="0" h="43971" w="113">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2176224"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2494752"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2813346"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3131874"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3450336" y="0"/>
              <a:ext cx="7479" cy="2884827"/>
            </a:xfrm>
            <a:custGeom>
              <a:rect b="b" l="l" r="r" t="t"/>
              <a:pathLst>
                <a:path extrusionOk="0" h="43971" w="114">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3768929"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4087457"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4405920"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4724447"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a:off x="5043041" y="0"/>
              <a:ext cx="7414" cy="2884827"/>
            </a:xfrm>
            <a:custGeom>
              <a:rect b="b" l="l" r="r" t="t"/>
              <a:pathLst>
                <a:path extrusionOk="0" h="43971" w="113">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5361634"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5680031" y="0"/>
              <a:ext cx="7545" cy="2884827"/>
            </a:xfrm>
            <a:custGeom>
              <a:rect b="b" l="l" r="r" t="t"/>
              <a:pathLst>
                <a:path extrusionOk="0" h="43971" w="115">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5998624" y="0"/>
              <a:ext cx="7348" cy="2884827"/>
            </a:xfrm>
            <a:custGeom>
              <a:rect b="b" l="l" r="r" t="t"/>
              <a:pathLst>
                <a:path extrusionOk="0" h="43971" w="112">
                  <a:moveTo>
                    <a:pt x="0" y="1"/>
                  </a:moveTo>
                  <a:lnTo>
                    <a:pt x="0"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6317152"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p:nvPr/>
          </p:nvSpPr>
          <p:spPr>
            <a:xfrm>
              <a:off x="6635615" y="0"/>
              <a:ext cx="7479" cy="2884827"/>
            </a:xfrm>
            <a:custGeom>
              <a:rect b="b" l="l" r="r" t="t"/>
              <a:pathLst>
                <a:path extrusionOk="0" h="43971" w="114">
                  <a:moveTo>
                    <a:pt x="1" y="1"/>
                  </a:moveTo>
                  <a:lnTo>
                    <a:pt x="1"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954208" y="0"/>
              <a:ext cx="7479" cy="2884827"/>
            </a:xfrm>
            <a:custGeom>
              <a:rect b="b" l="l" r="r" t="t"/>
              <a:pathLst>
                <a:path extrusionOk="0" h="43971" w="114">
                  <a:moveTo>
                    <a:pt x="0" y="1"/>
                  </a:moveTo>
                  <a:lnTo>
                    <a:pt x="0" y="43970"/>
                  </a:lnTo>
                  <a:lnTo>
                    <a:pt x="114" y="43970"/>
                  </a:lnTo>
                  <a:lnTo>
                    <a:pt x="1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7272736" y="0"/>
              <a:ext cx="7414" cy="2884827"/>
            </a:xfrm>
            <a:custGeom>
              <a:rect b="b" l="l" r="r" t="t"/>
              <a:pathLst>
                <a:path extrusionOk="0" h="43971" w="113">
                  <a:moveTo>
                    <a:pt x="1" y="1"/>
                  </a:moveTo>
                  <a:lnTo>
                    <a:pt x="1" y="43970"/>
                  </a:lnTo>
                  <a:lnTo>
                    <a:pt x="112" y="43970"/>
                  </a:lnTo>
                  <a:lnTo>
                    <a:pt x="112"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0" y="70857"/>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0" y="374885"/>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0" y="678783"/>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0" y="982811"/>
              <a:ext cx="7440875" cy="7414"/>
            </a:xfrm>
            <a:custGeom>
              <a:rect b="b" l="l" r="r" t="t"/>
              <a:pathLst>
                <a:path extrusionOk="0" h="113"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0" y="1286708"/>
              <a:ext cx="7440875" cy="7545"/>
            </a:xfrm>
            <a:custGeom>
              <a:rect b="b" l="l" r="r" t="t"/>
              <a:pathLst>
                <a:path extrusionOk="0" h="115"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0" y="1590737"/>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p:nvPr/>
          </p:nvSpPr>
          <p:spPr>
            <a:xfrm>
              <a:off x="0" y="1894700"/>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0" y="2198597"/>
              <a:ext cx="7440875" cy="7479"/>
            </a:xfrm>
            <a:custGeom>
              <a:rect b="b" l="l" r="r" t="t"/>
              <a:pathLst>
                <a:path extrusionOk="0" h="114" w="113415">
                  <a:moveTo>
                    <a:pt x="0" y="0"/>
                  </a:moveTo>
                  <a:lnTo>
                    <a:pt x="0" y="114"/>
                  </a:lnTo>
                  <a:lnTo>
                    <a:pt x="113414" y="114"/>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0" y="2502625"/>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0" y="2806523"/>
              <a:ext cx="7440875" cy="7479"/>
            </a:xfrm>
            <a:custGeom>
              <a:rect b="b" l="l" r="r" t="t"/>
              <a:pathLst>
                <a:path extrusionOk="0" h="114"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265057"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583651"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902179"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1220641"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1539169"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p:nvPr/>
          </p:nvSpPr>
          <p:spPr>
            <a:xfrm>
              <a:off x="1857762" y="2431703"/>
              <a:ext cx="7414" cy="1720754"/>
            </a:xfrm>
            <a:custGeom>
              <a:rect b="b" l="l" r="r" t="t"/>
              <a:pathLst>
                <a:path extrusionOk="0" h="26228" w="113">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2176224"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2494752"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2813346"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p:nvPr/>
          </p:nvSpPr>
          <p:spPr>
            <a:xfrm>
              <a:off x="3131874"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3450336" y="2431703"/>
              <a:ext cx="7479" cy="1720754"/>
            </a:xfrm>
            <a:custGeom>
              <a:rect b="b" l="l" r="r" t="t"/>
              <a:pathLst>
                <a:path extrusionOk="0" h="26228" w="114">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3768929"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a:off x="4087457"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4405920"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4724447"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5043041" y="2431703"/>
              <a:ext cx="7414" cy="1720754"/>
            </a:xfrm>
            <a:custGeom>
              <a:rect b="b" l="l" r="r" t="t"/>
              <a:pathLst>
                <a:path extrusionOk="0" h="26228" w="113">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5361634"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5680031" y="2431703"/>
              <a:ext cx="7545" cy="1720754"/>
            </a:xfrm>
            <a:custGeom>
              <a:rect b="b" l="l" r="r" t="t"/>
              <a:pathLst>
                <a:path extrusionOk="0" h="26228" w="115">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5998624" y="2431703"/>
              <a:ext cx="7348" cy="1720754"/>
            </a:xfrm>
            <a:custGeom>
              <a:rect b="b" l="l" r="r" t="t"/>
              <a:pathLst>
                <a:path extrusionOk="0" h="26228" w="112">
                  <a:moveTo>
                    <a:pt x="0" y="0"/>
                  </a:moveTo>
                  <a:lnTo>
                    <a:pt x="0"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6317152"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a:off x="6635615" y="2431703"/>
              <a:ext cx="7479" cy="1720754"/>
            </a:xfrm>
            <a:custGeom>
              <a:rect b="b" l="l" r="r" t="t"/>
              <a:pathLst>
                <a:path extrusionOk="0" h="26228" w="114">
                  <a:moveTo>
                    <a:pt x="1" y="0"/>
                  </a:moveTo>
                  <a:lnTo>
                    <a:pt x="1"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6954208" y="2431703"/>
              <a:ext cx="7479" cy="1720754"/>
            </a:xfrm>
            <a:custGeom>
              <a:rect b="b" l="l" r="r" t="t"/>
              <a:pathLst>
                <a:path extrusionOk="0" h="26228" w="114">
                  <a:moveTo>
                    <a:pt x="0" y="0"/>
                  </a:moveTo>
                  <a:lnTo>
                    <a:pt x="0" y="26227"/>
                  </a:lnTo>
                  <a:lnTo>
                    <a:pt x="114" y="26227"/>
                  </a:lnTo>
                  <a:lnTo>
                    <a:pt x="1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7272736" y="2431703"/>
              <a:ext cx="7414" cy="1720754"/>
            </a:xfrm>
            <a:custGeom>
              <a:rect b="b" l="l" r="r" t="t"/>
              <a:pathLst>
                <a:path extrusionOk="0" h="26228" w="113">
                  <a:moveTo>
                    <a:pt x="1" y="0"/>
                  </a:moveTo>
                  <a:lnTo>
                    <a:pt x="1" y="26227"/>
                  </a:lnTo>
                  <a:lnTo>
                    <a:pt x="112" y="26227"/>
                  </a:lnTo>
                  <a:lnTo>
                    <a:pt x="112"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0" y="2502494"/>
              <a:ext cx="7440875" cy="7479"/>
            </a:xfrm>
            <a:custGeom>
              <a:rect b="b" l="l" r="r" t="t"/>
              <a:pathLst>
                <a:path extrusionOk="0" h="114"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0" y="2806523"/>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0" y="3110420"/>
              <a:ext cx="7440875" cy="7545"/>
            </a:xfrm>
            <a:custGeom>
              <a:rect b="b" l="l" r="r" t="t"/>
              <a:pathLst>
                <a:path extrusionOk="0" h="115" w="113415">
                  <a:moveTo>
                    <a:pt x="0" y="1"/>
                  </a:moveTo>
                  <a:lnTo>
                    <a:pt x="0" y="114"/>
                  </a:lnTo>
                  <a:lnTo>
                    <a:pt x="113414" y="114"/>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0" y="3414448"/>
              <a:ext cx="7440875" cy="7414"/>
            </a:xfrm>
            <a:custGeom>
              <a:rect b="b" l="l" r="r" t="t"/>
              <a:pathLst>
                <a:path extrusionOk="0" h="113" w="113415">
                  <a:moveTo>
                    <a:pt x="0" y="1"/>
                  </a:moveTo>
                  <a:lnTo>
                    <a:pt x="0" y="112"/>
                  </a:lnTo>
                  <a:lnTo>
                    <a:pt x="113414" y="112"/>
                  </a:lnTo>
                  <a:lnTo>
                    <a:pt x="113414" y="1"/>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0" y="3718411"/>
              <a:ext cx="7440875" cy="7479"/>
            </a:xfrm>
            <a:custGeom>
              <a:rect b="b" l="l" r="r" t="t"/>
              <a:pathLst>
                <a:path extrusionOk="0" h="114" w="113415">
                  <a:moveTo>
                    <a:pt x="0" y="0"/>
                  </a:moveTo>
                  <a:lnTo>
                    <a:pt x="0" y="113"/>
                  </a:lnTo>
                  <a:lnTo>
                    <a:pt x="113414" y="113"/>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0" y="4022440"/>
              <a:ext cx="7440875" cy="7348"/>
            </a:xfrm>
            <a:custGeom>
              <a:rect b="b" l="l" r="r" t="t"/>
              <a:pathLst>
                <a:path extrusionOk="0" h="112" w="113415">
                  <a:moveTo>
                    <a:pt x="0" y="0"/>
                  </a:moveTo>
                  <a:lnTo>
                    <a:pt x="0" y="112"/>
                  </a:lnTo>
                  <a:lnTo>
                    <a:pt x="113414" y="112"/>
                  </a:lnTo>
                  <a:lnTo>
                    <a:pt x="113414" y="0"/>
                  </a:lnTo>
                  <a:close/>
                </a:path>
              </a:pathLst>
            </a:custGeom>
            <a:solidFill>
              <a:schemeClr val="hlink">
                <a:alpha val="120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16"/>
          <p:cNvGrpSpPr/>
          <p:nvPr/>
        </p:nvGrpSpPr>
        <p:grpSpPr>
          <a:xfrm>
            <a:off x="502465" y="399924"/>
            <a:ext cx="8139069" cy="4343656"/>
            <a:chOff x="916986" y="2500875"/>
            <a:chExt cx="2280618" cy="1217119"/>
          </a:xfrm>
        </p:grpSpPr>
        <p:sp>
          <p:nvSpPr>
            <p:cNvPr id="137" name="Google Shape;137;p16"/>
            <p:cNvSpPr/>
            <p:nvPr/>
          </p:nvSpPr>
          <p:spPr>
            <a:xfrm>
              <a:off x="930568" y="2514572"/>
              <a:ext cx="105996" cy="1189768"/>
            </a:xfrm>
            <a:custGeom>
              <a:rect b="b" l="l" r="r" t="t"/>
              <a:pathLst>
                <a:path extrusionOk="0" h="20586" w="1834">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1036508" y="2514572"/>
              <a:ext cx="2147431" cy="1189768"/>
            </a:xfrm>
            <a:custGeom>
              <a:rect b="b" l="l" r="r" t="t"/>
              <a:pathLst>
                <a:path extrusionOk="0" h="20586" w="3715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916986" y="2500875"/>
              <a:ext cx="93570" cy="139459"/>
            </a:xfrm>
            <a:custGeom>
              <a:rect b="b" l="l" r="r" t="t"/>
              <a:pathLst>
                <a:path extrusionOk="0" h="2413" w="1619">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916986" y="3578650"/>
              <a:ext cx="133160" cy="139344"/>
            </a:xfrm>
            <a:custGeom>
              <a:rect b="b" l="l" r="r" t="t"/>
              <a:pathLst>
                <a:path extrusionOk="0" h="2411" w="2304">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2917819" y="3493113"/>
              <a:ext cx="279786" cy="224880"/>
            </a:xfrm>
            <a:custGeom>
              <a:rect b="b" l="l" r="r" t="t"/>
              <a:pathLst>
                <a:path extrusionOk="0" h="3891" w="484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16"/>
          <p:cNvSpPr txBox="1"/>
          <p:nvPr>
            <p:ph type="title"/>
          </p:nvPr>
        </p:nvSpPr>
        <p:spPr>
          <a:xfrm>
            <a:off x="1291500" y="2400500"/>
            <a:ext cx="4320000" cy="9159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50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16"/>
          <p:cNvSpPr txBox="1"/>
          <p:nvPr>
            <p:ph hasCustomPrompt="1" idx="2" type="title"/>
          </p:nvPr>
        </p:nvSpPr>
        <p:spPr>
          <a:xfrm>
            <a:off x="1291500" y="1241525"/>
            <a:ext cx="1652100" cy="915900"/>
          </a:xfrm>
          <a:prstGeom prst="rect">
            <a:avLst/>
          </a:prstGeom>
          <a:noFill/>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44" name="Google Shape;144;p16"/>
          <p:cNvSpPr txBox="1"/>
          <p:nvPr>
            <p:ph idx="1" type="subTitle"/>
          </p:nvPr>
        </p:nvSpPr>
        <p:spPr>
          <a:xfrm>
            <a:off x="1291500" y="3360725"/>
            <a:ext cx="4320000" cy="375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5" name="Google Shape;145;p16"/>
          <p:cNvSpPr/>
          <p:nvPr/>
        </p:nvSpPr>
        <p:spPr>
          <a:xfrm>
            <a:off x="1190841" y="4876886"/>
            <a:ext cx="207420" cy="186779"/>
          </a:xfrm>
          <a:custGeom>
            <a:rect b="b" l="l" r="r" t="t"/>
            <a:pathLst>
              <a:path extrusionOk="0" h="3502" w="3889">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212841" y="4445786"/>
            <a:ext cx="207420" cy="186779"/>
          </a:xfrm>
          <a:custGeom>
            <a:rect b="b" l="l" r="r" t="t"/>
            <a:pathLst>
              <a:path extrusionOk="0" h="3502" w="3889">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C073"/>
        </a:solidFill>
      </p:bgPr>
    </p:bg>
    <p:spTree>
      <p:nvGrpSpPr>
        <p:cNvPr id="150" name="Shape 150"/>
        <p:cNvGrpSpPr/>
        <p:nvPr/>
      </p:nvGrpSpPr>
      <p:grpSpPr>
        <a:xfrm>
          <a:off x="0" y="0"/>
          <a:ext cx="0" cy="0"/>
          <a:chOff x="0" y="0"/>
          <a:chExt cx="0" cy="0"/>
        </a:xfrm>
      </p:grpSpPr>
      <p:sp>
        <p:nvSpPr>
          <p:cNvPr id="151" name="Google Shape;151;p17"/>
          <p:cNvSpPr/>
          <p:nvPr/>
        </p:nvSpPr>
        <p:spPr>
          <a:xfrm>
            <a:off x="-228600" y="518400"/>
            <a:ext cx="9601200" cy="1477800"/>
          </a:xfrm>
          <a:prstGeom prst="rect">
            <a:avLst/>
          </a:prstGeom>
          <a:solidFill>
            <a:srgbClr val="F95C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7"/>
          <p:cNvSpPr/>
          <p:nvPr/>
        </p:nvSpPr>
        <p:spPr>
          <a:xfrm>
            <a:off x="228590" y="228602"/>
            <a:ext cx="2057400" cy="2057400"/>
          </a:xfrm>
          <a:prstGeom prst="ellipse">
            <a:avLst/>
          </a:prstGeom>
          <a:solidFill>
            <a:srgbClr val="FAC073"/>
          </a:solidFill>
          <a:ln cap="flat" cmpd="sng" w="152400">
            <a:solidFill>
              <a:srgbClr val="F95C31"/>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Fall</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3</a:t>
            </a:r>
            <a:endParaRPr sz="9600">
              <a:latin typeface="Merriweather"/>
              <a:ea typeface="Merriweather"/>
              <a:cs typeface="Merriweather"/>
              <a:sym typeface="Merriweather"/>
            </a:endParaRPr>
          </a:p>
        </p:txBody>
      </p:sp>
      <p:sp>
        <p:nvSpPr>
          <p:cNvPr id="153" name="Google Shape;153;p17"/>
          <p:cNvSpPr/>
          <p:nvPr/>
        </p:nvSpPr>
        <p:spPr>
          <a:xfrm>
            <a:off x="-228600" y="3118800"/>
            <a:ext cx="9601200" cy="1477800"/>
          </a:xfrm>
          <a:prstGeom prst="rect">
            <a:avLst/>
          </a:prstGeom>
          <a:noFill/>
          <a:ln cap="flat" cmpd="sng" w="152400">
            <a:solidFill>
              <a:srgbClr val="F95C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7"/>
          <p:cNvSpPr/>
          <p:nvPr/>
        </p:nvSpPr>
        <p:spPr>
          <a:xfrm>
            <a:off x="6857990" y="2829002"/>
            <a:ext cx="2057400" cy="20574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80000"/>
              </a:lnSpc>
              <a:spcBef>
                <a:spcPts val="0"/>
              </a:spcBef>
              <a:spcAft>
                <a:spcPts val="0"/>
              </a:spcAft>
              <a:buNone/>
            </a:pPr>
            <a:r>
              <a:t/>
            </a:r>
            <a:endParaRPr sz="9600">
              <a:latin typeface="Leckerli One"/>
              <a:ea typeface="Leckerli One"/>
              <a:cs typeface="Leckerli One"/>
              <a:sym typeface="Leckerli One"/>
            </a:endParaRPr>
          </a:p>
        </p:txBody>
      </p:sp>
      <p:pic>
        <p:nvPicPr>
          <p:cNvPr id="155" name="Google Shape;155;p17" title="1.png"/>
          <p:cNvPicPr preferRelativeResize="0"/>
          <p:nvPr/>
        </p:nvPicPr>
        <p:blipFill>
          <a:blip r:embed="rId3">
            <a:alphaModFix/>
          </a:blip>
          <a:stretch>
            <a:fillRect/>
          </a:stretch>
        </p:blipFill>
        <p:spPr>
          <a:xfrm>
            <a:off x="6857990" y="2829000"/>
            <a:ext cx="2057400" cy="2057400"/>
          </a:xfrm>
          <a:prstGeom prst="rect">
            <a:avLst/>
          </a:prstGeom>
          <a:noFill/>
          <a:ln>
            <a:noFill/>
          </a:ln>
        </p:spPr>
      </p:pic>
      <p:sp>
        <p:nvSpPr>
          <p:cNvPr id="156" name="Google Shape;156;p17"/>
          <p:cNvSpPr txBox="1"/>
          <p:nvPr/>
        </p:nvSpPr>
        <p:spPr>
          <a:xfrm>
            <a:off x="228600" y="3211200"/>
            <a:ext cx="6400800" cy="12930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3600">
                <a:latin typeface="Merriweather"/>
                <a:ea typeface="Merriweather"/>
                <a:cs typeface="Merriweather"/>
                <a:sym typeface="Merriweather"/>
              </a:rPr>
              <a:t>Stuy Prep</a:t>
            </a:r>
            <a:endParaRPr sz="3600">
              <a:latin typeface="Merriweather"/>
              <a:ea typeface="Merriweather"/>
              <a:cs typeface="Merriweather"/>
              <a:sym typeface="Merriweather"/>
            </a:endParaRPr>
          </a:p>
          <a:p>
            <a:pPr indent="0" lvl="0" marL="0" rtl="0" algn="r">
              <a:spcBef>
                <a:spcPts val="0"/>
              </a:spcBef>
              <a:spcAft>
                <a:spcPts val="0"/>
              </a:spcAft>
              <a:buNone/>
            </a:pPr>
            <a:r>
              <a:rPr lang="en" sz="4800">
                <a:latin typeface="Merriweather"/>
                <a:ea typeface="Merriweather"/>
                <a:cs typeface="Merriweather"/>
                <a:sym typeface="Merriweather"/>
              </a:rPr>
              <a:t>Lesson 26F3</a:t>
            </a:r>
            <a:endParaRPr sz="4800">
              <a:latin typeface="Merriweather"/>
              <a:ea typeface="Merriweather"/>
              <a:cs typeface="Merriweather"/>
              <a:sym typeface="Merriweather"/>
            </a:endParaRPr>
          </a:p>
        </p:txBody>
      </p:sp>
      <p:sp>
        <p:nvSpPr>
          <p:cNvPr id="157" name="Google Shape;157;p17"/>
          <p:cNvSpPr txBox="1"/>
          <p:nvPr/>
        </p:nvSpPr>
        <p:spPr>
          <a:xfrm>
            <a:off x="2514600" y="518400"/>
            <a:ext cx="6400800" cy="14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Key Ideas and Details and Transformations</a:t>
            </a:r>
            <a:endParaRPr sz="4800">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161" name="Shape 161"/>
        <p:cNvGrpSpPr/>
        <p:nvPr/>
      </p:nvGrpSpPr>
      <p:grpSpPr>
        <a:xfrm>
          <a:off x="0" y="0"/>
          <a:ext cx="0" cy="0"/>
          <a:chOff x="0" y="0"/>
          <a:chExt cx="0" cy="0"/>
        </a:xfrm>
      </p:grpSpPr>
      <p:sp>
        <p:nvSpPr>
          <p:cNvPr id="162" name="Google Shape;162;p18"/>
          <p:cNvSpPr/>
          <p:nvPr/>
        </p:nvSpPr>
        <p:spPr>
          <a:xfrm>
            <a:off x="-1522208" y="4131550"/>
            <a:ext cx="11479688" cy="1011961"/>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₊✩‧₊˚౨ৎ˚₊✩‧₊ ✮ ⋆ ˚｡⋆｡°✩⋆˚˖°</a:t>
            </a:r>
          </a:p>
        </p:txBody>
      </p:sp>
      <p:sp>
        <p:nvSpPr>
          <p:cNvPr id="163" name="Google Shape;163;p18"/>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8"/>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65" name="Google Shape;165;p1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Homework</a:t>
            </a:r>
            <a:endParaRPr sz="4800">
              <a:latin typeface="Merriweather"/>
              <a:ea typeface="Merriweather"/>
              <a:cs typeface="Merriweather"/>
              <a:sym typeface="Merriweather"/>
            </a:endParaRPr>
          </a:p>
        </p:txBody>
      </p:sp>
      <p:pic>
        <p:nvPicPr>
          <p:cNvPr id="166" name="Google Shape;166;p1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167" name="Google Shape;167;p18"/>
          <p:cNvSpPr txBox="1"/>
          <p:nvPr/>
        </p:nvSpPr>
        <p:spPr>
          <a:xfrm>
            <a:off x="228600" y="1490400"/>
            <a:ext cx="8686800" cy="731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ctr">
              <a:spcBef>
                <a:spcPts val="0"/>
              </a:spcBef>
              <a:spcAft>
                <a:spcPts val="0"/>
              </a:spcAft>
              <a:buNone/>
            </a:pPr>
            <a:r>
              <a:rPr lang="en" sz="2400">
                <a:solidFill>
                  <a:schemeClr val="dk1"/>
                </a:solidFill>
                <a:latin typeface="DM Sans"/>
                <a:ea typeface="DM Sans"/>
                <a:cs typeface="DM Sans"/>
                <a:sym typeface="DM Sans"/>
              </a:rPr>
              <a:t>Does anyone have questions on </a:t>
            </a:r>
            <a:r>
              <a:rPr b="1" lang="en" sz="2400">
                <a:solidFill>
                  <a:schemeClr val="dk1"/>
                </a:solidFill>
                <a:latin typeface="DM Sans"/>
                <a:ea typeface="DM Sans"/>
                <a:cs typeface="DM Sans"/>
                <a:sym typeface="DM Sans"/>
              </a:rPr>
              <a:t>26F2 Homework: Phrases and Clauses and Irrational Numbers and Circles</a:t>
            </a:r>
            <a:r>
              <a:rPr lang="en" sz="2400">
                <a:solidFill>
                  <a:schemeClr val="dk1"/>
                </a:solidFill>
                <a:latin typeface="DM Sans"/>
                <a:ea typeface="DM Sans"/>
                <a:cs typeface="DM Sans"/>
                <a:sym typeface="DM Sans"/>
              </a:rPr>
              <a:t>?</a:t>
            </a:r>
            <a:endParaRPr sz="24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8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C073"/>
        </a:solidFill>
      </p:bgPr>
    </p:bg>
    <p:spTree>
      <p:nvGrpSpPr>
        <p:cNvPr id="171" name="Shape 171"/>
        <p:cNvGrpSpPr/>
        <p:nvPr/>
      </p:nvGrpSpPr>
      <p:grpSpPr>
        <a:xfrm>
          <a:off x="0" y="0"/>
          <a:ext cx="0" cy="0"/>
          <a:chOff x="0" y="0"/>
          <a:chExt cx="0" cy="0"/>
        </a:xfrm>
      </p:grpSpPr>
      <p:sp>
        <p:nvSpPr>
          <p:cNvPr id="172" name="Google Shape;172;p19"/>
          <p:cNvSpPr/>
          <p:nvPr/>
        </p:nvSpPr>
        <p:spPr>
          <a:xfrm>
            <a:off x="-8" y="0"/>
            <a:ext cx="21205694" cy="997614"/>
          </a:xfrm>
          <a:prstGeom prst="rect">
            <a:avLst/>
          </a:prstGeom>
        </p:spPr>
        <p:txBody>
          <a:bodyPr>
            <a:prstTxWarp prst="textPlain"/>
          </a:bodyPr>
          <a:lstStyle/>
          <a:p>
            <a:pPr lvl="0" algn="ctr"/>
            <a:r>
              <a:rPr b="0" i="0">
                <a:ln cap="flat" cmpd="sng" w="76200">
                  <a:solidFill>
                    <a:srgbClr val="F95C31"/>
                  </a:solidFill>
                  <a:prstDash val="solid"/>
                  <a:round/>
                  <a:headEnd len="sm" w="sm" type="none"/>
                  <a:tailEnd len="sm" w="sm" type="none"/>
                </a:ln>
                <a:noFill/>
                <a:latin typeface="DM Sans"/>
              </a:rPr>
              <a:t>theme central idea “cite evidence” (30) diagram</a:t>
            </a:r>
          </a:p>
        </p:txBody>
      </p:sp>
      <p:sp>
        <p:nvSpPr>
          <p:cNvPr id="173" name="Google Shape;173;p19"/>
          <p:cNvSpPr/>
          <p:nvPr/>
        </p:nvSpPr>
        <p:spPr>
          <a:xfrm>
            <a:off x="-12061683" y="4145875"/>
            <a:ext cx="21205694" cy="997614"/>
          </a:xfrm>
          <a:prstGeom prst="rect">
            <a:avLst/>
          </a:prstGeom>
        </p:spPr>
        <p:txBody>
          <a:bodyPr>
            <a:prstTxWarp prst="textPlain"/>
          </a:bodyPr>
          <a:lstStyle/>
          <a:p>
            <a:pPr lvl="0" algn="ctr"/>
            <a:r>
              <a:rPr b="0" i="0">
                <a:ln cap="flat" cmpd="sng" w="76200">
                  <a:solidFill>
                    <a:srgbClr val="F95C31"/>
                  </a:solidFill>
                  <a:prstDash val="solid"/>
                  <a:round/>
                  <a:headEnd len="sm" w="sm" type="none"/>
                  <a:tailEnd len="sm" w="sm" type="none"/>
                </a:ln>
                <a:noFill/>
                <a:latin typeface="DM Sans"/>
              </a:rPr>
              <a:t>theme central idea “cite evidence” (30) diagram</a:t>
            </a:r>
          </a:p>
        </p:txBody>
      </p:sp>
      <p:sp>
        <p:nvSpPr>
          <p:cNvPr id="174" name="Google Shape;174;p19"/>
          <p:cNvSpPr/>
          <p:nvPr/>
        </p:nvSpPr>
        <p:spPr>
          <a:xfrm>
            <a:off x="0" y="1547100"/>
            <a:ext cx="9144000" cy="738900"/>
          </a:xfrm>
          <a:prstGeom prst="rect">
            <a:avLst/>
          </a:prstGeom>
          <a:solidFill>
            <a:srgbClr val="F95C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9"/>
          <p:cNvSpPr/>
          <p:nvPr/>
        </p:nvSpPr>
        <p:spPr>
          <a:xfrm>
            <a:off x="228590" y="228602"/>
            <a:ext cx="2057400" cy="2057400"/>
          </a:xfrm>
          <a:prstGeom prst="ellipse">
            <a:avLst/>
          </a:prstGeom>
          <a:solidFill>
            <a:srgbClr val="F95C31"/>
          </a:solidFill>
          <a:ln cap="flat" cmpd="sng" w="152400">
            <a:solidFill>
              <a:srgbClr val="FAC073"/>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Fall</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3</a:t>
            </a:r>
            <a:endParaRPr sz="9600">
              <a:latin typeface="Merriweather"/>
              <a:ea typeface="Merriweather"/>
              <a:cs typeface="Merriweather"/>
              <a:sym typeface="Merriweather"/>
            </a:endParaRPr>
          </a:p>
        </p:txBody>
      </p:sp>
      <p:sp>
        <p:nvSpPr>
          <p:cNvPr id="176" name="Google Shape;176;p19"/>
          <p:cNvSpPr txBox="1"/>
          <p:nvPr/>
        </p:nvSpPr>
        <p:spPr>
          <a:xfrm>
            <a:off x="2514600" y="1547100"/>
            <a:ext cx="64008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Key Ideas and Details</a:t>
            </a:r>
            <a:endParaRPr sz="4800">
              <a:latin typeface="Merriweather"/>
              <a:ea typeface="Merriweather"/>
              <a:cs typeface="Merriweather"/>
              <a:sym typeface="Merriweather"/>
            </a:endParaRPr>
          </a:p>
        </p:txBody>
      </p:sp>
      <p:sp>
        <p:nvSpPr>
          <p:cNvPr id="177" name="Google Shape;177;p19"/>
          <p:cNvSpPr txBox="1"/>
          <p:nvPr/>
        </p:nvSpPr>
        <p:spPr>
          <a:xfrm>
            <a:off x="2514600" y="1011000"/>
            <a:ext cx="6400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DM Sans"/>
                <a:ea typeface="DM Sans"/>
                <a:cs typeface="DM Sans"/>
                <a:sym typeface="DM Sans"/>
              </a:rPr>
              <a:t>English Language Arts</a:t>
            </a:r>
            <a:endParaRPr sz="3200">
              <a:latin typeface="DM Sans"/>
              <a:ea typeface="DM Sans"/>
              <a:cs typeface="DM Sans"/>
              <a:sym typeface="DM Sans"/>
            </a:endParaRPr>
          </a:p>
        </p:txBody>
      </p:sp>
      <p:sp>
        <p:nvSpPr>
          <p:cNvPr id="178" name="Google Shape;178;p19"/>
          <p:cNvSpPr txBox="1"/>
          <p:nvPr/>
        </p:nvSpPr>
        <p:spPr>
          <a:xfrm>
            <a:off x="228600" y="25146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latin typeface="DM Sans"/>
                <a:ea typeface="DM Sans"/>
                <a:cs typeface="DM Sans"/>
                <a:sym typeface="DM Sans"/>
              </a:rPr>
              <a:t>Aim:</a:t>
            </a:r>
            <a:r>
              <a:rPr lang="en" sz="2400">
                <a:latin typeface="DM Sans"/>
                <a:ea typeface="DM Sans"/>
                <a:cs typeface="DM Sans"/>
                <a:sym typeface="DM Sans"/>
              </a:rPr>
              <a:t> Use cited textual evidence and connections with visual media to analyze the development of themes and central ideas.</a:t>
            </a:r>
            <a:endParaRPr sz="2400">
              <a:latin typeface="DM Sans"/>
              <a:ea typeface="DM Sans"/>
              <a:cs typeface="DM Sans"/>
              <a:sym typeface="DM Sans"/>
            </a:endParaRPr>
          </a:p>
        </p:txBody>
      </p:sp>
      <p:sp>
        <p:nvSpPr>
          <p:cNvPr id="179" name="Google Shape;179;p19"/>
          <p:cNvSpPr txBox="1"/>
          <p:nvPr/>
        </p:nvSpPr>
        <p:spPr>
          <a:xfrm>
            <a:off x="4800600" y="2518650"/>
            <a:ext cx="4114800" cy="7389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latin typeface="DM Sans"/>
                <a:ea typeface="DM Sans"/>
                <a:cs typeface="DM Sans"/>
                <a:sym typeface="DM Sans"/>
              </a:rPr>
              <a:t>Do Now</a:t>
            </a:r>
            <a:r>
              <a:rPr b="1" lang="en" sz="2400">
                <a:latin typeface="DM Sans"/>
                <a:ea typeface="DM Sans"/>
                <a:cs typeface="DM Sans"/>
                <a:sym typeface="DM Sans"/>
              </a:rPr>
              <a:t>:</a:t>
            </a:r>
            <a:r>
              <a:rPr lang="en" sz="2400">
                <a:latin typeface="DM Sans"/>
                <a:ea typeface="DM Sans"/>
                <a:cs typeface="DM Sans"/>
                <a:sym typeface="DM Sans"/>
              </a:rPr>
              <a:t> Why is it so important to cite evidence?</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8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800"/>
                                        <p:tgtEl>
                                          <p:spTgt spid="176"/>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800"/>
                                        <p:tgtEl>
                                          <p:spTgt spid="178"/>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8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183" name="Shape 183"/>
        <p:cNvGrpSpPr/>
        <p:nvPr/>
      </p:nvGrpSpPr>
      <p:grpSpPr>
        <a:xfrm>
          <a:off x="0" y="0"/>
          <a:ext cx="0" cy="0"/>
          <a:chOff x="0" y="0"/>
          <a:chExt cx="0" cy="0"/>
        </a:xfrm>
      </p:grpSpPr>
      <p:sp>
        <p:nvSpPr>
          <p:cNvPr id="184" name="Google Shape;184;p20"/>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185" name="Google Shape;185;p20"/>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0"/>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87" name="Google Shape;187;p2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Citing Evidence</a:t>
            </a:r>
            <a:endParaRPr sz="4800">
              <a:latin typeface="Merriweather"/>
              <a:ea typeface="Merriweather"/>
              <a:cs typeface="Merriweather"/>
              <a:sym typeface="Merriweather"/>
            </a:endParaRPr>
          </a:p>
        </p:txBody>
      </p:sp>
      <p:pic>
        <p:nvPicPr>
          <p:cNvPr id="188" name="Google Shape;188;p20" title="1.png"/>
          <p:cNvPicPr preferRelativeResize="0"/>
          <p:nvPr/>
        </p:nvPicPr>
        <p:blipFill>
          <a:blip r:embed="rId4">
            <a:alphaModFix/>
          </a:blip>
          <a:stretch>
            <a:fillRect/>
          </a:stretch>
        </p:blipFill>
        <p:spPr>
          <a:xfrm>
            <a:off x="228600" y="228600"/>
            <a:ext cx="1033200" cy="1033200"/>
          </a:xfrm>
          <a:prstGeom prst="rect">
            <a:avLst/>
          </a:prstGeom>
          <a:noFill/>
          <a:ln>
            <a:noFill/>
          </a:ln>
        </p:spPr>
      </p:pic>
      <p:sp>
        <p:nvSpPr>
          <p:cNvPr id="189" name="Google Shape;189;p20"/>
          <p:cNvSpPr txBox="1"/>
          <p:nvPr/>
        </p:nvSpPr>
        <p:spPr>
          <a:xfrm>
            <a:off x="228600" y="1490400"/>
            <a:ext cx="4114800" cy="14778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solidFill>
                  <a:schemeClr val="dk1"/>
                </a:solidFill>
                <a:latin typeface="DM Sans"/>
                <a:ea typeface="DM Sans"/>
                <a:cs typeface="DM Sans"/>
                <a:sym typeface="DM Sans"/>
              </a:rPr>
              <a:t>When answering a question about a text, your answer should be supported by evidence from the passage.</a:t>
            </a:r>
            <a:endParaRPr sz="2400">
              <a:solidFill>
                <a:schemeClr val="dk1"/>
              </a:solidFill>
              <a:latin typeface="DM Sans"/>
              <a:ea typeface="DM Sans"/>
              <a:cs typeface="DM Sans"/>
              <a:sym typeface="DM Sans"/>
            </a:endParaRPr>
          </a:p>
        </p:txBody>
      </p:sp>
      <p:sp>
        <p:nvSpPr>
          <p:cNvPr id="190" name="Google Shape;190;p20"/>
          <p:cNvSpPr txBox="1"/>
          <p:nvPr/>
        </p:nvSpPr>
        <p:spPr>
          <a:xfrm>
            <a:off x="4800600" y="1067275"/>
            <a:ext cx="4114800" cy="27705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000">
                <a:latin typeface="DM Sans"/>
                <a:ea typeface="DM Sans"/>
                <a:cs typeface="DM Sans"/>
                <a:sym typeface="DM Sans"/>
              </a:rPr>
              <a:t>Evidence can include:</a:t>
            </a:r>
            <a:endParaRPr sz="2000">
              <a:latin typeface="DM Sans"/>
              <a:ea typeface="DM Sans"/>
              <a:cs typeface="DM Sans"/>
              <a:sym typeface="DM Sans"/>
            </a:endParaRPr>
          </a:p>
          <a:p>
            <a:pPr indent="0" lvl="0" marL="0" rtl="0" algn="l">
              <a:spcBef>
                <a:spcPts val="0"/>
              </a:spcBef>
              <a:spcAft>
                <a:spcPts val="0"/>
              </a:spcAft>
              <a:buNone/>
            </a:pPr>
            <a:r>
              <a:rPr lang="en" sz="2000">
                <a:latin typeface="DM Sans"/>
                <a:ea typeface="DM Sans"/>
                <a:cs typeface="DM Sans"/>
                <a:sym typeface="DM Sans"/>
              </a:rPr>
              <a:t>- a direct quotation</a:t>
            </a:r>
            <a:endParaRPr sz="2000">
              <a:latin typeface="DM Sans"/>
              <a:ea typeface="DM Sans"/>
              <a:cs typeface="DM Sans"/>
              <a:sym typeface="DM Sans"/>
            </a:endParaRPr>
          </a:p>
          <a:p>
            <a:pPr indent="0" lvl="0" marL="0" rtl="0" algn="l">
              <a:spcBef>
                <a:spcPts val="0"/>
              </a:spcBef>
              <a:spcAft>
                <a:spcPts val="0"/>
              </a:spcAft>
              <a:buNone/>
            </a:pPr>
            <a:r>
              <a:rPr lang="en" sz="2000">
                <a:latin typeface="DM Sans"/>
                <a:ea typeface="DM Sans"/>
                <a:cs typeface="DM Sans"/>
                <a:sym typeface="DM Sans"/>
              </a:rPr>
              <a:t>- a specific detail</a:t>
            </a:r>
            <a:endParaRPr sz="2000">
              <a:latin typeface="DM Sans"/>
              <a:ea typeface="DM Sans"/>
              <a:cs typeface="DM Sans"/>
              <a:sym typeface="DM Sans"/>
            </a:endParaRPr>
          </a:p>
          <a:p>
            <a:pPr indent="0" lvl="0" marL="0" rtl="0" algn="l">
              <a:spcBef>
                <a:spcPts val="0"/>
              </a:spcBef>
              <a:spcAft>
                <a:spcPts val="0"/>
              </a:spcAft>
              <a:buNone/>
            </a:pPr>
            <a:r>
              <a:rPr lang="en" sz="2000">
                <a:latin typeface="DM Sans"/>
                <a:ea typeface="DM Sans"/>
                <a:cs typeface="DM Sans"/>
                <a:sym typeface="DM Sans"/>
              </a:rPr>
              <a:t>- an action or event</a:t>
            </a:r>
            <a:endParaRPr sz="2000">
              <a:latin typeface="DM Sans"/>
              <a:ea typeface="DM Sans"/>
              <a:cs typeface="DM Sans"/>
              <a:sym typeface="DM Sans"/>
            </a:endParaRPr>
          </a:p>
          <a:p>
            <a:pPr indent="0" lvl="0" marL="0" rtl="0" algn="l">
              <a:spcBef>
                <a:spcPts val="0"/>
              </a:spcBef>
              <a:spcAft>
                <a:spcPts val="0"/>
              </a:spcAft>
              <a:buNone/>
            </a:pPr>
            <a:r>
              <a:rPr lang="en" sz="2000">
                <a:latin typeface="DM Sans"/>
                <a:ea typeface="DM Sans"/>
                <a:cs typeface="DM Sans"/>
                <a:sym typeface="DM Sans"/>
              </a:rPr>
              <a:t>- information stated by the author</a:t>
            </a:r>
            <a:endParaRPr sz="2000">
              <a:latin typeface="DM Sans"/>
              <a:ea typeface="DM Sans"/>
              <a:cs typeface="DM Sans"/>
              <a:sym typeface="DM Sans"/>
            </a:endParaRPr>
          </a:p>
          <a:p>
            <a:pPr indent="0" lvl="0" marL="0" rtl="0" algn="l">
              <a:spcBef>
                <a:spcPts val="0"/>
              </a:spcBef>
              <a:spcAft>
                <a:spcPts val="0"/>
              </a:spcAft>
              <a:buNone/>
            </a:pPr>
            <a:r>
              <a:t/>
            </a:r>
            <a:endParaRPr sz="2000">
              <a:latin typeface="DM Sans"/>
              <a:ea typeface="DM Sans"/>
              <a:cs typeface="DM Sans"/>
              <a:sym typeface="DM Sans"/>
            </a:endParaRPr>
          </a:p>
          <a:p>
            <a:pPr indent="0" lvl="0" marL="0" rtl="0" algn="l">
              <a:spcBef>
                <a:spcPts val="0"/>
              </a:spcBef>
              <a:spcAft>
                <a:spcPts val="0"/>
              </a:spcAft>
              <a:buNone/>
            </a:pPr>
            <a:r>
              <a:rPr lang="en" sz="2000">
                <a:latin typeface="DM Sans"/>
                <a:ea typeface="DM Sans"/>
                <a:cs typeface="DM Sans"/>
                <a:sym typeface="DM Sans"/>
              </a:rPr>
              <a:t>Your answer should never come from a guess alone!</a:t>
            </a:r>
            <a:endParaRPr sz="2000">
              <a:latin typeface="DM Sans"/>
              <a:ea typeface="DM Sans"/>
              <a:cs typeface="DM Sans"/>
              <a:sym typeface="DM Sans"/>
            </a:endParaRPr>
          </a:p>
          <a:p>
            <a:pPr indent="0" lvl="0" marL="0" rtl="0" algn="l">
              <a:spcBef>
                <a:spcPts val="0"/>
              </a:spcBef>
              <a:spcAft>
                <a:spcPts val="0"/>
              </a:spcAft>
              <a:buNone/>
            </a:pPr>
            <a:r>
              <a:rPr lang="en" sz="2000">
                <a:latin typeface="DM Sans"/>
                <a:ea typeface="DM Sans"/>
                <a:cs typeface="DM Sans"/>
                <a:sym typeface="DM Sans"/>
              </a:rPr>
              <a:t>Think: Answer → Find it → Prove it</a:t>
            </a:r>
            <a:endParaRPr sz="20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800"/>
                                        <p:tgtEl>
                                          <p:spTgt spid="189"/>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8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194" name="Shape 194"/>
        <p:cNvGrpSpPr/>
        <p:nvPr/>
      </p:nvGrpSpPr>
      <p:grpSpPr>
        <a:xfrm>
          <a:off x="0" y="0"/>
          <a:ext cx="0" cy="0"/>
          <a:chOff x="0" y="0"/>
          <a:chExt cx="0" cy="0"/>
        </a:xfrm>
      </p:grpSpPr>
      <p:sp>
        <p:nvSpPr>
          <p:cNvPr id="195" name="Google Shape;195;p21"/>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196" name="Google Shape;196;p21"/>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1"/>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198" name="Google Shape;198;p21"/>
          <p:cNvSpPr txBox="1"/>
          <p:nvPr/>
        </p:nvSpPr>
        <p:spPr>
          <a:xfrm>
            <a:off x="1490400" y="297900"/>
            <a:ext cx="7425000" cy="600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900">
                <a:latin typeface="Merriweather"/>
                <a:ea typeface="Merriweather"/>
                <a:cs typeface="Merriweather"/>
                <a:sym typeface="Merriweather"/>
              </a:rPr>
              <a:t>Citing Evidence: Find the Proof</a:t>
            </a:r>
            <a:endParaRPr sz="3900">
              <a:latin typeface="Merriweather"/>
              <a:ea typeface="Merriweather"/>
              <a:cs typeface="Merriweather"/>
              <a:sym typeface="Merriweather"/>
            </a:endParaRPr>
          </a:p>
        </p:txBody>
      </p:sp>
      <p:pic>
        <p:nvPicPr>
          <p:cNvPr id="199" name="Google Shape;199;p2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00" name="Google Shape;200;p21"/>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solidFill>
                  <a:schemeClr val="dk1"/>
                </a:solidFill>
                <a:latin typeface="DM Sans"/>
                <a:ea typeface="DM Sans"/>
                <a:cs typeface="DM Sans"/>
                <a:sym typeface="DM Sans"/>
              </a:rPr>
              <a:t>Citing Evidence</a:t>
            </a:r>
            <a:endParaRPr sz="2400">
              <a:solidFill>
                <a:schemeClr val="dk1"/>
              </a:solidFill>
              <a:latin typeface="DM Sans"/>
              <a:ea typeface="DM Sans"/>
              <a:cs typeface="DM Sans"/>
              <a:sym typeface="DM Sans"/>
            </a:endParaRPr>
          </a:p>
          <a:p>
            <a:pPr indent="0" lvl="0" marL="0" rtl="0" algn="r">
              <a:spcBef>
                <a:spcPts val="0"/>
              </a:spcBef>
              <a:spcAft>
                <a:spcPts val="0"/>
              </a:spcAft>
              <a:buNone/>
            </a:pPr>
            <a:r>
              <a:t/>
            </a:r>
            <a:endParaRPr sz="2400">
              <a:solidFill>
                <a:schemeClr val="dk1"/>
              </a:solidFill>
              <a:latin typeface="DM Sans"/>
              <a:ea typeface="DM Sans"/>
              <a:cs typeface="DM Sans"/>
              <a:sym typeface="DM Sans"/>
            </a:endParaRPr>
          </a:p>
          <a:p>
            <a:pPr indent="0" lvl="0" marL="0" rtl="0" algn="r">
              <a:spcBef>
                <a:spcPts val="0"/>
              </a:spcBef>
              <a:spcAft>
                <a:spcPts val="0"/>
              </a:spcAft>
              <a:buNone/>
            </a:pPr>
            <a:r>
              <a:rPr lang="en" sz="2400">
                <a:solidFill>
                  <a:schemeClr val="dk1"/>
                </a:solidFill>
                <a:latin typeface="DM Sans"/>
                <a:ea typeface="DM Sans"/>
                <a:cs typeface="DM Sans"/>
                <a:sym typeface="DM Sans"/>
              </a:rPr>
              <a:t>On the SHSAT, the correct answer </a:t>
            </a:r>
            <a:r>
              <a:rPr lang="en" sz="2400" u="sng">
                <a:solidFill>
                  <a:schemeClr val="dk1"/>
                </a:solidFill>
                <a:latin typeface="DM Sans"/>
                <a:ea typeface="DM Sans"/>
                <a:cs typeface="DM Sans"/>
                <a:sym typeface="DM Sans"/>
              </a:rPr>
              <a:t>must</a:t>
            </a:r>
            <a:r>
              <a:rPr lang="en" sz="2400">
                <a:solidFill>
                  <a:schemeClr val="dk1"/>
                </a:solidFill>
                <a:latin typeface="DM Sans"/>
                <a:ea typeface="DM Sans"/>
                <a:cs typeface="DM Sans"/>
                <a:sym typeface="DM Sans"/>
              </a:rPr>
              <a:t> be </a:t>
            </a:r>
            <a:r>
              <a:rPr lang="en" sz="2400" u="sng">
                <a:solidFill>
                  <a:schemeClr val="dk1"/>
                </a:solidFill>
                <a:latin typeface="DM Sans"/>
                <a:ea typeface="DM Sans"/>
                <a:cs typeface="DM Sans"/>
                <a:sym typeface="DM Sans"/>
              </a:rPr>
              <a:t>supported by the text.</a:t>
            </a:r>
            <a:endParaRPr sz="2400" u="sng">
              <a:solidFill>
                <a:schemeClr val="dk1"/>
              </a:solidFill>
              <a:latin typeface="DM Sans"/>
              <a:ea typeface="DM Sans"/>
              <a:cs typeface="DM Sans"/>
              <a:sym typeface="DM Sans"/>
            </a:endParaRPr>
          </a:p>
          <a:p>
            <a:pPr indent="0" lvl="0" marL="0" rtl="0" algn="r">
              <a:spcBef>
                <a:spcPts val="0"/>
              </a:spcBef>
              <a:spcAft>
                <a:spcPts val="0"/>
              </a:spcAft>
              <a:buNone/>
            </a:pPr>
            <a:r>
              <a:t/>
            </a:r>
            <a:endParaRPr sz="2400" u="sng">
              <a:solidFill>
                <a:schemeClr val="dk1"/>
              </a:solidFill>
              <a:latin typeface="DM Sans"/>
              <a:ea typeface="DM Sans"/>
              <a:cs typeface="DM Sans"/>
              <a:sym typeface="DM Sans"/>
            </a:endParaRPr>
          </a:p>
        </p:txBody>
      </p:sp>
      <p:sp>
        <p:nvSpPr>
          <p:cNvPr id="201" name="Google Shape;201;p21"/>
          <p:cNvSpPr txBox="1"/>
          <p:nvPr/>
        </p:nvSpPr>
        <p:spPr>
          <a:xfrm>
            <a:off x="4800600" y="1067275"/>
            <a:ext cx="4114800" cy="32325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DM Sans"/>
                <a:ea typeface="DM Sans"/>
                <a:cs typeface="DM Sans"/>
                <a:sym typeface="DM Sans"/>
              </a:rPr>
              <a:t>Before choosing an answer:</a:t>
            </a:r>
            <a:endParaRPr sz="18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800">
                <a:solidFill>
                  <a:schemeClr val="dk1"/>
                </a:solidFill>
                <a:latin typeface="DM Sans"/>
                <a:ea typeface="DM Sans"/>
                <a:cs typeface="DM Sans"/>
                <a:sym typeface="DM Sans"/>
              </a:rPr>
              <a:t>1. Read the question carefully.</a:t>
            </a:r>
            <a:endParaRPr sz="18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800">
                <a:solidFill>
                  <a:schemeClr val="dk1"/>
                </a:solidFill>
                <a:latin typeface="DM Sans"/>
                <a:ea typeface="DM Sans"/>
                <a:cs typeface="DM Sans"/>
                <a:sym typeface="DM Sans"/>
              </a:rPr>
              <a:t>2. Come up with an answer in your own words.</a:t>
            </a:r>
            <a:endParaRPr sz="18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800">
                <a:solidFill>
                  <a:schemeClr val="dk1"/>
                </a:solidFill>
                <a:latin typeface="DM Sans"/>
                <a:ea typeface="DM Sans"/>
                <a:cs typeface="DM Sans"/>
                <a:sym typeface="DM Sans"/>
              </a:rPr>
              <a:t>3. Go back to the passage.</a:t>
            </a:r>
            <a:endParaRPr sz="18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800">
                <a:solidFill>
                  <a:schemeClr val="dk1"/>
                </a:solidFill>
                <a:latin typeface="DM Sans"/>
                <a:ea typeface="DM Sans"/>
                <a:cs typeface="DM Sans"/>
                <a:sym typeface="DM Sans"/>
              </a:rPr>
              <a:t>4. Find the sentence or detail that proves your answer.</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5. Choose the answer choice that best matches that evidence.</a:t>
            </a:r>
            <a:endParaRPr sz="18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8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200">
                <a:solidFill>
                  <a:schemeClr val="dk1"/>
                </a:solidFill>
                <a:latin typeface="DM Sans"/>
                <a:ea typeface="DM Sans"/>
                <a:cs typeface="DM Sans"/>
                <a:sym typeface="DM Sans"/>
              </a:rPr>
              <a:t>If you cannot find evidence for an answer, reconsider it!</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8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800"/>
                                        <p:tgtEl>
                                          <p:spTgt spid="200"/>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8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05" name="Shape 205"/>
        <p:cNvGrpSpPr/>
        <p:nvPr/>
      </p:nvGrpSpPr>
      <p:grpSpPr>
        <a:xfrm>
          <a:off x="0" y="0"/>
          <a:ext cx="0" cy="0"/>
          <a:chOff x="0" y="0"/>
          <a:chExt cx="0" cy="0"/>
        </a:xfrm>
      </p:grpSpPr>
      <p:sp>
        <p:nvSpPr>
          <p:cNvPr id="206" name="Google Shape;206;p22"/>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07" name="Google Shape;207;p22"/>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2"/>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09" name="Google Shape;209;p22"/>
          <p:cNvSpPr txBox="1"/>
          <p:nvPr/>
        </p:nvSpPr>
        <p:spPr>
          <a:xfrm>
            <a:off x="1490400" y="297900"/>
            <a:ext cx="7425000" cy="600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900">
                <a:latin typeface="Merriweather"/>
                <a:ea typeface="Merriweather"/>
                <a:cs typeface="Merriweather"/>
                <a:sym typeface="Merriweather"/>
              </a:rPr>
              <a:t>Citing Evidence: Be Specific</a:t>
            </a:r>
            <a:endParaRPr sz="3900">
              <a:latin typeface="Merriweather"/>
              <a:ea typeface="Merriweather"/>
              <a:cs typeface="Merriweather"/>
              <a:sym typeface="Merriweather"/>
            </a:endParaRPr>
          </a:p>
        </p:txBody>
      </p:sp>
      <p:pic>
        <p:nvPicPr>
          <p:cNvPr id="210" name="Google Shape;210;p2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11" name="Google Shape;211;p22"/>
          <p:cNvSpPr txBox="1"/>
          <p:nvPr/>
        </p:nvSpPr>
        <p:spPr>
          <a:xfrm>
            <a:off x="484490" y="1457893"/>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100">
                <a:solidFill>
                  <a:schemeClr val="dk1"/>
                </a:solidFill>
                <a:latin typeface="DM Sans"/>
                <a:ea typeface="DM Sans"/>
                <a:cs typeface="DM Sans"/>
                <a:sym typeface="DM Sans"/>
              </a:rPr>
              <a:t>What Counts as Strong Evidence?</a:t>
            </a:r>
            <a:endParaRPr sz="2100">
              <a:solidFill>
                <a:schemeClr val="dk1"/>
              </a:solidFill>
              <a:latin typeface="DM Sans"/>
              <a:ea typeface="DM Sans"/>
              <a:cs typeface="DM Sans"/>
              <a:sym typeface="DM Sans"/>
            </a:endParaRPr>
          </a:p>
          <a:p>
            <a:pPr indent="-361950" lvl="0" marL="457200" rtl="0" algn="l">
              <a:spcBef>
                <a:spcPts val="0"/>
              </a:spcBef>
              <a:spcAft>
                <a:spcPts val="0"/>
              </a:spcAft>
              <a:buClr>
                <a:schemeClr val="dk1"/>
              </a:buClr>
              <a:buSzPts val="2100"/>
              <a:buFont typeface="DM Sans"/>
              <a:buChar char="-"/>
            </a:pPr>
            <a:r>
              <a:rPr lang="en" sz="2100">
                <a:solidFill>
                  <a:schemeClr val="dk1"/>
                </a:solidFill>
                <a:latin typeface="DM Sans"/>
                <a:ea typeface="DM Sans"/>
                <a:cs typeface="DM Sans"/>
                <a:sym typeface="DM Sans"/>
              </a:rPr>
              <a:t>Strong evidence directly supports the claim you are making.</a:t>
            </a:r>
            <a:endParaRPr sz="2100">
              <a:solidFill>
                <a:schemeClr val="dk1"/>
              </a:solidFill>
              <a:latin typeface="DM Sans"/>
              <a:ea typeface="DM Sans"/>
              <a:cs typeface="DM Sans"/>
              <a:sym typeface="DM Sans"/>
            </a:endParaRPr>
          </a:p>
          <a:p>
            <a:pPr indent="0" lvl="0" marL="0" rtl="0" algn="l">
              <a:spcBef>
                <a:spcPts val="0"/>
              </a:spcBef>
              <a:spcAft>
                <a:spcPts val="0"/>
              </a:spcAft>
              <a:buNone/>
            </a:pPr>
            <a:r>
              <a:t/>
            </a:r>
            <a:endParaRPr sz="2100">
              <a:solidFill>
                <a:schemeClr val="dk1"/>
              </a:solidFill>
              <a:latin typeface="DM Sans"/>
              <a:ea typeface="DM Sans"/>
              <a:cs typeface="DM Sans"/>
              <a:sym typeface="DM Sans"/>
            </a:endParaRPr>
          </a:p>
          <a:p>
            <a:pPr indent="0" lvl="0" marL="0" rtl="0" algn="l">
              <a:spcBef>
                <a:spcPts val="0"/>
              </a:spcBef>
              <a:spcAft>
                <a:spcPts val="0"/>
              </a:spcAft>
              <a:buNone/>
            </a:pPr>
            <a:r>
              <a:rPr lang="en" sz="2100">
                <a:solidFill>
                  <a:schemeClr val="dk1"/>
                </a:solidFill>
                <a:latin typeface="DM Sans"/>
                <a:ea typeface="DM Sans"/>
                <a:cs typeface="DM Sans"/>
                <a:sym typeface="DM Sans"/>
              </a:rPr>
              <a:t>Claim: Maya is nervous about performing.</a:t>
            </a:r>
            <a:endParaRPr sz="2100">
              <a:solidFill>
                <a:schemeClr val="dk1"/>
              </a:solidFill>
              <a:latin typeface="DM Sans"/>
              <a:ea typeface="DM Sans"/>
              <a:cs typeface="DM Sans"/>
              <a:sym typeface="DM Sans"/>
            </a:endParaRPr>
          </a:p>
        </p:txBody>
      </p:sp>
      <p:sp>
        <p:nvSpPr>
          <p:cNvPr id="212" name="Google Shape;212;p22"/>
          <p:cNvSpPr txBox="1"/>
          <p:nvPr/>
        </p:nvSpPr>
        <p:spPr>
          <a:xfrm>
            <a:off x="4715302" y="1067275"/>
            <a:ext cx="4114800" cy="30477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800">
                <a:solidFill>
                  <a:schemeClr val="dk1"/>
                </a:solidFill>
                <a:latin typeface="DM Sans"/>
                <a:ea typeface="DM Sans"/>
                <a:cs typeface="DM Sans"/>
                <a:sym typeface="DM Sans"/>
              </a:rPr>
              <a:t>Weak evidence:</a:t>
            </a:r>
            <a:endParaRPr sz="1800">
              <a:solidFill>
                <a:schemeClr val="dk1"/>
              </a:solidFill>
              <a:latin typeface="DM Sans"/>
              <a:ea typeface="DM Sans"/>
              <a:cs typeface="DM Sans"/>
              <a:sym typeface="DM Sans"/>
            </a:endParaRPr>
          </a:p>
          <a:p>
            <a:pPr indent="-342900" lvl="0" marL="457200" rtl="0" algn="l">
              <a:spcBef>
                <a:spcPts val="0"/>
              </a:spcBef>
              <a:spcAft>
                <a:spcPts val="0"/>
              </a:spcAft>
              <a:buClr>
                <a:schemeClr val="dk1"/>
              </a:buClr>
              <a:buSzPts val="1800"/>
              <a:buFont typeface="DM Sans"/>
              <a:buChar char="-"/>
            </a:pPr>
            <a:r>
              <a:rPr i="1" lang="en" sz="1800">
                <a:solidFill>
                  <a:schemeClr val="dk1"/>
                </a:solidFill>
                <a:latin typeface="DM Sans"/>
                <a:ea typeface="DM Sans"/>
                <a:cs typeface="DM Sans"/>
                <a:sym typeface="DM Sans"/>
              </a:rPr>
              <a:t>Maya is getting ready for the performance.</a:t>
            </a:r>
            <a:endParaRPr i="1"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Strong evidence:</a:t>
            </a:r>
            <a:endParaRPr sz="1800">
              <a:solidFill>
                <a:schemeClr val="dk1"/>
              </a:solidFill>
              <a:latin typeface="DM Sans"/>
              <a:ea typeface="DM Sans"/>
              <a:cs typeface="DM Sans"/>
              <a:sym typeface="DM Sans"/>
            </a:endParaRPr>
          </a:p>
          <a:p>
            <a:pPr indent="-342900" lvl="0" marL="457200" rtl="0" algn="l">
              <a:spcBef>
                <a:spcPts val="0"/>
              </a:spcBef>
              <a:spcAft>
                <a:spcPts val="0"/>
              </a:spcAft>
              <a:buClr>
                <a:schemeClr val="dk1"/>
              </a:buClr>
              <a:buSzPts val="1800"/>
              <a:buFont typeface="DM Sans"/>
              <a:buChar char="-"/>
            </a:pPr>
            <a:r>
              <a:rPr i="1" lang="en" sz="1800">
                <a:solidFill>
                  <a:schemeClr val="dk1"/>
                </a:solidFill>
                <a:latin typeface="DM Sans"/>
                <a:ea typeface="DM Sans"/>
                <a:cs typeface="DM Sans"/>
                <a:sym typeface="DM Sans"/>
              </a:rPr>
              <a:t>Before going onstage, Maya's hands shake and she repeatedly checks the curtain.</a:t>
            </a:r>
            <a:endParaRPr i="1" sz="1800">
              <a:solidFill>
                <a:schemeClr val="dk1"/>
              </a:solidFill>
              <a:latin typeface="DM Sans"/>
              <a:ea typeface="DM Sans"/>
              <a:cs typeface="DM Sans"/>
              <a:sym typeface="DM Sans"/>
            </a:endParaRPr>
          </a:p>
          <a:p>
            <a:pPr indent="0" lvl="0" marL="0" rtl="0" algn="l">
              <a:spcBef>
                <a:spcPts val="0"/>
              </a:spcBef>
              <a:spcAft>
                <a:spcPts val="0"/>
              </a:spcAft>
              <a:buNone/>
            </a:pPr>
            <a:r>
              <a:rPr lang="en" sz="1800">
                <a:solidFill>
                  <a:schemeClr val="dk1"/>
                </a:solidFill>
                <a:latin typeface="DM Sans"/>
                <a:ea typeface="DM Sans"/>
                <a:cs typeface="DM Sans"/>
                <a:sym typeface="DM Sans"/>
              </a:rPr>
              <a:t>The second detail is stronger because it directly shows nervousness.</a:t>
            </a:r>
            <a:endParaRPr sz="1800">
              <a:solidFill>
                <a:schemeClr val="dk1"/>
              </a:solidFill>
              <a:latin typeface="DM Sans"/>
              <a:ea typeface="DM Sans"/>
              <a:cs typeface="DM Sans"/>
              <a:sym typeface="DM Sans"/>
            </a:endParaRPr>
          </a:p>
          <a:p>
            <a:pPr indent="0" lvl="0" marL="0" rtl="0" algn="l">
              <a:spcBef>
                <a:spcPts val="0"/>
              </a:spcBef>
              <a:spcAft>
                <a:spcPts val="0"/>
              </a:spcAft>
              <a:buNone/>
            </a:pPr>
            <a:r>
              <a:rPr lang="en" sz="1800" u="sng">
                <a:solidFill>
                  <a:schemeClr val="dk1"/>
                </a:solidFill>
                <a:latin typeface="DM Sans"/>
                <a:ea typeface="DM Sans"/>
                <a:cs typeface="DM Sans"/>
                <a:sym typeface="DM Sans"/>
              </a:rPr>
              <a:t>Remember</a:t>
            </a:r>
            <a:r>
              <a:rPr lang="en" sz="1800">
                <a:solidFill>
                  <a:schemeClr val="dk1"/>
                </a:solidFill>
                <a:latin typeface="DM Sans"/>
                <a:ea typeface="DM Sans"/>
                <a:cs typeface="DM Sans"/>
                <a:sym typeface="DM Sans"/>
              </a:rPr>
              <a:t>: Find the evidence that most directly answers the question.</a:t>
            </a:r>
            <a:endParaRPr sz="18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800"/>
                                        <p:tgtEl>
                                          <p:spTgt spid="211"/>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8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16" name="Shape 216"/>
        <p:cNvGrpSpPr/>
        <p:nvPr/>
      </p:nvGrpSpPr>
      <p:grpSpPr>
        <a:xfrm>
          <a:off x="0" y="0"/>
          <a:ext cx="0" cy="0"/>
          <a:chOff x="0" y="0"/>
          <a:chExt cx="0" cy="0"/>
        </a:xfrm>
      </p:grpSpPr>
      <p:sp>
        <p:nvSpPr>
          <p:cNvPr id="217" name="Google Shape;217;p23"/>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18" name="Google Shape;218;p23"/>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3"/>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20" name="Google Shape;220;p23"/>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Progress Check: Where's the Evidence?</a:t>
            </a:r>
            <a:endParaRPr sz="3000">
              <a:latin typeface="Merriweather"/>
              <a:ea typeface="Merriweather"/>
              <a:cs typeface="Merriweather"/>
              <a:sym typeface="Merriweather"/>
            </a:endParaRPr>
          </a:p>
        </p:txBody>
      </p:sp>
      <p:pic>
        <p:nvPicPr>
          <p:cNvPr id="221" name="Google Shape;221;p2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22" name="Google Shape;222;p23"/>
          <p:cNvSpPr txBox="1"/>
          <p:nvPr/>
        </p:nvSpPr>
        <p:spPr>
          <a:xfrm>
            <a:off x="228600" y="1490400"/>
            <a:ext cx="4114800" cy="2370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200">
                <a:solidFill>
                  <a:schemeClr val="dk1"/>
                </a:solidFill>
                <a:latin typeface="DM Sans"/>
                <a:ea typeface="DM Sans"/>
                <a:cs typeface="DM Sans"/>
                <a:sym typeface="DM Sans"/>
              </a:rPr>
              <a:t>A passage says:</a:t>
            </a:r>
            <a:endParaRPr sz="2200">
              <a:solidFill>
                <a:schemeClr val="dk1"/>
              </a:solidFill>
              <a:latin typeface="DM Sans"/>
              <a:ea typeface="DM Sans"/>
              <a:cs typeface="DM Sans"/>
              <a:sym typeface="DM Sans"/>
            </a:endParaRPr>
          </a:p>
          <a:p>
            <a:pPr indent="0" lvl="0" marL="0" rtl="0" algn="l">
              <a:spcBef>
                <a:spcPts val="0"/>
              </a:spcBef>
              <a:spcAft>
                <a:spcPts val="0"/>
              </a:spcAft>
              <a:buNone/>
            </a:pPr>
            <a:r>
              <a:rPr lang="en" sz="2200">
                <a:solidFill>
                  <a:schemeClr val="dk1"/>
                </a:solidFill>
                <a:latin typeface="DM Sans"/>
                <a:ea typeface="DM Sans"/>
                <a:cs typeface="DM Sans"/>
                <a:sym typeface="DM Sans"/>
              </a:rPr>
              <a:t>Jordan stared at the unfinished model. He had already rebuilt it twice, but one side still leaned downward. He sighed, picked up the ruler, and began measuring again.</a:t>
            </a:r>
            <a:endParaRPr sz="2200">
              <a:solidFill>
                <a:schemeClr val="dk1"/>
              </a:solidFill>
              <a:latin typeface="DM Sans"/>
              <a:ea typeface="DM Sans"/>
              <a:cs typeface="DM Sans"/>
              <a:sym typeface="DM Sans"/>
            </a:endParaRPr>
          </a:p>
        </p:txBody>
      </p:sp>
      <p:sp>
        <p:nvSpPr>
          <p:cNvPr id="223" name="Google Shape;223;p23"/>
          <p:cNvSpPr txBox="1"/>
          <p:nvPr/>
        </p:nvSpPr>
        <p:spPr>
          <a:xfrm>
            <a:off x="4800600" y="1219151"/>
            <a:ext cx="4114800" cy="338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chemeClr val="dk1"/>
                </a:solidFill>
                <a:latin typeface="DM Sans"/>
                <a:ea typeface="DM Sans"/>
                <a:cs typeface="DM Sans"/>
                <a:sym typeface="DM Sans"/>
              </a:rPr>
              <a:t>Which detail BEST supports the idea that Jordan is persistent?</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A. The model is unfinished.</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B. One side leans downward.</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C. He has rebuilt the model twice and begins measuring again.</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D. He sighs while looking at the model.</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2000">
              <a:solidFill>
                <a:schemeClr val="dk1"/>
              </a:solidFill>
              <a:latin typeface="DM Sans"/>
              <a:ea typeface="DM Sans"/>
              <a:cs typeface="DM Sans"/>
              <a:sym typeface="DM Sans"/>
            </a:endParaRPr>
          </a:p>
          <a:p>
            <a:pPr indent="0" lvl="0" marL="0" rtl="0" algn="l">
              <a:spcBef>
                <a:spcPts val="0"/>
              </a:spcBef>
              <a:spcAft>
                <a:spcPts val="0"/>
              </a:spcAft>
              <a:buNone/>
            </a:pPr>
            <a:r>
              <a:t/>
            </a:r>
            <a:endParaRPr sz="20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800"/>
                                        <p:tgtEl>
                                          <p:spTgt spid="222"/>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8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27" name="Shape 227"/>
        <p:cNvGrpSpPr/>
        <p:nvPr/>
      </p:nvGrpSpPr>
      <p:grpSpPr>
        <a:xfrm>
          <a:off x="0" y="0"/>
          <a:ext cx="0" cy="0"/>
          <a:chOff x="0" y="0"/>
          <a:chExt cx="0" cy="0"/>
        </a:xfrm>
      </p:grpSpPr>
      <p:sp>
        <p:nvSpPr>
          <p:cNvPr id="228" name="Google Shape;228;p24"/>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29" name="Google Shape;229;p24"/>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4"/>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31" name="Google Shape;231;p24"/>
          <p:cNvSpPr txBox="1"/>
          <p:nvPr/>
        </p:nvSpPr>
        <p:spPr>
          <a:xfrm>
            <a:off x="1490400" y="244050"/>
            <a:ext cx="7425000" cy="708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600">
                <a:latin typeface="Merriweather"/>
                <a:ea typeface="Merriweather"/>
                <a:cs typeface="Merriweather"/>
                <a:sym typeface="Merriweather"/>
              </a:rPr>
              <a:t>Themes and Central Ideas</a:t>
            </a:r>
            <a:endParaRPr sz="4600">
              <a:latin typeface="Merriweather"/>
              <a:ea typeface="Merriweather"/>
              <a:cs typeface="Merriweather"/>
              <a:sym typeface="Merriweather"/>
            </a:endParaRPr>
          </a:p>
        </p:txBody>
      </p:sp>
      <p:pic>
        <p:nvPicPr>
          <p:cNvPr id="232" name="Google Shape;232;p2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33" name="Google Shape;233;p24"/>
          <p:cNvSpPr txBox="1"/>
          <p:nvPr/>
        </p:nvSpPr>
        <p:spPr>
          <a:xfrm>
            <a:off x="285466" y="1419318"/>
            <a:ext cx="4114800" cy="2709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200">
                <a:solidFill>
                  <a:schemeClr val="dk1"/>
                </a:solidFill>
                <a:latin typeface="DM Sans"/>
                <a:ea typeface="DM Sans"/>
                <a:cs typeface="DM Sans"/>
                <a:sym typeface="DM Sans"/>
              </a:rPr>
              <a:t>We already know how to identify a theme or central idea.</a:t>
            </a:r>
            <a:endParaRPr sz="2200">
              <a:solidFill>
                <a:schemeClr val="dk1"/>
              </a:solidFill>
              <a:latin typeface="DM Sans"/>
              <a:ea typeface="DM Sans"/>
              <a:cs typeface="DM Sans"/>
              <a:sym typeface="DM Sans"/>
            </a:endParaRPr>
          </a:p>
          <a:p>
            <a:pPr indent="0" lvl="0" marL="0" rtl="0" algn="l">
              <a:spcBef>
                <a:spcPts val="0"/>
              </a:spcBef>
              <a:spcAft>
                <a:spcPts val="0"/>
              </a:spcAft>
              <a:buNone/>
            </a:pPr>
            <a:r>
              <a:rPr lang="en" sz="2200">
                <a:solidFill>
                  <a:schemeClr val="dk1"/>
                </a:solidFill>
                <a:latin typeface="DM Sans"/>
                <a:ea typeface="DM Sans"/>
                <a:cs typeface="DM Sans"/>
                <a:sym typeface="DM Sans"/>
              </a:rPr>
              <a:t>Now, focus on:</a:t>
            </a:r>
            <a:endParaRPr sz="2200">
              <a:solidFill>
                <a:schemeClr val="dk1"/>
              </a:solidFill>
              <a:latin typeface="DM Sans"/>
              <a:ea typeface="DM Sans"/>
              <a:cs typeface="DM Sans"/>
              <a:sym typeface="DM Sans"/>
            </a:endParaRPr>
          </a:p>
          <a:p>
            <a:pPr indent="0" lvl="0" marL="0" rtl="0" algn="l">
              <a:spcBef>
                <a:spcPts val="0"/>
              </a:spcBef>
              <a:spcAft>
                <a:spcPts val="0"/>
              </a:spcAft>
              <a:buNone/>
            </a:pPr>
            <a:r>
              <a:rPr b="1" lang="en" sz="2200">
                <a:solidFill>
                  <a:schemeClr val="dk1"/>
                </a:solidFill>
                <a:latin typeface="DM Sans"/>
                <a:ea typeface="DM Sans"/>
                <a:cs typeface="DM Sans"/>
                <a:sym typeface="DM Sans"/>
              </a:rPr>
              <a:t>How does it develop?</a:t>
            </a:r>
            <a:endParaRPr b="1" sz="2200">
              <a:solidFill>
                <a:schemeClr val="dk1"/>
              </a:solidFill>
              <a:latin typeface="DM Sans"/>
              <a:ea typeface="DM Sans"/>
              <a:cs typeface="DM Sans"/>
              <a:sym typeface="DM Sans"/>
            </a:endParaRPr>
          </a:p>
          <a:p>
            <a:pPr indent="0" lvl="0" marL="0" rtl="0" algn="l">
              <a:spcBef>
                <a:spcPts val="0"/>
              </a:spcBef>
              <a:spcAft>
                <a:spcPts val="0"/>
              </a:spcAft>
              <a:buNone/>
            </a:pPr>
            <a:r>
              <a:rPr lang="en" sz="2200">
                <a:solidFill>
                  <a:schemeClr val="dk1"/>
                </a:solidFill>
                <a:latin typeface="DM Sans"/>
                <a:ea typeface="DM Sans"/>
                <a:cs typeface="DM Sans"/>
                <a:sym typeface="DM Sans"/>
              </a:rPr>
              <a:t>A theme or central idea usually becomes clearer as the text continues.</a:t>
            </a:r>
            <a:endParaRPr sz="2200">
              <a:solidFill>
                <a:schemeClr val="dk1"/>
              </a:solidFill>
              <a:latin typeface="DM Sans"/>
              <a:ea typeface="DM Sans"/>
              <a:cs typeface="DM Sans"/>
              <a:sym typeface="DM Sans"/>
            </a:endParaRPr>
          </a:p>
        </p:txBody>
      </p:sp>
      <p:sp>
        <p:nvSpPr>
          <p:cNvPr id="234" name="Google Shape;234;p24"/>
          <p:cNvSpPr txBox="1"/>
          <p:nvPr/>
        </p:nvSpPr>
        <p:spPr>
          <a:xfrm>
            <a:off x="4572000" y="1261800"/>
            <a:ext cx="4343400" cy="27705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800">
                <a:latin typeface="DM Sans"/>
                <a:ea typeface="DM Sans"/>
                <a:cs typeface="DM Sans"/>
                <a:sym typeface="DM Sans"/>
              </a:rPr>
              <a:t>Look for:</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important events</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new information</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conflicts or problems</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character choices</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repeated ideas</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 changes from the beginning to the end</a:t>
            </a:r>
            <a:endParaRPr sz="1800">
              <a:latin typeface="DM Sans"/>
              <a:ea typeface="DM Sans"/>
              <a:cs typeface="DM Sans"/>
              <a:sym typeface="DM Sans"/>
            </a:endParaRPr>
          </a:p>
          <a:p>
            <a:pPr indent="0" lvl="0" marL="0" rtl="0" algn="l">
              <a:spcBef>
                <a:spcPts val="0"/>
              </a:spcBef>
              <a:spcAft>
                <a:spcPts val="0"/>
              </a:spcAft>
              <a:buNone/>
            </a:pPr>
            <a:r>
              <a:t/>
            </a:r>
            <a:endParaRPr sz="1800">
              <a:latin typeface="DM Sans"/>
              <a:ea typeface="DM Sans"/>
              <a:cs typeface="DM Sans"/>
              <a:sym typeface="DM Sans"/>
            </a:endParaRPr>
          </a:p>
          <a:p>
            <a:pPr indent="0" lvl="0" marL="0" rtl="0" algn="l">
              <a:spcBef>
                <a:spcPts val="0"/>
              </a:spcBef>
              <a:spcAft>
                <a:spcPts val="0"/>
              </a:spcAft>
              <a:buNone/>
            </a:pPr>
            <a:r>
              <a:rPr lang="en" sz="1800">
                <a:latin typeface="DM Sans"/>
                <a:ea typeface="DM Sans"/>
                <a:cs typeface="DM Sans"/>
                <a:sym typeface="DM Sans"/>
              </a:rPr>
              <a:t>Ask: What does each part of the text add to the idea?</a:t>
            </a:r>
            <a:endParaRPr sz="18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800"/>
                                        <p:tgtEl>
                                          <p:spTgt spid="233"/>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8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38" name="Shape 238"/>
        <p:cNvGrpSpPr/>
        <p:nvPr/>
      </p:nvGrpSpPr>
      <p:grpSpPr>
        <a:xfrm>
          <a:off x="0" y="0"/>
          <a:ext cx="0" cy="0"/>
          <a:chOff x="0" y="0"/>
          <a:chExt cx="0" cy="0"/>
        </a:xfrm>
      </p:grpSpPr>
      <p:sp>
        <p:nvSpPr>
          <p:cNvPr id="239" name="Google Shape;239;p25"/>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40" name="Google Shape;240;p25"/>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5"/>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42" name="Google Shape;242;p2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Development of a Theme</a:t>
            </a:r>
            <a:endParaRPr sz="4800">
              <a:latin typeface="Merriweather"/>
              <a:ea typeface="Merriweather"/>
              <a:cs typeface="Merriweather"/>
              <a:sym typeface="Merriweather"/>
            </a:endParaRPr>
          </a:p>
        </p:txBody>
      </p:sp>
      <p:pic>
        <p:nvPicPr>
          <p:cNvPr id="243" name="Google Shape;243;p2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44" name="Google Shape;244;p25"/>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solidFill>
                  <a:schemeClr val="dk1"/>
                </a:solidFill>
                <a:latin typeface="DM Sans"/>
                <a:ea typeface="DM Sans"/>
                <a:cs typeface="DM Sans"/>
                <a:sym typeface="DM Sans"/>
              </a:rPr>
              <a:t>How Does a Theme Develop?</a:t>
            </a:r>
            <a:endParaRPr sz="2400">
              <a:solidFill>
                <a:schemeClr val="dk1"/>
              </a:solidFill>
              <a:latin typeface="DM Sans"/>
              <a:ea typeface="DM Sans"/>
              <a:cs typeface="DM Sans"/>
              <a:sym typeface="DM Sans"/>
            </a:endParaRPr>
          </a:p>
          <a:p>
            <a:pPr indent="0" lvl="0" marL="0" rtl="0" algn="r">
              <a:spcBef>
                <a:spcPts val="0"/>
              </a:spcBef>
              <a:spcAft>
                <a:spcPts val="0"/>
              </a:spcAft>
              <a:buNone/>
            </a:pPr>
            <a:r>
              <a:t/>
            </a:r>
            <a:endParaRPr sz="2400">
              <a:solidFill>
                <a:schemeClr val="dk1"/>
              </a:solidFill>
              <a:latin typeface="DM Sans"/>
              <a:ea typeface="DM Sans"/>
              <a:cs typeface="DM Sans"/>
              <a:sym typeface="DM Sans"/>
            </a:endParaRPr>
          </a:p>
          <a:p>
            <a:pPr indent="0" lvl="0" marL="0" rtl="0" algn="r">
              <a:spcBef>
                <a:spcPts val="0"/>
              </a:spcBef>
              <a:spcAft>
                <a:spcPts val="0"/>
              </a:spcAft>
              <a:buNone/>
            </a:pPr>
            <a:r>
              <a:rPr lang="en" sz="2400">
                <a:solidFill>
                  <a:schemeClr val="dk1"/>
                </a:solidFill>
                <a:latin typeface="DM Sans"/>
                <a:ea typeface="DM Sans"/>
                <a:cs typeface="DM Sans"/>
                <a:sym typeface="DM Sans"/>
              </a:rPr>
              <a:t>A theme develops through the </a:t>
            </a:r>
            <a:r>
              <a:rPr b="1" lang="en" sz="2400">
                <a:solidFill>
                  <a:schemeClr val="dk1"/>
                </a:solidFill>
                <a:latin typeface="DM Sans"/>
                <a:ea typeface="DM Sans"/>
                <a:cs typeface="DM Sans"/>
                <a:sym typeface="DM Sans"/>
              </a:rPr>
              <a:t>details and events of the text.</a:t>
            </a:r>
            <a:endParaRPr b="1" sz="2400">
              <a:solidFill>
                <a:schemeClr val="dk1"/>
              </a:solidFill>
              <a:latin typeface="DM Sans"/>
              <a:ea typeface="DM Sans"/>
              <a:cs typeface="DM Sans"/>
              <a:sym typeface="DM Sans"/>
            </a:endParaRPr>
          </a:p>
          <a:p>
            <a:pPr indent="0" lvl="0" marL="0" rtl="0" algn="r">
              <a:spcBef>
                <a:spcPts val="0"/>
              </a:spcBef>
              <a:spcAft>
                <a:spcPts val="0"/>
              </a:spcAft>
              <a:buNone/>
            </a:pPr>
            <a:r>
              <a:t/>
            </a:r>
            <a:endParaRPr b="1" sz="2400">
              <a:solidFill>
                <a:schemeClr val="dk1"/>
              </a:solidFill>
              <a:latin typeface="DM Sans"/>
              <a:ea typeface="DM Sans"/>
              <a:cs typeface="DM Sans"/>
              <a:sym typeface="DM Sans"/>
            </a:endParaRPr>
          </a:p>
        </p:txBody>
      </p:sp>
      <p:sp>
        <p:nvSpPr>
          <p:cNvPr id="245" name="Google Shape;245;p25"/>
          <p:cNvSpPr txBox="1"/>
          <p:nvPr/>
        </p:nvSpPr>
        <p:spPr>
          <a:xfrm>
            <a:off x="4572000" y="1067275"/>
            <a:ext cx="4343400" cy="30786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 sz="1500">
                <a:solidFill>
                  <a:schemeClr val="dk1"/>
                </a:solidFill>
                <a:latin typeface="DM Sans"/>
                <a:ea typeface="DM Sans"/>
                <a:cs typeface="DM Sans"/>
                <a:sym typeface="DM Sans"/>
              </a:rPr>
              <a:t>For example:</a:t>
            </a:r>
            <a:endParaRPr sz="1500">
              <a:solidFill>
                <a:schemeClr val="dk1"/>
              </a:solidFill>
              <a:latin typeface="DM Sans"/>
              <a:ea typeface="DM Sans"/>
              <a:cs typeface="DM Sans"/>
              <a:sym typeface="DM Sans"/>
            </a:endParaRPr>
          </a:p>
          <a:p>
            <a:pPr indent="0" lvl="0" marL="0" rtl="0" algn="l">
              <a:spcBef>
                <a:spcPts val="0"/>
              </a:spcBef>
              <a:spcAft>
                <a:spcPts val="0"/>
              </a:spcAft>
              <a:buNone/>
            </a:pPr>
            <a:r>
              <a:t/>
            </a:r>
            <a:endParaRPr sz="500">
              <a:latin typeface="DM Sans"/>
              <a:ea typeface="DM Sans"/>
              <a:cs typeface="DM Sans"/>
              <a:sym typeface="DM Sans"/>
            </a:endParaRPr>
          </a:p>
          <a:p>
            <a:pPr indent="-323850" lvl="0" marL="457200" rtl="0" algn="l">
              <a:spcBef>
                <a:spcPts val="0"/>
              </a:spcBef>
              <a:spcAft>
                <a:spcPts val="0"/>
              </a:spcAft>
              <a:buSzPts val="1500"/>
              <a:buFont typeface="DM Sans"/>
              <a:buChar char="-"/>
            </a:pPr>
            <a:r>
              <a:rPr b="1" lang="en" sz="1500">
                <a:latin typeface="DM Sans"/>
                <a:ea typeface="DM Sans"/>
                <a:cs typeface="DM Sans"/>
                <a:sym typeface="DM Sans"/>
              </a:rPr>
              <a:t>Beginning</a:t>
            </a:r>
            <a:r>
              <a:rPr lang="en" sz="1500">
                <a:latin typeface="DM Sans"/>
                <a:ea typeface="DM Sans"/>
                <a:cs typeface="DM Sans"/>
                <a:sym typeface="DM Sans"/>
              </a:rPr>
              <a:t>: A character refuses help because she wants to solve every problem alone.</a:t>
            </a:r>
            <a:endParaRPr sz="1500">
              <a:latin typeface="DM Sans"/>
              <a:ea typeface="DM Sans"/>
              <a:cs typeface="DM Sans"/>
              <a:sym typeface="DM Sans"/>
            </a:endParaRPr>
          </a:p>
          <a:p>
            <a:pPr indent="-323850" lvl="0" marL="457200" rtl="0" algn="l">
              <a:spcBef>
                <a:spcPts val="0"/>
              </a:spcBef>
              <a:spcAft>
                <a:spcPts val="0"/>
              </a:spcAft>
              <a:buSzPts val="1500"/>
              <a:buFont typeface="DM Sans"/>
              <a:buChar char="-"/>
            </a:pPr>
            <a:r>
              <a:rPr b="1" lang="en" sz="1500">
                <a:latin typeface="DM Sans"/>
                <a:ea typeface="DM Sans"/>
                <a:cs typeface="DM Sans"/>
                <a:sym typeface="DM Sans"/>
              </a:rPr>
              <a:t>Middle</a:t>
            </a:r>
            <a:r>
              <a:rPr lang="en" sz="1500">
                <a:latin typeface="DM Sans"/>
                <a:ea typeface="DM Sans"/>
                <a:cs typeface="DM Sans"/>
                <a:sym typeface="DM Sans"/>
              </a:rPr>
              <a:t>: She struggles and realizes that refusing help makes the problem worse.</a:t>
            </a:r>
            <a:endParaRPr sz="1500">
              <a:latin typeface="DM Sans"/>
              <a:ea typeface="DM Sans"/>
              <a:cs typeface="DM Sans"/>
              <a:sym typeface="DM Sans"/>
            </a:endParaRPr>
          </a:p>
          <a:p>
            <a:pPr indent="-323850" lvl="0" marL="457200" rtl="0" algn="l">
              <a:spcBef>
                <a:spcPts val="0"/>
              </a:spcBef>
              <a:spcAft>
                <a:spcPts val="0"/>
              </a:spcAft>
              <a:buSzPts val="1500"/>
              <a:buFont typeface="DM Sans"/>
              <a:buChar char="-"/>
            </a:pPr>
            <a:r>
              <a:rPr b="1" lang="en" sz="1500">
                <a:latin typeface="DM Sans"/>
                <a:ea typeface="DM Sans"/>
                <a:cs typeface="DM Sans"/>
                <a:sym typeface="DM Sans"/>
              </a:rPr>
              <a:t>End</a:t>
            </a:r>
            <a:r>
              <a:rPr lang="en" sz="1500">
                <a:latin typeface="DM Sans"/>
                <a:ea typeface="DM Sans"/>
                <a:cs typeface="DM Sans"/>
                <a:sym typeface="DM Sans"/>
              </a:rPr>
              <a:t>: She accepts help from a friend and succeeds.</a:t>
            </a:r>
            <a:endParaRPr sz="1500">
              <a:latin typeface="DM Sans"/>
              <a:ea typeface="DM Sans"/>
              <a:cs typeface="DM Sans"/>
              <a:sym typeface="DM Sans"/>
            </a:endParaRPr>
          </a:p>
          <a:p>
            <a:pPr indent="0" lvl="0" marL="0" rtl="0" algn="l">
              <a:spcBef>
                <a:spcPts val="0"/>
              </a:spcBef>
              <a:spcAft>
                <a:spcPts val="0"/>
              </a:spcAft>
              <a:buNone/>
            </a:pPr>
            <a:r>
              <a:t/>
            </a:r>
            <a:endParaRPr sz="1500">
              <a:latin typeface="DM Sans"/>
              <a:ea typeface="DM Sans"/>
              <a:cs typeface="DM Sans"/>
              <a:sym typeface="DM Sans"/>
            </a:endParaRPr>
          </a:p>
          <a:p>
            <a:pPr indent="0" lvl="0" marL="0" rtl="0" algn="l">
              <a:spcBef>
                <a:spcPts val="0"/>
              </a:spcBef>
              <a:spcAft>
                <a:spcPts val="0"/>
              </a:spcAft>
              <a:buNone/>
            </a:pPr>
            <a:r>
              <a:rPr b="1" lang="en" sz="1500">
                <a:latin typeface="DM Sans"/>
                <a:ea typeface="DM Sans"/>
                <a:cs typeface="DM Sans"/>
                <a:sym typeface="DM Sans"/>
              </a:rPr>
              <a:t>Theme</a:t>
            </a:r>
            <a:r>
              <a:rPr lang="en" sz="1500">
                <a:latin typeface="DM Sans"/>
                <a:ea typeface="DM Sans"/>
                <a:cs typeface="DM Sans"/>
                <a:sym typeface="DM Sans"/>
              </a:rPr>
              <a:t>: Asking others for help can be a sign of strength rather than weakness.</a:t>
            </a:r>
            <a:endParaRPr sz="1500">
              <a:latin typeface="DM Sans"/>
              <a:ea typeface="DM Sans"/>
              <a:cs typeface="DM Sans"/>
              <a:sym typeface="DM Sans"/>
            </a:endParaRPr>
          </a:p>
          <a:p>
            <a:pPr indent="0" lvl="0" marL="0" rtl="0" algn="l">
              <a:spcBef>
                <a:spcPts val="0"/>
              </a:spcBef>
              <a:spcAft>
                <a:spcPts val="0"/>
              </a:spcAft>
              <a:buNone/>
            </a:pPr>
            <a:r>
              <a:t/>
            </a:r>
            <a:endParaRPr sz="1500">
              <a:latin typeface="DM Sans"/>
              <a:ea typeface="DM Sans"/>
              <a:cs typeface="DM Sans"/>
              <a:sym typeface="DM Sans"/>
            </a:endParaRPr>
          </a:p>
          <a:p>
            <a:pPr indent="0" lvl="0" marL="0" rtl="0" algn="l">
              <a:spcBef>
                <a:spcPts val="0"/>
              </a:spcBef>
              <a:spcAft>
                <a:spcPts val="0"/>
              </a:spcAft>
              <a:buNone/>
            </a:pPr>
            <a:r>
              <a:rPr lang="en" sz="1500">
                <a:latin typeface="DM Sans"/>
                <a:ea typeface="DM Sans"/>
                <a:cs typeface="DM Sans"/>
                <a:sym typeface="DM Sans"/>
              </a:rPr>
              <a:t>Each event helps </a:t>
            </a:r>
            <a:r>
              <a:rPr b="1" lang="en" sz="1500">
                <a:latin typeface="DM Sans"/>
                <a:ea typeface="DM Sans"/>
                <a:cs typeface="DM Sans"/>
                <a:sym typeface="DM Sans"/>
              </a:rPr>
              <a:t>build toward</a:t>
            </a:r>
            <a:r>
              <a:rPr lang="en" sz="1500">
                <a:latin typeface="DM Sans"/>
                <a:ea typeface="DM Sans"/>
                <a:cs typeface="DM Sans"/>
                <a:sym typeface="DM Sans"/>
              </a:rPr>
              <a:t> the theme.</a:t>
            </a:r>
            <a:endParaRPr sz="15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800"/>
                                        <p:tgtEl>
                                          <p:spTgt spid="244"/>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8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49" name="Shape 249"/>
        <p:cNvGrpSpPr/>
        <p:nvPr/>
      </p:nvGrpSpPr>
      <p:grpSpPr>
        <a:xfrm>
          <a:off x="0" y="0"/>
          <a:ext cx="0" cy="0"/>
          <a:chOff x="0" y="0"/>
          <a:chExt cx="0" cy="0"/>
        </a:xfrm>
      </p:grpSpPr>
      <p:sp>
        <p:nvSpPr>
          <p:cNvPr id="250" name="Google Shape;250;p26"/>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51" name="Google Shape;251;p26"/>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26"/>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53" name="Google Shape;253;p26"/>
          <p:cNvSpPr txBox="1"/>
          <p:nvPr/>
        </p:nvSpPr>
        <p:spPr>
          <a:xfrm>
            <a:off x="1490400" y="290250"/>
            <a:ext cx="7425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000">
                <a:latin typeface="Merriweather"/>
                <a:ea typeface="Merriweather"/>
                <a:cs typeface="Merriweather"/>
                <a:sym typeface="Merriweather"/>
              </a:rPr>
              <a:t>Development of a Central Idea</a:t>
            </a:r>
            <a:endParaRPr sz="4000">
              <a:latin typeface="Merriweather"/>
              <a:ea typeface="Merriweather"/>
              <a:cs typeface="Merriweather"/>
              <a:sym typeface="Merriweather"/>
            </a:endParaRPr>
          </a:p>
        </p:txBody>
      </p:sp>
      <p:pic>
        <p:nvPicPr>
          <p:cNvPr id="254" name="Google Shape;254;p2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55" name="Google Shape;255;p26"/>
          <p:cNvSpPr txBox="1"/>
          <p:nvPr/>
        </p:nvSpPr>
        <p:spPr>
          <a:xfrm>
            <a:off x="242816" y="1405101"/>
            <a:ext cx="4278000" cy="27705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000">
                <a:solidFill>
                  <a:schemeClr val="dk1"/>
                </a:solidFill>
                <a:latin typeface="DM Sans"/>
                <a:ea typeface="DM Sans"/>
                <a:cs typeface="DM Sans"/>
                <a:sym typeface="DM Sans"/>
              </a:rPr>
              <a:t>How Does a Central Idea Develop?</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In informational texts, authors develop a central idea by adding:</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facts</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examples</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explanations</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statistics</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causes and effects</a:t>
            </a:r>
            <a:endParaRPr sz="2000">
              <a:solidFill>
                <a:schemeClr val="dk1"/>
              </a:solidFill>
              <a:latin typeface="DM Sans"/>
              <a:ea typeface="DM Sans"/>
              <a:cs typeface="DM Sans"/>
              <a:sym typeface="DM Sans"/>
            </a:endParaRPr>
          </a:p>
          <a:p>
            <a:pPr indent="0" lvl="0" marL="0" rtl="0" algn="l">
              <a:spcBef>
                <a:spcPts val="0"/>
              </a:spcBef>
              <a:spcAft>
                <a:spcPts val="0"/>
              </a:spcAft>
              <a:buNone/>
            </a:pPr>
            <a:r>
              <a:rPr lang="en" sz="2000">
                <a:solidFill>
                  <a:schemeClr val="dk1"/>
                </a:solidFill>
                <a:latin typeface="DM Sans"/>
                <a:ea typeface="DM Sans"/>
                <a:cs typeface="DM Sans"/>
                <a:sym typeface="DM Sans"/>
              </a:rPr>
              <a:t>- comparisons</a:t>
            </a:r>
            <a:endParaRPr sz="2000">
              <a:solidFill>
                <a:schemeClr val="dk1"/>
              </a:solidFill>
              <a:latin typeface="DM Sans"/>
              <a:ea typeface="DM Sans"/>
              <a:cs typeface="DM Sans"/>
              <a:sym typeface="DM Sans"/>
            </a:endParaRPr>
          </a:p>
        </p:txBody>
      </p:sp>
      <p:sp>
        <p:nvSpPr>
          <p:cNvPr id="256" name="Google Shape;256;p26"/>
          <p:cNvSpPr txBox="1"/>
          <p:nvPr/>
        </p:nvSpPr>
        <p:spPr>
          <a:xfrm>
            <a:off x="4572000" y="1067275"/>
            <a:ext cx="43434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600">
                <a:latin typeface="DM Sans"/>
                <a:ea typeface="DM Sans"/>
                <a:cs typeface="DM Sans"/>
                <a:sym typeface="DM Sans"/>
              </a:rPr>
              <a:t>Example</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Central Idea: </a:t>
            </a:r>
            <a:r>
              <a:rPr b="1" lang="en" sz="1600">
                <a:latin typeface="DM Sans"/>
                <a:ea typeface="DM Sans"/>
                <a:cs typeface="DM Sans"/>
                <a:sym typeface="DM Sans"/>
              </a:rPr>
              <a:t>Urban trees improve city environments.</a:t>
            </a:r>
            <a:endParaRPr b="1" sz="1600">
              <a:latin typeface="DM Sans"/>
              <a:ea typeface="DM Sans"/>
              <a:cs typeface="DM Sans"/>
              <a:sym typeface="DM Sans"/>
            </a:endParaRPr>
          </a:p>
          <a:p>
            <a:pPr indent="-330200" lvl="0" marL="457200" rtl="0" algn="l">
              <a:spcBef>
                <a:spcPts val="0"/>
              </a:spcBef>
              <a:spcAft>
                <a:spcPts val="0"/>
              </a:spcAft>
              <a:buSzPts val="1600"/>
              <a:buFont typeface="DM Sans"/>
              <a:buChar char="-"/>
            </a:pPr>
            <a:r>
              <a:rPr lang="en" sz="1600">
                <a:latin typeface="DM Sans"/>
                <a:ea typeface="DM Sans"/>
                <a:cs typeface="DM Sans"/>
                <a:sym typeface="DM Sans"/>
              </a:rPr>
              <a:t>Paragraph 1 → explains how trees provide shade</a:t>
            </a:r>
            <a:endParaRPr sz="1600">
              <a:latin typeface="DM Sans"/>
              <a:ea typeface="DM Sans"/>
              <a:cs typeface="DM Sans"/>
              <a:sym typeface="DM Sans"/>
            </a:endParaRPr>
          </a:p>
          <a:p>
            <a:pPr indent="-330200" lvl="0" marL="457200" rtl="0" algn="l">
              <a:spcBef>
                <a:spcPts val="0"/>
              </a:spcBef>
              <a:spcAft>
                <a:spcPts val="0"/>
              </a:spcAft>
              <a:buSzPts val="1600"/>
              <a:buFont typeface="DM Sans"/>
              <a:buChar char="-"/>
            </a:pPr>
            <a:r>
              <a:rPr lang="en" sz="1600">
                <a:latin typeface="DM Sans"/>
                <a:ea typeface="DM Sans"/>
                <a:cs typeface="DM Sans"/>
                <a:sym typeface="DM Sans"/>
              </a:rPr>
              <a:t>Paragraph 2 → describes how they reduce air pollution</a:t>
            </a:r>
            <a:endParaRPr sz="1600">
              <a:latin typeface="DM Sans"/>
              <a:ea typeface="DM Sans"/>
              <a:cs typeface="DM Sans"/>
              <a:sym typeface="DM Sans"/>
            </a:endParaRPr>
          </a:p>
          <a:p>
            <a:pPr indent="-330200" lvl="0" marL="457200" rtl="0" algn="l">
              <a:spcBef>
                <a:spcPts val="0"/>
              </a:spcBef>
              <a:spcAft>
                <a:spcPts val="0"/>
              </a:spcAft>
              <a:buSzPts val="1600"/>
              <a:buFont typeface="DM Sans"/>
              <a:buChar char="-"/>
            </a:pPr>
            <a:r>
              <a:rPr lang="en" sz="1600">
                <a:latin typeface="DM Sans"/>
                <a:ea typeface="DM Sans"/>
                <a:cs typeface="DM Sans"/>
                <a:sym typeface="DM Sans"/>
              </a:rPr>
              <a:t>Paragraph 3 → gives evidence that they can lower neighborhood temperatures</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Each paragraph adds another piece of evidence or explanation to </a:t>
            </a:r>
            <a:r>
              <a:rPr b="1" lang="en" sz="1600">
                <a:latin typeface="DM Sans"/>
                <a:ea typeface="DM Sans"/>
                <a:cs typeface="DM Sans"/>
                <a:sym typeface="DM Sans"/>
              </a:rPr>
              <a:t>develop the central idea.</a:t>
            </a:r>
            <a:endParaRPr b="1" sz="16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800"/>
                                        <p:tgtEl>
                                          <p:spTgt spid="255"/>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8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60" name="Shape 260"/>
        <p:cNvGrpSpPr/>
        <p:nvPr/>
      </p:nvGrpSpPr>
      <p:grpSpPr>
        <a:xfrm>
          <a:off x="0" y="0"/>
          <a:ext cx="0" cy="0"/>
          <a:chOff x="0" y="0"/>
          <a:chExt cx="0" cy="0"/>
        </a:xfrm>
      </p:grpSpPr>
      <p:sp>
        <p:nvSpPr>
          <p:cNvPr id="261" name="Google Shape;261;p27"/>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62" name="Google Shape;262;p27"/>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7"/>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64" name="Google Shape;264;p27"/>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Visual Text</a:t>
            </a:r>
            <a:endParaRPr sz="4800">
              <a:latin typeface="Merriweather"/>
              <a:ea typeface="Merriweather"/>
              <a:cs typeface="Merriweather"/>
              <a:sym typeface="Merriweather"/>
            </a:endParaRPr>
          </a:p>
        </p:txBody>
      </p:sp>
      <p:pic>
        <p:nvPicPr>
          <p:cNvPr id="265" name="Google Shape;265;p2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66" name="Google Shape;266;p27"/>
          <p:cNvSpPr txBox="1"/>
          <p:nvPr/>
        </p:nvSpPr>
        <p:spPr>
          <a:xfrm>
            <a:off x="228600" y="1490400"/>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solidFill>
                  <a:schemeClr val="dk1"/>
                </a:solidFill>
                <a:latin typeface="DM Sans"/>
                <a:ea typeface="DM Sans"/>
                <a:cs typeface="DM Sans"/>
                <a:sym typeface="DM Sans"/>
              </a:rPr>
              <a:t>Some questions include both written text and a visual.</a:t>
            </a:r>
            <a:endParaRPr sz="2400">
              <a:solidFill>
                <a:schemeClr val="dk1"/>
              </a:solidFill>
              <a:latin typeface="DM Sans"/>
              <a:ea typeface="DM Sans"/>
              <a:cs typeface="DM Sans"/>
              <a:sym typeface="DM Sans"/>
            </a:endParaRPr>
          </a:p>
        </p:txBody>
      </p:sp>
      <p:sp>
        <p:nvSpPr>
          <p:cNvPr id="267" name="Google Shape;267;p27"/>
          <p:cNvSpPr txBox="1"/>
          <p:nvPr/>
        </p:nvSpPr>
        <p:spPr>
          <a:xfrm>
            <a:off x="4800600" y="11350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600">
                <a:latin typeface="DM Sans"/>
                <a:ea typeface="DM Sans"/>
                <a:cs typeface="DM Sans"/>
                <a:sym typeface="DM Sans"/>
              </a:rPr>
              <a:t>Visuals may include:</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 graphs</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 charts</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 diagrams</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 maps</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 timelines</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 photographs</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 illustrations</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Do NOT treat the visual as something separate.</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Ask: What information does the visual add to the text?</a:t>
            </a:r>
            <a:endParaRPr sz="16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800"/>
                                        <p:tgtEl>
                                          <p:spTgt spid="266"/>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8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71" name="Shape 271"/>
        <p:cNvGrpSpPr/>
        <p:nvPr/>
      </p:nvGrpSpPr>
      <p:grpSpPr>
        <a:xfrm>
          <a:off x="0" y="0"/>
          <a:ext cx="0" cy="0"/>
          <a:chOff x="0" y="0"/>
          <a:chExt cx="0" cy="0"/>
        </a:xfrm>
      </p:grpSpPr>
      <p:sp>
        <p:nvSpPr>
          <p:cNvPr id="272" name="Google Shape;272;p28"/>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73" name="Google Shape;273;p28"/>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28"/>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75" name="Google Shape;275;p28"/>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Reading a Visual</a:t>
            </a:r>
            <a:endParaRPr sz="4800">
              <a:latin typeface="Merriweather"/>
              <a:ea typeface="Merriweather"/>
              <a:cs typeface="Merriweather"/>
              <a:sym typeface="Merriweather"/>
            </a:endParaRPr>
          </a:p>
        </p:txBody>
      </p:sp>
      <p:pic>
        <p:nvPicPr>
          <p:cNvPr id="276" name="Google Shape;276;p2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77" name="Google Shape;277;p28"/>
          <p:cNvSpPr txBox="1"/>
          <p:nvPr/>
        </p:nvSpPr>
        <p:spPr>
          <a:xfrm>
            <a:off x="356550" y="1348225"/>
            <a:ext cx="4114800" cy="2801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Before connecting a visual to the passage, figure out what the visual is actually showing.</a:t>
            </a:r>
            <a:endParaRPr>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latin typeface="DM Sans"/>
              <a:ea typeface="DM Sans"/>
              <a:cs typeface="DM Sans"/>
              <a:sym typeface="DM Sans"/>
            </a:endParaRPr>
          </a:p>
          <a:p>
            <a:pPr indent="0" lvl="0" marL="0" rtl="0" algn="l">
              <a:spcBef>
                <a:spcPts val="0"/>
              </a:spcBef>
              <a:spcAft>
                <a:spcPts val="0"/>
              </a:spcAft>
              <a:buNone/>
            </a:pPr>
            <a:r>
              <a:rPr b="1" lang="en">
                <a:solidFill>
                  <a:schemeClr val="dk1"/>
                </a:solidFill>
                <a:latin typeface="DM Sans"/>
                <a:ea typeface="DM Sans"/>
                <a:cs typeface="DM Sans"/>
                <a:sym typeface="DM Sans"/>
              </a:rPr>
              <a:t>1. Identify the visual.</a:t>
            </a:r>
            <a:endParaRPr b="1">
              <a:solidFill>
                <a:schemeClr val="dk1"/>
              </a:solidFill>
              <a:latin typeface="DM Sans"/>
              <a:ea typeface="DM Sans"/>
              <a:cs typeface="DM Sans"/>
              <a:sym typeface="DM Sans"/>
            </a:endParaRPr>
          </a:p>
          <a:p>
            <a:pPr indent="0" lvl="0" marL="0" rtl="0" algn="l">
              <a:spcBef>
                <a:spcPts val="0"/>
              </a:spcBef>
              <a:spcAft>
                <a:spcPts val="0"/>
              </a:spcAft>
              <a:buNone/>
            </a:pPr>
            <a:r>
              <a:rPr lang="en">
                <a:solidFill>
                  <a:schemeClr val="dk1"/>
                </a:solidFill>
                <a:latin typeface="DM Sans"/>
                <a:ea typeface="DM Sans"/>
                <a:cs typeface="DM Sans"/>
                <a:sym typeface="DM Sans"/>
              </a:rPr>
              <a:t>Is it a graph? Diagram? Map? Chart?</a:t>
            </a:r>
            <a:endParaRPr>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n">
                <a:solidFill>
                  <a:schemeClr val="dk1"/>
                </a:solidFill>
                <a:latin typeface="DM Sans"/>
                <a:ea typeface="DM Sans"/>
                <a:cs typeface="DM Sans"/>
                <a:sym typeface="DM Sans"/>
              </a:rPr>
              <a:t>2. Read everything. </a:t>
            </a:r>
            <a:r>
              <a:rPr lang="en">
                <a:solidFill>
                  <a:schemeClr val="dk1"/>
                </a:solidFill>
                <a:latin typeface="DM Sans"/>
                <a:ea typeface="DM Sans"/>
                <a:cs typeface="DM Sans"/>
                <a:sym typeface="DM Sans"/>
              </a:rPr>
              <a:t>Check:</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 title</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 labels</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 axes</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 key/legend</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 captions</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 units</a:t>
            </a:r>
            <a:endParaRPr>
              <a:solidFill>
                <a:schemeClr val="dk1"/>
              </a:solidFill>
              <a:latin typeface="DM Sans"/>
              <a:ea typeface="DM Sans"/>
              <a:cs typeface="DM Sans"/>
              <a:sym typeface="DM Sans"/>
            </a:endParaRPr>
          </a:p>
        </p:txBody>
      </p:sp>
      <p:sp>
        <p:nvSpPr>
          <p:cNvPr id="278" name="Google Shape;278;p28"/>
          <p:cNvSpPr txBox="1"/>
          <p:nvPr/>
        </p:nvSpPr>
        <p:spPr>
          <a:xfrm>
            <a:off x="4928550" y="1377388"/>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1600">
                <a:latin typeface="DM Sans"/>
                <a:ea typeface="DM Sans"/>
                <a:cs typeface="DM Sans"/>
                <a:sym typeface="DM Sans"/>
              </a:rPr>
              <a:t>3. Notice the important pattern.</a:t>
            </a:r>
            <a:endParaRPr b="1"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What increases? Decreases? Changes? Stays the same?</a:t>
            </a:r>
            <a:endParaRPr sz="1600">
              <a:latin typeface="DM Sans"/>
              <a:ea typeface="DM Sans"/>
              <a:cs typeface="DM Sans"/>
              <a:sym typeface="DM Sans"/>
            </a:endParaRPr>
          </a:p>
          <a:p>
            <a:pPr indent="0" lvl="0" marL="0" rtl="0" algn="l">
              <a:spcBef>
                <a:spcPts val="0"/>
              </a:spcBef>
              <a:spcAft>
                <a:spcPts val="0"/>
              </a:spcAft>
              <a:buNone/>
            </a:pPr>
            <a:r>
              <a:t/>
            </a:r>
            <a:endParaRPr sz="1600">
              <a:latin typeface="DM Sans"/>
              <a:ea typeface="DM Sans"/>
              <a:cs typeface="DM Sans"/>
              <a:sym typeface="DM Sans"/>
            </a:endParaRPr>
          </a:p>
          <a:p>
            <a:pPr indent="0" lvl="0" marL="0" rtl="0" algn="l">
              <a:spcBef>
                <a:spcPts val="0"/>
              </a:spcBef>
              <a:spcAft>
                <a:spcPts val="0"/>
              </a:spcAft>
              <a:buNone/>
            </a:pPr>
            <a:r>
              <a:rPr b="1" lang="en" sz="1600">
                <a:latin typeface="DM Sans"/>
                <a:ea typeface="DM Sans"/>
                <a:cs typeface="DM Sans"/>
                <a:sym typeface="DM Sans"/>
              </a:rPr>
              <a:t>4. Return to the text.</a:t>
            </a:r>
            <a:endParaRPr b="1"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Which statement or idea does the visual support, clarify, or add to?</a:t>
            </a:r>
            <a:endParaRPr sz="1600">
              <a:latin typeface="DM Sans"/>
              <a:ea typeface="DM Sans"/>
              <a:cs typeface="DM Sans"/>
              <a:sym typeface="DM Sans"/>
            </a:endParaRPr>
          </a:p>
          <a:p>
            <a:pPr indent="0" lvl="0" marL="0" rtl="0" algn="l">
              <a:spcBef>
                <a:spcPts val="0"/>
              </a:spcBef>
              <a:spcAft>
                <a:spcPts val="0"/>
              </a:spcAft>
              <a:buNone/>
            </a:pPr>
            <a:r>
              <a:t/>
            </a:r>
            <a:endParaRPr sz="1600">
              <a:latin typeface="DM Sans"/>
              <a:ea typeface="DM Sans"/>
              <a:cs typeface="DM Sans"/>
              <a:sym typeface="DM Sans"/>
            </a:endParaRPr>
          </a:p>
          <a:p>
            <a:pPr indent="0" lvl="0" marL="0" rtl="0" algn="l">
              <a:spcBef>
                <a:spcPts val="0"/>
              </a:spcBef>
              <a:spcAft>
                <a:spcPts val="0"/>
              </a:spcAft>
              <a:buNone/>
            </a:pPr>
            <a:r>
              <a:rPr lang="en" sz="1600">
                <a:latin typeface="DM Sans"/>
                <a:ea typeface="DM Sans"/>
                <a:cs typeface="DM Sans"/>
                <a:sym typeface="DM Sans"/>
              </a:rPr>
              <a:t>Never ignore labels or units!</a:t>
            </a:r>
            <a:endParaRPr sz="16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800"/>
                                        <p:tgtEl>
                                          <p:spTgt spid="277"/>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8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82" name="Shape 282"/>
        <p:cNvGrpSpPr/>
        <p:nvPr/>
      </p:nvGrpSpPr>
      <p:grpSpPr>
        <a:xfrm>
          <a:off x="0" y="0"/>
          <a:ext cx="0" cy="0"/>
          <a:chOff x="0" y="0"/>
          <a:chExt cx="0" cy="0"/>
        </a:xfrm>
      </p:grpSpPr>
      <p:sp>
        <p:nvSpPr>
          <p:cNvPr id="283" name="Google Shape;283;p29"/>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84" name="Google Shape;284;p29"/>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29"/>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86" name="Google Shape;286;p29"/>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Text + Graph Example</a:t>
            </a:r>
            <a:endParaRPr sz="4800">
              <a:latin typeface="Merriweather"/>
              <a:ea typeface="Merriweather"/>
              <a:cs typeface="Merriweather"/>
              <a:sym typeface="Merriweather"/>
            </a:endParaRPr>
          </a:p>
        </p:txBody>
      </p:sp>
      <p:pic>
        <p:nvPicPr>
          <p:cNvPr id="287" name="Google Shape;287;p2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288" name="Google Shape;288;p29"/>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1"/>
                </a:solidFill>
                <a:latin typeface="DM Sans"/>
                <a:ea typeface="DM Sans"/>
                <a:cs typeface="DM Sans"/>
                <a:sym typeface="DM Sans"/>
              </a:rPr>
              <a:t>Text: </a:t>
            </a:r>
            <a:endParaRPr sz="2400">
              <a:solidFill>
                <a:schemeClr val="dk1"/>
              </a:solidFill>
              <a:latin typeface="DM Sans"/>
              <a:ea typeface="DM Sans"/>
              <a:cs typeface="DM Sans"/>
              <a:sym typeface="DM Sans"/>
            </a:endParaRPr>
          </a:p>
          <a:p>
            <a:pPr indent="0" lvl="0" marL="0" rtl="0" algn="l">
              <a:spcBef>
                <a:spcPts val="0"/>
              </a:spcBef>
              <a:spcAft>
                <a:spcPts val="0"/>
              </a:spcAft>
              <a:buNone/>
            </a:pPr>
            <a:r>
              <a:rPr i="1" lang="en" sz="2400">
                <a:solidFill>
                  <a:schemeClr val="dk1"/>
                </a:solidFill>
                <a:latin typeface="DM Sans"/>
                <a:ea typeface="DM Sans"/>
                <a:cs typeface="DM Sans"/>
                <a:sym typeface="DM Sans"/>
              </a:rPr>
              <a:t>A school added more trees to its courtyard over five years. During the same period, average summer temperatures in the courtyard decreased.</a:t>
            </a:r>
            <a:endParaRPr i="1" sz="2400">
              <a:solidFill>
                <a:schemeClr val="dk1"/>
              </a:solidFill>
              <a:latin typeface="DM Sans"/>
              <a:ea typeface="DM Sans"/>
              <a:cs typeface="DM Sans"/>
              <a:sym typeface="DM Sans"/>
            </a:endParaRPr>
          </a:p>
        </p:txBody>
      </p:sp>
      <p:sp>
        <p:nvSpPr>
          <p:cNvPr id="289" name="Google Shape;289;p29"/>
          <p:cNvSpPr txBox="1"/>
          <p:nvPr/>
        </p:nvSpPr>
        <p:spPr>
          <a:xfrm>
            <a:off x="4343400" y="997800"/>
            <a:ext cx="4114800" cy="4926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600">
                <a:latin typeface="DM Sans"/>
                <a:ea typeface="DM Sans"/>
                <a:cs typeface="DM Sans"/>
                <a:sym typeface="DM Sans"/>
              </a:rPr>
              <a:t>Graph:</a:t>
            </a:r>
            <a:endParaRPr sz="1600">
              <a:latin typeface="DM Sans"/>
              <a:ea typeface="DM Sans"/>
              <a:cs typeface="DM Sans"/>
              <a:sym typeface="DM Sans"/>
            </a:endParaRPr>
          </a:p>
          <a:p>
            <a:pPr indent="0" lvl="0" marL="0" rtl="0" algn="l">
              <a:spcBef>
                <a:spcPts val="0"/>
              </a:spcBef>
              <a:spcAft>
                <a:spcPts val="0"/>
              </a:spcAft>
              <a:buNone/>
            </a:pPr>
            <a:r>
              <a:t/>
            </a:r>
            <a:endParaRPr sz="1600">
              <a:latin typeface="DM Sans"/>
              <a:ea typeface="DM Sans"/>
              <a:cs typeface="DM Sans"/>
              <a:sym typeface="DM Sans"/>
            </a:endParaRPr>
          </a:p>
        </p:txBody>
      </p:sp>
      <p:graphicFrame>
        <p:nvGraphicFramePr>
          <p:cNvPr id="290" name="Google Shape;290;p29"/>
          <p:cNvGraphicFramePr/>
          <p:nvPr/>
        </p:nvGraphicFramePr>
        <p:xfrm>
          <a:off x="4343400" y="1317876"/>
          <a:ext cx="3000000" cy="3000000"/>
        </p:xfrm>
        <a:graphic>
          <a:graphicData uri="http://schemas.openxmlformats.org/drawingml/2006/table">
            <a:tbl>
              <a:tblPr>
                <a:noFill/>
                <a:tableStyleId>{362C92BE-DFCF-426A-AE0B-EC3EA5D4017D}</a:tableStyleId>
              </a:tblPr>
              <a:tblGrid>
                <a:gridCol w="676325"/>
                <a:gridCol w="1557150"/>
                <a:gridCol w="1994525"/>
              </a:tblGrid>
              <a:tr h="349575">
                <a:tc>
                  <a:txBody>
                    <a:bodyPr/>
                    <a:lstStyle/>
                    <a:p>
                      <a:pPr indent="0" lvl="0" marL="0" rtl="0" algn="l">
                        <a:spcBef>
                          <a:spcPts val="0"/>
                        </a:spcBef>
                        <a:spcAft>
                          <a:spcPts val="0"/>
                        </a:spcAft>
                        <a:buNone/>
                      </a:pPr>
                      <a:r>
                        <a:rPr lang="en">
                          <a:latin typeface="DM Sans"/>
                          <a:ea typeface="DM Sans"/>
                          <a:cs typeface="DM Sans"/>
                          <a:sym typeface="DM Sans"/>
                        </a:rPr>
                        <a:t>Year</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Number of Trees</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Average Temperature</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7875">
                <a:tc>
                  <a:txBody>
                    <a:bodyPr/>
                    <a:lstStyle/>
                    <a:p>
                      <a:pPr indent="0" lvl="0" marL="0" rtl="0" algn="l">
                        <a:spcBef>
                          <a:spcPts val="0"/>
                        </a:spcBef>
                        <a:spcAft>
                          <a:spcPts val="0"/>
                        </a:spcAft>
                        <a:buNone/>
                      </a:pPr>
                      <a:r>
                        <a:rPr lang="en">
                          <a:latin typeface="DM Sans"/>
                          <a:ea typeface="DM Sans"/>
                          <a:cs typeface="DM Sans"/>
                          <a:sym typeface="DM Sans"/>
                        </a:rPr>
                        <a:t>1</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5</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91°F</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7875">
                <a:tc>
                  <a:txBody>
                    <a:bodyPr/>
                    <a:lstStyle/>
                    <a:p>
                      <a:pPr indent="0" lvl="0" marL="0" rtl="0" algn="l">
                        <a:spcBef>
                          <a:spcPts val="0"/>
                        </a:spcBef>
                        <a:spcAft>
                          <a:spcPts val="0"/>
                        </a:spcAft>
                        <a:buNone/>
                      </a:pPr>
                      <a:r>
                        <a:rPr lang="en">
                          <a:latin typeface="DM Sans"/>
                          <a:ea typeface="DM Sans"/>
                          <a:cs typeface="DM Sans"/>
                          <a:sym typeface="DM Sans"/>
                        </a:rPr>
                        <a:t>3</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14</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88°F</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7875">
                <a:tc>
                  <a:txBody>
                    <a:bodyPr/>
                    <a:lstStyle/>
                    <a:p>
                      <a:pPr indent="0" lvl="0" marL="0" rtl="0" algn="l">
                        <a:spcBef>
                          <a:spcPts val="0"/>
                        </a:spcBef>
                        <a:spcAft>
                          <a:spcPts val="0"/>
                        </a:spcAft>
                        <a:buNone/>
                      </a:pPr>
                      <a:r>
                        <a:rPr lang="en">
                          <a:latin typeface="DM Sans"/>
                          <a:ea typeface="DM Sans"/>
                          <a:cs typeface="DM Sans"/>
                          <a:sym typeface="DM Sans"/>
                        </a:rPr>
                        <a:t>5</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25</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84°F</a:t>
                      </a:r>
                      <a:endParaRPr>
                        <a:latin typeface="DM Sans"/>
                        <a:ea typeface="DM Sans"/>
                        <a:cs typeface="DM Sans"/>
                        <a:sym typeface="DM Sa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91" name="Google Shape;291;p29"/>
          <p:cNvSpPr txBox="1"/>
          <p:nvPr/>
        </p:nvSpPr>
        <p:spPr>
          <a:xfrm>
            <a:off x="4343400" y="2945275"/>
            <a:ext cx="4572000" cy="12006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300">
                <a:latin typeface="DM Sans"/>
                <a:ea typeface="DM Sans"/>
                <a:cs typeface="DM Sans"/>
                <a:sym typeface="DM Sans"/>
              </a:rPr>
              <a:t>What does the graph add to the text?</a:t>
            </a:r>
            <a:endParaRPr sz="1300">
              <a:latin typeface="DM Sans"/>
              <a:ea typeface="DM Sans"/>
              <a:cs typeface="DM Sans"/>
              <a:sym typeface="DM Sans"/>
            </a:endParaRPr>
          </a:p>
          <a:p>
            <a:pPr indent="0" lvl="0" marL="0" rtl="0" algn="l">
              <a:spcBef>
                <a:spcPts val="0"/>
              </a:spcBef>
              <a:spcAft>
                <a:spcPts val="0"/>
              </a:spcAft>
              <a:buNone/>
            </a:pPr>
            <a:r>
              <a:rPr lang="en" sz="1300">
                <a:latin typeface="DM Sans"/>
                <a:ea typeface="DM Sans"/>
                <a:cs typeface="DM Sans"/>
                <a:sym typeface="DM Sans"/>
              </a:rPr>
              <a:t>It provides </a:t>
            </a:r>
            <a:r>
              <a:rPr b="1" lang="en" sz="1300">
                <a:latin typeface="DM Sans"/>
                <a:ea typeface="DM Sans"/>
                <a:cs typeface="DM Sans"/>
                <a:sym typeface="DM Sans"/>
              </a:rPr>
              <a:t>specific numerical evidence</a:t>
            </a:r>
            <a:r>
              <a:rPr lang="en" sz="1300">
                <a:latin typeface="DM Sans"/>
                <a:ea typeface="DM Sans"/>
                <a:cs typeface="DM Sans"/>
                <a:sym typeface="DM Sans"/>
              </a:rPr>
              <a:t> showing that as the number of trees increased, the average temperature decreased.</a:t>
            </a:r>
            <a:endParaRPr sz="1300">
              <a:latin typeface="DM Sans"/>
              <a:ea typeface="DM Sans"/>
              <a:cs typeface="DM Sans"/>
              <a:sym typeface="DM Sans"/>
            </a:endParaRPr>
          </a:p>
          <a:p>
            <a:pPr indent="0" lvl="0" marL="0" rtl="0" algn="l">
              <a:spcBef>
                <a:spcPts val="0"/>
              </a:spcBef>
              <a:spcAft>
                <a:spcPts val="0"/>
              </a:spcAft>
              <a:buNone/>
            </a:pPr>
            <a:r>
              <a:rPr lang="en" sz="1300">
                <a:latin typeface="DM Sans"/>
                <a:ea typeface="DM Sans"/>
                <a:cs typeface="DM Sans"/>
                <a:sym typeface="DM Sans"/>
              </a:rPr>
              <a:t>Key Idea: The text makes a claim. The visual can provide additional evidence for that claim.</a:t>
            </a:r>
            <a:endParaRPr sz="13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800"/>
                                        <p:tgtEl>
                                          <p:spTgt spid="288"/>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8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295" name="Shape 295"/>
        <p:cNvGrpSpPr/>
        <p:nvPr/>
      </p:nvGrpSpPr>
      <p:grpSpPr>
        <a:xfrm>
          <a:off x="0" y="0"/>
          <a:ext cx="0" cy="0"/>
          <a:chOff x="0" y="0"/>
          <a:chExt cx="0" cy="0"/>
        </a:xfrm>
      </p:grpSpPr>
      <p:sp>
        <p:nvSpPr>
          <p:cNvPr id="296" name="Google Shape;296;p30"/>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297" name="Google Shape;297;p30"/>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30"/>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299" name="Google Shape;299;p30"/>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Text + Diagram Example</a:t>
            </a:r>
            <a:endParaRPr sz="4800">
              <a:latin typeface="Merriweather"/>
              <a:ea typeface="Merriweather"/>
              <a:cs typeface="Merriweather"/>
              <a:sym typeface="Merriweather"/>
            </a:endParaRPr>
          </a:p>
        </p:txBody>
      </p:sp>
      <p:pic>
        <p:nvPicPr>
          <p:cNvPr id="300" name="Google Shape;300;p3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01" name="Google Shape;301;p30"/>
          <p:cNvSpPr txBox="1"/>
          <p:nvPr/>
        </p:nvSpPr>
        <p:spPr>
          <a:xfrm>
            <a:off x="335213" y="1349325"/>
            <a:ext cx="4114800" cy="1508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Text:</a:t>
            </a:r>
            <a:endParaRPr>
              <a:solidFill>
                <a:schemeClr val="dk1"/>
              </a:solidFill>
              <a:latin typeface="DM Sans"/>
              <a:ea typeface="DM Sans"/>
              <a:cs typeface="DM Sans"/>
              <a:sym typeface="DM Sans"/>
            </a:endParaRPr>
          </a:p>
          <a:p>
            <a:pPr indent="0" lvl="0" marL="0" rtl="0" algn="l">
              <a:spcBef>
                <a:spcPts val="0"/>
              </a:spcBef>
              <a:spcAft>
                <a:spcPts val="0"/>
              </a:spcAft>
              <a:buNone/>
            </a:pPr>
            <a:r>
              <a:rPr i="1" lang="en">
                <a:solidFill>
                  <a:schemeClr val="dk1"/>
                </a:solidFill>
                <a:latin typeface="DM Sans"/>
                <a:ea typeface="DM Sans"/>
                <a:cs typeface="DM Sans"/>
                <a:sym typeface="DM Sans"/>
              </a:rPr>
              <a:t>Water evaporates from Earth's surface, cools and condenses into clouds, and eventually falls back to Earth as precipitation.</a:t>
            </a:r>
            <a:endParaRPr i="1">
              <a:solidFill>
                <a:schemeClr val="dk1"/>
              </a:solidFill>
              <a:latin typeface="DM Sans"/>
              <a:ea typeface="DM Sans"/>
              <a:cs typeface="DM Sans"/>
              <a:sym typeface="DM Sans"/>
            </a:endParaRPr>
          </a:p>
          <a:p>
            <a:pPr indent="0" lvl="0" marL="0" rtl="0" algn="l">
              <a:spcBef>
                <a:spcPts val="0"/>
              </a:spcBef>
              <a:spcAft>
                <a:spcPts val="0"/>
              </a:spcAft>
              <a:buNone/>
            </a:pPr>
            <a:r>
              <a:t/>
            </a:r>
            <a:endParaRPr i="1">
              <a:solidFill>
                <a:schemeClr val="dk1"/>
              </a:solidFill>
              <a:latin typeface="DM Sans"/>
              <a:ea typeface="DM Sans"/>
              <a:cs typeface="DM Sans"/>
              <a:sym typeface="DM Sans"/>
            </a:endParaRPr>
          </a:p>
          <a:p>
            <a:pPr indent="0" lvl="0" marL="0" rtl="0" algn="l">
              <a:spcBef>
                <a:spcPts val="0"/>
              </a:spcBef>
              <a:spcAft>
                <a:spcPts val="0"/>
              </a:spcAft>
              <a:buNone/>
            </a:pPr>
            <a:r>
              <a:rPr b="1" lang="en">
                <a:solidFill>
                  <a:schemeClr val="dk1"/>
                </a:solidFill>
                <a:latin typeface="DM Sans"/>
                <a:ea typeface="DM Sans"/>
                <a:cs typeface="DM Sans"/>
                <a:sym typeface="DM Sans"/>
              </a:rPr>
              <a:t>Diagram</a:t>
            </a:r>
            <a:r>
              <a:rPr lang="en">
                <a:solidFill>
                  <a:schemeClr val="dk1"/>
                </a:solidFill>
                <a:latin typeface="DM Sans"/>
                <a:ea typeface="DM Sans"/>
                <a:cs typeface="DM Sans"/>
                <a:sym typeface="DM Sans"/>
              </a:rPr>
              <a:t>:</a:t>
            </a:r>
            <a:endParaRPr>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02" name="Google Shape;302;p30"/>
          <p:cNvSpPr txBox="1"/>
          <p:nvPr/>
        </p:nvSpPr>
        <p:spPr>
          <a:xfrm>
            <a:off x="4693988" y="1377375"/>
            <a:ext cx="4114800" cy="2632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900">
                <a:latin typeface="DM Sans"/>
                <a:ea typeface="DM Sans"/>
                <a:cs typeface="DM Sans"/>
                <a:sym typeface="DM Sans"/>
              </a:rPr>
              <a:t>What does the diagram add?</a:t>
            </a:r>
            <a:endParaRPr sz="1900">
              <a:latin typeface="DM Sans"/>
              <a:ea typeface="DM Sans"/>
              <a:cs typeface="DM Sans"/>
              <a:sym typeface="DM Sans"/>
            </a:endParaRPr>
          </a:p>
          <a:p>
            <a:pPr indent="0" lvl="0" marL="0" rtl="0" algn="l">
              <a:spcBef>
                <a:spcPts val="0"/>
              </a:spcBef>
              <a:spcAft>
                <a:spcPts val="0"/>
              </a:spcAft>
              <a:buNone/>
            </a:pPr>
            <a:r>
              <a:rPr lang="en" sz="1900">
                <a:latin typeface="DM Sans"/>
                <a:ea typeface="DM Sans"/>
                <a:cs typeface="DM Sans"/>
                <a:sym typeface="DM Sans"/>
              </a:rPr>
              <a:t>The text </a:t>
            </a:r>
            <a:r>
              <a:rPr b="1" lang="en" sz="1900">
                <a:latin typeface="DM Sans"/>
                <a:ea typeface="DM Sans"/>
                <a:cs typeface="DM Sans"/>
                <a:sym typeface="DM Sans"/>
              </a:rPr>
              <a:t>describes</a:t>
            </a:r>
            <a:r>
              <a:rPr lang="en" sz="1900">
                <a:latin typeface="DM Sans"/>
                <a:ea typeface="DM Sans"/>
                <a:cs typeface="DM Sans"/>
                <a:sym typeface="DM Sans"/>
              </a:rPr>
              <a:t> the process.</a:t>
            </a:r>
            <a:endParaRPr sz="1900">
              <a:latin typeface="DM Sans"/>
              <a:ea typeface="DM Sans"/>
              <a:cs typeface="DM Sans"/>
              <a:sym typeface="DM Sans"/>
            </a:endParaRPr>
          </a:p>
          <a:p>
            <a:pPr indent="0" lvl="0" marL="0" rtl="0" algn="l">
              <a:spcBef>
                <a:spcPts val="0"/>
              </a:spcBef>
              <a:spcAft>
                <a:spcPts val="0"/>
              </a:spcAft>
              <a:buNone/>
            </a:pPr>
            <a:r>
              <a:rPr lang="en" sz="1900">
                <a:latin typeface="DM Sans"/>
                <a:ea typeface="DM Sans"/>
                <a:cs typeface="DM Sans"/>
                <a:sym typeface="DM Sans"/>
              </a:rPr>
              <a:t>The diagram helps the reader see the order and relationship between the stages.</a:t>
            </a:r>
            <a:endParaRPr sz="1900">
              <a:latin typeface="DM Sans"/>
              <a:ea typeface="DM Sans"/>
              <a:cs typeface="DM Sans"/>
              <a:sym typeface="DM Sans"/>
            </a:endParaRPr>
          </a:p>
          <a:p>
            <a:pPr indent="0" lvl="0" marL="0" rtl="0" algn="l">
              <a:spcBef>
                <a:spcPts val="0"/>
              </a:spcBef>
              <a:spcAft>
                <a:spcPts val="0"/>
              </a:spcAft>
              <a:buNone/>
            </a:pPr>
            <a:r>
              <a:t/>
            </a:r>
            <a:endParaRPr sz="1900">
              <a:latin typeface="DM Sans"/>
              <a:ea typeface="DM Sans"/>
              <a:cs typeface="DM Sans"/>
              <a:sym typeface="DM Sans"/>
            </a:endParaRPr>
          </a:p>
          <a:p>
            <a:pPr indent="0" lvl="0" marL="0" rtl="0" algn="l">
              <a:spcBef>
                <a:spcPts val="0"/>
              </a:spcBef>
              <a:spcAft>
                <a:spcPts val="0"/>
              </a:spcAft>
              <a:buNone/>
            </a:pPr>
            <a:r>
              <a:rPr lang="en" sz="1900">
                <a:latin typeface="DM Sans"/>
                <a:ea typeface="DM Sans"/>
                <a:cs typeface="DM Sans"/>
                <a:sym typeface="DM Sans"/>
              </a:rPr>
              <a:t>Visuals can: support • clarify • organize • provide additional information</a:t>
            </a:r>
            <a:endParaRPr sz="1900">
              <a:latin typeface="DM Sans"/>
              <a:ea typeface="DM Sans"/>
              <a:cs typeface="DM Sans"/>
              <a:sym typeface="DM Sans"/>
            </a:endParaRPr>
          </a:p>
        </p:txBody>
      </p:sp>
      <p:pic>
        <p:nvPicPr>
          <p:cNvPr id="303" name="Google Shape;303;p30"/>
          <p:cNvPicPr preferRelativeResize="0"/>
          <p:nvPr/>
        </p:nvPicPr>
        <p:blipFill>
          <a:blip r:embed="rId4">
            <a:alphaModFix/>
          </a:blip>
          <a:stretch>
            <a:fillRect/>
          </a:stretch>
        </p:blipFill>
        <p:spPr>
          <a:xfrm>
            <a:off x="1261806" y="2444399"/>
            <a:ext cx="2953713" cy="197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800"/>
                                        <p:tgtEl>
                                          <p:spTgt spid="301"/>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8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307" name="Shape 307"/>
        <p:cNvGrpSpPr/>
        <p:nvPr/>
      </p:nvGrpSpPr>
      <p:grpSpPr>
        <a:xfrm>
          <a:off x="0" y="0"/>
          <a:ext cx="0" cy="0"/>
          <a:chOff x="0" y="0"/>
          <a:chExt cx="0" cy="0"/>
        </a:xfrm>
      </p:grpSpPr>
      <p:sp>
        <p:nvSpPr>
          <p:cNvPr id="308" name="Google Shape;308;p31"/>
          <p:cNvSpPr/>
          <p:nvPr/>
        </p:nvSpPr>
        <p:spPr>
          <a:xfrm>
            <a:off x="-12061683" y="4145875"/>
            <a:ext cx="21205694" cy="997614"/>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theme central idea “cite evidence” (30) diagram</a:t>
            </a:r>
          </a:p>
        </p:txBody>
      </p:sp>
      <p:sp>
        <p:nvSpPr>
          <p:cNvPr id="309" name="Google Shape;309;p31"/>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31"/>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11" name="Google Shape;311;p3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Progress Check</a:t>
            </a:r>
            <a:endParaRPr sz="4800">
              <a:latin typeface="Merriweather"/>
              <a:ea typeface="Merriweather"/>
              <a:cs typeface="Merriweather"/>
              <a:sym typeface="Merriweather"/>
            </a:endParaRPr>
          </a:p>
        </p:txBody>
      </p:sp>
      <p:pic>
        <p:nvPicPr>
          <p:cNvPr id="312" name="Google Shape;312;p3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13" name="Google Shape;313;p31"/>
          <p:cNvSpPr txBox="1"/>
          <p:nvPr/>
        </p:nvSpPr>
        <p:spPr>
          <a:xfrm>
            <a:off x="228600" y="1490400"/>
            <a:ext cx="4343400" cy="2432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DM Sans"/>
                <a:ea typeface="DM Sans"/>
                <a:cs typeface="DM Sans"/>
                <a:sym typeface="DM Sans"/>
              </a:rPr>
              <a:t>1. Citing Evidence</a:t>
            </a:r>
            <a:endParaRPr sz="1600">
              <a:solidFill>
                <a:schemeClr val="dk1"/>
              </a:solidFill>
              <a:latin typeface="DM Sans"/>
              <a:ea typeface="DM Sans"/>
              <a:cs typeface="DM Sans"/>
              <a:sym typeface="DM Sans"/>
            </a:endParaRPr>
          </a:p>
          <a:p>
            <a:pPr indent="0" lvl="0" marL="0" rtl="0" algn="l">
              <a:spcBef>
                <a:spcPts val="0"/>
              </a:spcBef>
              <a:spcAft>
                <a:spcPts val="0"/>
              </a:spcAft>
              <a:buNone/>
            </a:pPr>
            <a:r>
              <a:rPr lang="en" sz="1600">
                <a:solidFill>
                  <a:schemeClr val="dk1"/>
                </a:solidFill>
                <a:latin typeface="DM Sans"/>
                <a:ea typeface="DM Sans"/>
                <a:cs typeface="DM Sans"/>
                <a:sym typeface="DM Sans"/>
              </a:rPr>
              <a:t>What should you do before choosing an answer about a passage?</a:t>
            </a:r>
            <a:endParaRPr sz="1600">
              <a:solidFill>
                <a:schemeClr val="dk1"/>
              </a:solidFill>
              <a:latin typeface="DM Sans"/>
              <a:ea typeface="DM Sans"/>
              <a:cs typeface="DM Sans"/>
              <a:sym typeface="DM Sans"/>
            </a:endParaRPr>
          </a:p>
          <a:p>
            <a:pPr indent="0" lvl="0" marL="0" rtl="0" algn="l">
              <a:spcBef>
                <a:spcPts val="0"/>
              </a:spcBef>
              <a:spcAft>
                <a:spcPts val="0"/>
              </a:spcAft>
              <a:buNone/>
            </a:pPr>
            <a:r>
              <a:t/>
            </a:r>
            <a:endParaRPr sz="700">
              <a:solidFill>
                <a:schemeClr val="dk1"/>
              </a:solidFill>
              <a:latin typeface="DM Sans"/>
              <a:ea typeface="DM Sans"/>
              <a:cs typeface="DM Sans"/>
              <a:sym typeface="DM Sans"/>
            </a:endParaRPr>
          </a:p>
          <a:p>
            <a:pPr indent="0" lvl="0" marL="0" rtl="0" algn="l">
              <a:spcBef>
                <a:spcPts val="0"/>
              </a:spcBef>
              <a:spcAft>
                <a:spcPts val="0"/>
              </a:spcAft>
              <a:buNone/>
            </a:pPr>
            <a:r>
              <a:rPr lang="en" sz="1600">
                <a:solidFill>
                  <a:schemeClr val="dk1"/>
                </a:solidFill>
                <a:latin typeface="DM Sans"/>
                <a:ea typeface="DM Sans"/>
                <a:cs typeface="DM Sans"/>
                <a:sym typeface="DM Sans"/>
              </a:rPr>
              <a:t>2. Theme/Central Idea</a:t>
            </a:r>
            <a:endParaRPr sz="1600">
              <a:solidFill>
                <a:schemeClr val="dk1"/>
              </a:solidFill>
              <a:latin typeface="DM Sans"/>
              <a:ea typeface="DM Sans"/>
              <a:cs typeface="DM Sans"/>
              <a:sym typeface="DM Sans"/>
            </a:endParaRPr>
          </a:p>
          <a:p>
            <a:pPr indent="0" lvl="0" marL="0" rtl="0" algn="l">
              <a:spcBef>
                <a:spcPts val="0"/>
              </a:spcBef>
              <a:spcAft>
                <a:spcPts val="0"/>
              </a:spcAft>
              <a:buNone/>
            </a:pPr>
            <a:r>
              <a:rPr lang="en" sz="1600">
                <a:solidFill>
                  <a:schemeClr val="dk1"/>
                </a:solidFill>
                <a:latin typeface="DM Sans"/>
                <a:ea typeface="DM Sans"/>
                <a:cs typeface="DM Sans"/>
                <a:sym typeface="DM Sans"/>
              </a:rPr>
              <a:t>What should you pay attention to when asked how a theme or central idea develops?</a:t>
            </a:r>
            <a:endParaRPr sz="1600">
              <a:solidFill>
                <a:schemeClr val="dk1"/>
              </a:solidFill>
              <a:latin typeface="DM Sans"/>
              <a:ea typeface="DM Sans"/>
              <a:cs typeface="DM Sans"/>
              <a:sym typeface="DM Sans"/>
            </a:endParaRPr>
          </a:p>
          <a:p>
            <a:pPr indent="0" lvl="0" marL="0" rtl="0" algn="l">
              <a:spcBef>
                <a:spcPts val="0"/>
              </a:spcBef>
              <a:spcAft>
                <a:spcPts val="0"/>
              </a:spcAft>
              <a:buNone/>
            </a:pPr>
            <a:r>
              <a:t/>
            </a:r>
            <a:endParaRPr sz="700">
              <a:solidFill>
                <a:schemeClr val="dk1"/>
              </a:solidFill>
              <a:latin typeface="DM Sans"/>
              <a:ea typeface="DM Sans"/>
              <a:cs typeface="DM Sans"/>
              <a:sym typeface="DM Sans"/>
            </a:endParaRPr>
          </a:p>
          <a:p>
            <a:pPr indent="0" lvl="0" marL="0" rtl="0" algn="l">
              <a:spcBef>
                <a:spcPts val="0"/>
              </a:spcBef>
              <a:spcAft>
                <a:spcPts val="0"/>
              </a:spcAft>
              <a:buNone/>
            </a:pPr>
            <a:r>
              <a:rPr lang="en" sz="1600">
                <a:solidFill>
                  <a:schemeClr val="dk1"/>
                </a:solidFill>
                <a:latin typeface="DM Sans"/>
                <a:ea typeface="DM Sans"/>
                <a:cs typeface="DM Sans"/>
                <a:sym typeface="DM Sans"/>
              </a:rPr>
              <a:t>3. Visual Text</a:t>
            </a:r>
            <a:endParaRPr sz="1600">
              <a:solidFill>
                <a:schemeClr val="dk1"/>
              </a:solidFill>
              <a:latin typeface="DM Sans"/>
              <a:ea typeface="DM Sans"/>
              <a:cs typeface="DM Sans"/>
              <a:sym typeface="DM Sans"/>
            </a:endParaRPr>
          </a:p>
          <a:p>
            <a:pPr indent="0" lvl="0" marL="0" rtl="0" algn="l">
              <a:spcBef>
                <a:spcPts val="0"/>
              </a:spcBef>
              <a:spcAft>
                <a:spcPts val="0"/>
              </a:spcAft>
              <a:buNone/>
            </a:pPr>
            <a:r>
              <a:rPr lang="en" sz="1600">
                <a:solidFill>
                  <a:schemeClr val="dk1"/>
                </a:solidFill>
                <a:latin typeface="DM Sans"/>
                <a:ea typeface="DM Sans"/>
                <a:cs typeface="DM Sans"/>
                <a:sym typeface="DM Sans"/>
              </a:rPr>
              <a:t>When a passage includes a graph or diagram, what should you ask?</a:t>
            </a:r>
            <a:endParaRPr sz="1600">
              <a:solidFill>
                <a:schemeClr val="dk1"/>
              </a:solidFill>
              <a:latin typeface="DM Sans"/>
              <a:ea typeface="DM Sans"/>
              <a:cs typeface="DM Sans"/>
              <a:sym typeface="DM Sans"/>
            </a:endParaRPr>
          </a:p>
        </p:txBody>
      </p:sp>
      <p:sp>
        <p:nvSpPr>
          <p:cNvPr id="314" name="Google Shape;314;p31"/>
          <p:cNvSpPr txBox="1"/>
          <p:nvPr/>
        </p:nvSpPr>
        <p:spPr>
          <a:xfrm>
            <a:off x="4885900" y="1521300"/>
            <a:ext cx="4114800" cy="2370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200">
                <a:latin typeface="DM Sans"/>
                <a:ea typeface="DM Sans"/>
                <a:cs typeface="DM Sans"/>
                <a:sym typeface="DM Sans"/>
              </a:rPr>
              <a:t>FIND THE EVIDENCE.</a:t>
            </a:r>
            <a:endParaRPr sz="2200">
              <a:latin typeface="DM Sans"/>
              <a:ea typeface="DM Sans"/>
              <a:cs typeface="DM Sans"/>
              <a:sym typeface="DM Sans"/>
            </a:endParaRPr>
          </a:p>
          <a:p>
            <a:pPr indent="0" lvl="0" marL="0" rtl="0" algn="l">
              <a:spcBef>
                <a:spcPts val="0"/>
              </a:spcBef>
              <a:spcAft>
                <a:spcPts val="0"/>
              </a:spcAft>
              <a:buNone/>
            </a:pPr>
            <a:r>
              <a:t/>
            </a:r>
            <a:endParaRPr sz="2200">
              <a:latin typeface="DM Sans"/>
              <a:ea typeface="DM Sans"/>
              <a:cs typeface="DM Sans"/>
              <a:sym typeface="DM Sans"/>
            </a:endParaRPr>
          </a:p>
          <a:p>
            <a:pPr indent="0" lvl="0" marL="0" rtl="0" algn="l">
              <a:spcBef>
                <a:spcPts val="0"/>
              </a:spcBef>
              <a:spcAft>
                <a:spcPts val="0"/>
              </a:spcAft>
              <a:buNone/>
            </a:pPr>
            <a:r>
              <a:rPr lang="en" sz="2200">
                <a:latin typeface="DM Sans"/>
                <a:ea typeface="DM Sans"/>
                <a:cs typeface="DM Sans"/>
                <a:sym typeface="DM Sans"/>
              </a:rPr>
              <a:t>FOLLOW HOW THE IDEA DEVELOPS.</a:t>
            </a:r>
            <a:endParaRPr sz="2200">
              <a:latin typeface="DM Sans"/>
              <a:ea typeface="DM Sans"/>
              <a:cs typeface="DM Sans"/>
              <a:sym typeface="DM Sans"/>
            </a:endParaRPr>
          </a:p>
          <a:p>
            <a:pPr indent="0" lvl="0" marL="0" rtl="0" algn="l">
              <a:spcBef>
                <a:spcPts val="0"/>
              </a:spcBef>
              <a:spcAft>
                <a:spcPts val="0"/>
              </a:spcAft>
              <a:buNone/>
            </a:pPr>
            <a:r>
              <a:t/>
            </a:r>
            <a:endParaRPr sz="2200">
              <a:latin typeface="DM Sans"/>
              <a:ea typeface="DM Sans"/>
              <a:cs typeface="DM Sans"/>
              <a:sym typeface="DM Sans"/>
            </a:endParaRPr>
          </a:p>
          <a:p>
            <a:pPr indent="0" lvl="0" marL="0" rtl="0" algn="l">
              <a:spcBef>
                <a:spcPts val="0"/>
              </a:spcBef>
              <a:spcAft>
                <a:spcPts val="0"/>
              </a:spcAft>
              <a:buNone/>
            </a:pPr>
            <a:r>
              <a:rPr lang="en" sz="2200">
                <a:latin typeface="DM Sans"/>
                <a:ea typeface="DM Sans"/>
                <a:cs typeface="DM Sans"/>
                <a:sym typeface="DM Sans"/>
              </a:rPr>
              <a:t>CONNECT THE VISUAL TO THE TEXT.</a:t>
            </a:r>
            <a:endParaRPr sz="22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800"/>
                                        <p:tgtEl>
                                          <p:spTgt spid="313"/>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800"/>
                                        <p:tgtEl>
                                          <p:spTgt spid="3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C073"/>
        </a:solidFill>
      </p:bgPr>
    </p:bg>
    <p:spTree>
      <p:nvGrpSpPr>
        <p:cNvPr id="318" name="Shape 318"/>
        <p:cNvGrpSpPr/>
        <p:nvPr/>
      </p:nvGrpSpPr>
      <p:grpSpPr>
        <a:xfrm>
          <a:off x="0" y="0"/>
          <a:ext cx="0" cy="0"/>
          <a:chOff x="0" y="0"/>
          <a:chExt cx="0" cy="0"/>
        </a:xfrm>
      </p:grpSpPr>
      <p:sp>
        <p:nvSpPr>
          <p:cNvPr id="319" name="Google Shape;319;p32"/>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95C31"/>
                  </a:solidFill>
                  <a:prstDash val="solid"/>
                  <a:round/>
                  <a:headEnd len="sm" w="sm" type="none"/>
                  <a:tailEnd len="sm" w="sm" type="none"/>
                </a:ln>
                <a:noFill/>
                <a:latin typeface="DM Sans"/>
              </a:rPr>
              <a:t>→ ↺ reflect ≅ dilate ~ translate rotate ⇆ congruence ↗︎ similarity</a:t>
            </a:r>
          </a:p>
        </p:txBody>
      </p:sp>
      <p:sp>
        <p:nvSpPr>
          <p:cNvPr id="320" name="Google Shape;320;p32"/>
          <p:cNvSpPr/>
          <p:nvPr/>
        </p:nvSpPr>
        <p:spPr>
          <a:xfrm>
            <a:off x="-8" y="0"/>
            <a:ext cx="26984166" cy="1121362"/>
          </a:xfrm>
          <a:prstGeom prst="rect">
            <a:avLst/>
          </a:prstGeom>
        </p:spPr>
        <p:txBody>
          <a:bodyPr>
            <a:prstTxWarp prst="textPlain"/>
          </a:bodyPr>
          <a:lstStyle/>
          <a:p>
            <a:pPr lvl="0" algn="ctr"/>
            <a:r>
              <a:rPr b="0" i="0">
                <a:ln cap="flat" cmpd="sng" w="76200">
                  <a:solidFill>
                    <a:srgbClr val="F95C31"/>
                  </a:solidFill>
                  <a:prstDash val="solid"/>
                  <a:round/>
                  <a:headEnd len="sm" w="sm" type="none"/>
                  <a:tailEnd len="sm" w="sm" type="none"/>
                </a:ln>
                <a:noFill/>
                <a:latin typeface="DM Sans"/>
              </a:rPr>
              <a:t>→ ↺ reflect ≅ dilate ~ translate rotate ⇆ congruence ↗︎ similarity</a:t>
            </a:r>
          </a:p>
        </p:txBody>
      </p:sp>
      <p:sp>
        <p:nvSpPr>
          <p:cNvPr id="321" name="Google Shape;321;p32"/>
          <p:cNvSpPr/>
          <p:nvPr/>
        </p:nvSpPr>
        <p:spPr>
          <a:xfrm>
            <a:off x="0" y="1547100"/>
            <a:ext cx="9144000" cy="738900"/>
          </a:xfrm>
          <a:prstGeom prst="rect">
            <a:avLst/>
          </a:prstGeom>
          <a:solidFill>
            <a:srgbClr val="F95C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32"/>
          <p:cNvSpPr/>
          <p:nvPr/>
        </p:nvSpPr>
        <p:spPr>
          <a:xfrm>
            <a:off x="228590" y="228602"/>
            <a:ext cx="2057400" cy="2057400"/>
          </a:xfrm>
          <a:prstGeom prst="ellipse">
            <a:avLst/>
          </a:prstGeom>
          <a:solidFill>
            <a:srgbClr val="F95C31"/>
          </a:solidFill>
          <a:ln cap="flat" cmpd="sng" w="152400">
            <a:solidFill>
              <a:srgbClr val="FAC073"/>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Fall</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3</a:t>
            </a:r>
            <a:endParaRPr sz="9600">
              <a:latin typeface="Merriweather"/>
              <a:ea typeface="Merriweather"/>
              <a:cs typeface="Merriweather"/>
              <a:sym typeface="Merriweather"/>
            </a:endParaRPr>
          </a:p>
        </p:txBody>
      </p:sp>
      <p:sp>
        <p:nvSpPr>
          <p:cNvPr id="323" name="Google Shape;323;p32"/>
          <p:cNvSpPr txBox="1"/>
          <p:nvPr/>
        </p:nvSpPr>
        <p:spPr>
          <a:xfrm>
            <a:off x="2514600" y="1547100"/>
            <a:ext cx="64008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Transformations</a:t>
            </a:r>
            <a:endParaRPr sz="4800">
              <a:latin typeface="Merriweather"/>
              <a:ea typeface="Merriweather"/>
              <a:cs typeface="Merriweather"/>
              <a:sym typeface="Merriweather"/>
            </a:endParaRPr>
          </a:p>
        </p:txBody>
      </p:sp>
      <p:sp>
        <p:nvSpPr>
          <p:cNvPr id="324" name="Google Shape;324;p32"/>
          <p:cNvSpPr txBox="1"/>
          <p:nvPr/>
        </p:nvSpPr>
        <p:spPr>
          <a:xfrm>
            <a:off x="2514600" y="1011000"/>
            <a:ext cx="6400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200">
                <a:latin typeface="DM Sans"/>
                <a:ea typeface="DM Sans"/>
                <a:cs typeface="DM Sans"/>
                <a:sym typeface="DM Sans"/>
              </a:rPr>
              <a:t>Mathematics</a:t>
            </a:r>
            <a:endParaRPr sz="3200">
              <a:latin typeface="DM Sans"/>
              <a:ea typeface="DM Sans"/>
              <a:cs typeface="DM Sans"/>
              <a:sym typeface="DM Sans"/>
            </a:endParaRPr>
          </a:p>
        </p:txBody>
      </p:sp>
      <p:sp>
        <p:nvSpPr>
          <p:cNvPr id="325" name="Google Shape;325;p32"/>
          <p:cNvSpPr txBox="1"/>
          <p:nvPr/>
        </p:nvSpPr>
        <p:spPr>
          <a:xfrm>
            <a:off x="228600" y="25146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latin typeface="DM Sans"/>
                <a:ea typeface="DM Sans"/>
                <a:cs typeface="DM Sans"/>
                <a:sym typeface="DM Sans"/>
              </a:rPr>
              <a:t>Aim:</a:t>
            </a:r>
            <a:r>
              <a:rPr lang="en" sz="2400">
                <a:latin typeface="DM Sans"/>
                <a:ea typeface="DM Sans"/>
                <a:cs typeface="DM Sans"/>
                <a:sym typeface="DM Sans"/>
              </a:rPr>
              <a:t> Develop various modeling strategies to understand and represent situations as geometric transformations.</a:t>
            </a:r>
            <a:endParaRPr sz="2400">
              <a:latin typeface="DM Sans"/>
              <a:ea typeface="DM Sans"/>
              <a:cs typeface="DM Sans"/>
              <a:sym typeface="DM Sans"/>
            </a:endParaRPr>
          </a:p>
        </p:txBody>
      </p:sp>
      <p:sp>
        <p:nvSpPr>
          <p:cNvPr id="326" name="Google Shape;326;p32"/>
          <p:cNvSpPr txBox="1"/>
          <p:nvPr/>
        </p:nvSpPr>
        <p:spPr>
          <a:xfrm>
            <a:off x="4800600" y="2518650"/>
            <a:ext cx="4114800" cy="14778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b="1" lang="en" sz="2400">
                <a:latin typeface="DM Sans"/>
                <a:ea typeface="DM Sans"/>
                <a:cs typeface="DM Sans"/>
                <a:sym typeface="DM Sans"/>
              </a:rPr>
              <a:t>Do Now:</a:t>
            </a:r>
            <a:r>
              <a:rPr lang="en" sz="2400">
                <a:latin typeface="DM Sans"/>
                <a:ea typeface="DM Sans"/>
                <a:cs typeface="DM Sans"/>
                <a:sym typeface="DM Sans"/>
              </a:rPr>
              <a:t> What does it mean to transform something? (Not math-related; just in life.)</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800"/>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800"/>
                                        <p:tgtEl>
                                          <p:spTgt spid="323"/>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8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8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330" name="Shape 330"/>
        <p:cNvGrpSpPr/>
        <p:nvPr/>
      </p:nvGrpSpPr>
      <p:grpSpPr>
        <a:xfrm>
          <a:off x="0" y="0"/>
          <a:ext cx="0" cy="0"/>
          <a:chOff x="0" y="0"/>
          <a:chExt cx="0" cy="0"/>
        </a:xfrm>
      </p:grpSpPr>
      <p:sp>
        <p:nvSpPr>
          <p:cNvPr id="331" name="Google Shape;331;p33"/>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332" name="Google Shape;332;p33"/>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33"/>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34" name="Google Shape;334;p33"/>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Translations, Rotations, and Reflections</a:t>
            </a:r>
            <a:endParaRPr sz="3000">
              <a:latin typeface="Merriweather"/>
              <a:ea typeface="Merriweather"/>
              <a:cs typeface="Merriweather"/>
              <a:sym typeface="Merriweather"/>
            </a:endParaRPr>
          </a:p>
        </p:txBody>
      </p:sp>
      <p:pic>
        <p:nvPicPr>
          <p:cNvPr id="335" name="Google Shape;335;p3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36" name="Google Shape;336;p33"/>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A </a:t>
            </a:r>
            <a:r>
              <a:rPr b="1" lang="en" sz="2400">
                <a:latin typeface="DM Sans"/>
                <a:ea typeface="DM Sans"/>
                <a:cs typeface="DM Sans"/>
                <a:sym typeface="DM Sans"/>
              </a:rPr>
              <a:t>translation</a:t>
            </a:r>
            <a:r>
              <a:rPr lang="en" sz="2400">
                <a:latin typeface="DM Sans"/>
                <a:ea typeface="DM Sans"/>
                <a:cs typeface="DM Sans"/>
                <a:sym typeface="DM Sans"/>
              </a:rPr>
              <a:t> displaces every point in the plane by the same distance (in the same direction) and can be described using a vector (directed line segment).</a:t>
            </a:r>
            <a:endParaRPr sz="2400">
              <a:latin typeface="DM Sans"/>
              <a:ea typeface="DM Sans"/>
              <a:cs typeface="DM Sans"/>
              <a:sym typeface="DM Sans"/>
            </a:endParaRPr>
          </a:p>
        </p:txBody>
      </p:sp>
      <p:grpSp>
        <p:nvGrpSpPr>
          <p:cNvPr id="337" name="Google Shape;337;p33"/>
          <p:cNvGrpSpPr/>
          <p:nvPr/>
        </p:nvGrpSpPr>
        <p:grpSpPr>
          <a:xfrm>
            <a:off x="6858000" y="1490400"/>
            <a:ext cx="2057400" cy="1143000"/>
            <a:chOff x="6972300" y="1376100"/>
            <a:chExt cx="2057400" cy="1143000"/>
          </a:xfrm>
        </p:grpSpPr>
        <p:sp>
          <p:nvSpPr>
            <p:cNvPr id="338" name="Google Shape;338;p33"/>
            <p:cNvSpPr/>
            <p:nvPr/>
          </p:nvSpPr>
          <p:spPr>
            <a:xfrm>
              <a:off x="7086600" y="1490400"/>
              <a:ext cx="1828800" cy="914400"/>
            </a:xfrm>
            <a:prstGeom prst="rtTriangle">
              <a:avLst/>
            </a:prstGeom>
            <a:solidFill>
              <a:srgbClr val="FAC073"/>
            </a:solidFill>
            <a:ln cap="flat" cmpd="sng" w="38100">
              <a:solidFill>
                <a:srgbClr val="C6DED9"/>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33"/>
            <p:cNvSpPr/>
            <p:nvPr/>
          </p:nvSpPr>
          <p:spPr>
            <a:xfrm>
              <a:off x="6972300" y="13761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33"/>
            <p:cNvSpPr/>
            <p:nvPr/>
          </p:nvSpPr>
          <p:spPr>
            <a:xfrm>
              <a:off x="6972300" y="22905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33"/>
            <p:cNvSpPr/>
            <p:nvPr/>
          </p:nvSpPr>
          <p:spPr>
            <a:xfrm>
              <a:off x="8801100" y="22905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42" name="Google Shape;342;p33"/>
          <p:cNvGrpSpPr/>
          <p:nvPr/>
        </p:nvGrpSpPr>
        <p:grpSpPr>
          <a:xfrm>
            <a:off x="4800600" y="2404800"/>
            <a:ext cx="2057400" cy="1143000"/>
            <a:chOff x="4914900" y="2290500"/>
            <a:chExt cx="2057400" cy="1143000"/>
          </a:xfrm>
        </p:grpSpPr>
        <p:sp>
          <p:nvSpPr>
            <p:cNvPr id="343" name="Google Shape;343;p33"/>
            <p:cNvSpPr/>
            <p:nvPr/>
          </p:nvSpPr>
          <p:spPr>
            <a:xfrm>
              <a:off x="5029200" y="2404800"/>
              <a:ext cx="1828800" cy="914400"/>
            </a:xfrm>
            <a:prstGeom prst="rtTriangle">
              <a:avLst/>
            </a:prstGeom>
            <a:solidFill>
              <a:srgbClr val="C6DED9"/>
            </a:solidFill>
            <a:ln cap="flat" cmpd="sng" w="38100">
              <a:solidFill>
                <a:srgbClr val="FAC073"/>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33"/>
            <p:cNvSpPr/>
            <p:nvPr/>
          </p:nvSpPr>
          <p:spPr>
            <a:xfrm>
              <a:off x="4914900" y="22905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33"/>
            <p:cNvSpPr/>
            <p:nvPr/>
          </p:nvSpPr>
          <p:spPr>
            <a:xfrm>
              <a:off x="4914900" y="32049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33"/>
            <p:cNvSpPr/>
            <p:nvPr/>
          </p:nvSpPr>
          <p:spPr>
            <a:xfrm>
              <a:off x="6743700" y="32049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47" name="Google Shape;347;p33"/>
          <p:cNvGrpSpPr/>
          <p:nvPr/>
        </p:nvGrpSpPr>
        <p:grpSpPr>
          <a:xfrm>
            <a:off x="4914900" y="1604700"/>
            <a:ext cx="3886200" cy="1828800"/>
            <a:chOff x="5029200" y="1490400"/>
            <a:chExt cx="3886200" cy="1828800"/>
          </a:xfrm>
        </p:grpSpPr>
        <p:cxnSp>
          <p:nvCxnSpPr>
            <p:cNvPr id="348" name="Google Shape;348;p33"/>
            <p:cNvCxnSpPr/>
            <p:nvPr/>
          </p:nvCxnSpPr>
          <p:spPr>
            <a:xfrm flipH="1" rot="10800000">
              <a:off x="5029200" y="1490400"/>
              <a:ext cx="205740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349" name="Google Shape;349;p33"/>
            <p:cNvCxnSpPr/>
            <p:nvPr/>
          </p:nvCxnSpPr>
          <p:spPr>
            <a:xfrm flipH="1" rot="10800000">
              <a:off x="5029200" y="2404800"/>
              <a:ext cx="205740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350" name="Google Shape;350;p33"/>
            <p:cNvCxnSpPr/>
            <p:nvPr/>
          </p:nvCxnSpPr>
          <p:spPr>
            <a:xfrm flipH="1" rot="10800000">
              <a:off x="6858000" y="2404800"/>
              <a:ext cx="205740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800"/>
                                        <p:tgtEl>
                                          <p:spTgt spid="336"/>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800"/>
                                        <p:tgtEl>
                                          <p:spTgt spid="342"/>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800"/>
                                        <p:tgtEl>
                                          <p:spTgt spid="347"/>
                                        </p:tgtEl>
                                      </p:cBhvr>
                                    </p:animEffect>
                                  </p:childTnLst>
                                </p:cTn>
                              </p:par>
                            </p:childTnLst>
                          </p:cTn>
                        </p:par>
                        <p:par>
                          <p:cTn fill="hold">
                            <p:stCondLst>
                              <p:cond delay="24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8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354" name="Shape 354"/>
        <p:cNvGrpSpPr/>
        <p:nvPr/>
      </p:nvGrpSpPr>
      <p:grpSpPr>
        <a:xfrm>
          <a:off x="0" y="0"/>
          <a:ext cx="0" cy="0"/>
          <a:chOff x="0" y="0"/>
          <a:chExt cx="0" cy="0"/>
        </a:xfrm>
      </p:grpSpPr>
      <p:sp>
        <p:nvSpPr>
          <p:cNvPr id="355" name="Google Shape;355;p34"/>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356" name="Google Shape;356;p34"/>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7" name="Google Shape;357;p34"/>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58" name="Google Shape;358;p34"/>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Translations, Rotations, and Reflections</a:t>
            </a:r>
            <a:endParaRPr sz="3000">
              <a:latin typeface="Merriweather"/>
              <a:ea typeface="Merriweather"/>
              <a:cs typeface="Merriweather"/>
              <a:sym typeface="Merriweather"/>
            </a:endParaRPr>
          </a:p>
        </p:txBody>
      </p:sp>
      <p:pic>
        <p:nvPicPr>
          <p:cNvPr id="359" name="Google Shape;359;p3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60" name="Google Shape;360;p34"/>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Point </a:t>
            </a:r>
            <a:r>
              <a:rPr i="1" lang="en" sz="2400">
                <a:latin typeface="DM Sans"/>
                <a:ea typeface="DM Sans"/>
                <a:cs typeface="DM Sans"/>
                <a:sym typeface="DM Sans"/>
              </a:rPr>
              <a:t>A</a:t>
            </a:r>
            <a:r>
              <a:rPr lang="en" sz="2400">
                <a:latin typeface="DM Sans"/>
                <a:ea typeface="DM Sans"/>
                <a:cs typeface="DM Sans"/>
                <a:sym typeface="DM Sans"/>
              </a:rPr>
              <a:t>: </a:t>
            </a:r>
            <a:r>
              <a:rPr b="1" lang="en" sz="2400">
                <a:latin typeface="DM Sans"/>
                <a:ea typeface="DM Sans"/>
                <a:cs typeface="DM Sans"/>
                <a:sym typeface="DM Sans"/>
              </a:rPr>
              <a:t>(−2.5, 1)</a:t>
            </a:r>
            <a:endParaRPr b="1"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Translation: 1 unit up, 2.25 units to the right</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Point </a:t>
            </a:r>
            <a:r>
              <a:rPr i="1" lang="en" sz="2400">
                <a:latin typeface="DM Sans"/>
                <a:ea typeface="DM Sans"/>
                <a:cs typeface="DM Sans"/>
                <a:sym typeface="DM Sans"/>
              </a:rPr>
              <a:t>A’</a:t>
            </a:r>
            <a:r>
              <a:rPr lang="en" sz="2400">
                <a:latin typeface="DM Sans"/>
                <a:ea typeface="DM Sans"/>
                <a:cs typeface="DM Sans"/>
                <a:sym typeface="DM Sans"/>
              </a:rPr>
              <a:t> (</a:t>
            </a:r>
            <a:r>
              <a:rPr i="1" lang="en" sz="2400">
                <a:latin typeface="DM Sans"/>
                <a:ea typeface="DM Sans"/>
                <a:cs typeface="DM Sans"/>
                <a:sym typeface="DM Sans"/>
              </a:rPr>
              <a:t>A</a:t>
            </a:r>
            <a:r>
              <a:rPr lang="en" sz="2400">
                <a:latin typeface="DM Sans"/>
                <a:ea typeface="DM Sans"/>
                <a:cs typeface="DM Sans"/>
                <a:sym typeface="DM Sans"/>
              </a:rPr>
              <a:t> prime):</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(−2.5+2.25, 1+1) = </a:t>
            </a:r>
            <a:r>
              <a:rPr b="1" lang="en" sz="2400">
                <a:latin typeface="DM Sans"/>
                <a:ea typeface="DM Sans"/>
                <a:cs typeface="DM Sans"/>
                <a:sym typeface="DM Sans"/>
              </a:rPr>
              <a:t>(−0.25, 2)</a:t>
            </a:r>
            <a:endParaRPr b="1" sz="2400">
              <a:latin typeface="DM Sans"/>
              <a:ea typeface="DM Sans"/>
              <a:cs typeface="DM Sans"/>
              <a:sym typeface="DM Sans"/>
            </a:endParaRPr>
          </a:p>
        </p:txBody>
      </p:sp>
      <p:grpSp>
        <p:nvGrpSpPr>
          <p:cNvPr id="361" name="Google Shape;361;p34"/>
          <p:cNvGrpSpPr/>
          <p:nvPr/>
        </p:nvGrpSpPr>
        <p:grpSpPr>
          <a:xfrm>
            <a:off x="6858000" y="1490400"/>
            <a:ext cx="2057400" cy="1143000"/>
            <a:chOff x="6972300" y="1376100"/>
            <a:chExt cx="2057400" cy="1143000"/>
          </a:xfrm>
        </p:grpSpPr>
        <p:sp>
          <p:nvSpPr>
            <p:cNvPr id="362" name="Google Shape;362;p34"/>
            <p:cNvSpPr/>
            <p:nvPr/>
          </p:nvSpPr>
          <p:spPr>
            <a:xfrm>
              <a:off x="7086600" y="1490400"/>
              <a:ext cx="1828800" cy="914400"/>
            </a:xfrm>
            <a:prstGeom prst="rtTriangle">
              <a:avLst/>
            </a:prstGeom>
            <a:solidFill>
              <a:srgbClr val="FAC073"/>
            </a:solidFill>
            <a:ln cap="flat" cmpd="sng" w="38100">
              <a:solidFill>
                <a:srgbClr val="C6DED9"/>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34"/>
            <p:cNvSpPr/>
            <p:nvPr/>
          </p:nvSpPr>
          <p:spPr>
            <a:xfrm>
              <a:off x="6972300" y="13761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4" name="Google Shape;364;p34"/>
            <p:cNvSpPr/>
            <p:nvPr/>
          </p:nvSpPr>
          <p:spPr>
            <a:xfrm>
              <a:off x="6972300" y="22905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34"/>
            <p:cNvSpPr/>
            <p:nvPr/>
          </p:nvSpPr>
          <p:spPr>
            <a:xfrm>
              <a:off x="8801100" y="22905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66" name="Google Shape;366;p34"/>
          <p:cNvGrpSpPr/>
          <p:nvPr/>
        </p:nvGrpSpPr>
        <p:grpSpPr>
          <a:xfrm>
            <a:off x="4800600" y="2404800"/>
            <a:ext cx="2057400" cy="1143000"/>
            <a:chOff x="4914900" y="2290500"/>
            <a:chExt cx="2057400" cy="1143000"/>
          </a:xfrm>
        </p:grpSpPr>
        <p:sp>
          <p:nvSpPr>
            <p:cNvPr id="367" name="Google Shape;367;p34"/>
            <p:cNvSpPr/>
            <p:nvPr/>
          </p:nvSpPr>
          <p:spPr>
            <a:xfrm>
              <a:off x="5029200" y="2404800"/>
              <a:ext cx="1828800" cy="914400"/>
            </a:xfrm>
            <a:prstGeom prst="rtTriangle">
              <a:avLst/>
            </a:prstGeom>
            <a:solidFill>
              <a:srgbClr val="C6DED9"/>
            </a:solidFill>
            <a:ln cap="flat" cmpd="sng" w="38100">
              <a:solidFill>
                <a:srgbClr val="FAC073"/>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4"/>
            <p:cNvSpPr/>
            <p:nvPr/>
          </p:nvSpPr>
          <p:spPr>
            <a:xfrm>
              <a:off x="4914900" y="22905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4"/>
            <p:cNvSpPr/>
            <p:nvPr/>
          </p:nvSpPr>
          <p:spPr>
            <a:xfrm>
              <a:off x="4914900" y="32049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34"/>
            <p:cNvSpPr/>
            <p:nvPr/>
          </p:nvSpPr>
          <p:spPr>
            <a:xfrm>
              <a:off x="6743700" y="32049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71" name="Google Shape;371;p34"/>
          <p:cNvGrpSpPr/>
          <p:nvPr/>
        </p:nvGrpSpPr>
        <p:grpSpPr>
          <a:xfrm>
            <a:off x="4914900" y="1604700"/>
            <a:ext cx="3886200" cy="1828800"/>
            <a:chOff x="5029200" y="1490400"/>
            <a:chExt cx="3886200" cy="1828800"/>
          </a:xfrm>
        </p:grpSpPr>
        <p:cxnSp>
          <p:nvCxnSpPr>
            <p:cNvPr id="372" name="Google Shape;372;p34"/>
            <p:cNvCxnSpPr/>
            <p:nvPr/>
          </p:nvCxnSpPr>
          <p:spPr>
            <a:xfrm flipH="1" rot="10800000">
              <a:off x="5029200" y="1490400"/>
              <a:ext cx="205740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373" name="Google Shape;373;p34"/>
            <p:cNvCxnSpPr/>
            <p:nvPr/>
          </p:nvCxnSpPr>
          <p:spPr>
            <a:xfrm flipH="1" rot="10800000">
              <a:off x="5029200" y="2404800"/>
              <a:ext cx="205740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374" name="Google Shape;374;p34"/>
            <p:cNvCxnSpPr/>
            <p:nvPr/>
          </p:nvCxnSpPr>
          <p:spPr>
            <a:xfrm flipH="1" rot="10800000">
              <a:off x="6858000" y="2404800"/>
              <a:ext cx="205740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8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378" name="Shape 378"/>
        <p:cNvGrpSpPr/>
        <p:nvPr/>
      </p:nvGrpSpPr>
      <p:grpSpPr>
        <a:xfrm>
          <a:off x="0" y="0"/>
          <a:ext cx="0" cy="0"/>
          <a:chOff x="0" y="0"/>
          <a:chExt cx="0" cy="0"/>
        </a:xfrm>
      </p:grpSpPr>
      <p:sp>
        <p:nvSpPr>
          <p:cNvPr id="379" name="Google Shape;379;p35"/>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380" name="Google Shape;380;p35"/>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35"/>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382" name="Google Shape;382;p35"/>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Translations, Rotations, and Reflections</a:t>
            </a:r>
            <a:endParaRPr sz="3000">
              <a:latin typeface="Merriweather"/>
              <a:ea typeface="Merriweather"/>
              <a:cs typeface="Merriweather"/>
              <a:sym typeface="Merriweather"/>
            </a:endParaRPr>
          </a:p>
        </p:txBody>
      </p:sp>
      <p:pic>
        <p:nvPicPr>
          <p:cNvPr id="383" name="Google Shape;383;p3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384" name="Google Shape;384;p35"/>
          <p:cNvSpPr txBox="1"/>
          <p:nvPr/>
        </p:nvSpPr>
        <p:spPr>
          <a:xfrm>
            <a:off x="228600" y="14904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A </a:t>
            </a:r>
            <a:r>
              <a:rPr b="1" lang="en" sz="2400">
                <a:latin typeface="DM Sans"/>
                <a:ea typeface="DM Sans"/>
                <a:cs typeface="DM Sans"/>
                <a:sym typeface="DM Sans"/>
              </a:rPr>
              <a:t>rotation</a:t>
            </a:r>
            <a:r>
              <a:rPr lang="en" sz="2400">
                <a:latin typeface="DM Sans"/>
                <a:ea typeface="DM Sans"/>
                <a:cs typeface="DM Sans"/>
                <a:sym typeface="DM Sans"/>
              </a:rPr>
              <a:t> requires knowing the center/point of rotation and the measure/direction of the angle of rotation.</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Positive measures mean counterclockwise angles of rotation.</a:t>
            </a:r>
            <a:endParaRPr sz="2400">
              <a:latin typeface="DM Sans"/>
              <a:ea typeface="DM Sans"/>
              <a:cs typeface="DM Sans"/>
              <a:sym typeface="DM Sans"/>
            </a:endParaRPr>
          </a:p>
        </p:txBody>
      </p:sp>
      <p:grpSp>
        <p:nvGrpSpPr>
          <p:cNvPr id="385" name="Google Shape;385;p35"/>
          <p:cNvGrpSpPr/>
          <p:nvPr/>
        </p:nvGrpSpPr>
        <p:grpSpPr>
          <a:xfrm>
            <a:off x="5999250" y="1261800"/>
            <a:ext cx="2057400" cy="1143000"/>
            <a:chOff x="4800600" y="1490400"/>
            <a:chExt cx="2057400" cy="1143000"/>
          </a:xfrm>
        </p:grpSpPr>
        <p:sp>
          <p:nvSpPr>
            <p:cNvPr id="386" name="Google Shape;386;p35"/>
            <p:cNvSpPr/>
            <p:nvPr/>
          </p:nvSpPr>
          <p:spPr>
            <a:xfrm>
              <a:off x="4914900" y="1604700"/>
              <a:ext cx="1828800" cy="914400"/>
            </a:xfrm>
            <a:prstGeom prst="rtTriangle">
              <a:avLst/>
            </a:prstGeom>
            <a:solidFill>
              <a:srgbClr val="C6DED9"/>
            </a:solidFill>
            <a:ln cap="flat" cmpd="sng" w="38100">
              <a:solidFill>
                <a:srgbClr val="FAC073"/>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35"/>
            <p:cNvSpPr/>
            <p:nvPr/>
          </p:nvSpPr>
          <p:spPr>
            <a:xfrm>
              <a:off x="4800600" y="14904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35"/>
            <p:cNvSpPr/>
            <p:nvPr/>
          </p:nvSpPr>
          <p:spPr>
            <a:xfrm>
              <a:off x="4800600" y="24048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35"/>
            <p:cNvSpPr/>
            <p:nvPr/>
          </p:nvSpPr>
          <p:spPr>
            <a:xfrm>
              <a:off x="6629400" y="24048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90" name="Google Shape;390;p35"/>
          <p:cNvGrpSpPr/>
          <p:nvPr/>
        </p:nvGrpSpPr>
        <p:grpSpPr>
          <a:xfrm>
            <a:off x="7370850" y="2633400"/>
            <a:ext cx="1143000" cy="2057400"/>
            <a:chOff x="6172200" y="2862000"/>
            <a:chExt cx="1143000" cy="2057400"/>
          </a:xfrm>
        </p:grpSpPr>
        <p:sp>
          <p:nvSpPr>
            <p:cNvPr id="391" name="Google Shape;391;p35"/>
            <p:cNvSpPr/>
            <p:nvPr/>
          </p:nvSpPr>
          <p:spPr>
            <a:xfrm rot="-5400000">
              <a:off x="5829300" y="3433500"/>
              <a:ext cx="1828800" cy="914400"/>
            </a:xfrm>
            <a:prstGeom prst="rtTriangle">
              <a:avLst/>
            </a:prstGeom>
            <a:solidFill>
              <a:srgbClr val="FAC073"/>
            </a:solidFill>
            <a:ln cap="flat" cmpd="sng" w="38100">
              <a:solidFill>
                <a:srgbClr val="C6DED9"/>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35"/>
            <p:cNvSpPr/>
            <p:nvPr/>
          </p:nvSpPr>
          <p:spPr>
            <a:xfrm rot="-5400000">
              <a:off x="6172200" y="46908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35"/>
            <p:cNvSpPr/>
            <p:nvPr/>
          </p:nvSpPr>
          <p:spPr>
            <a:xfrm rot="-5400000">
              <a:off x="7086600" y="46908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35"/>
            <p:cNvSpPr/>
            <p:nvPr/>
          </p:nvSpPr>
          <p:spPr>
            <a:xfrm rot="-5400000">
              <a:off x="7086600" y="28620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95" name="Google Shape;395;p35"/>
          <p:cNvGrpSpPr/>
          <p:nvPr/>
        </p:nvGrpSpPr>
        <p:grpSpPr>
          <a:xfrm>
            <a:off x="5202151" y="1379392"/>
            <a:ext cx="3311699" cy="3197108"/>
            <a:chOff x="4003501" y="1379392"/>
            <a:chExt cx="3311699" cy="3197108"/>
          </a:xfrm>
        </p:grpSpPr>
        <p:sp>
          <p:nvSpPr>
            <p:cNvPr id="396" name="Google Shape;396;p35"/>
            <p:cNvSpPr/>
            <p:nvPr/>
          </p:nvSpPr>
          <p:spPr>
            <a:xfrm>
              <a:off x="7086600" y="21762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7" name="Google Shape;397;p35"/>
            <p:cNvCxnSpPr/>
            <p:nvPr/>
          </p:nvCxnSpPr>
          <p:spPr>
            <a:xfrm flipH="1" rot="-5400000">
              <a:off x="6743700" y="2290500"/>
              <a:ext cx="457200" cy="457200"/>
            </a:xfrm>
            <a:prstGeom prst="curvedConnector2">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398" name="Google Shape;398;p35"/>
            <p:cNvCxnSpPr/>
            <p:nvPr/>
          </p:nvCxnSpPr>
          <p:spPr>
            <a:xfrm flipH="1" rot="-5400000">
              <a:off x="4914900" y="2290500"/>
              <a:ext cx="2286000" cy="2286000"/>
            </a:xfrm>
            <a:prstGeom prst="curvedConnector2">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399" name="Google Shape;399;p35"/>
            <p:cNvCxnSpPr/>
            <p:nvPr/>
          </p:nvCxnSpPr>
          <p:spPr>
            <a:xfrm flipH="1" rot="-4091993">
              <a:off x="4372294" y="1748091"/>
              <a:ext cx="2459813" cy="2459702"/>
            </a:xfrm>
            <a:prstGeom prst="curvedConnector2">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800"/>
                                        <p:tgtEl>
                                          <p:spTgt spid="384"/>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800"/>
                                        <p:tgtEl>
                                          <p:spTgt spid="385"/>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800"/>
                                        <p:tgtEl>
                                          <p:spTgt spid="395"/>
                                        </p:tgtEl>
                                      </p:cBhvr>
                                    </p:animEffect>
                                  </p:childTnLst>
                                </p:cTn>
                              </p:par>
                            </p:childTnLst>
                          </p:cTn>
                        </p:par>
                        <p:par>
                          <p:cTn fill="hold">
                            <p:stCondLst>
                              <p:cond delay="2400"/>
                            </p:stCondLst>
                            <p:childTnLst>
                              <p:par>
                                <p:cTn fill="hold" nodeType="after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800"/>
                                        <p:tgtEl>
                                          <p:spTgt spid="3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403" name="Shape 403"/>
        <p:cNvGrpSpPr/>
        <p:nvPr/>
      </p:nvGrpSpPr>
      <p:grpSpPr>
        <a:xfrm>
          <a:off x="0" y="0"/>
          <a:ext cx="0" cy="0"/>
          <a:chOff x="0" y="0"/>
          <a:chExt cx="0" cy="0"/>
        </a:xfrm>
      </p:grpSpPr>
      <p:sp>
        <p:nvSpPr>
          <p:cNvPr id="404" name="Google Shape;404;p36"/>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405" name="Google Shape;405;p36"/>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36"/>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07" name="Google Shape;407;p36"/>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Translations, Rotations, and Reflections</a:t>
            </a:r>
            <a:endParaRPr sz="3000">
              <a:latin typeface="Merriweather"/>
              <a:ea typeface="Merriweather"/>
              <a:cs typeface="Merriweather"/>
              <a:sym typeface="Merriweather"/>
            </a:endParaRPr>
          </a:p>
        </p:txBody>
      </p:sp>
      <p:pic>
        <p:nvPicPr>
          <p:cNvPr id="408" name="Google Shape;408;p3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09" name="Google Shape;409;p36"/>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Point </a:t>
            </a:r>
            <a:r>
              <a:rPr i="1" lang="en" sz="2400">
                <a:latin typeface="DM Sans"/>
                <a:ea typeface="DM Sans"/>
                <a:cs typeface="DM Sans"/>
                <a:sym typeface="DM Sans"/>
              </a:rPr>
              <a:t>B</a:t>
            </a:r>
            <a:r>
              <a:rPr lang="en" sz="2400">
                <a:latin typeface="DM Sans"/>
                <a:ea typeface="DM Sans"/>
                <a:cs typeface="DM Sans"/>
                <a:sym typeface="DM Sans"/>
              </a:rPr>
              <a:t>: </a:t>
            </a:r>
            <a:r>
              <a:rPr b="1" lang="en" sz="2400">
                <a:latin typeface="DM Sans"/>
                <a:ea typeface="DM Sans"/>
                <a:cs typeface="DM Sans"/>
                <a:sym typeface="DM Sans"/>
              </a:rPr>
              <a:t>(−2.5, 0)</a:t>
            </a:r>
            <a:endParaRPr b="1"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Center of rotation: (0, 0)</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Angle of rotation: 90°</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Point </a:t>
            </a:r>
            <a:r>
              <a:rPr i="1" lang="en" sz="2400">
                <a:latin typeface="DM Sans"/>
                <a:ea typeface="DM Sans"/>
                <a:cs typeface="DM Sans"/>
                <a:sym typeface="DM Sans"/>
              </a:rPr>
              <a:t>B’</a:t>
            </a:r>
            <a:r>
              <a:rPr lang="en" sz="2400">
                <a:latin typeface="DM Sans"/>
                <a:ea typeface="DM Sans"/>
                <a:cs typeface="DM Sans"/>
                <a:sym typeface="DM Sans"/>
              </a:rPr>
              <a:t>: </a:t>
            </a:r>
            <a:r>
              <a:rPr b="1" lang="en" sz="2400">
                <a:latin typeface="DM Sans"/>
                <a:ea typeface="DM Sans"/>
                <a:cs typeface="DM Sans"/>
                <a:sym typeface="DM Sans"/>
              </a:rPr>
              <a:t>(0, −2.5)</a:t>
            </a:r>
            <a:endParaRPr b="1" sz="2400">
              <a:latin typeface="DM Sans"/>
              <a:ea typeface="DM Sans"/>
              <a:cs typeface="DM Sans"/>
              <a:sym typeface="DM Sans"/>
            </a:endParaRPr>
          </a:p>
        </p:txBody>
      </p:sp>
      <p:grpSp>
        <p:nvGrpSpPr>
          <p:cNvPr id="410" name="Google Shape;410;p36"/>
          <p:cNvGrpSpPr/>
          <p:nvPr/>
        </p:nvGrpSpPr>
        <p:grpSpPr>
          <a:xfrm>
            <a:off x="5999250" y="1261800"/>
            <a:ext cx="2057400" cy="1143000"/>
            <a:chOff x="4800600" y="1490400"/>
            <a:chExt cx="2057400" cy="1143000"/>
          </a:xfrm>
        </p:grpSpPr>
        <p:sp>
          <p:nvSpPr>
            <p:cNvPr id="411" name="Google Shape;411;p36"/>
            <p:cNvSpPr/>
            <p:nvPr/>
          </p:nvSpPr>
          <p:spPr>
            <a:xfrm>
              <a:off x="4914900" y="1604700"/>
              <a:ext cx="1828800" cy="914400"/>
            </a:xfrm>
            <a:prstGeom prst="rtTriangle">
              <a:avLst/>
            </a:prstGeom>
            <a:solidFill>
              <a:srgbClr val="C6DED9"/>
            </a:solidFill>
            <a:ln cap="flat" cmpd="sng" w="38100">
              <a:solidFill>
                <a:srgbClr val="FAC073"/>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36"/>
            <p:cNvSpPr/>
            <p:nvPr/>
          </p:nvSpPr>
          <p:spPr>
            <a:xfrm>
              <a:off x="4800600" y="14904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36"/>
            <p:cNvSpPr/>
            <p:nvPr/>
          </p:nvSpPr>
          <p:spPr>
            <a:xfrm>
              <a:off x="4800600" y="24048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36"/>
            <p:cNvSpPr/>
            <p:nvPr/>
          </p:nvSpPr>
          <p:spPr>
            <a:xfrm>
              <a:off x="6629400" y="24048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15" name="Google Shape;415;p36"/>
          <p:cNvGrpSpPr/>
          <p:nvPr/>
        </p:nvGrpSpPr>
        <p:grpSpPr>
          <a:xfrm>
            <a:off x="7370850" y="2633400"/>
            <a:ext cx="1143000" cy="2057400"/>
            <a:chOff x="6172200" y="2862000"/>
            <a:chExt cx="1143000" cy="2057400"/>
          </a:xfrm>
        </p:grpSpPr>
        <p:sp>
          <p:nvSpPr>
            <p:cNvPr id="416" name="Google Shape;416;p36"/>
            <p:cNvSpPr/>
            <p:nvPr/>
          </p:nvSpPr>
          <p:spPr>
            <a:xfrm rot="-5400000">
              <a:off x="5829300" y="3433500"/>
              <a:ext cx="1828800" cy="914400"/>
            </a:xfrm>
            <a:prstGeom prst="rtTriangle">
              <a:avLst/>
            </a:prstGeom>
            <a:solidFill>
              <a:srgbClr val="FAC073"/>
            </a:solidFill>
            <a:ln cap="flat" cmpd="sng" w="38100">
              <a:solidFill>
                <a:srgbClr val="C6DED9"/>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36"/>
            <p:cNvSpPr/>
            <p:nvPr/>
          </p:nvSpPr>
          <p:spPr>
            <a:xfrm rot="-5400000">
              <a:off x="6172200" y="46908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36"/>
            <p:cNvSpPr/>
            <p:nvPr/>
          </p:nvSpPr>
          <p:spPr>
            <a:xfrm rot="-5400000">
              <a:off x="7086600" y="46908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36"/>
            <p:cNvSpPr/>
            <p:nvPr/>
          </p:nvSpPr>
          <p:spPr>
            <a:xfrm rot="-5400000">
              <a:off x="7086600" y="28620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20" name="Google Shape;420;p36"/>
          <p:cNvGrpSpPr/>
          <p:nvPr/>
        </p:nvGrpSpPr>
        <p:grpSpPr>
          <a:xfrm>
            <a:off x="5202151" y="1379392"/>
            <a:ext cx="3311699" cy="3197108"/>
            <a:chOff x="4003501" y="1379392"/>
            <a:chExt cx="3311699" cy="3197108"/>
          </a:xfrm>
        </p:grpSpPr>
        <p:sp>
          <p:nvSpPr>
            <p:cNvPr id="421" name="Google Shape;421;p36"/>
            <p:cNvSpPr/>
            <p:nvPr/>
          </p:nvSpPr>
          <p:spPr>
            <a:xfrm>
              <a:off x="7086600" y="21762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22" name="Google Shape;422;p36"/>
            <p:cNvCxnSpPr/>
            <p:nvPr/>
          </p:nvCxnSpPr>
          <p:spPr>
            <a:xfrm flipH="1" rot="-5400000">
              <a:off x="6743700" y="2290500"/>
              <a:ext cx="457200" cy="457200"/>
            </a:xfrm>
            <a:prstGeom prst="curvedConnector2">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423" name="Google Shape;423;p36"/>
            <p:cNvCxnSpPr/>
            <p:nvPr/>
          </p:nvCxnSpPr>
          <p:spPr>
            <a:xfrm flipH="1" rot="-5400000">
              <a:off x="4914900" y="2290500"/>
              <a:ext cx="2286000" cy="2286000"/>
            </a:xfrm>
            <a:prstGeom prst="curvedConnector2">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424" name="Google Shape;424;p36"/>
            <p:cNvCxnSpPr/>
            <p:nvPr/>
          </p:nvCxnSpPr>
          <p:spPr>
            <a:xfrm flipH="1" rot="-4091993">
              <a:off x="4372294" y="1748091"/>
              <a:ext cx="2459813" cy="2459702"/>
            </a:xfrm>
            <a:prstGeom prst="curvedConnector2">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8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428" name="Shape 428"/>
        <p:cNvGrpSpPr/>
        <p:nvPr/>
      </p:nvGrpSpPr>
      <p:grpSpPr>
        <a:xfrm>
          <a:off x="0" y="0"/>
          <a:ext cx="0" cy="0"/>
          <a:chOff x="0" y="0"/>
          <a:chExt cx="0" cy="0"/>
        </a:xfrm>
      </p:grpSpPr>
      <p:sp>
        <p:nvSpPr>
          <p:cNvPr id="429" name="Google Shape;429;p37"/>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430" name="Google Shape;430;p37"/>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37"/>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32" name="Google Shape;432;p37"/>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Translations, Rotations, and Reflections</a:t>
            </a:r>
            <a:endParaRPr sz="3000">
              <a:latin typeface="Merriweather"/>
              <a:ea typeface="Merriweather"/>
              <a:cs typeface="Merriweather"/>
              <a:sym typeface="Merriweather"/>
            </a:endParaRPr>
          </a:p>
        </p:txBody>
      </p:sp>
      <p:pic>
        <p:nvPicPr>
          <p:cNvPr id="433" name="Google Shape;433;p37"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34" name="Google Shape;434;p37"/>
          <p:cNvSpPr txBox="1"/>
          <p:nvPr/>
        </p:nvSpPr>
        <p:spPr>
          <a:xfrm>
            <a:off x="228600" y="1490400"/>
            <a:ext cx="4114800" cy="14778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Point </a:t>
            </a:r>
            <a:r>
              <a:rPr i="1" lang="en" sz="2400">
                <a:latin typeface="DM Sans"/>
                <a:ea typeface="DM Sans"/>
                <a:cs typeface="DM Sans"/>
                <a:sym typeface="DM Sans"/>
              </a:rPr>
              <a:t>P</a:t>
            </a:r>
            <a:r>
              <a:rPr lang="en" sz="2400">
                <a:latin typeface="DM Sans"/>
                <a:ea typeface="DM Sans"/>
                <a:cs typeface="DM Sans"/>
                <a:sym typeface="DM Sans"/>
              </a:rPr>
              <a:t>: </a:t>
            </a:r>
            <a:r>
              <a:rPr b="1" lang="en" sz="2400">
                <a:latin typeface="DM Sans"/>
                <a:ea typeface="DM Sans"/>
                <a:cs typeface="DM Sans"/>
                <a:sym typeface="DM Sans"/>
              </a:rPr>
              <a:t>(1, 0)</a:t>
            </a:r>
            <a:endParaRPr b="1"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+90° or −270°: </a:t>
            </a:r>
            <a:r>
              <a:rPr b="1" lang="en" sz="2400">
                <a:latin typeface="DM Sans"/>
                <a:ea typeface="DM Sans"/>
                <a:cs typeface="DM Sans"/>
                <a:sym typeface="DM Sans"/>
              </a:rPr>
              <a:t>(0, 1)</a:t>
            </a:r>
            <a:endParaRPr b="1"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+180° or −180°: </a:t>
            </a:r>
            <a:r>
              <a:rPr b="1" lang="en" sz="2400">
                <a:latin typeface="DM Sans"/>
                <a:ea typeface="DM Sans"/>
                <a:cs typeface="DM Sans"/>
                <a:sym typeface="DM Sans"/>
              </a:rPr>
              <a:t>(−1, 0)</a:t>
            </a:r>
            <a:endParaRPr b="1"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+270° or −90°: </a:t>
            </a:r>
            <a:r>
              <a:rPr b="1" lang="en" sz="2400">
                <a:latin typeface="DM Sans"/>
                <a:ea typeface="DM Sans"/>
                <a:cs typeface="DM Sans"/>
                <a:sym typeface="DM Sans"/>
              </a:rPr>
              <a:t>(0, −1)</a:t>
            </a:r>
            <a:endParaRPr b="1" sz="2400">
              <a:latin typeface="DM Sans"/>
              <a:ea typeface="DM Sans"/>
              <a:cs typeface="DM Sans"/>
              <a:sym typeface="DM Sans"/>
            </a:endParaRPr>
          </a:p>
        </p:txBody>
      </p:sp>
      <p:grpSp>
        <p:nvGrpSpPr>
          <p:cNvPr id="435" name="Google Shape;435;p37"/>
          <p:cNvGrpSpPr/>
          <p:nvPr/>
        </p:nvGrpSpPr>
        <p:grpSpPr>
          <a:xfrm>
            <a:off x="5829300" y="1490400"/>
            <a:ext cx="2057400" cy="2057400"/>
            <a:chOff x="5829300" y="1490400"/>
            <a:chExt cx="2057400" cy="2057400"/>
          </a:xfrm>
        </p:grpSpPr>
        <p:sp>
          <p:nvSpPr>
            <p:cNvPr id="436" name="Google Shape;436;p37"/>
            <p:cNvSpPr/>
            <p:nvPr/>
          </p:nvSpPr>
          <p:spPr>
            <a:xfrm rot="10800000">
              <a:off x="7658100" y="24048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37"/>
            <p:cNvSpPr/>
            <p:nvPr/>
          </p:nvSpPr>
          <p:spPr>
            <a:xfrm rot="5400000">
              <a:off x="6743700" y="14904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37"/>
            <p:cNvSpPr/>
            <p:nvPr/>
          </p:nvSpPr>
          <p:spPr>
            <a:xfrm rot="10800000">
              <a:off x="6743700" y="24048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39" name="Google Shape;439;p37"/>
            <p:cNvCxnSpPr/>
            <p:nvPr/>
          </p:nvCxnSpPr>
          <p:spPr>
            <a:xfrm flipH="1" rot="5400000">
              <a:off x="6858000" y="1604700"/>
              <a:ext cx="914400" cy="914400"/>
            </a:xfrm>
            <a:prstGeom prst="curvedConnector2">
              <a:avLst/>
            </a:prstGeom>
            <a:noFill/>
            <a:ln cap="flat" cmpd="sng" w="38100">
              <a:solidFill>
                <a:srgbClr val="FAC073"/>
              </a:solidFill>
              <a:prstDash val="solid"/>
              <a:round/>
              <a:headEnd len="med" w="med" type="none"/>
              <a:tailEnd len="med" w="med" type="stealth"/>
            </a:ln>
            <a:effectLst>
              <a:outerShdw blurRad="71438" rotWithShape="0" algn="bl">
                <a:srgbClr val="FFFFFF"/>
              </a:outerShdw>
            </a:effectLst>
          </p:spPr>
        </p:cxnSp>
        <p:sp>
          <p:nvSpPr>
            <p:cNvPr id="440" name="Google Shape;440;p37"/>
            <p:cNvSpPr/>
            <p:nvPr/>
          </p:nvSpPr>
          <p:spPr>
            <a:xfrm rot="10800000">
              <a:off x="5829300" y="24048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37"/>
            <p:cNvSpPr/>
            <p:nvPr/>
          </p:nvSpPr>
          <p:spPr>
            <a:xfrm rot="10800000">
              <a:off x="6743700" y="33192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42" name="Google Shape;442;p37"/>
            <p:cNvCxnSpPr/>
            <p:nvPr/>
          </p:nvCxnSpPr>
          <p:spPr>
            <a:xfrm flipH="1">
              <a:off x="5943600" y="1604700"/>
              <a:ext cx="914400" cy="914400"/>
            </a:xfrm>
            <a:prstGeom prst="curvedConnector2">
              <a:avLst/>
            </a:prstGeom>
            <a:noFill/>
            <a:ln cap="flat" cmpd="sng" w="38100">
              <a:solidFill>
                <a:srgbClr val="C6DED9"/>
              </a:solidFill>
              <a:prstDash val="solid"/>
              <a:round/>
              <a:headEnd len="med" w="med" type="none"/>
              <a:tailEnd len="med" w="med" type="stealth"/>
            </a:ln>
            <a:effectLst>
              <a:outerShdw blurRad="71438" rotWithShape="0" algn="bl">
                <a:srgbClr val="FFFFFF"/>
              </a:outerShdw>
            </a:effectLst>
          </p:spPr>
        </p:cxnSp>
        <p:cxnSp>
          <p:nvCxnSpPr>
            <p:cNvPr id="443" name="Google Shape;443;p37"/>
            <p:cNvCxnSpPr/>
            <p:nvPr/>
          </p:nvCxnSpPr>
          <p:spPr>
            <a:xfrm flipH="1" rot="-5400000">
              <a:off x="5943600" y="2519100"/>
              <a:ext cx="914400" cy="914400"/>
            </a:xfrm>
            <a:prstGeom prst="curvedConnector2">
              <a:avLst/>
            </a:prstGeom>
            <a:noFill/>
            <a:ln cap="flat" cmpd="sng" w="38100">
              <a:solidFill>
                <a:srgbClr val="FAC073"/>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800"/>
                                        <p:tgtEl>
                                          <p:spTgt spid="434"/>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8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447" name="Shape 447"/>
        <p:cNvGrpSpPr/>
        <p:nvPr/>
      </p:nvGrpSpPr>
      <p:grpSpPr>
        <a:xfrm>
          <a:off x="0" y="0"/>
          <a:ext cx="0" cy="0"/>
          <a:chOff x="0" y="0"/>
          <a:chExt cx="0" cy="0"/>
        </a:xfrm>
      </p:grpSpPr>
      <p:sp>
        <p:nvSpPr>
          <p:cNvPr id="448" name="Google Shape;448;p38"/>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449" name="Google Shape;449;p38"/>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38"/>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51" name="Google Shape;451;p38"/>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Translations, Rotations, and Reflections</a:t>
            </a:r>
            <a:endParaRPr sz="3000">
              <a:latin typeface="Merriweather"/>
              <a:ea typeface="Merriweather"/>
              <a:cs typeface="Merriweather"/>
              <a:sym typeface="Merriweather"/>
            </a:endParaRPr>
          </a:p>
        </p:txBody>
      </p:sp>
      <p:pic>
        <p:nvPicPr>
          <p:cNvPr id="452" name="Google Shape;452;p38"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53" name="Google Shape;453;p38"/>
          <p:cNvSpPr txBox="1"/>
          <p:nvPr/>
        </p:nvSpPr>
        <p:spPr>
          <a:xfrm>
            <a:off x="228600" y="14904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A </a:t>
            </a:r>
            <a:r>
              <a:rPr b="1" lang="en" sz="2400">
                <a:latin typeface="DM Sans"/>
                <a:ea typeface="DM Sans"/>
                <a:cs typeface="DM Sans"/>
                <a:sym typeface="DM Sans"/>
              </a:rPr>
              <a:t>line reflection</a:t>
            </a:r>
            <a:r>
              <a:rPr lang="en" sz="2400">
                <a:latin typeface="DM Sans"/>
                <a:ea typeface="DM Sans"/>
                <a:cs typeface="DM Sans"/>
                <a:sym typeface="DM Sans"/>
              </a:rPr>
              <a:t> requires a line and the knowledge of perpendicular bisectors (shortest distance from a point to a line).</a:t>
            </a:r>
            <a:endParaRPr sz="2400">
              <a:latin typeface="DM Sans"/>
              <a:ea typeface="DM Sans"/>
              <a:cs typeface="DM Sans"/>
              <a:sym typeface="DM Sans"/>
            </a:endParaRPr>
          </a:p>
        </p:txBody>
      </p:sp>
      <p:grpSp>
        <p:nvGrpSpPr>
          <p:cNvPr id="454" name="Google Shape;454;p38"/>
          <p:cNvGrpSpPr/>
          <p:nvPr/>
        </p:nvGrpSpPr>
        <p:grpSpPr>
          <a:xfrm>
            <a:off x="5829300" y="1394900"/>
            <a:ext cx="2057400" cy="1143000"/>
            <a:chOff x="4800600" y="1490400"/>
            <a:chExt cx="2057400" cy="1143000"/>
          </a:xfrm>
        </p:grpSpPr>
        <p:sp>
          <p:nvSpPr>
            <p:cNvPr id="455" name="Google Shape;455;p38"/>
            <p:cNvSpPr/>
            <p:nvPr/>
          </p:nvSpPr>
          <p:spPr>
            <a:xfrm>
              <a:off x="4914900" y="1604700"/>
              <a:ext cx="1828800" cy="914400"/>
            </a:xfrm>
            <a:prstGeom prst="rtTriangle">
              <a:avLst/>
            </a:prstGeom>
            <a:solidFill>
              <a:srgbClr val="C6DED9"/>
            </a:solidFill>
            <a:ln cap="flat" cmpd="sng" w="38100">
              <a:solidFill>
                <a:srgbClr val="FAC073"/>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38"/>
            <p:cNvSpPr/>
            <p:nvPr/>
          </p:nvSpPr>
          <p:spPr>
            <a:xfrm>
              <a:off x="4800600" y="14904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38"/>
            <p:cNvSpPr/>
            <p:nvPr/>
          </p:nvSpPr>
          <p:spPr>
            <a:xfrm>
              <a:off x="4800600" y="24048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8" name="Google Shape;458;p38"/>
            <p:cNvSpPr/>
            <p:nvPr/>
          </p:nvSpPr>
          <p:spPr>
            <a:xfrm>
              <a:off x="6629400" y="24048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59" name="Google Shape;459;p38"/>
          <p:cNvGrpSpPr/>
          <p:nvPr/>
        </p:nvGrpSpPr>
        <p:grpSpPr>
          <a:xfrm flipH="1" rot="5400000">
            <a:off x="6286500" y="2766500"/>
            <a:ext cx="1143000" cy="2057400"/>
            <a:chOff x="6172200" y="2862000"/>
            <a:chExt cx="1143000" cy="2057400"/>
          </a:xfrm>
        </p:grpSpPr>
        <p:sp>
          <p:nvSpPr>
            <p:cNvPr id="460" name="Google Shape;460;p38"/>
            <p:cNvSpPr/>
            <p:nvPr/>
          </p:nvSpPr>
          <p:spPr>
            <a:xfrm rot="-5400000">
              <a:off x="5829300" y="3433500"/>
              <a:ext cx="1828800" cy="914400"/>
            </a:xfrm>
            <a:prstGeom prst="rtTriangle">
              <a:avLst/>
            </a:prstGeom>
            <a:solidFill>
              <a:srgbClr val="FAC073"/>
            </a:solidFill>
            <a:ln cap="flat" cmpd="sng" w="38100">
              <a:solidFill>
                <a:srgbClr val="C6DED9"/>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38"/>
            <p:cNvSpPr/>
            <p:nvPr/>
          </p:nvSpPr>
          <p:spPr>
            <a:xfrm rot="-5400000">
              <a:off x="6172200" y="46908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38"/>
            <p:cNvSpPr/>
            <p:nvPr/>
          </p:nvSpPr>
          <p:spPr>
            <a:xfrm rot="-5400000">
              <a:off x="7086600" y="46908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38"/>
            <p:cNvSpPr/>
            <p:nvPr/>
          </p:nvSpPr>
          <p:spPr>
            <a:xfrm rot="-5400000">
              <a:off x="7086600" y="28620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64" name="Google Shape;464;p38"/>
          <p:cNvGrpSpPr/>
          <p:nvPr/>
        </p:nvGrpSpPr>
        <p:grpSpPr>
          <a:xfrm>
            <a:off x="4800600" y="1509200"/>
            <a:ext cx="4114800" cy="2743200"/>
            <a:chOff x="4800600" y="1509200"/>
            <a:chExt cx="4114800" cy="2743200"/>
          </a:xfrm>
        </p:grpSpPr>
        <p:cxnSp>
          <p:nvCxnSpPr>
            <p:cNvPr id="465" name="Google Shape;465;p38"/>
            <p:cNvCxnSpPr/>
            <p:nvPr/>
          </p:nvCxnSpPr>
          <p:spPr>
            <a:xfrm>
              <a:off x="4800600" y="2880800"/>
              <a:ext cx="4114800" cy="0"/>
            </a:xfrm>
            <a:prstGeom prst="straightConnector1">
              <a:avLst/>
            </a:prstGeom>
            <a:noFill/>
            <a:ln cap="flat" cmpd="sng" w="38100">
              <a:solidFill>
                <a:srgbClr val="000000"/>
              </a:solidFill>
              <a:prstDash val="dash"/>
              <a:round/>
              <a:headEnd len="med" w="med" type="none"/>
              <a:tailEnd len="med" w="med" type="none"/>
            </a:ln>
            <a:effectLst>
              <a:outerShdw blurRad="71438" rotWithShape="0" algn="bl">
                <a:srgbClr val="FFFFFF"/>
              </a:outerShdw>
            </a:effectLst>
          </p:spPr>
        </p:cxnSp>
        <p:cxnSp>
          <p:nvCxnSpPr>
            <p:cNvPr id="466" name="Google Shape;466;p38"/>
            <p:cNvCxnSpPr/>
            <p:nvPr/>
          </p:nvCxnSpPr>
          <p:spPr>
            <a:xfrm>
              <a:off x="5943600" y="2423600"/>
              <a:ext cx="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467" name="Google Shape;467;p38"/>
            <p:cNvCxnSpPr/>
            <p:nvPr/>
          </p:nvCxnSpPr>
          <p:spPr>
            <a:xfrm>
              <a:off x="5943600" y="1509200"/>
              <a:ext cx="0" cy="27432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468" name="Google Shape;468;p38"/>
            <p:cNvCxnSpPr/>
            <p:nvPr/>
          </p:nvCxnSpPr>
          <p:spPr>
            <a:xfrm>
              <a:off x="7772400" y="2423600"/>
              <a:ext cx="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800"/>
                                        <p:tgtEl>
                                          <p:spTgt spid="453"/>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800"/>
                                        <p:tgtEl>
                                          <p:spTgt spid="454"/>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800"/>
                                        <p:tgtEl>
                                          <p:spTgt spid="464"/>
                                        </p:tgtEl>
                                      </p:cBhvr>
                                    </p:animEffect>
                                  </p:childTnLst>
                                </p:cTn>
                              </p:par>
                            </p:childTnLst>
                          </p:cTn>
                        </p:par>
                        <p:par>
                          <p:cTn fill="hold">
                            <p:stCondLst>
                              <p:cond delay="2400"/>
                            </p:stCondLst>
                            <p:childTnLst>
                              <p:par>
                                <p:cTn fill="hold" nodeType="after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8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472" name="Shape 472"/>
        <p:cNvGrpSpPr/>
        <p:nvPr/>
      </p:nvGrpSpPr>
      <p:grpSpPr>
        <a:xfrm>
          <a:off x="0" y="0"/>
          <a:ext cx="0" cy="0"/>
          <a:chOff x="0" y="0"/>
          <a:chExt cx="0" cy="0"/>
        </a:xfrm>
      </p:grpSpPr>
      <p:sp>
        <p:nvSpPr>
          <p:cNvPr id="473" name="Google Shape;473;p39"/>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474" name="Google Shape;474;p39"/>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9"/>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476" name="Google Shape;476;p39"/>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Translations, Rotations, and Reflections</a:t>
            </a:r>
            <a:endParaRPr sz="3000">
              <a:latin typeface="Merriweather"/>
              <a:ea typeface="Merriweather"/>
              <a:cs typeface="Merriweather"/>
              <a:sym typeface="Merriweather"/>
            </a:endParaRPr>
          </a:p>
        </p:txBody>
      </p:sp>
      <p:pic>
        <p:nvPicPr>
          <p:cNvPr id="477" name="Google Shape;477;p39"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478" name="Google Shape;478;p39"/>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Point </a:t>
            </a:r>
            <a:r>
              <a:rPr i="1" lang="en" sz="2400">
                <a:latin typeface="DM Sans"/>
                <a:ea typeface="DM Sans"/>
                <a:cs typeface="DM Sans"/>
                <a:sym typeface="DM Sans"/>
              </a:rPr>
              <a:t>C</a:t>
            </a:r>
            <a:r>
              <a:rPr lang="en" sz="2400">
                <a:latin typeface="DM Sans"/>
                <a:ea typeface="DM Sans"/>
                <a:cs typeface="DM Sans"/>
                <a:sym typeface="DM Sans"/>
              </a:rPr>
              <a:t>: </a:t>
            </a:r>
            <a:r>
              <a:rPr b="1" lang="en" sz="2400">
                <a:latin typeface="DM Sans"/>
                <a:ea typeface="DM Sans"/>
                <a:cs typeface="DM Sans"/>
                <a:sym typeface="DM Sans"/>
              </a:rPr>
              <a:t>(−0.5, 0)</a:t>
            </a:r>
            <a:endParaRPr b="1"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Line of reflection: </a:t>
            </a:r>
            <a:r>
              <a:rPr i="1" lang="en" sz="2400">
                <a:latin typeface="DM Sans"/>
                <a:ea typeface="DM Sans"/>
                <a:cs typeface="DM Sans"/>
                <a:sym typeface="DM Sans"/>
              </a:rPr>
              <a:t>y</a:t>
            </a:r>
            <a:r>
              <a:rPr lang="en" sz="2400">
                <a:latin typeface="DM Sans"/>
                <a:ea typeface="DM Sans"/>
                <a:cs typeface="DM Sans"/>
                <a:sym typeface="DM Sans"/>
              </a:rPr>
              <a:t> = −0.5</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Point </a:t>
            </a:r>
            <a:r>
              <a:rPr i="1" lang="en" sz="2400">
                <a:latin typeface="DM Sans"/>
                <a:ea typeface="DM Sans"/>
                <a:cs typeface="DM Sans"/>
                <a:sym typeface="DM Sans"/>
              </a:rPr>
              <a:t>C’</a:t>
            </a:r>
            <a:r>
              <a:rPr lang="en" sz="2400">
                <a:latin typeface="DM Sans"/>
                <a:ea typeface="DM Sans"/>
                <a:cs typeface="DM Sans"/>
                <a:sym typeface="DM Sans"/>
              </a:rPr>
              <a:t>: (−0.5, 0+2(−0.5))</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 </a:t>
            </a:r>
            <a:r>
              <a:rPr b="1" lang="en" sz="2400">
                <a:latin typeface="DM Sans"/>
                <a:ea typeface="DM Sans"/>
                <a:cs typeface="DM Sans"/>
                <a:sym typeface="DM Sans"/>
              </a:rPr>
              <a:t>(−0.5, −1)</a:t>
            </a:r>
            <a:endParaRPr b="1" sz="2400">
              <a:latin typeface="DM Sans"/>
              <a:ea typeface="DM Sans"/>
              <a:cs typeface="DM Sans"/>
              <a:sym typeface="DM Sans"/>
            </a:endParaRPr>
          </a:p>
        </p:txBody>
      </p:sp>
      <p:grpSp>
        <p:nvGrpSpPr>
          <p:cNvPr id="479" name="Google Shape;479;p39"/>
          <p:cNvGrpSpPr/>
          <p:nvPr/>
        </p:nvGrpSpPr>
        <p:grpSpPr>
          <a:xfrm>
            <a:off x="5829300" y="1394900"/>
            <a:ext cx="2057400" cy="1143000"/>
            <a:chOff x="4800600" y="1490400"/>
            <a:chExt cx="2057400" cy="1143000"/>
          </a:xfrm>
        </p:grpSpPr>
        <p:sp>
          <p:nvSpPr>
            <p:cNvPr id="480" name="Google Shape;480;p39"/>
            <p:cNvSpPr/>
            <p:nvPr/>
          </p:nvSpPr>
          <p:spPr>
            <a:xfrm>
              <a:off x="4914900" y="1604700"/>
              <a:ext cx="1828800" cy="914400"/>
            </a:xfrm>
            <a:prstGeom prst="rtTriangle">
              <a:avLst/>
            </a:prstGeom>
            <a:solidFill>
              <a:srgbClr val="C6DED9"/>
            </a:solidFill>
            <a:ln cap="flat" cmpd="sng" w="38100">
              <a:solidFill>
                <a:srgbClr val="FAC073"/>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39"/>
            <p:cNvSpPr/>
            <p:nvPr/>
          </p:nvSpPr>
          <p:spPr>
            <a:xfrm>
              <a:off x="4800600" y="14904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39"/>
            <p:cNvSpPr/>
            <p:nvPr/>
          </p:nvSpPr>
          <p:spPr>
            <a:xfrm>
              <a:off x="4800600" y="24048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39"/>
            <p:cNvSpPr/>
            <p:nvPr/>
          </p:nvSpPr>
          <p:spPr>
            <a:xfrm>
              <a:off x="6629400" y="24048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84" name="Google Shape;484;p39"/>
          <p:cNvGrpSpPr/>
          <p:nvPr/>
        </p:nvGrpSpPr>
        <p:grpSpPr>
          <a:xfrm flipH="1" rot="5400000">
            <a:off x="6286500" y="2766500"/>
            <a:ext cx="1143000" cy="2057400"/>
            <a:chOff x="6172200" y="2862000"/>
            <a:chExt cx="1143000" cy="2057400"/>
          </a:xfrm>
        </p:grpSpPr>
        <p:sp>
          <p:nvSpPr>
            <p:cNvPr id="485" name="Google Shape;485;p39"/>
            <p:cNvSpPr/>
            <p:nvPr/>
          </p:nvSpPr>
          <p:spPr>
            <a:xfrm rot="-5400000">
              <a:off x="5829300" y="3433500"/>
              <a:ext cx="1828800" cy="914400"/>
            </a:xfrm>
            <a:prstGeom prst="rtTriangle">
              <a:avLst/>
            </a:prstGeom>
            <a:solidFill>
              <a:srgbClr val="FAC073"/>
            </a:solidFill>
            <a:ln cap="flat" cmpd="sng" w="38100">
              <a:solidFill>
                <a:srgbClr val="C6DED9"/>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39"/>
            <p:cNvSpPr/>
            <p:nvPr/>
          </p:nvSpPr>
          <p:spPr>
            <a:xfrm rot="-5400000">
              <a:off x="6172200" y="46908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39"/>
            <p:cNvSpPr/>
            <p:nvPr/>
          </p:nvSpPr>
          <p:spPr>
            <a:xfrm rot="-5400000">
              <a:off x="7086600" y="46908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39"/>
            <p:cNvSpPr/>
            <p:nvPr/>
          </p:nvSpPr>
          <p:spPr>
            <a:xfrm rot="-5400000">
              <a:off x="7086600" y="28620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89" name="Google Shape;489;p39"/>
          <p:cNvGrpSpPr/>
          <p:nvPr/>
        </p:nvGrpSpPr>
        <p:grpSpPr>
          <a:xfrm>
            <a:off x="4800600" y="1509200"/>
            <a:ext cx="4114800" cy="2743200"/>
            <a:chOff x="4800600" y="1509200"/>
            <a:chExt cx="4114800" cy="2743200"/>
          </a:xfrm>
        </p:grpSpPr>
        <p:cxnSp>
          <p:nvCxnSpPr>
            <p:cNvPr id="490" name="Google Shape;490;p39"/>
            <p:cNvCxnSpPr/>
            <p:nvPr/>
          </p:nvCxnSpPr>
          <p:spPr>
            <a:xfrm>
              <a:off x="4800600" y="2880800"/>
              <a:ext cx="4114800" cy="0"/>
            </a:xfrm>
            <a:prstGeom prst="straightConnector1">
              <a:avLst/>
            </a:prstGeom>
            <a:noFill/>
            <a:ln cap="flat" cmpd="sng" w="38100">
              <a:solidFill>
                <a:srgbClr val="000000"/>
              </a:solidFill>
              <a:prstDash val="dash"/>
              <a:round/>
              <a:headEnd len="med" w="med" type="none"/>
              <a:tailEnd len="med" w="med" type="none"/>
            </a:ln>
            <a:effectLst>
              <a:outerShdw blurRad="71438" rotWithShape="0" algn="bl">
                <a:srgbClr val="FFFFFF"/>
              </a:outerShdw>
            </a:effectLst>
          </p:spPr>
        </p:cxnSp>
        <p:cxnSp>
          <p:nvCxnSpPr>
            <p:cNvPr id="491" name="Google Shape;491;p39"/>
            <p:cNvCxnSpPr/>
            <p:nvPr/>
          </p:nvCxnSpPr>
          <p:spPr>
            <a:xfrm>
              <a:off x="5943600" y="2423600"/>
              <a:ext cx="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492" name="Google Shape;492;p39"/>
            <p:cNvCxnSpPr/>
            <p:nvPr/>
          </p:nvCxnSpPr>
          <p:spPr>
            <a:xfrm>
              <a:off x="5943600" y="1509200"/>
              <a:ext cx="0" cy="27432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493" name="Google Shape;493;p39"/>
            <p:cNvCxnSpPr/>
            <p:nvPr/>
          </p:nvCxnSpPr>
          <p:spPr>
            <a:xfrm>
              <a:off x="7772400" y="2423600"/>
              <a:ext cx="0" cy="9144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8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497" name="Shape 497"/>
        <p:cNvGrpSpPr/>
        <p:nvPr/>
      </p:nvGrpSpPr>
      <p:grpSpPr>
        <a:xfrm>
          <a:off x="0" y="0"/>
          <a:ext cx="0" cy="0"/>
          <a:chOff x="0" y="0"/>
          <a:chExt cx="0" cy="0"/>
        </a:xfrm>
      </p:grpSpPr>
      <p:sp>
        <p:nvSpPr>
          <p:cNvPr id="498" name="Google Shape;498;p40"/>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Notice that with all of these </a:t>
            </a:r>
            <a:r>
              <a:rPr b="1" lang="en" sz="2400">
                <a:latin typeface="DM Sans"/>
                <a:ea typeface="DM Sans"/>
                <a:cs typeface="DM Sans"/>
                <a:sym typeface="DM Sans"/>
              </a:rPr>
              <a:t>rigid transformations</a:t>
            </a:r>
            <a:r>
              <a:rPr lang="en" sz="2400">
                <a:latin typeface="DM Sans"/>
                <a:ea typeface="DM Sans"/>
                <a:cs typeface="DM Sans"/>
                <a:sym typeface="DM Sans"/>
              </a:rPr>
              <a:t>:</a:t>
            </a:r>
            <a:endParaRPr sz="2400">
              <a:latin typeface="DM Sans"/>
              <a:ea typeface="DM Sans"/>
              <a:cs typeface="DM Sans"/>
              <a:sym typeface="DM Sans"/>
            </a:endParaRPr>
          </a:p>
          <a:p>
            <a:pPr indent="-381000" lvl="0" marL="457200" rtl="0" algn="r">
              <a:spcBef>
                <a:spcPts val="0"/>
              </a:spcBef>
              <a:spcAft>
                <a:spcPts val="0"/>
              </a:spcAft>
              <a:buSzPts val="2400"/>
              <a:buFont typeface="DM Sans"/>
              <a:buChar char="●"/>
            </a:pPr>
            <a:r>
              <a:rPr lang="en" sz="2400">
                <a:latin typeface="DM Sans"/>
                <a:ea typeface="DM Sans"/>
                <a:cs typeface="DM Sans"/>
                <a:sym typeface="DM Sans"/>
              </a:rPr>
              <a:t>lines are mapped to lines</a:t>
            </a:r>
            <a:endParaRPr sz="2400">
              <a:latin typeface="DM Sans"/>
              <a:ea typeface="DM Sans"/>
              <a:cs typeface="DM Sans"/>
              <a:sym typeface="DM Sans"/>
            </a:endParaRPr>
          </a:p>
          <a:p>
            <a:pPr indent="-381000" lvl="0" marL="457200" rtl="0" algn="r">
              <a:spcBef>
                <a:spcPts val="0"/>
              </a:spcBef>
              <a:spcAft>
                <a:spcPts val="0"/>
              </a:spcAft>
              <a:buSzPts val="2400"/>
              <a:buFont typeface="DM Sans"/>
              <a:buChar char="●"/>
            </a:pPr>
            <a:r>
              <a:rPr lang="en" sz="2400">
                <a:latin typeface="DM Sans"/>
                <a:ea typeface="DM Sans"/>
                <a:cs typeface="DM Sans"/>
                <a:sym typeface="DM Sans"/>
              </a:rPr>
              <a:t>line segments are mapped to line segments of the same length</a:t>
            </a:r>
            <a:endParaRPr sz="2400">
              <a:latin typeface="DM Sans"/>
              <a:ea typeface="DM Sans"/>
              <a:cs typeface="DM Sans"/>
              <a:sym typeface="DM Sans"/>
            </a:endParaRPr>
          </a:p>
        </p:txBody>
      </p:sp>
      <p:sp>
        <p:nvSpPr>
          <p:cNvPr id="499" name="Google Shape;499;p40"/>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500" name="Google Shape;500;p40"/>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40"/>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02" name="Google Shape;502;p40"/>
          <p:cNvSpPr txBox="1"/>
          <p:nvPr/>
        </p:nvSpPr>
        <p:spPr>
          <a:xfrm>
            <a:off x="1490400" y="367200"/>
            <a:ext cx="74250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3000">
                <a:latin typeface="Merriweather"/>
                <a:ea typeface="Merriweather"/>
                <a:cs typeface="Merriweather"/>
                <a:sym typeface="Merriweather"/>
              </a:rPr>
              <a:t>Translations, Rotations, and Reflections</a:t>
            </a:r>
            <a:endParaRPr sz="3000">
              <a:latin typeface="Merriweather"/>
              <a:ea typeface="Merriweather"/>
              <a:cs typeface="Merriweather"/>
              <a:sym typeface="Merriweather"/>
            </a:endParaRPr>
          </a:p>
        </p:txBody>
      </p:sp>
      <p:pic>
        <p:nvPicPr>
          <p:cNvPr id="503" name="Google Shape;503;p40"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04" name="Google Shape;504;p40"/>
          <p:cNvSpPr txBox="1"/>
          <p:nvPr/>
        </p:nvSpPr>
        <p:spPr>
          <a:xfrm>
            <a:off x="4800600" y="14904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381000" lvl="0" marL="457200" rtl="0" algn="l">
              <a:spcBef>
                <a:spcPts val="0"/>
              </a:spcBef>
              <a:spcAft>
                <a:spcPts val="0"/>
              </a:spcAft>
              <a:buSzPts val="2400"/>
              <a:buFont typeface="DM Sans"/>
              <a:buChar char="●"/>
            </a:pPr>
            <a:r>
              <a:rPr lang="en" sz="2400">
                <a:latin typeface="DM Sans"/>
                <a:ea typeface="DM Sans"/>
                <a:cs typeface="DM Sans"/>
                <a:sym typeface="DM Sans"/>
              </a:rPr>
              <a:t>angles are mapped to angles of the same measure</a:t>
            </a:r>
            <a:endParaRPr sz="2400">
              <a:latin typeface="DM Sans"/>
              <a:ea typeface="DM Sans"/>
              <a:cs typeface="DM Sans"/>
              <a:sym typeface="DM Sans"/>
            </a:endParaRPr>
          </a:p>
          <a:p>
            <a:pPr indent="-381000" lvl="0" marL="457200" rtl="0" algn="l">
              <a:spcBef>
                <a:spcPts val="0"/>
              </a:spcBef>
              <a:spcAft>
                <a:spcPts val="0"/>
              </a:spcAft>
              <a:buSzPts val="2400"/>
              <a:buFont typeface="DM Sans"/>
              <a:buChar char="●"/>
            </a:pPr>
            <a:r>
              <a:rPr lang="en" sz="2400">
                <a:latin typeface="DM Sans"/>
                <a:ea typeface="DM Sans"/>
                <a:cs typeface="DM Sans"/>
                <a:sym typeface="DM Sans"/>
              </a:rPr>
              <a:t>parallel lines are mapped to parallel lines</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800"/>
                                        <p:tgtEl>
                                          <p:spTgt spid="498"/>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800"/>
                                        <p:tgtEl>
                                          <p:spTgt spid="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508" name="Shape 508"/>
        <p:cNvGrpSpPr/>
        <p:nvPr/>
      </p:nvGrpSpPr>
      <p:grpSpPr>
        <a:xfrm>
          <a:off x="0" y="0"/>
          <a:ext cx="0" cy="0"/>
          <a:chOff x="0" y="0"/>
          <a:chExt cx="0" cy="0"/>
        </a:xfrm>
      </p:grpSpPr>
      <p:sp>
        <p:nvSpPr>
          <p:cNvPr id="509" name="Google Shape;509;p41"/>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b="1" lang="en" sz="2400">
                <a:latin typeface="DM Sans"/>
                <a:ea typeface="DM Sans"/>
                <a:cs typeface="DM Sans"/>
                <a:sym typeface="DM Sans"/>
              </a:rPr>
              <a:t>Congruent (≅)</a:t>
            </a:r>
            <a:r>
              <a:rPr lang="en" sz="2400">
                <a:latin typeface="DM Sans"/>
                <a:ea typeface="DM Sans"/>
                <a:cs typeface="DM Sans"/>
                <a:sym typeface="DM Sans"/>
              </a:rPr>
              <a:t> line segments are line segments that are equal in measure (length).</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Congruent angles are angles that are equal in measure.</a:t>
            </a:r>
            <a:endParaRPr sz="2400">
              <a:latin typeface="DM Sans"/>
              <a:ea typeface="DM Sans"/>
              <a:cs typeface="DM Sans"/>
              <a:sym typeface="DM Sans"/>
            </a:endParaRPr>
          </a:p>
        </p:txBody>
      </p:sp>
      <p:sp>
        <p:nvSpPr>
          <p:cNvPr id="510" name="Google Shape;510;p41"/>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511" name="Google Shape;511;p41"/>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41"/>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13" name="Google Shape;513;p41"/>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Congruence</a:t>
            </a:r>
            <a:endParaRPr sz="4800">
              <a:latin typeface="Merriweather"/>
              <a:ea typeface="Merriweather"/>
              <a:cs typeface="Merriweather"/>
              <a:sym typeface="Merriweather"/>
            </a:endParaRPr>
          </a:p>
        </p:txBody>
      </p:sp>
      <p:pic>
        <p:nvPicPr>
          <p:cNvPr id="514" name="Google Shape;514;p41"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15" name="Google Shape;515;p41"/>
          <p:cNvSpPr txBox="1"/>
          <p:nvPr/>
        </p:nvSpPr>
        <p:spPr>
          <a:xfrm>
            <a:off x="4800600" y="1490400"/>
            <a:ext cx="4114800" cy="29553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1"/>
                </a:solidFill>
                <a:latin typeface="DM Sans"/>
                <a:ea typeface="DM Sans"/>
                <a:cs typeface="DM Sans"/>
                <a:sym typeface="DM Sans"/>
              </a:rPr>
              <a:t>A 2D figure is congruent to another if the corresponding angles are congruent and the corresponding sides are congruent.</a:t>
            </a:r>
            <a:endParaRPr sz="2400">
              <a:solidFill>
                <a:schemeClr val="dk1"/>
              </a:solidFill>
              <a:latin typeface="DM Sans"/>
              <a:ea typeface="DM Sans"/>
              <a:cs typeface="DM Sans"/>
              <a:sym typeface="DM Sans"/>
            </a:endParaRPr>
          </a:p>
          <a:p>
            <a:pPr indent="0" lvl="0" marL="0" rtl="0" algn="l">
              <a:spcBef>
                <a:spcPts val="0"/>
              </a:spcBef>
              <a:spcAft>
                <a:spcPts val="0"/>
              </a:spcAft>
              <a:buNone/>
            </a:pPr>
            <a:r>
              <a:t/>
            </a:r>
            <a:endParaRPr sz="2400">
              <a:solidFill>
                <a:schemeClr val="dk1"/>
              </a:solidFill>
              <a:latin typeface="DM Sans"/>
              <a:ea typeface="DM Sans"/>
              <a:cs typeface="DM Sans"/>
              <a:sym typeface="DM Sans"/>
            </a:endParaRPr>
          </a:p>
          <a:p>
            <a:pPr indent="0" lvl="0" marL="0" rtl="0" algn="l">
              <a:spcBef>
                <a:spcPts val="0"/>
              </a:spcBef>
              <a:spcAft>
                <a:spcPts val="0"/>
              </a:spcAft>
              <a:buNone/>
            </a:pPr>
            <a:r>
              <a:rPr lang="en" sz="2400">
                <a:solidFill>
                  <a:schemeClr val="dk1"/>
                </a:solidFill>
                <a:latin typeface="DM Sans"/>
                <a:ea typeface="DM Sans"/>
                <a:cs typeface="DM Sans"/>
                <a:sym typeface="DM Sans"/>
              </a:rPr>
              <a:t>△</a:t>
            </a:r>
            <a:r>
              <a:rPr i="1" lang="en" sz="2400">
                <a:solidFill>
                  <a:schemeClr val="dk1"/>
                </a:solidFill>
                <a:latin typeface="DM Sans"/>
                <a:ea typeface="DM Sans"/>
                <a:cs typeface="DM Sans"/>
                <a:sym typeface="DM Sans"/>
              </a:rPr>
              <a:t>ABC</a:t>
            </a:r>
            <a:r>
              <a:rPr lang="en" sz="2400">
                <a:solidFill>
                  <a:schemeClr val="dk1"/>
                </a:solidFill>
                <a:latin typeface="DM Sans"/>
                <a:ea typeface="DM Sans"/>
                <a:cs typeface="DM Sans"/>
                <a:sym typeface="DM Sans"/>
              </a:rPr>
              <a:t> ≅ △</a:t>
            </a:r>
            <a:r>
              <a:rPr i="1" lang="en" sz="2400">
                <a:solidFill>
                  <a:schemeClr val="dk1"/>
                </a:solidFill>
                <a:latin typeface="DM Sans"/>
                <a:ea typeface="DM Sans"/>
                <a:cs typeface="DM Sans"/>
                <a:sym typeface="DM Sans"/>
              </a:rPr>
              <a:t>DEF</a:t>
            </a:r>
            <a:r>
              <a:rPr lang="en" sz="2400">
                <a:solidFill>
                  <a:schemeClr val="dk1"/>
                </a:solidFill>
                <a:latin typeface="DM Sans"/>
                <a:ea typeface="DM Sans"/>
                <a:cs typeface="DM Sans"/>
                <a:sym typeface="DM Sans"/>
              </a:rPr>
              <a:t> means </a:t>
            </a:r>
            <a:r>
              <a:rPr i="1" lang="en" sz="2400">
                <a:solidFill>
                  <a:schemeClr val="dk1"/>
                </a:solidFill>
                <a:latin typeface="DM Sans"/>
                <a:ea typeface="DM Sans"/>
                <a:cs typeface="DM Sans"/>
                <a:sym typeface="DM Sans"/>
              </a:rPr>
              <a:t>D</a:t>
            </a:r>
            <a:r>
              <a:rPr lang="en" sz="2400">
                <a:solidFill>
                  <a:schemeClr val="dk1"/>
                </a:solidFill>
                <a:latin typeface="DM Sans"/>
                <a:ea typeface="DM Sans"/>
                <a:cs typeface="DM Sans"/>
                <a:sym typeface="DM Sans"/>
              </a:rPr>
              <a:t> corresponds to </a:t>
            </a:r>
            <a:r>
              <a:rPr i="1" lang="en" sz="2400">
                <a:solidFill>
                  <a:schemeClr val="dk1"/>
                </a:solidFill>
                <a:latin typeface="DM Sans"/>
                <a:ea typeface="DM Sans"/>
                <a:cs typeface="DM Sans"/>
                <a:sym typeface="DM Sans"/>
              </a:rPr>
              <a:t>A</a:t>
            </a:r>
            <a:r>
              <a:rPr lang="en" sz="2400">
                <a:solidFill>
                  <a:schemeClr val="dk1"/>
                </a:solidFill>
                <a:latin typeface="DM Sans"/>
                <a:ea typeface="DM Sans"/>
                <a:cs typeface="DM Sans"/>
                <a:sym typeface="DM Sans"/>
              </a:rPr>
              <a:t>, etc.</a:t>
            </a:r>
            <a:endParaRPr sz="24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800"/>
                                        <p:tgtEl>
                                          <p:spTgt spid="509"/>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800"/>
                                        <p:tgtEl>
                                          <p:spTgt spid="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519" name="Shape 519"/>
        <p:cNvGrpSpPr/>
        <p:nvPr/>
      </p:nvGrpSpPr>
      <p:grpSpPr>
        <a:xfrm>
          <a:off x="0" y="0"/>
          <a:ext cx="0" cy="0"/>
          <a:chOff x="0" y="0"/>
          <a:chExt cx="0" cy="0"/>
        </a:xfrm>
      </p:grpSpPr>
      <p:sp>
        <p:nvSpPr>
          <p:cNvPr id="520" name="Google Shape;520;p42"/>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Remember, rigid transformations preserve the measures of line segments and angles. You saw in the previous slides how the shape of the triangle stayed the same.</a:t>
            </a:r>
            <a:endParaRPr sz="2400">
              <a:latin typeface="DM Sans"/>
              <a:ea typeface="DM Sans"/>
              <a:cs typeface="DM Sans"/>
              <a:sym typeface="DM Sans"/>
            </a:endParaRPr>
          </a:p>
        </p:txBody>
      </p:sp>
      <p:sp>
        <p:nvSpPr>
          <p:cNvPr id="521" name="Google Shape;521;p42"/>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522" name="Google Shape;522;p42"/>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42"/>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24" name="Google Shape;524;p42"/>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Congruence</a:t>
            </a:r>
            <a:endParaRPr sz="4800">
              <a:latin typeface="Merriweather"/>
              <a:ea typeface="Merriweather"/>
              <a:cs typeface="Merriweather"/>
              <a:sym typeface="Merriweather"/>
            </a:endParaRPr>
          </a:p>
        </p:txBody>
      </p:sp>
      <p:pic>
        <p:nvPicPr>
          <p:cNvPr id="525" name="Google Shape;525;p42"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26" name="Google Shape;526;p42"/>
          <p:cNvSpPr txBox="1"/>
          <p:nvPr/>
        </p:nvSpPr>
        <p:spPr>
          <a:xfrm>
            <a:off x="4800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1"/>
                </a:solidFill>
                <a:latin typeface="DM Sans"/>
                <a:ea typeface="DM Sans"/>
                <a:cs typeface="DM Sans"/>
                <a:sym typeface="DM Sans"/>
              </a:rPr>
              <a:t>This means that two two-dimensional figures are congruent if one is the image of the other after a sequence of rotations, reflections, and translations.</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800"/>
                                        <p:tgtEl>
                                          <p:spTgt spid="520"/>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8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530" name="Shape 530"/>
        <p:cNvGrpSpPr/>
        <p:nvPr/>
      </p:nvGrpSpPr>
      <p:grpSpPr>
        <a:xfrm>
          <a:off x="0" y="0"/>
          <a:ext cx="0" cy="0"/>
          <a:chOff x="0" y="0"/>
          <a:chExt cx="0" cy="0"/>
        </a:xfrm>
      </p:grpSpPr>
      <p:sp>
        <p:nvSpPr>
          <p:cNvPr id="531" name="Google Shape;531;p43"/>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532" name="Google Shape;532;p43"/>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43"/>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34" name="Google Shape;534;p43"/>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Dilations</a:t>
            </a:r>
            <a:endParaRPr sz="4800">
              <a:latin typeface="Merriweather"/>
              <a:ea typeface="Merriweather"/>
              <a:cs typeface="Merriweather"/>
              <a:sym typeface="Merriweather"/>
            </a:endParaRPr>
          </a:p>
        </p:txBody>
      </p:sp>
      <p:pic>
        <p:nvPicPr>
          <p:cNvPr id="535" name="Google Shape;535;p43"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36" name="Google Shape;536;p43"/>
          <p:cNvSpPr txBox="1"/>
          <p:nvPr/>
        </p:nvSpPr>
        <p:spPr>
          <a:xfrm>
            <a:off x="228600" y="1490400"/>
            <a:ext cx="4114800" cy="11082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With </a:t>
            </a:r>
            <a:r>
              <a:rPr b="1" lang="en" sz="2400">
                <a:latin typeface="DM Sans"/>
                <a:ea typeface="DM Sans"/>
                <a:cs typeface="DM Sans"/>
                <a:sym typeface="DM Sans"/>
              </a:rPr>
              <a:t>dilation</a:t>
            </a:r>
            <a:r>
              <a:rPr lang="en" sz="2400">
                <a:latin typeface="DM Sans"/>
                <a:ea typeface="DM Sans"/>
                <a:cs typeface="DM Sans"/>
                <a:sym typeface="DM Sans"/>
              </a:rPr>
              <a:t>, the center and scale factor must be specified.</a:t>
            </a:r>
            <a:endParaRPr sz="2400">
              <a:latin typeface="DM Sans"/>
              <a:ea typeface="DM Sans"/>
              <a:cs typeface="DM Sans"/>
              <a:sym typeface="DM Sans"/>
            </a:endParaRPr>
          </a:p>
        </p:txBody>
      </p:sp>
      <p:grpSp>
        <p:nvGrpSpPr>
          <p:cNvPr id="537" name="Google Shape;537;p43"/>
          <p:cNvGrpSpPr/>
          <p:nvPr/>
        </p:nvGrpSpPr>
        <p:grpSpPr>
          <a:xfrm>
            <a:off x="4914900" y="1490400"/>
            <a:ext cx="3886200" cy="2057400"/>
            <a:chOff x="4963625" y="768200"/>
            <a:chExt cx="3886200" cy="2057400"/>
          </a:xfrm>
        </p:grpSpPr>
        <p:sp>
          <p:nvSpPr>
            <p:cNvPr id="538" name="Google Shape;538;p43"/>
            <p:cNvSpPr/>
            <p:nvPr/>
          </p:nvSpPr>
          <p:spPr>
            <a:xfrm>
              <a:off x="5077925" y="882500"/>
              <a:ext cx="3657600" cy="1828800"/>
            </a:xfrm>
            <a:prstGeom prst="rtTriangle">
              <a:avLst/>
            </a:prstGeom>
            <a:solidFill>
              <a:srgbClr val="FAC073"/>
            </a:solidFill>
            <a:ln cap="flat" cmpd="sng" w="38100">
              <a:solidFill>
                <a:srgbClr val="C6DED9"/>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43"/>
            <p:cNvSpPr/>
            <p:nvPr/>
          </p:nvSpPr>
          <p:spPr>
            <a:xfrm>
              <a:off x="4963625" y="25970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43"/>
            <p:cNvSpPr/>
            <p:nvPr/>
          </p:nvSpPr>
          <p:spPr>
            <a:xfrm>
              <a:off x="4963625" y="7682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43"/>
            <p:cNvSpPr/>
            <p:nvPr/>
          </p:nvSpPr>
          <p:spPr>
            <a:xfrm>
              <a:off x="8621225" y="25970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42" name="Google Shape;542;p43"/>
          <p:cNvGrpSpPr/>
          <p:nvPr/>
        </p:nvGrpSpPr>
        <p:grpSpPr>
          <a:xfrm>
            <a:off x="5372100" y="2862000"/>
            <a:ext cx="2057400" cy="1143000"/>
            <a:chOff x="5420825" y="2139800"/>
            <a:chExt cx="2057400" cy="1143000"/>
          </a:xfrm>
        </p:grpSpPr>
        <p:sp>
          <p:nvSpPr>
            <p:cNvPr id="543" name="Google Shape;543;p43"/>
            <p:cNvSpPr/>
            <p:nvPr/>
          </p:nvSpPr>
          <p:spPr>
            <a:xfrm>
              <a:off x="5535125" y="2254100"/>
              <a:ext cx="1828800" cy="914400"/>
            </a:xfrm>
            <a:prstGeom prst="rtTriangle">
              <a:avLst/>
            </a:prstGeom>
            <a:solidFill>
              <a:srgbClr val="C6DED9"/>
            </a:solidFill>
            <a:ln cap="flat" cmpd="sng" w="38100">
              <a:solidFill>
                <a:srgbClr val="FAC073"/>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43"/>
            <p:cNvSpPr/>
            <p:nvPr/>
          </p:nvSpPr>
          <p:spPr>
            <a:xfrm>
              <a:off x="5420825" y="21398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43"/>
            <p:cNvSpPr/>
            <p:nvPr/>
          </p:nvSpPr>
          <p:spPr>
            <a:xfrm>
              <a:off x="5420825" y="30542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43"/>
            <p:cNvSpPr/>
            <p:nvPr/>
          </p:nvSpPr>
          <p:spPr>
            <a:xfrm>
              <a:off x="7249625" y="30542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47" name="Google Shape;547;p43"/>
          <p:cNvGrpSpPr/>
          <p:nvPr/>
        </p:nvGrpSpPr>
        <p:grpSpPr>
          <a:xfrm>
            <a:off x="5029200" y="1604700"/>
            <a:ext cx="3657600" cy="2857500"/>
            <a:chOff x="5077925" y="882500"/>
            <a:chExt cx="3657600" cy="2857500"/>
          </a:xfrm>
        </p:grpSpPr>
        <p:sp>
          <p:nvSpPr>
            <p:cNvPr id="548" name="Google Shape;548;p43"/>
            <p:cNvSpPr/>
            <p:nvPr/>
          </p:nvSpPr>
          <p:spPr>
            <a:xfrm>
              <a:off x="5878025" y="35114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49" name="Google Shape;549;p43"/>
            <p:cNvCxnSpPr/>
            <p:nvPr/>
          </p:nvCxnSpPr>
          <p:spPr>
            <a:xfrm rot="10800000">
              <a:off x="5077925" y="2711300"/>
              <a:ext cx="457200" cy="457200"/>
            </a:xfrm>
            <a:prstGeom prst="straightConnector1">
              <a:avLst/>
            </a:prstGeom>
            <a:noFill/>
            <a:ln cap="flat" cmpd="sng" w="38100">
              <a:solidFill>
                <a:srgbClr val="C6DED9"/>
              </a:solidFill>
              <a:prstDash val="solid"/>
              <a:round/>
              <a:headEnd len="med" w="med" type="none"/>
              <a:tailEnd len="med" w="med" type="stealth"/>
            </a:ln>
            <a:effectLst>
              <a:outerShdw blurRad="71438" rotWithShape="0" algn="bl">
                <a:srgbClr val="FFFFFF"/>
              </a:outerShdw>
            </a:effectLst>
          </p:spPr>
        </p:cxnSp>
        <p:cxnSp>
          <p:nvCxnSpPr>
            <p:cNvPr id="550" name="Google Shape;550;p43"/>
            <p:cNvCxnSpPr/>
            <p:nvPr/>
          </p:nvCxnSpPr>
          <p:spPr>
            <a:xfrm rot="10800000">
              <a:off x="5535125" y="3168500"/>
              <a:ext cx="457200" cy="457200"/>
            </a:xfrm>
            <a:prstGeom prst="straightConnector1">
              <a:avLst/>
            </a:prstGeom>
            <a:noFill/>
            <a:ln cap="flat" cmpd="sng" w="38100">
              <a:solidFill>
                <a:srgbClr val="FAC073"/>
              </a:solidFill>
              <a:prstDash val="solid"/>
              <a:round/>
              <a:headEnd len="med" w="med" type="none"/>
              <a:tailEnd len="med" w="med" type="stealth"/>
            </a:ln>
            <a:effectLst>
              <a:outerShdw blurRad="71438" rotWithShape="0" algn="bl">
                <a:srgbClr val="FFFFFF"/>
              </a:outerShdw>
            </a:effectLst>
          </p:spPr>
        </p:cxnSp>
        <p:cxnSp>
          <p:nvCxnSpPr>
            <p:cNvPr id="551" name="Google Shape;551;p43"/>
            <p:cNvCxnSpPr/>
            <p:nvPr/>
          </p:nvCxnSpPr>
          <p:spPr>
            <a:xfrm flipH="1" rot="10800000">
              <a:off x="5992325" y="3168500"/>
              <a:ext cx="1371600" cy="457200"/>
            </a:xfrm>
            <a:prstGeom prst="straightConnector1">
              <a:avLst/>
            </a:prstGeom>
            <a:noFill/>
            <a:ln cap="flat" cmpd="sng" w="38100">
              <a:solidFill>
                <a:srgbClr val="FAC073"/>
              </a:solidFill>
              <a:prstDash val="solid"/>
              <a:round/>
              <a:headEnd len="med" w="med" type="none"/>
              <a:tailEnd len="med" w="med" type="stealth"/>
            </a:ln>
            <a:effectLst>
              <a:outerShdw blurRad="71438" rotWithShape="0" algn="bl">
                <a:srgbClr val="FFFFFF"/>
              </a:outerShdw>
            </a:effectLst>
          </p:spPr>
        </p:cxnSp>
        <p:cxnSp>
          <p:nvCxnSpPr>
            <p:cNvPr id="552" name="Google Shape;552;p43"/>
            <p:cNvCxnSpPr/>
            <p:nvPr/>
          </p:nvCxnSpPr>
          <p:spPr>
            <a:xfrm flipH="1" rot="10800000">
              <a:off x="7363925" y="2711300"/>
              <a:ext cx="1371600" cy="457200"/>
            </a:xfrm>
            <a:prstGeom prst="straightConnector1">
              <a:avLst/>
            </a:prstGeom>
            <a:noFill/>
            <a:ln cap="flat" cmpd="sng" w="38100">
              <a:solidFill>
                <a:srgbClr val="C6DED9"/>
              </a:solidFill>
              <a:prstDash val="solid"/>
              <a:round/>
              <a:headEnd len="med" w="med" type="none"/>
              <a:tailEnd len="med" w="med" type="stealth"/>
            </a:ln>
            <a:effectLst>
              <a:outerShdw blurRad="71438" rotWithShape="0" algn="bl">
                <a:srgbClr val="FFFFFF"/>
              </a:outerShdw>
            </a:effectLst>
          </p:spPr>
        </p:cxnSp>
        <p:cxnSp>
          <p:nvCxnSpPr>
            <p:cNvPr id="553" name="Google Shape;553;p43"/>
            <p:cNvCxnSpPr/>
            <p:nvPr/>
          </p:nvCxnSpPr>
          <p:spPr>
            <a:xfrm rot="10800000">
              <a:off x="5535125" y="2254100"/>
              <a:ext cx="457200" cy="1371600"/>
            </a:xfrm>
            <a:prstGeom prst="straightConnector1">
              <a:avLst/>
            </a:prstGeom>
            <a:noFill/>
            <a:ln cap="flat" cmpd="sng" w="38100">
              <a:solidFill>
                <a:srgbClr val="FAC073"/>
              </a:solidFill>
              <a:prstDash val="solid"/>
              <a:round/>
              <a:headEnd len="med" w="med" type="none"/>
              <a:tailEnd len="med" w="med" type="stealth"/>
            </a:ln>
            <a:effectLst>
              <a:outerShdw blurRad="71438" rotWithShape="0" algn="bl">
                <a:srgbClr val="FFFFFF"/>
              </a:outerShdw>
            </a:effectLst>
          </p:spPr>
        </p:cxnSp>
        <p:cxnSp>
          <p:nvCxnSpPr>
            <p:cNvPr id="554" name="Google Shape;554;p43"/>
            <p:cNvCxnSpPr/>
            <p:nvPr/>
          </p:nvCxnSpPr>
          <p:spPr>
            <a:xfrm rot="10800000">
              <a:off x="5077925" y="882500"/>
              <a:ext cx="457200" cy="1371600"/>
            </a:xfrm>
            <a:prstGeom prst="straightConnector1">
              <a:avLst/>
            </a:prstGeom>
            <a:noFill/>
            <a:ln cap="flat" cmpd="sng" w="38100">
              <a:solidFill>
                <a:srgbClr val="C6DED9"/>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800"/>
                                        <p:tgtEl>
                                          <p:spTgt spid="536"/>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800"/>
                                        <p:tgtEl>
                                          <p:spTgt spid="542"/>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800"/>
                                        <p:tgtEl>
                                          <p:spTgt spid="547"/>
                                        </p:tgtEl>
                                      </p:cBhvr>
                                    </p:animEffect>
                                  </p:childTnLst>
                                </p:cTn>
                              </p:par>
                            </p:childTnLst>
                          </p:cTn>
                        </p:par>
                        <p:par>
                          <p:cTn fill="hold">
                            <p:stCondLst>
                              <p:cond delay="2400"/>
                            </p:stCondLst>
                            <p:childTnLst>
                              <p:par>
                                <p:cTn fill="hold" nodeType="after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800"/>
                                        <p:tgtEl>
                                          <p:spTgt spid="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558" name="Shape 558"/>
        <p:cNvGrpSpPr/>
        <p:nvPr/>
      </p:nvGrpSpPr>
      <p:grpSpPr>
        <a:xfrm>
          <a:off x="0" y="0"/>
          <a:ext cx="0" cy="0"/>
          <a:chOff x="0" y="0"/>
          <a:chExt cx="0" cy="0"/>
        </a:xfrm>
      </p:grpSpPr>
      <p:sp>
        <p:nvSpPr>
          <p:cNvPr id="559" name="Google Shape;559;p44"/>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560" name="Google Shape;560;p44"/>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44"/>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62" name="Google Shape;562;p44"/>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Dilations</a:t>
            </a:r>
            <a:endParaRPr sz="4800">
              <a:latin typeface="Merriweather"/>
              <a:ea typeface="Merriweather"/>
              <a:cs typeface="Merriweather"/>
              <a:sym typeface="Merriweather"/>
            </a:endParaRPr>
          </a:p>
        </p:txBody>
      </p:sp>
      <p:pic>
        <p:nvPicPr>
          <p:cNvPr id="563" name="Google Shape;563;p44"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64" name="Google Shape;564;p44"/>
          <p:cNvSpPr txBox="1"/>
          <p:nvPr/>
        </p:nvSpPr>
        <p:spPr>
          <a:xfrm>
            <a:off x="228600" y="1490400"/>
            <a:ext cx="4114800" cy="25860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Point </a:t>
            </a:r>
            <a:r>
              <a:rPr i="1" lang="en" sz="2400">
                <a:latin typeface="DM Sans"/>
                <a:ea typeface="DM Sans"/>
                <a:cs typeface="DM Sans"/>
                <a:sym typeface="DM Sans"/>
              </a:rPr>
              <a:t>A</a:t>
            </a:r>
            <a:r>
              <a:rPr lang="en" sz="2400">
                <a:latin typeface="DM Sans"/>
                <a:ea typeface="DM Sans"/>
                <a:cs typeface="DM Sans"/>
                <a:sym typeface="DM Sans"/>
              </a:rPr>
              <a:t>: </a:t>
            </a:r>
            <a:r>
              <a:rPr b="1" lang="en" sz="2400">
                <a:latin typeface="DM Sans"/>
                <a:ea typeface="DM Sans"/>
                <a:cs typeface="DM Sans"/>
                <a:sym typeface="DM Sans"/>
              </a:rPr>
              <a:t>(−2.5, 1)</a:t>
            </a:r>
            <a:endParaRPr b="1"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Center of dilation: (−2, −0.5)</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Scale factor: 2</a:t>
            </a:r>
            <a:endParaRPr sz="2400">
              <a:latin typeface="DM Sans"/>
              <a:ea typeface="DM Sans"/>
              <a:cs typeface="DM Sans"/>
              <a:sym typeface="DM Sans"/>
            </a:endParaRPr>
          </a:p>
          <a:p>
            <a:pPr indent="0" lvl="0" marL="0" rtl="0" algn="r">
              <a:spcBef>
                <a:spcPts val="0"/>
              </a:spcBef>
              <a:spcAft>
                <a:spcPts val="0"/>
              </a:spcAft>
              <a:buNone/>
            </a:pPr>
            <a:r>
              <a:t/>
            </a:r>
            <a:endParaRPr sz="2400">
              <a:latin typeface="DM Sans"/>
              <a:ea typeface="DM Sans"/>
              <a:cs typeface="DM Sans"/>
              <a:sym typeface="DM Sans"/>
            </a:endParaRPr>
          </a:p>
          <a:p>
            <a:pPr indent="0" lvl="0" marL="0" rtl="0" algn="r">
              <a:spcBef>
                <a:spcPts val="0"/>
              </a:spcBef>
              <a:spcAft>
                <a:spcPts val="0"/>
              </a:spcAft>
              <a:buNone/>
            </a:pPr>
            <a:r>
              <a:rPr i="1" lang="en" sz="2400">
                <a:latin typeface="DM Sans"/>
                <a:ea typeface="DM Sans"/>
                <a:cs typeface="DM Sans"/>
                <a:sym typeface="DM Sans"/>
              </a:rPr>
              <a:t>A’</a:t>
            </a:r>
            <a:r>
              <a:rPr lang="en" sz="2400">
                <a:latin typeface="DM Sans"/>
                <a:ea typeface="DM Sans"/>
                <a:cs typeface="DM Sans"/>
                <a:sym typeface="DM Sans"/>
              </a:rPr>
              <a:t>: (−2+2(−0.5), −0.5+2(1.5))</a:t>
            </a:r>
            <a:endParaRPr sz="2400">
              <a:latin typeface="DM Sans"/>
              <a:ea typeface="DM Sans"/>
              <a:cs typeface="DM Sans"/>
              <a:sym typeface="DM Sans"/>
            </a:endParaRPr>
          </a:p>
          <a:p>
            <a:pPr indent="0" lvl="0" marL="0" rtl="0" algn="r">
              <a:spcBef>
                <a:spcPts val="0"/>
              </a:spcBef>
              <a:spcAft>
                <a:spcPts val="0"/>
              </a:spcAft>
              <a:buNone/>
            </a:pPr>
            <a:r>
              <a:rPr lang="en" sz="2400">
                <a:latin typeface="DM Sans"/>
                <a:ea typeface="DM Sans"/>
                <a:cs typeface="DM Sans"/>
                <a:sym typeface="DM Sans"/>
              </a:rPr>
              <a:t>= </a:t>
            </a:r>
            <a:r>
              <a:rPr b="1" lang="en" sz="2400">
                <a:latin typeface="DM Sans"/>
                <a:ea typeface="DM Sans"/>
                <a:cs typeface="DM Sans"/>
                <a:sym typeface="DM Sans"/>
              </a:rPr>
              <a:t>(−3, 2.5)</a:t>
            </a:r>
            <a:endParaRPr b="1" sz="2400">
              <a:latin typeface="DM Sans"/>
              <a:ea typeface="DM Sans"/>
              <a:cs typeface="DM Sans"/>
              <a:sym typeface="DM Sans"/>
            </a:endParaRPr>
          </a:p>
        </p:txBody>
      </p:sp>
      <p:grpSp>
        <p:nvGrpSpPr>
          <p:cNvPr id="565" name="Google Shape;565;p44"/>
          <p:cNvGrpSpPr/>
          <p:nvPr/>
        </p:nvGrpSpPr>
        <p:grpSpPr>
          <a:xfrm>
            <a:off x="4914900" y="1490400"/>
            <a:ext cx="3886200" cy="2057400"/>
            <a:chOff x="4963625" y="768200"/>
            <a:chExt cx="3886200" cy="2057400"/>
          </a:xfrm>
        </p:grpSpPr>
        <p:sp>
          <p:nvSpPr>
            <p:cNvPr id="566" name="Google Shape;566;p44"/>
            <p:cNvSpPr/>
            <p:nvPr/>
          </p:nvSpPr>
          <p:spPr>
            <a:xfrm>
              <a:off x="5077925" y="882500"/>
              <a:ext cx="3657600" cy="1828800"/>
            </a:xfrm>
            <a:prstGeom prst="rtTriangle">
              <a:avLst/>
            </a:prstGeom>
            <a:solidFill>
              <a:srgbClr val="FAC073"/>
            </a:solidFill>
            <a:ln cap="flat" cmpd="sng" w="38100">
              <a:solidFill>
                <a:srgbClr val="C6DED9"/>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44"/>
            <p:cNvSpPr/>
            <p:nvPr/>
          </p:nvSpPr>
          <p:spPr>
            <a:xfrm>
              <a:off x="4963625" y="25970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44"/>
            <p:cNvSpPr/>
            <p:nvPr/>
          </p:nvSpPr>
          <p:spPr>
            <a:xfrm>
              <a:off x="4963625" y="7682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9" name="Google Shape;569;p44"/>
            <p:cNvSpPr/>
            <p:nvPr/>
          </p:nvSpPr>
          <p:spPr>
            <a:xfrm>
              <a:off x="8621225" y="2597000"/>
              <a:ext cx="228600" cy="228600"/>
            </a:xfrm>
            <a:prstGeom prst="ellipse">
              <a:avLst/>
            </a:prstGeom>
            <a:solidFill>
              <a:srgbClr val="C6DED9"/>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70" name="Google Shape;570;p44"/>
          <p:cNvGrpSpPr/>
          <p:nvPr/>
        </p:nvGrpSpPr>
        <p:grpSpPr>
          <a:xfrm>
            <a:off x="5372100" y="2862000"/>
            <a:ext cx="2057400" cy="1143000"/>
            <a:chOff x="5420825" y="2139800"/>
            <a:chExt cx="2057400" cy="1143000"/>
          </a:xfrm>
        </p:grpSpPr>
        <p:sp>
          <p:nvSpPr>
            <p:cNvPr id="571" name="Google Shape;571;p44"/>
            <p:cNvSpPr/>
            <p:nvPr/>
          </p:nvSpPr>
          <p:spPr>
            <a:xfrm>
              <a:off x="5535125" y="2254100"/>
              <a:ext cx="1828800" cy="914400"/>
            </a:xfrm>
            <a:prstGeom prst="rtTriangle">
              <a:avLst/>
            </a:prstGeom>
            <a:solidFill>
              <a:srgbClr val="C6DED9"/>
            </a:solidFill>
            <a:ln cap="flat" cmpd="sng" w="38100">
              <a:solidFill>
                <a:srgbClr val="FAC073"/>
              </a:solidFill>
              <a:prstDash val="solid"/>
              <a:round/>
              <a:headEnd len="sm" w="sm" type="none"/>
              <a:tailEnd len="sm" w="sm" type="none"/>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44"/>
            <p:cNvSpPr/>
            <p:nvPr/>
          </p:nvSpPr>
          <p:spPr>
            <a:xfrm>
              <a:off x="5420825" y="21398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44"/>
            <p:cNvSpPr/>
            <p:nvPr/>
          </p:nvSpPr>
          <p:spPr>
            <a:xfrm>
              <a:off x="5420825" y="30542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44"/>
            <p:cNvSpPr/>
            <p:nvPr/>
          </p:nvSpPr>
          <p:spPr>
            <a:xfrm>
              <a:off x="7249625" y="3054200"/>
              <a:ext cx="228600" cy="228600"/>
            </a:xfrm>
            <a:prstGeom prst="ellipse">
              <a:avLst/>
            </a:prstGeom>
            <a:solidFill>
              <a:srgbClr val="FAC073"/>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575" name="Google Shape;575;p44"/>
          <p:cNvGrpSpPr/>
          <p:nvPr/>
        </p:nvGrpSpPr>
        <p:grpSpPr>
          <a:xfrm>
            <a:off x="5029200" y="1604700"/>
            <a:ext cx="3657600" cy="2857500"/>
            <a:chOff x="5077925" y="882500"/>
            <a:chExt cx="3657600" cy="2857500"/>
          </a:xfrm>
        </p:grpSpPr>
        <p:sp>
          <p:nvSpPr>
            <p:cNvPr id="576" name="Google Shape;576;p44"/>
            <p:cNvSpPr/>
            <p:nvPr/>
          </p:nvSpPr>
          <p:spPr>
            <a:xfrm>
              <a:off x="5878025" y="3511400"/>
              <a:ext cx="228600" cy="228600"/>
            </a:xfrm>
            <a:prstGeom prst="ellipse">
              <a:avLst/>
            </a:prstGeom>
            <a:solidFill>
              <a:srgbClr val="000000"/>
            </a:solidFill>
            <a:ln>
              <a:noFill/>
            </a:ln>
            <a:effectLst>
              <a:outerShdw blurRad="71438" rotWithShape="0" algn="bl">
                <a:srgbClr val="FFFFFF"/>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77" name="Google Shape;577;p44"/>
            <p:cNvCxnSpPr/>
            <p:nvPr/>
          </p:nvCxnSpPr>
          <p:spPr>
            <a:xfrm rot="10800000">
              <a:off x="5077925" y="2711300"/>
              <a:ext cx="457200" cy="457200"/>
            </a:xfrm>
            <a:prstGeom prst="straightConnector1">
              <a:avLst/>
            </a:prstGeom>
            <a:noFill/>
            <a:ln cap="flat" cmpd="sng" w="38100">
              <a:solidFill>
                <a:srgbClr val="C6DED9"/>
              </a:solidFill>
              <a:prstDash val="solid"/>
              <a:round/>
              <a:headEnd len="med" w="med" type="none"/>
              <a:tailEnd len="med" w="med" type="stealth"/>
            </a:ln>
            <a:effectLst>
              <a:outerShdw blurRad="71438" rotWithShape="0" algn="bl">
                <a:srgbClr val="FFFFFF"/>
              </a:outerShdw>
            </a:effectLst>
          </p:spPr>
        </p:cxnSp>
        <p:cxnSp>
          <p:nvCxnSpPr>
            <p:cNvPr id="578" name="Google Shape;578;p44"/>
            <p:cNvCxnSpPr/>
            <p:nvPr/>
          </p:nvCxnSpPr>
          <p:spPr>
            <a:xfrm rot="10800000">
              <a:off x="5535125" y="3168500"/>
              <a:ext cx="457200" cy="457200"/>
            </a:xfrm>
            <a:prstGeom prst="straightConnector1">
              <a:avLst/>
            </a:prstGeom>
            <a:noFill/>
            <a:ln cap="flat" cmpd="sng" w="38100">
              <a:solidFill>
                <a:srgbClr val="FAC073"/>
              </a:solidFill>
              <a:prstDash val="solid"/>
              <a:round/>
              <a:headEnd len="med" w="med" type="none"/>
              <a:tailEnd len="med" w="med" type="stealth"/>
            </a:ln>
            <a:effectLst>
              <a:outerShdw blurRad="71438" rotWithShape="0" algn="bl">
                <a:srgbClr val="FFFFFF"/>
              </a:outerShdw>
            </a:effectLst>
          </p:spPr>
        </p:cxnSp>
        <p:cxnSp>
          <p:nvCxnSpPr>
            <p:cNvPr id="579" name="Google Shape;579;p44"/>
            <p:cNvCxnSpPr/>
            <p:nvPr/>
          </p:nvCxnSpPr>
          <p:spPr>
            <a:xfrm flipH="1" rot="10800000">
              <a:off x="5992325" y="3168500"/>
              <a:ext cx="1371600" cy="457200"/>
            </a:xfrm>
            <a:prstGeom prst="straightConnector1">
              <a:avLst/>
            </a:prstGeom>
            <a:noFill/>
            <a:ln cap="flat" cmpd="sng" w="38100">
              <a:solidFill>
                <a:srgbClr val="FAC073"/>
              </a:solidFill>
              <a:prstDash val="solid"/>
              <a:round/>
              <a:headEnd len="med" w="med" type="none"/>
              <a:tailEnd len="med" w="med" type="stealth"/>
            </a:ln>
            <a:effectLst>
              <a:outerShdw blurRad="71438" rotWithShape="0" algn="bl">
                <a:srgbClr val="FFFFFF"/>
              </a:outerShdw>
            </a:effectLst>
          </p:spPr>
        </p:cxnSp>
        <p:cxnSp>
          <p:nvCxnSpPr>
            <p:cNvPr id="580" name="Google Shape;580;p44"/>
            <p:cNvCxnSpPr/>
            <p:nvPr/>
          </p:nvCxnSpPr>
          <p:spPr>
            <a:xfrm flipH="1" rot="10800000">
              <a:off x="7363925" y="2711300"/>
              <a:ext cx="1371600" cy="457200"/>
            </a:xfrm>
            <a:prstGeom prst="straightConnector1">
              <a:avLst/>
            </a:prstGeom>
            <a:noFill/>
            <a:ln cap="flat" cmpd="sng" w="38100">
              <a:solidFill>
                <a:srgbClr val="C6DED9"/>
              </a:solidFill>
              <a:prstDash val="solid"/>
              <a:round/>
              <a:headEnd len="med" w="med" type="none"/>
              <a:tailEnd len="med" w="med" type="stealth"/>
            </a:ln>
            <a:effectLst>
              <a:outerShdw blurRad="71438" rotWithShape="0" algn="bl">
                <a:srgbClr val="FFFFFF"/>
              </a:outerShdw>
            </a:effectLst>
          </p:spPr>
        </p:cxnSp>
        <p:cxnSp>
          <p:nvCxnSpPr>
            <p:cNvPr id="581" name="Google Shape;581;p44"/>
            <p:cNvCxnSpPr/>
            <p:nvPr/>
          </p:nvCxnSpPr>
          <p:spPr>
            <a:xfrm rot="10800000">
              <a:off x="5535125" y="2254100"/>
              <a:ext cx="457200" cy="13716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cxnSp>
          <p:nvCxnSpPr>
            <p:cNvPr id="582" name="Google Shape;582;p44"/>
            <p:cNvCxnSpPr/>
            <p:nvPr/>
          </p:nvCxnSpPr>
          <p:spPr>
            <a:xfrm rot="10800000">
              <a:off x="5077925" y="882500"/>
              <a:ext cx="457200" cy="1371600"/>
            </a:xfrm>
            <a:prstGeom prst="straightConnector1">
              <a:avLst/>
            </a:prstGeom>
            <a:noFill/>
            <a:ln cap="flat" cmpd="sng" w="38100">
              <a:solidFill>
                <a:srgbClr val="000000"/>
              </a:solidFill>
              <a:prstDash val="solid"/>
              <a:round/>
              <a:headEnd len="med" w="med" type="none"/>
              <a:tailEnd len="med" w="med" type="stealth"/>
            </a:ln>
            <a:effectLst>
              <a:outerShdw blurRad="71438" rotWithShape="0" algn="bl">
                <a:srgbClr val="FFFFFF"/>
              </a:outerShdw>
            </a:effectLst>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800"/>
                                        <p:tgtEl>
                                          <p:spTgt spid="5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586" name="Shape 586"/>
        <p:cNvGrpSpPr/>
        <p:nvPr/>
      </p:nvGrpSpPr>
      <p:grpSpPr>
        <a:xfrm>
          <a:off x="0" y="0"/>
          <a:ext cx="0" cy="0"/>
          <a:chOff x="0" y="0"/>
          <a:chExt cx="0" cy="0"/>
        </a:xfrm>
      </p:grpSpPr>
      <p:sp>
        <p:nvSpPr>
          <p:cNvPr id="587" name="Google Shape;587;p45"/>
          <p:cNvSpPr txBox="1"/>
          <p:nvPr/>
        </p:nvSpPr>
        <p:spPr>
          <a:xfrm>
            <a:off x="228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None/>
            </a:pPr>
            <a:r>
              <a:rPr lang="en" sz="2400">
                <a:latin typeface="DM Sans"/>
                <a:ea typeface="DM Sans"/>
                <a:cs typeface="DM Sans"/>
                <a:sym typeface="DM Sans"/>
              </a:rPr>
              <a:t>A two-dimensional figure is </a:t>
            </a:r>
            <a:r>
              <a:rPr b="1" lang="en" sz="2400">
                <a:latin typeface="DM Sans"/>
                <a:ea typeface="DM Sans"/>
                <a:cs typeface="DM Sans"/>
                <a:sym typeface="DM Sans"/>
              </a:rPr>
              <a:t>similar (~)</a:t>
            </a:r>
            <a:r>
              <a:rPr lang="en" sz="2400">
                <a:latin typeface="DM Sans"/>
                <a:ea typeface="DM Sans"/>
                <a:cs typeface="DM Sans"/>
                <a:sym typeface="DM Sans"/>
              </a:rPr>
              <a:t> to another if the corresponding angles are congruent and the corresponding sides are in proportion.</a:t>
            </a:r>
            <a:endParaRPr sz="2400">
              <a:latin typeface="DM Sans"/>
              <a:ea typeface="DM Sans"/>
              <a:cs typeface="DM Sans"/>
              <a:sym typeface="DM Sans"/>
            </a:endParaRPr>
          </a:p>
        </p:txBody>
      </p:sp>
      <p:sp>
        <p:nvSpPr>
          <p:cNvPr id="588" name="Google Shape;588;p45"/>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589" name="Google Shape;589;p45"/>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45"/>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591" name="Google Shape;591;p45"/>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Similarity</a:t>
            </a:r>
            <a:endParaRPr sz="4800">
              <a:latin typeface="Merriweather"/>
              <a:ea typeface="Merriweather"/>
              <a:cs typeface="Merriweather"/>
              <a:sym typeface="Merriweather"/>
            </a:endParaRPr>
          </a:p>
        </p:txBody>
      </p:sp>
      <p:pic>
        <p:nvPicPr>
          <p:cNvPr id="592" name="Google Shape;592;p45"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593" name="Google Shape;593;p45"/>
          <p:cNvSpPr txBox="1"/>
          <p:nvPr/>
        </p:nvSpPr>
        <p:spPr>
          <a:xfrm>
            <a:off x="4800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1"/>
                </a:solidFill>
                <a:latin typeface="DM Sans"/>
                <a:ea typeface="DM Sans"/>
                <a:cs typeface="DM Sans"/>
                <a:sym typeface="DM Sans"/>
              </a:rPr>
              <a:t>Congruent figures are also similar (not the other way around) because if </a:t>
            </a:r>
            <a:r>
              <a:rPr lang="en" sz="2400">
                <a:solidFill>
                  <a:schemeClr val="dk1"/>
                </a:solidFill>
                <a:latin typeface="DM Sans"/>
                <a:ea typeface="DM Sans"/>
                <a:cs typeface="DM Sans"/>
                <a:sym typeface="DM Sans"/>
              </a:rPr>
              <a:t>corresponding</a:t>
            </a:r>
            <a:r>
              <a:rPr lang="en" sz="2400">
                <a:solidFill>
                  <a:schemeClr val="dk1"/>
                </a:solidFill>
                <a:latin typeface="DM Sans"/>
                <a:ea typeface="DM Sans"/>
                <a:cs typeface="DM Sans"/>
                <a:sym typeface="DM Sans"/>
              </a:rPr>
              <a:t> sides are congruent, they are also in proportion.</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800"/>
                                        <p:tgtEl>
                                          <p:spTgt spid="587"/>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800"/>
                                        <p:tgtEl>
                                          <p:spTgt spid="5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5C31"/>
        </a:solidFill>
      </p:bgPr>
    </p:bg>
    <p:spTree>
      <p:nvGrpSpPr>
        <p:cNvPr id="597" name="Shape 597"/>
        <p:cNvGrpSpPr/>
        <p:nvPr/>
      </p:nvGrpSpPr>
      <p:grpSpPr>
        <a:xfrm>
          <a:off x="0" y="0"/>
          <a:ext cx="0" cy="0"/>
          <a:chOff x="0" y="0"/>
          <a:chExt cx="0" cy="0"/>
        </a:xfrm>
      </p:grpSpPr>
      <p:sp>
        <p:nvSpPr>
          <p:cNvPr id="598" name="Google Shape;598;p46"/>
          <p:cNvSpPr txBox="1"/>
          <p:nvPr/>
        </p:nvSpPr>
        <p:spPr>
          <a:xfrm>
            <a:off x="228600" y="1490400"/>
            <a:ext cx="4114800" cy="18471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r">
              <a:spcBef>
                <a:spcPts val="0"/>
              </a:spcBef>
              <a:spcAft>
                <a:spcPts val="0"/>
              </a:spcAft>
              <a:buClr>
                <a:schemeClr val="dk1"/>
              </a:buClr>
              <a:buSzPts val="1100"/>
              <a:buFont typeface="Arial"/>
              <a:buNone/>
            </a:pPr>
            <a:r>
              <a:rPr lang="en" sz="2400">
                <a:solidFill>
                  <a:schemeClr val="dk1"/>
                </a:solidFill>
                <a:latin typeface="DM Sans"/>
                <a:ea typeface="DM Sans"/>
                <a:cs typeface="DM Sans"/>
                <a:sym typeface="DM Sans"/>
              </a:rPr>
              <a:t>Also notice how, after a dilation, corresponding angles are congruent and corresponding sides are in proportion.</a:t>
            </a:r>
            <a:endParaRPr sz="2400">
              <a:latin typeface="DM Sans"/>
              <a:ea typeface="DM Sans"/>
              <a:cs typeface="DM Sans"/>
              <a:sym typeface="DM Sans"/>
            </a:endParaRPr>
          </a:p>
        </p:txBody>
      </p:sp>
      <p:sp>
        <p:nvSpPr>
          <p:cNvPr id="599" name="Google Shape;599;p46"/>
          <p:cNvSpPr/>
          <p:nvPr/>
        </p:nvSpPr>
        <p:spPr>
          <a:xfrm>
            <a:off x="-17840158" y="4022150"/>
            <a:ext cx="26984166" cy="1121362"/>
          </a:xfrm>
          <a:prstGeom prst="rect">
            <a:avLst/>
          </a:prstGeom>
        </p:spPr>
        <p:txBody>
          <a:bodyPr>
            <a:prstTxWarp prst="textPlain"/>
          </a:bodyPr>
          <a:lstStyle/>
          <a:p>
            <a:pPr lvl="0" algn="ctr"/>
            <a:r>
              <a:rPr b="0" i="0">
                <a:ln cap="flat" cmpd="sng" w="76200">
                  <a:solidFill>
                    <a:srgbClr val="FAC073"/>
                  </a:solidFill>
                  <a:prstDash val="solid"/>
                  <a:round/>
                  <a:headEnd len="sm" w="sm" type="none"/>
                  <a:tailEnd len="sm" w="sm" type="none"/>
                </a:ln>
                <a:noFill/>
                <a:latin typeface="DM Sans"/>
              </a:rPr>
              <a:t>→ ↺ reflect ≅ dilate ~ translate rotate ⇆ congruence ↗︎ similarity</a:t>
            </a:r>
          </a:p>
        </p:txBody>
      </p:sp>
      <p:sp>
        <p:nvSpPr>
          <p:cNvPr id="600" name="Google Shape;600;p46"/>
          <p:cNvSpPr/>
          <p:nvPr/>
        </p:nvSpPr>
        <p:spPr>
          <a:xfrm>
            <a:off x="0" y="228600"/>
            <a:ext cx="9144000" cy="738900"/>
          </a:xfrm>
          <a:prstGeom prst="rect">
            <a:avLst/>
          </a:prstGeom>
          <a:solidFill>
            <a:srgbClr val="FAC0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46"/>
          <p:cNvSpPr/>
          <p:nvPr/>
        </p:nvSpPr>
        <p:spPr>
          <a:xfrm>
            <a:off x="228590" y="228602"/>
            <a:ext cx="1033200" cy="10332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118850">
            <a:noAutofit/>
          </a:bodyPr>
          <a:lstStyle/>
          <a:p>
            <a:pPr indent="0" lvl="0" marL="0" rtl="0" algn="ctr">
              <a:lnSpc>
                <a:spcPct val="100000"/>
              </a:lnSpc>
              <a:spcBef>
                <a:spcPts val="0"/>
              </a:spcBef>
              <a:spcAft>
                <a:spcPts val="0"/>
              </a:spcAft>
              <a:buNone/>
            </a:pPr>
            <a:r>
              <a:t/>
            </a:r>
            <a:endParaRPr sz="4800">
              <a:solidFill>
                <a:srgbClr val="FFFFFF"/>
              </a:solidFill>
              <a:latin typeface="Leckerli One"/>
              <a:ea typeface="Leckerli One"/>
              <a:cs typeface="Leckerli One"/>
              <a:sym typeface="Leckerli One"/>
            </a:endParaRPr>
          </a:p>
        </p:txBody>
      </p:sp>
      <p:sp>
        <p:nvSpPr>
          <p:cNvPr id="602" name="Google Shape;602;p46"/>
          <p:cNvSpPr txBox="1"/>
          <p:nvPr/>
        </p:nvSpPr>
        <p:spPr>
          <a:xfrm>
            <a:off x="1490400" y="228600"/>
            <a:ext cx="74250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Similarity</a:t>
            </a:r>
            <a:endParaRPr sz="4800">
              <a:latin typeface="Merriweather"/>
              <a:ea typeface="Merriweather"/>
              <a:cs typeface="Merriweather"/>
              <a:sym typeface="Merriweather"/>
            </a:endParaRPr>
          </a:p>
        </p:txBody>
      </p:sp>
      <p:pic>
        <p:nvPicPr>
          <p:cNvPr id="603" name="Google Shape;603;p46" title="1.png"/>
          <p:cNvPicPr preferRelativeResize="0"/>
          <p:nvPr/>
        </p:nvPicPr>
        <p:blipFill>
          <a:blip r:embed="rId3">
            <a:alphaModFix/>
          </a:blip>
          <a:stretch>
            <a:fillRect/>
          </a:stretch>
        </p:blipFill>
        <p:spPr>
          <a:xfrm>
            <a:off x="228600" y="228600"/>
            <a:ext cx="1033200" cy="1033200"/>
          </a:xfrm>
          <a:prstGeom prst="rect">
            <a:avLst/>
          </a:prstGeom>
          <a:noFill/>
          <a:ln>
            <a:noFill/>
          </a:ln>
        </p:spPr>
      </p:pic>
      <p:sp>
        <p:nvSpPr>
          <p:cNvPr id="604" name="Google Shape;604;p46"/>
          <p:cNvSpPr txBox="1"/>
          <p:nvPr/>
        </p:nvSpPr>
        <p:spPr>
          <a:xfrm>
            <a:off x="4800600" y="1490400"/>
            <a:ext cx="4114800" cy="2216400"/>
          </a:xfrm>
          <a:prstGeom prst="rect">
            <a:avLst/>
          </a:prstGeom>
          <a:noFill/>
          <a:ln>
            <a:noFill/>
          </a:ln>
          <a:effectLst>
            <a:outerShdw blurRad="71438" rotWithShape="0" algn="bl">
              <a:srgbClr val="FFFFFF"/>
            </a:outerShdw>
          </a:effectLst>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1"/>
                </a:solidFill>
                <a:latin typeface="DM Sans"/>
                <a:ea typeface="DM Sans"/>
                <a:cs typeface="DM Sans"/>
                <a:sym typeface="DM Sans"/>
              </a:rPr>
              <a:t>This means that two figures are similar if one is the image of the other after a sequence of rotations, reflections, translations, and dilations.</a:t>
            </a:r>
            <a:endParaRPr sz="24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800"/>
                                        <p:tgtEl>
                                          <p:spTgt spid="598"/>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800"/>
                                        <p:tgtEl>
                                          <p:spTgt spid="6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C073"/>
        </a:solidFill>
      </p:bgPr>
    </p:bg>
    <p:spTree>
      <p:nvGrpSpPr>
        <p:cNvPr id="608" name="Shape 608"/>
        <p:cNvGrpSpPr/>
        <p:nvPr/>
      </p:nvGrpSpPr>
      <p:grpSpPr>
        <a:xfrm>
          <a:off x="0" y="0"/>
          <a:ext cx="0" cy="0"/>
          <a:chOff x="0" y="0"/>
          <a:chExt cx="0" cy="0"/>
        </a:xfrm>
      </p:grpSpPr>
      <p:sp>
        <p:nvSpPr>
          <p:cNvPr id="609" name="Google Shape;609;p47"/>
          <p:cNvSpPr/>
          <p:nvPr/>
        </p:nvSpPr>
        <p:spPr>
          <a:xfrm>
            <a:off x="-228600" y="518400"/>
            <a:ext cx="9601200" cy="1477800"/>
          </a:xfrm>
          <a:prstGeom prst="rect">
            <a:avLst/>
          </a:prstGeom>
          <a:solidFill>
            <a:srgbClr val="F95C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0" name="Google Shape;610;p47"/>
          <p:cNvSpPr/>
          <p:nvPr/>
        </p:nvSpPr>
        <p:spPr>
          <a:xfrm>
            <a:off x="228590" y="228602"/>
            <a:ext cx="2057400" cy="2057400"/>
          </a:xfrm>
          <a:prstGeom prst="ellipse">
            <a:avLst/>
          </a:prstGeom>
          <a:solidFill>
            <a:srgbClr val="FAC073"/>
          </a:solidFill>
          <a:ln cap="flat" cmpd="sng" w="152400">
            <a:solidFill>
              <a:srgbClr val="F95C31"/>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100000"/>
              </a:lnSpc>
              <a:spcBef>
                <a:spcPts val="0"/>
              </a:spcBef>
              <a:spcAft>
                <a:spcPts val="0"/>
              </a:spcAft>
              <a:buNone/>
            </a:pPr>
            <a:r>
              <a:rPr lang="en" sz="3200">
                <a:latin typeface="Merriweather"/>
                <a:ea typeface="Merriweather"/>
                <a:cs typeface="Merriweather"/>
                <a:sym typeface="Merriweather"/>
              </a:rPr>
              <a:t>Fall</a:t>
            </a:r>
            <a:endParaRPr sz="3200">
              <a:latin typeface="Merriweather"/>
              <a:ea typeface="Merriweather"/>
              <a:cs typeface="Merriweather"/>
              <a:sym typeface="Merriweather"/>
            </a:endParaRPr>
          </a:p>
          <a:p>
            <a:pPr indent="0" lvl="0" marL="0" rtl="0" algn="ctr">
              <a:lnSpc>
                <a:spcPct val="80000"/>
              </a:lnSpc>
              <a:spcBef>
                <a:spcPts val="0"/>
              </a:spcBef>
              <a:spcAft>
                <a:spcPts val="0"/>
              </a:spcAft>
              <a:buNone/>
            </a:pPr>
            <a:r>
              <a:rPr lang="en" sz="9600">
                <a:latin typeface="Merriweather"/>
                <a:ea typeface="Merriweather"/>
                <a:cs typeface="Merriweather"/>
                <a:sym typeface="Merriweather"/>
              </a:rPr>
              <a:t>3</a:t>
            </a:r>
            <a:endParaRPr sz="9600">
              <a:latin typeface="Merriweather"/>
              <a:ea typeface="Merriweather"/>
              <a:cs typeface="Merriweather"/>
              <a:sym typeface="Merriweather"/>
            </a:endParaRPr>
          </a:p>
        </p:txBody>
      </p:sp>
      <p:sp>
        <p:nvSpPr>
          <p:cNvPr id="611" name="Google Shape;611;p47"/>
          <p:cNvSpPr/>
          <p:nvPr/>
        </p:nvSpPr>
        <p:spPr>
          <a:xfrm>
            <a:off x="-228600" y="3118800"/>
            <a:ext cx="9601200" cy="1477800"/>
          </a:xfrm>
          <a:prstGeom prst="rect">
            <a:avLst/>
          </a:prstGeom>
          <a:noFill/>
          <a:ln cap="flat" cmpd="sng" w="152400">
            <a:solidFill>
              <a:srgbClr val="F95C3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47"/>
          <p:cNvSpPr/>
          <p:nvPr/>
        </p:nvSpPr>
        <p:spPr>
          <a:xfrm>
            <a:off x="6857990" y="2829002"/>
            <a:ext cx="2057400" cy="2057400"/>
          </a:xfrm>
          <a:prstGeom prst="ellipse">
            <a:avLst/>
          </a:prstGeom>
          <a:solidFill>
            <a:srgbClr val="FAC073"/>
          </a:solidFill>
          <a:ln cap="flat" cmpd="sng" w="152400">
            <a:solidFill>
              <a:srgbClr val="FAC073"/>
            </a:solidFill>
            <a:prstDash val="solid"/>
            <a:round/>
            <a:headEnd len="sm" w="sm" type="none"/>
            <a:tailEnd len="sm" w="sm" type="none"/>
          </a:ln>
        </p:spPr>
        <p:txBody>
          <a:bodyPr anchorCtr="0" anchor="ctr" bIns="0" lIns="0" spcFirstLastPara="1" rIns="0" wrap="square" tIns="228600">
            <a:noAutofit/>
          </a:bodyPr>
          <a:lstStyle/>
          <a:p>
            <a:pPr indent="0" lvl="0" marL="0" rtl="0" algn="ctr">
              <a:lnSpc>
                <a:spcPct val="80000"/>
              </a:lnSpc>
              <a:spcBef>
                <a:spcPts val="0"/>
              </a:spcBef>
              <a:spcAft>
                <a:spcPts val="0"/>
              </a:spcAft>
              <a:buNone/>
            </a:pPr>
            <a:r>
              <a:t/>
            </a:r>
            <a:endParaRPr sz="9600">
              <a:latin typeface="Leckerli One"/>
              <a:ea typeface="Leckerli One"/>
              <a:cs typeface="Leckerli One"/>
              <a:sym typeface="Leckerli One"/>
            </a:endParaRPr>
          </a:p>
        </p:txBody>
      </p:sp>
      <p:pic>
        <p:nvPicPr>
          <p:cNvPr id="613" name="Google Shape;613;p47" title="1.png"/>
          <p:cNvPicPr preferRelativeResize="0"/>
          <p:nvPr/>
        </p:nvPicPr>
        <p:blipFill>
          <a:blip r:embed="rId3">
            <a:alphaModFix/>
          </a:blip>
          <a:stretch>
            <a:fillRect/>
          </a:stretch>
        </p:blipFill>
        <p:spPr>
          <a:xfrm>
            <a:off x="6857990" y="2829000"/>
            <a:ext cx="2057400" cy="2057400"/>
          </a:xfrm>
          <a:prstGeom prst="rect">
            <a:avLst/>
          </a:prstGeom>
          <a:noFill/>
          <a:ln>
            <a:noFill/>
          </a:ln>
        </p:spPr>
      </p:pic>
      <p:sp>
        <p:nvSpPr>
          <p:cNvPr id="614" name="Google Shape;614;p47"/>
          <p:cNvSpPr txBox="1"/>
          <p:nvPr/>
        </p:nvSpPr>
        <p:spPr>
          <a:xfrm>
            <a:off x="228600" y="3488250"/>
            <a:ext cx="6400800" cy="738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2400">
                <a:latin typeface="Merriweather"/>
                <a:ea typeface="Merriweather"/>
                <a:cs typeface="Merriweather"/>
                <a:sym typeface="Merriweather"/>
              </a:rPr>
              <a:t>Sources: New York State Education Department, Catharine Maitner</a:t>
            </a:r>
            <a:endParaRPr sz="2400">
              <a:latin typeface="Merriweather"/>
              <a:ea typeface="Merriweather"/>
              <a:cs typeface="Merriweather"/>
              <a:sym typeface="Merriweather"/>
            </a:endParaRPr>
          </a:p>
        </p:txBody>
      </p:sp>
      <p:sp>
        <p:nvSpPr>
          <p:cNvPr id="615" name="Google Shape;615;p47"/>
          <p:cNvSpPr txBox="1"/>
          <p:nvPr/>
        </p:nvSpPr>
        <p:spPr>
          <a:xfrm>
            <a:off x="2514600" y="518400"/>
            <a:ext cx="6400800" cy="14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4800">
                <a:latin typeface="Merriweather"/>
                <a:ea typeface="Merriweather"/>
                <a:cs typeface="Merriweather"/>
                <a:sym typeface="Merriweather"/>
              </a:rPr>
              <a:t>Thanks for coming! Questions?</a:t>
            </a:r>
            <a:endParaRPr sz="4800">
              <a:latin typeface="Merriweather"/>
              <a:ea typeface="Merriweather"/>
              <a:cs typeface="Merriweather"/>
              <a:sym typeface="Merriweath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800"/>
                                        <p:tgtEl>
                                          <p:spTgt spid="615"/>
                                        </p:tgtEl>
                                      </p:cBhvr>
                                    </p:animEffect>
                                  </p:childTnLst>
                                </p:cTn>
                              </p:par>
                            </p:childTnLst>
                          </p:cTn>
                        </p:par>
                        <p:par>
                          <p:cTn fill="hold">
                            <p:stCondLst>
                              <p:cond delay="800"/>
                            </p:stCondLst>
                            <p:childTnLst>
                              <p:par>
                                <p:cTn fill="hold" nodeType="after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800"/>
                                        <p:tgtEl>
                                          <p:spTgt spid="6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