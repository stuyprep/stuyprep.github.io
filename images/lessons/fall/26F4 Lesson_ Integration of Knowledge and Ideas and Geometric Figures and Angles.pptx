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5143500" cx="9144000"/>
  <p:notesSz cx="6858000" cy="9144000"/>
  <p:embeddedFontLst>
    <p:embeddedFont>
      <p:font typeface="Bebas Neue"/>
      <p:regular r:id="rId54"/>
    </p:embeddedFont>
    <p:embeddedFont>
      <p:font typeface="Libre Baskerville"/>
      <p:regular r:id="rId55"/>
      <p:bold r:id="rId56"/>
      <p:italic r:id="rId57"/>
      <p:boldItalic r:id="rId58"/>
    </p:embeddedFont>
    <p:embeddedFont>
      <p:font typeface="Leckerli One"/>
      <p:regular r:id="rId59"/>
    </p:embeddedFont>
    <p:embeddedFont>
      <p:font typeface="DM Sans"/>
      <p:regular r:id="rId60"/>
      <p:bold r:id="rId61"/>
      <p:italic r:id="rId62"/>
      <p:boldItalic r:id="rId63"/>
    </p:embeddedFont>
    <p:embeddedFont>
      <p:font typeface="Merriweather"/>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DMSans-italic.fntdata"/><Relationship Id="rId61" Type="http://schemas.openxmlformats.org/officeDocument/2006/relationships/font" Target="fonts/DMSans-bold.fntdata"/><Relationship Id="rId20" Type="http://schemas.openxmlformats.org/officeDocument/2006/relationships/slide" Target="slides/slide15.xml"/><Relationship Id="rId64" Type="http://schemas.openxmlformats.org/officeDocument/2006/relationships/font" Target="fonts/Merriweather-regular.fntdata"/><Relationship Id="rId63" Type="http://schemas.openxmlformats.org/officeDocument/2006/relationships/font" Target="fonts/DMSans-boldItalic.fntdata"/><Relationship Id="rId22" Type="http://schemas.openxmlformats.org/officeDocument/2006/relationships/slide" Target="slides/slide17.xml"/><Relationship Id="rId66" Type="http://schemas.openxmlformats.org/officeDocument/2006/relationships/font" Target="fonts/Merriweather-italic.fntdata"/><Relationship Id="rId21" Type="http://schemas.openxmlformats.org/officeDocument/2006/relationships/slide" Target="slides/slide16.xml"/><Relationship Id="rId65" Type="http://schemas.openxmlformats.org/officeDocument/2006/relationships/font" Target="fonts/Merriweather-bold.fntdata"/><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font" Target="fonts/Merriweather-boldItalic.fntdata"/><Relationship Id="rId60" Type="http://schemas.openxmlformats.org/officeDocument/2006/relationships/font" Target="fonts/DMSans-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LibreBaskerville-regular.fntdata"/><Relationship Id="rId10" Type="http://schemas.openxmlformats.org/officeDocument/2006/relationships/slide" Target="slides/slide5.xml"/><Relationship Id="rId54" Type="http://schemas.openxmlformats.org/officeDocument/2006/relationships/font" Target="fonts/BebasNeue-regular.fntdata"/><Relationship Id="rId13" Type="http://schemas.openxmlformats.org/officeDocument/2006/relationships/slide" Target="slides/slide8.xml"/><Relationship Id="rId57" Type="http://schemas.openxmlformats.org/officeDocument/2006/relationships/font" Target="fonts/LibreBaskerville-italic.fntdata"/><Relationship Id="rId12" Type="http://schemas.openxmlformats.org/officeDocument/2006/relationships/slide" Target="slides/slide7.xml"/><Relationship Id="rId56" Type="http://schemas.openxmlformats.org/officeDocument/2006/relationships/font" Target="fonts/LibreBaskerville-bold.fntdata"/><Relationship Id="rId15" Type="http://schemas.openxmlformats.org/officeDocument/2006/relationships/slide" Target="slides/slide10.xml"/><Relationship Id="rId59" Type="http://schemas.openxmlformats.org/officeDocument/2006/relationships/font" Target="fonts/LeckerliOne-regular.fntdata"/><Relationship Id="rId14" Type="http://schemas.openxmlformats.org/officeDocument/2006/relationships/slide" Target="slides/slide9.xml"/><Relationship Id="rId58" Type="http://schemas.openxmlformats.org/officeDocument/2006/relationships/font" Target="fonts/LibreBaskerville-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ela-standards.pdf"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Benjamin Xie. Logo designed by Madeleine Villamil.</a:t>
            </a:r>
            <a:endParaRPr sz="1200">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a4a20be9a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fa4a20be9a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 and Benjamin Xie.</a:t>
            </a:r>
            <a:r>
              <a:rPr lang="en" sz="1200">
                <a:solidFill>
                  <a:schemeClr val="dk1"/>
                </a:solidFill>
                <a:latin typeface="DM Sans"/>
                <a:ea typeface="DM Sans"/>
                <a:cs typeface="DM Sans"/>
                <a:sym typeface="DM Sans"/>
              </a:rPr>
              <a:t>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8ddc1d96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8ddc1d96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English Language Arts Learning Standards</a:t>
            </a:r>
            <a:r>
              <a:rPr lang="en" sz="1200">
                <a:latin typeface="DM Sans"/>
                <a:ea typeface="DM Sans"/>
                <a:cs typeface="DM Sans"/>
                <a:sym typeface="DM Sans"/>
              </a:rPr>
              <a:t>. Slide designed by Benjamin Xie.</a:t>
            </a:r>
            <a:endParaRPr sz="1200">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432503205769d191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h432503205769d191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6R8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About how an author in the text supports a thesis with claims, and those claims with evidence.</a:t>
            </a:r>
            <a:endParaRPr sz="1200">
              <a:solidFill>
                <a:schemeClr val="dk1"/>
              </a:solidFill>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5a9f29aa444a64ff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h5a9f29aa444a64ff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6R8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5a9f29aa444a64ff_4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h5a9f29aa444a64ff_4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6R8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5a9f29aa444a64ff_4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h5a9f29aa444a64ff_4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6R8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432503205769d191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432503205769d191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7R8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The standard is about whether or not a claim </a:t>
            </a:r>
            <a:r>
              <a:rPr i="1" lang="en" sz="1200">
                <a:solidFill>
                  <a:schemeClr val="dk1"/>
                </a:solidFill>
                <a:latin typeface="DM Sans"/>
                <a:ea typeface="DM Sans"/>
                <a:cs typeface="DM Sans"/>
                <a:sym typeface="DM Sans"/>
              </a:rPr>
              <a:t>within the text</a:t>
            </a:r>
            <a:r>
              <a:rPr lang="en" sz="1200">
                <a:solidFill>
                  <a:schemeClr val="dk1"/>
                </a:solidFill>
                <a:latin typeface="DM Sans"/>
                <a:ea typeface="DM Sans"/>
                <a:cs typeface="DM Sans"/>
                <a:sym typeface="DM Sans"/>
              </a:rPr>
              <a:t> (not the student’s claim) is supported by the text; i.e., did the author give enough evidence for their own claim? You can also take this for students’ claims, however.  Text can be taken from 2022 Week 4.</a:t>
            </a:r>
            <a:endParaRPr sz="1200">
              <a:solidFill>
                <a:schemeClr val="dk1"/>
              </a:solidFill>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5a9f29aa444a64ff_4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h5a9f29aa444a64ff_4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6R8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h5a9f29aa444a64ff_4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h5a9f29aa444a64ff_4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6R8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5a9f29aa444a64ff_4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h5a9f29aa444a64ff_4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6R8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5a9f29aa444a64ff_4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h5a9f29aa444a64ff_4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6R8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h5a9f29aa444a64ff_4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h5a9f29aa444a64ff_4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6R8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h5a9f29aa444a64ff_4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h5a9f29aa444a64ff_4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6R8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432503205769d191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h432503205769d191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a:t>
            </a:r>
            <a:r>
              <a:rPr lang="en" sz="1200">
                <a:solidFill>
                  <a:schemeClr val="dk1"/>
                </a:solidFill>
                <a:latin typeface="DM Sans"/>
                <a:ea typeface="DM Sans"/>
                <a:cs typeface="DM Sans"/>
                <a:sym typeface="DM Sans"/>
              </a:rPr>
              <a:t>8R8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This is really the focus for this lesson as the previous slides are really just continuing to strengthen last week. Text can be taken from 2022 Week 5</a:t>
            </a:r>
            <a:endParaRPr sz="1200">
              <a:solidFill>
                <a:schemeClr val="dk1"/>
              </a:solidFill>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h5a9f29aa444a64ff_4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h5a9f29aa444a64ff_4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6R8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5a9f29aa444a64ff_4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5a9f29aa444a64ff_4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8R8</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Sabrina Gao and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c8ddc1d960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c8ddc1d960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a:t>
            </a:r>
            <a:endParaRPr sz="1200">
              <a:solidFill>
                <a:schemeClr val="dk1"/>
              </a:solidFill>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h6d6d50c73b75841e_3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h6d6d50c73b75841e_3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NY-7.G.1</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432503205769d191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h432503205769d191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NY-7.G.1</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432503205769d191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h432503205769d191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NY-7.G.1</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h432503205769d191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h432503205769d191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NY-7.G.2</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h56ea551ebd871c4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h56ea551ebd871c4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NY-7.G.2</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h56ea551ebd871c4f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h56ea551ebd871c4f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NY-7.G.2</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h56ea551ebd871c4f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h56ea551ebd871c4f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NY-7.G.2</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h7a358fa6452a39d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h7a358fa6452a39d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NY-7.G.2</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h7a358fa6452a39da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h7a358fa6452a39da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NY-7.G.2</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h7a358fa6452a39da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h7a358fa6452a39da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NY-7.G.2</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h7a358fa6452a39da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h7a358fa6452a39da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NY-7.G.2</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h7a358fa6452a39da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h7a358fa6452a39da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NY-7.G.2</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h432503205769d191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h432503205769d191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NY-7.G.3</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Graphs from Desmos.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h17c077585793f171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h17c077585793f171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NY-7.G.3</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Graphs from Desmos.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h17c077585793f171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h17c077585793f171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NY-7.G.3</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Graphs from Desmos.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17c077585793f171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h17c077585793f171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NY-7.G.3</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Graphs from Desmos.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h17c077585793f171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h17c077585793f171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h4cab918cb3cb9385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h4cab918cb3cb9385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Catharine Maitner.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h432503205769d191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h432503205769d191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Catharine Maitner.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h17c077585793f171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h17c077585793f171_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h17c077585793f171_2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h17c077585793f171_2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NY-7.G.5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h432503205769d191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h432503205769d191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h17c077585793f171_2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h17c077585793f171_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h17c077585793f171_2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h17c077585793f171_2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h17c077585793f171_2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h17c077585793f171_2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h17c077585793f171_2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h17c077585793f171_2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h17c077585793f171_2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h17c077585793f171_2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h17c077585793f171_2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h17c077585793f171_2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h17c077585793f171_2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h17c077585793f171_2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NY-8.G.5</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c8ddc1d960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c8ddc1d960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1_1">
    <p:bg>
      <p:bgPr>
        <a:solidFill>
          <a:schemeClr val="lt2"/>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mt="75000"/>
          </a:blip>
          <a:stretch>
            <a:fillRect/>
          </a:stretch>
        </p:blipFill>
        <p:spPr>
          <a:xfrm>
            <a:off x="4350075" y="665212"/>
            <a:ext cx="4078151" cy="3927375"/>
          </a:xfrm>
          <a:prstGeom prst="rect">
            <a:avLst/>
          </a:prstGeom>
          <a:noFill/>
          <a:ln>
            <a:noFill/>
          </a:ln>
        </p:spPr>
      </p:pic>
      <p:pic>
        <p:nvPicPr>
          <p:cNvPr id="52" name="Google Shape;52;p13"/>
          <p:cNvPicPr preferRelativeResize="0"/>
          <p:nvPr/>
        </p:nvPicPr>
        <p:blipFill>
          <a:blip r:embed="rId3">
            <a:alphaModFix amt="55000"/>
          </a:blip>
          <a:stretch>
            <a:fillRect/>
          </a:stretch>
        </p:blipFill>
        <p:spPr>
          <a:xfrm flipH="1">
            <a:off x="490460" y="1223675"/>
            <a:ext cx="3227225" cy="3330400"/>
          </a:xfrm>
          <a:prstGeom prst="rect">
            <a:avLst/>
          </a:prstGeom>
          <a:noFill/>
          <a:ln>
            <a:noFill/>
          </a:ln>
        </p:spPr>
      </p:pic>
      <p:sp>
        <p:nvSpPr>
          <p:cNvPr id="53" name="Google Shape;53;p13"/>
          <p:cNvSpPr txBox="1"/>
          <p:nvPr>
            <p:ph type="title"/>
          </p:nvPr>
        </p:nvSpPr>
        <p:spPr>
          <a:xfrm>
            <a:off x="4552901" y="1696025"/>
            <a:ext cx="3875400" cy="365700"/>
          </a:xfrm>
          <a:prstGeom prst="rect">
            <a:avLst/>
          </a:prstGeom>
          <a:noFill/>
        </p:spPr>
        <p:txBody>
          <a:bodyPr anchorCtr="0" anchor="ctr" bIns="91425" lIns="91425" spcFirstLastPara="1" rIns="91425" wrap="square" tIns="91425">
            <a:normAutofit/>
          </a:bodyPr>
          <a:lstStyle>
            <a:lvl1pPr lvl="0" algn="r">
              <a:spcBef>
                <a:spcPts val="0"/>
              </a:spcBef>
              <a:spcAft>
                <a:spcPts val="0"/>
              </a:spcAft>
              <a:buClr>
                <a:schemeClr val="accent2"/>
              </a:buClr>
              <a:buSzPts val="1800"/>
              <a:buNone/>
              <a:defRPr sz="2000">
                <a:solidFill>
                  <a:schemeClr val="dk2"/>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54" name="Google Shape;54;p13"/>
          <p:cNvSpPr txBox="1"/>
          <p:nvPr>
            <p:ph idx="1" type="subTitle"/>
          </p:nvPr>
        </p:nvSpPr>
        <p:spPr>
          <a:xfrm>
            <a:off x="4342325" y="2333775"/>
            <a:ext cx="4087500" cy="1568100"/>
          </a:xfrm>
          <a:prstGeom prst="rect">
            <a:avLst/>
          </a:prstGeom>
        </p:spPr>
        <p:txBody>
          <a:bodyPr anchorCtr="0" anchor="ctr" bIns="91425" lIns="91425" spcFirstLastPara="1" rIns="91425" wrap="square" tIns="91425">
            <a:normAutofit/>
          </a:bodyPr>
          <a:lstStyle>
            <a:lvl1pPr lvl="0" algn="r">
              <a:lnSpc>
                <a:spcPct val="100000"/>
              </a:lnSpc>
              <a:spcBef>
                <a:spcPts val="0"/>
              </a:spcBef>
              <a:spcAft>
                <a:spcPts val="0"/>
              </a:spcAft>
              <a:buNone/>
              <a:defRPr sz="1600"/>
            </a:lvl1pPr>
            <a:lvl2pPr lvl="1" algn="r">
              <a:lnSpc>
                <a:spcPct val="100000"/>
              </a:lnSpc>
              <a:spcBef>
                <a:spcPts val="1200"/>
              </a:spcBef>
              <a:spcAft>
                <a:spcPts val="0"/>
              </a:spcAft>
              <a:buNone/>
              <a:defRPr sz="1600"/>
            </a:lvl2pPr>
            <a:lvl3pPr lvl="2" algn="r">
              <a:lnSpc>
                <a:spcPct val="100000"/>
              </a:lnSpc>
              <a:spcBef>
                <a:spcPts val="1200"/>
              </a:spcBef>
              <a:spcAft>
                <a:spcPts val="0"/>
              </a:spcAft>
              <a:buNone/>
              <a:defRPr sz="1600"/>
            </a:lvl3pPr>
            <a:lvl4pPr lvl="3" algn="r">
              <a:lnSpc>
                <a:spcPct val="100000"/>
              </a:lnSpc>
              <a:spcBef>
                <a:spcPts val="1200"/>
              </a:spcBef>
              <a:spcAft>
                <a:spcPts val="0"/>
              </a:spcAft>
              <a:buNone/>
              <a:defRPr sz="1600"/>
            </a:lvl4pPr>
            <a:lvl5pPr lvl="4" algn="r">
              <a:lnSpc>
                <a:spcPct val="100000"/>
              </a:lnSpc>
              <a:spcBef>
                <a:spcPts val="1200"/>
              </a:spcBef>
              <a:spcAft>
                <a:spcPts val="0"/>
              </a:spcAft>
              <a:buNone/>
              <a:defRPr sz="1600"/>
            </a:lvl5pPr>
            <a:lvl6pPr lvl="5" algn="r">
              <a:lnSpc>
                <a:spcPct val="100000"/>
              </a:lnSpc>
              <a:spcBef>
                <a:spcPts val="1200"/>
              </a:spcBef>
              <a:spcAft>
                <a:spcPts val="0"/>
              </a:spcAft>
              <a:buNone/>
              <a:defRPr sz="1600"/>
            </a:lvl6pPr>
            <a:lvl7pPr lvl="6" algn="r">
              <a:lnSpc>
                <a:spcPct val="100000"/>
              </a:lnSpc>
              <a:spcBef>
                <a:spcPts val="1200"/>
              </a:spcBef>
              <a:spcAft>
                <a:spcPts val="0"/>
              </a:spcAft>
              <a:buNone/>
              <a:defRPr sz="1600"/>
            </a:lvl7pPr>
            <a:lvl8pPr lvl="7" algn="r">
              <a:lnSpc>
                <a:spcPct val="100000"/>
              </a:lnSpc>
              <a:spcBef>
                <a:spcPts val="1200"/>
              </a:spcBef>
              <a:spcAft>
                <a:spcPts val="0"/>
              </a:spcAft>
              <a:buNone/>
              <a:defRPr sz="1600"/>
            </a:lvl8pPr>
            <a:lvl9pPr lvl="8" algn="r">
              <a:lnSpc>
                <a:spcPct val="100000"/>
              </a:lnSpc>
              <a:spcBef>
                <a:spcPts val="1200"/>
              </a:spcBef>
              <a:spcAft>
                <a:spcPts val="1200"/>
              </a:spcAft>
              <a:buNone/>
              <a:defRPr sz="1600"/>
            </a:lvl9pPr>
          </a:lstStyle>
          <a:p/>
        </p:txBody>
      </p:sp>
      <p:sp>
        <p:nvSpPr>
          <p:cNvPr id="55" name="Google Shape;55;p13"/>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ph idx="2" type="title"/>
          </p:nvPr>
        </p:nvSpPr>
        <p:spPr>
          <a:xfrm>
            <a:off x="714125" y="546825"/>
            <a:ext cx="7715700" cy="365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2"/>
              </a:buClr>
              <a:buSzPts val="2400"/>
              <a:buNone/>
              <a:defRPr sz="3000"/>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SECTION_HEADER_1">
    <p:bg>
      <p:bgPr>
        <a:solidFill>
          <a:schemeClr val="lt2"/>
        </a:solidFill>
      </p:bgPr>
    </p:bg>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mt="35000"/>
          </a:blip>
          <a:stretch>
            <a:fillRect/>
          </a:stretch>
        </p:blipFill>
        <p:spPr>
          <a:xfrm>
            <a:off x="1176338" y="1157288"/>
            <a:ext cx="6791325" cy="2828925"/>
          </a:xfrm>
          <a:prstGeom prst="rect">
            <a:avLst/>
          </a:prstGeom>
          <a:noFill/>
          <a:ln>
            <a:noFill/>
          </a:ln>
        </p:spPr>
      </p:pic>
      <p:sp>
        <p:nvSpPr>
          <p:cNvPr id="59" name="Google Shape;59;p14"/>
          <p:cNvSpPr txBox="1"/>
          <p:nvPr>
            <p:ph idx="1" type="subTitle"/>
          </p:nvPr>
        </p:nvSpPr>
        <p:spPr>
          <a:xfrm>
            <a:off x="2863350" y="3448131"/>
            <a:ext cx="3417300" cy="4104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None/>
              <a:defRPr sz="2000"/>
            </a:lvl1pPr>
            <a:lvl2pPr lvl="1">
              <a:spcBef>
                <a:spcPts val="0"/>
              </a:spcBef>
              <a:spcAft>
                <a:spcPts val="0"/>
              </a:spcAft>
              <a:buNone/>
              <a:defRPr sz="2000"/>
            </a:lvl2pPr>
            <a:lvl3pPr lvl="2">
              <a:spcBef>
                <a:spcPts val="0"/>
              </a:spcBef>
              <a:spcAft>
                <a:spcPts val="0"/>
              </a:spcAft>
              <a:buNone/>
              <a:defRPr sz="2000"/>
            </a:lvl3pPr>
            <a:lvl4pPr lvl="3">
              <a:spcBef>
                <a:spcPts val="0"/>
              </a:spcBef>
              <a:spcAft>
                <a:spcPts val="0"/>
              </a:spcAft>
              <a:buNone/>
              <a:defRPr sz="2000"/>
            </a:lvl4pPr>
            <a:lvl5pPr lvl="4">
              <a:spcBef>
                <a:spcPts val="0"/>
              </a:spcBef>
              <a:spcAft>
                <a:spcPts val="0"/>
              </a:spcAft>
              <a:buNone/>
              <a:defRPr sz="2000"/>
            </a:lvl5pPr>
            <a:lvl6pPr lvl="5">
              <a:spcBef>
                <a:spcPts val="0"/>
              </a:spcBef>
              <a:spcAft>
                <a:spcPts val="0"/>
              </a:spcAft>
              <a:buNone/>
              <a:defRPr sz="2000"/>
            </a:lvl6pPr>
            <a:lvl7pPr lvl="6">
              <a:spcBef>
                <a:spcPts val="0"/>
              </a:spcBef>
              <a:spcAft>
                <a:spcPts val="0"/>
              </a:spcAft>
              <a:buNone/>
              <a:defRPr sz="2000"/>
            </a:lvl7pPr>
            <a:lvl8pPr lvl="7">
              <a:spcBef>
                <a:spcPts val="0"/>
              </a:spcBef>
              <a:spcAft>
                <a:spcPts val="0"/>
              </a:spcAft>
              <a:buNone/>
              <a:defRPr sz="2000"/>
            </a:lvl8pPr>
            <a:lvl9pPr lvl="8">
              <a:spcBef>
                <a:spcPts val="0"/>
              </a:spcBef>
              <a:spcAft>
                <a:spcPts val="0"/>
              </a:spcAft>
              <a:buNone/>
              <a:defRPr sz="2000"/>
            </a:lvl9pPr>
          </a:lstStyle>
          <a:p/>
        </p:txBody>
      </p:sp>
      <p:sp>
        <p:nvSpPr>
          <p:cNvPr id="60" name="Google Shape;60;p14"/>
          <p:cNvSpPr txBox="1"/>
          <p:nvPr>
            <p:ph type="title"/>
          </p:nvPr>
        </p:nvSpPr>
        <p:spPr>
          <a:xfrm>
            <a:off x="1345800" y="1284969"/>
            <a:ext cx="6452400" cy="2067300"/>
          </a:xfrm>
          <a:prstGeom prst="rect">
            <a:avLst/>
          </a:prstGeom>
        </p:spPr>
        <p:txBody>
          <a:bodyPr anchorCtr="0" anchor="ctr" bIns="91425" lIns="91425" spcFirstLastPara="1" rIns="91425" wrap="square" tIns="91425">
            <a:normAutofit/>
          </a:bodyPr>
          <a:lstStyle>
            <a:lvl1pPr lvl="0" algn="ctr">
              <a:lnSpc>
                <a:spcPct val="115000"/>
              </a:lnSpc>
              <a:spcBef>
                <a:spcPts val="0"/>
              </a:spcBef>
              <a:spcAft>
                <a:spcPts val="0"/>
              </a:spcAft>
              <a:buClr>
                <a:schemeClr val="accent2"/>
              </a:buClr>
              <a:buSzPts val="2400"/>
              <a:buNone/>
              <a:defRPr sz="2900">
                <a:solidFill>
                  <a:schemeClr val="dk2"/>
                </a:solidFill>
              </a:defRPr>
            </a:lvl1pPr>
            <a:lvl2pPr lvl="1" algn="ctr">
              <a:spcBef>
                <a:spcPts val="0"/>
              </a:spcBef>
              <a:spcAft>
                <a:spcPts val="0"/>
              </a:spcAft>
              <a:buClr>
                <a:schemeClr val="accent2"/>
              </a:buClr>
              <a:buSzPts val="3600"/>
              <a:buNone/>
              <a:defRPr sz="3600">
                <a:solidFill>
                  <a:schemeClr val="accent2"/>
                </a:solidFill>
              </a:defRPr>
            </a:lvl2pPr>
            <a:lvl3pPr lvl="2" algn="ctr">
              <a:spcBef>
                <a:spcPts val="0"/>
              </a:spcBef>
              <a:spcAft>
                <a:spcPts val="0"/>
              </a:spcAft>
              <a:buClr>
                <a:schemeClr val="accent2"/>
              </a:buClr>
              <a:buSzPts val="3600"/>
              <a:buNone/>
              <a:defRPr sz="3600">
                <a:solidFill>
                  <a:schemeClr val="accent2"/>
                </a:solidFill>
              </a:defRPr>
            </a:lvl3pPr>
            <a:lvl4pPr lvl="3" algn="ctr">
              <a:spcBef>
                <a:spcPts val="0"/>
              </a:spcBef>
              <a:spcAft>
                <a:spcPts val="0"/>
              </a:spcAft>
              <a:buClr>
                <a:schemeClr val="accent2"/>
              </a:buClr>
              <a:buSzPts val="3600"/>
              <a:buNone/>
              <a:defRPr sz="3600">
                <a:solidFill>
                  <a:schemeClr val="accent2"/>
                </a:solidFill>
              </a:defRPr>
            </a:lvl4pPr>
            <a:lvl5pPr lvl="4" algn="ctr">
              <a:spcBef>
                <a:spcPts val="0"/>
              </a:spcBef>
              <a:spcAft>
                <a:spcPts val="0"/>
              </a:spcAft>
              <a:buClr>
                <a:schemeClr val="accent2"/>
              </a:buClr>
              <a:buSzPts val="3600"/>
              <a:buNone/>
              <a:defRPr sz="3600">
                <a:solidFill>
                  <a:schemeClr val="accent2"/>
                </a:solidFill>
              </a:defRPr>
            </a:lvl5pPr>
            <a:lvl6pPr lvl="5" algn="ctr">
              <a:spcBef>
                <a:spcPts val="0"/>
              </a:spcBef>
              <a:spcAft>
                <a:spcPts val="0"/>
              </a:spcAft>
              <a:buClr>
                <a:schemeClr val="accent2"/>
              </a:buClr>
              <a:buSzPts val="3600"/>
              <a:buNone/>
              <a:defRPr sz="3600">
                <a:solidFill>
                  <a:schemeClr val="accent2"/>
                </a:solidFill>
              </a:defRPr>
            </a:lvl6pPr>
            <a:lvl7pPr lvl="6" algn="ctr">
              <a:spcBef>
                <a:spcPts val="0"/>
              </a:spcBef>
              <a:spcAft>
                <a:spcPts val="0"/>
              </a:spcAft>
              <a:buClr>
                <a:schemeClr val="accent2"/>
              </a:buClr>
              <a:buSzPts val="3600"/>
              <a:buNone/>
              <a:defRPr sz="3600">
                <a:solidFill>
                  <a:schemeClr val="accent2"/>
                </a:solidFill>
              </a:defRPr>
            </a:lvl7pPr>
            <a:lvl8pPr lvl="7" algn="ctr">
              <a:spcBef>
                <a:spcPts val="0"/>
              </a:spcBef>
              <a:spcAft>
                <a:spcPts val="0"/>
              </a:spcAft>
              <a:buClr>
                <a:schemeClr val="accent2"/>
              </a:buClr>
              <a:buSzPts val="3600"/>
              <a:buNone/>
              <a:defRPr sz="3600">
                <a:solidFill>
                  <a:schemeClr val="accent2"/>
                </a:solidFill>
              </a:defRPr>
            </a:lvl8pPr>
            <a:lvl9pPr lvl="8" algn="ctr">
              <a:spcBef>
                <a:spcPts val="0"/>
              </a:spcBef>
              <a:spcAft>
                <a:spcPts val="0"/>
              </a:spcAft>
              <a:buClr>
                <a:schemeClr val="accent2"/>
              </a:buClr>
              <a:buSzPts val="3600"/>
              <a:buNone/>
              <a:defRPr sz="3600">
                <a:solidFill>
                  <a:schemeClr val="accent2"/>
                </a:solidFill>
              </a:defRPr>
            </a:lvl9pPr>
          </a:lstStyle>
          <a:p/>
        </p:txBody>
      </p:sp>
      <p:sp>
        <p:nvSpPr>
          <p:cNvPr id="61" name="Google Shape;61;p14"/>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SECTION_HEADER_1_1_1_1_2_1">
    <p:bg>
      <p:bgPr>
        <a:solidFill>
          <a:schemeClr val="lt2"/>
        </a:solidFill>
      </p:bgPr>
    </p:bg>
    <p:spTree>
      <p:nvGrpSpPr>
        <p:cNvPr id="62" name="Shape 62"/>
        <p:cNvGrpSpPr/>
        <p:nvPr/>
      </p:nvGrpSpPr>
      <p:grpSpPr>
        <a:xfrm>
          <a:off x="0" y="0"/>
          <a:ext cx="0" cy="0"/>
          <a:chOff x="0" y="0"/>
          <a:chExt cx="0" cy="0"/>
        </a:xfrm>
      </p:grpSpPr>
      <p:pic>
        <p:nvPicPr>
          <p:cNvPr id="63" name="Google Shape;63;p15"/>
          <p:cNvPicPr preferRelativeResize="0"/>
          <p:nvPr/>
        </p:nvPicPr>
        <p:blipFill>
          <a:blip r:embed="rId2">
            <a:alphaModFix amt="55000"/>
          </a:blip>
          <a:stretch>
            <a:fillRect/>
          </a:stretch>
        </p:blipFill>
        <p:spPr>
          <a:xfrm flipH="1">
            <a:off x="2914735" y="693875"/>
            <a:ext cx="3227225" cy="3330400"/>
          </a:xfrm>
          <a:prstGeom prst="rect">
            <a:avLst/>
          </a:prstGeom>
          <a:noFill/>
          <a:ln>
            <a:noFill/>
          </a:ln>
        </p:spPr>
      </p:pic>
      <p:pic>
        <p:nvPicPr>
          <p:cNvPr id="64" name="Google Shape;64;p15"/>
          <p:cNvPicPr preferRelativeResize="0"/>
          <p:nvPr/>
        </p:nvPicPr>
        <p:blipFill>
          <a:blip r:embed="rId3">
            <a:alphaModFix amt="75000"/>
          </a:blip>
          <a:stretch>
            <a:fillRect/>
          </a:stretch>
        </p:blipFill>
        <p:spPr>
          <a:xfrm>
            <a:off x="0" y="0"/>
            <a:ext cx="2060450" cy="1984276"/>
          </a:xfrm>
          <a:prstGeom prst="rect">
            <a:avLst/>
          </a:prstGeom>
          <a:noFill/>
          <a:ln>
            <a:noFill/>
          </a:ln>
        </p:spPr>
      </p:pic>
      <p:pic>
        <p:nvPicPr>
          <p:cNvPr id="65" name="Google Shape;65;p15"/>
          <p:cNvPicPr preferRelativeResize="0"/>
          <p:nvPr/>
        </p:nvPicPr>
        <p:blipFill>
          <a:blip r:embed="rId3">
            <a:alphaModFix amt="75000"/>
          </a:blip>
          <a:stretch>
            <a:fillRect/>
          </a:stretch>
        </p:blipFill>
        <p:spPr>
          <a:xfrm rot="10800000">
            <a:off x="7083550" y="3159225"/>
            <a:ext cx="2060450" cy="1984276"/>
          </a:xfrm>
          <a:prstGeom prst="rect">
            <a:avLst/>
          </a:prstGeom>
          <a:noFill/>
          <a:ln>
            <a:noFill/>
          </a:ln>
        </p:spPr>
      </p:pic>
      <p:sp>
        <p:nvSpPr>
          <p:cNvPr id="66" name="Google Shape;66;p15"/>
          <p:cNvSpPr txBox="1"/>
          <p:nvPr>
            <p:ph type="title"/>
          </p:nvPr>
        </p:nvSpPr>
        <p:spPr>
          <a:xfrm>
            <a:off x="714125" y="544075"/>
            <a:ext cx="7715700" cy="365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2"/>
              </a:buClr>
              <a:buSzPts val="2400"/>
              <a:buNone/>
              <a:defRPr sz="3000"/>
            </a:lvl1pPr>
            <a:lvl2pPr lvl="1" algn="ctr">
              <a:spcBef>
                <a:spcPts val="0"/>
              </a:spcBef>
              <a:spcAft>
                <a:spcPts val="0"/>
              </a:spcAft>
              <a:buClr>
                <a:schemeClr val="accent2"/>
              </a:buClr>
              <a:buSzPts val="3600"/>
              <a:buNone/>
              <a:defRPr sz="3600">
                <a:solidFill>
                  <a:schemeClr val="accent2"/>
                </a:solidFill>
              </a:defRPr>
            </a:lvl2pPr>
            <a:lvl3pPr lvl="2" algn="ctr">
              <a:spcBef>
                <a:spcPts val="0"/>
              </a:spcBef>
              <a:spcAft>
                <a:spcPts val="0"/>
              </a:spcAft>
              <a:buClr>
                <a:schemeClr val="accent2"/>
              </a:buClr>
              <a:buSzPts val="3600"/>
              <a:buNone/>
              <a:defRPr sz="3600">
                <a:solidFill>
                  <a:schemeClr val="accent2"/>
                </a:solidFill>
              </a:defRPr>
            </a:lvl3pPr>
            <a:lvl4pPr lvl="3" algn="ctr">
              <a:spcBef>
                <a:spcPts val="0"/>
              </a:spcBef>
              <a:spcAft>
                <a:spcPts val="0"/>
              </a:spcAft>
              <a:buClr>
                <a:schemeClr val="accent2"/>
              </a:buClr>
              <a:buSzPts val="3600"/>
              <a:buNone/>
              <a:defRPr sz="3600">
                <a:solidFill>
                  <a:schemeClr val="accent2"/>
                </a:solidFill>
              </a:defRPr>
            </a:lvl4pPr>
            <a:lvl5pPr lvl="4" algn="ctr">
              <a:spcBef>
                <a:spcPts val="0"/>
              </a:spcBef>
              <a:spcAft>
                <a:spcPts val="0"/>
              </a:spcAft>
              <a:buClr>
                <a:schemeClr val="accent2"/>
              </a:buClr>
              <a:buSzPts val="3600"/>
              <a:buNone/>
              <a:defRPr sz="3600">
                <a:solidFill>
                  <a:schemeClr val="accent2"/>
                </a:solidFill>
              </a:defRPr>
            </a:lvl5pPr>
            <a:lvl6pPr lvl="5" algn="ctr">
              <a:spcBef>
                <a:spcPts val="0"/>
              </a:spcBef>
              <a:spcAft>
                <a:spcPts val="0"/>
              </a:spcAft>
              <a:buClr>
                <a:schemeClr val="accent2"/>
              </a:buClr>
              <a:buSzPts val="3600"/>
              <a:buNone/>
              <a:defRPr sz="3600">
                <a:solidFill>
                  <a:schemeClr val="accent2"/>
                </a:solidFill>
              </a:defRPr>
            </a:lvl6pPr>
            <a:lvl7pPr lvl="6" algn="ctr">
              <a:spcBef>
                <a:spcPts val="0"/>
              </a:spcBef>
              <a:spcAft>
                <a:spcPts val="0"/>
              </a:spcAft>
              <a:buClr>
                <a:schemeClr val="accent2"/>
              </a:buClr>
              <a:buSzPts val="3600"/>
              <a:buNone/>
              <a:defRPr sz="3600">
                <a:solidFill>
                  <a:schemeClr val="accent2"/>
                </a:solidFill>
              </a:defRPr>
            </a:lvl7pPr>
            <a:lvl8pPr lvl="7" algn="ctr">
              <a:spcBef>
                <a:spcPts val="0"/>
              </a:spcBef>
              <a:spcAft>
                <a:spcPts val="0"/>
              </a:spcAft>
              <a:buClr>
                <a:schemeClr val="accent2"/>
              </a:buClr>
              <a:buSzPts val="3600"/>
              <a:buNone/>
              <a:defRPr sz="3600">
                <a:solidFill>
                  <a:schemeClr val="accent2"/>
                </a:solidFill>
              </a:defRPr>
            </a:lvl8pPr>
            <a:lvl9pPr lvl="8" algn="ctr">
              <a:spcBef>
                <a:spcPts val="0"/>
              </a:spcBef>
              <a:spcAft>
                <a:spcPts val="0"/>
              </a:spcAft>
              <a:buClr>
                <a:schemeClr val="accent2"/>
              </a:buClr>
              <a:buSzPts val="3600"/>
              <a:buNone/>
              <a:defRPr sz="3600">
                <a:solidFill>
                  <a:schemeClr val="accent2"/>
                </a:solidFill>
              </a:defRPr>
            </a:lvl9pPr>
          </a:lstStyle>
          <a:p/>
        </p:txBody>
      </p:sp>
      <p:sp>
        <p:nvSpPr>
          <p:cNvPr id="67" name="Google Shape;67;p15"/>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idx="1" type="subTitle"/>
          </p:nvPr>
        </p:nvSpPr>
        <p:spPr>
          <a:xfrm flipH="1">
            <a:off x="6125100" y="1374075"/>
            <a:ext cx="2298900" cy="438600"/>
          </a:xfrm>
          <a:prstGeom prst="rect">
            <a:avLst/>
          </a:prstGeom>
        </p:spPr>
        <p:txBody>
          <a:bodyPr anchorCtr="0" anchor="t" bIns="91425" lIns="91425" spcFirstLastPara="1" rIns="91425" wrap="square" tIns="91425">
            <a:normAutofit/>
          </a:bodyPr>
          <a:lstStyle>
            <a:lvl1pPr lvl="0" algn="r">
              <a:lnSpc>
                <a:spcPct val="100000"/>
              </a:lnSpc>
              <a:spcBef>
                <a:spcPts val="0"/>
              </a:spcBef>
              <a:spcAft>
                <a:spcPts val="0"/>
              </a:spcAft>
              <a:buSzPts val="1800"/>
              <a:buFont typeface="Bebas Neue"/>
              <a:buNone/>
              <a:defRPr b="1" sz="2000">
                <a:latin typeface="Libre Baskerville"/>
                <a:ea typeface="Libre Baskerville"/>
                <a:cs typeface="Libre Baskerville"/>
                <a:sym typeface="Libre Baskerville"/>
              </a:defRPr>
            </a:lvl1pPr>
            <a:lvl2pPr lvl="1" algn="ctr">
              <a:lnSpc>
                <a:spcPct val="100000"/>
              </a:lnSpc>
              <a:spcBef>
                <a:spcPts val="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0"/>
              </a:spcBef>
              <a:spcAft>
                <a:spcPts val="0"/>
              </a:spcAft>
              <a:buSzPts val="1400"/>
              <a:buFont typeface="Bebas Neue"/>
              <a:buNone/>
              <a:defRPr>
                <a:latin typeface="Bebas Neue"/>
                <a:ea typeface="Bebas Neue"/>
                <a:cs typeface="Bebas Neue"/>
                <a:sym typeface="Bebas Neue"/>
              </a:defRPr>
            </a:lvl9pPr>
          </a:lstStyle>
          <a:p/>
        </p:txBody>
      </p:sp>
      <p:sp>
        <p:nvSpPr>
          <p:cNvPr id="69" name="Google Shape;69;p15"/>
          <p:cNvSpPr txBox="1"/>
          <p:nvPr>
            <p:ph idx="2" type="subTitle"/>
          </p:nvPr>
        </p:nvSpPr>
        <p:spPr>
          <a:xfrm flipH="1">
            <a:off x="720025" y="2847050"/>
            <a:ext cx="2298900" cy="438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800"/>
              <a:buFont typeface="Bebas Neue"/>
              <a:buNone/>
              <a:defRPr b="1" sz="2000">
                <a:latin typeface="Libre Baskerville"/>
                <a:ea typeface="Libre Baskerville"/>
                <a:cs typeface="Libre Baskerville"/>
                <a:sym typeface="Libre Baskerville"/>
              </a:defRPr>
            </a:lvl1pPr>
            <a:lvl2pPr lvl="1" algn="ctr">
              <a:lnSpc>
                <a:spcPct val="100000"/>
              </a:lnSpc>
              <a:spcBef>
                <a:spcPts val="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0"/>
              </a:spcBef>
              <a:spcAft>
                <a:spcPts val="0"/>
              </a:spcAft>
              <a:buSzPts val="1400"/>
              <a:buFont typeface="Bebas Neue"/>
              <a:buNone/>
              <a:defRPr>
                <a:latin typeface="Bebas Neue"/>
                <a:ea typeface="Bebas Neue"/>
                <a:cs typeface="Bebas Neue"/>
                <a:sym typeface="Bebas Neue"/>
              </a:defRPr>
            </a:lvl9pPr>
          </a:lstStyle>
          <a:p/>
        </p:txBody>
      </p:sp>
      <p:sp>
        <p:nvSpPr>
          <p:cNvPr id="70" name="Google Shape;70;p15"/>
          <p:cNvSpPr txBox="1"/>
          <p:nvPr>
            <p:ph idx="3" type="subTitle"/>
          </p:nvPr>
        </p:nvSpPr>
        <p:spPr>
          <a:xfrm flipH="1">
            <a:off x="4572000" y="1876339"/>
            <a:ext cx="3852000" cy="862800"/>
          </a:xfrm>
          <a:prstGeom prst="rect">
            <a:avLst/>
          </a:prstGeom>
        </p:spPr>
        <p:txBody>
          <a:bodyPr anchorCtr="0" anchor="ctr" bIns="91425" lIns="91425" spcFirstLastPara="1" rIns="91425" wrap="square" tIns="91425">
            <a:normAutofit/>
          </a:bodyPr>
          <a:lstStyle>
            <a:lvl1pPr lvl="0" algn="r">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 name="Google Shape;71;p15"/>
          <p:cNvSpPr txBox="1"/>
          <p:nvPr>
            <p:ph idx="4" type="subTitle"/>
          </p:nvPr>
        </p:nvSpPr>
        <p:spPr>
          <a:xfrm flipH="1">
            <a:off x="720025" y="3349800"/>
            <a:ext cx="3852000" cy="8628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2">
    <p:bg>
      <p:bgPr>
        <a:solidFill>
          <a:schemeClr val="dk2"/>
        </a:solidFill>
      </p:bgPr>
    </p:bg>
    <p:spTree>
      <p:nvGrpSpPr>
        <p:cNvPr id="72" name="Shape 72"/>
        <p:cNvGrpSpPr/>
        <p:nvPr/>
      </p:nvGrpSpPr>
      <p:grpSpPr>
        <a:xfrm>
          <a:off x="0" y="0"/>
          <a:ext cx="0" cy="0"/>
          <a:chOff x="0" y="0"/>
          <a:chExt cx="0" cy="0"/>
        </a:xfrm>
      </p:grpSpPr>
      <p:grpSp>
        <p:nvGrpSpPr>
          <p:cNvPr id="73" name="Google Shape;73;p16"/>
          <p:cNvGrpSpPr/>
          <p:nvPr/>
        </p:nvGrpSpPr>
        <p:grpSpPr>
          <a:xfrm>
            <a:off x="0" y="0"/>
            <a:ext cx="9144091" cy="5143648"/>
            <a:chOff x="0" y="0"/>
            <a:chExt cx="7440875" cy="4152456"/>
          </a:xfrm>
        </p:grpSpPr>
        <p:sp>
          <p:nvSpPr>
            <p:cNvPr id="74" name="Google Shape;74;p16"/>
            <p:cNvSpPr/>
            <p:nvPr/>
          </p:nvSpPr>
          <p:spPr>
            <a:xfrm>
              <a:off x="265057"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583651"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a:off x="902179"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6"/>
            <p:cNvSpPr/>
            <p:nvPr/>
          </p:nvSpPr>
          <p:spPr>
            <a:xfrm>
              <a:off x="1220641"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1539169"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1857762" y="0"/>
              <a:ext cx="7414" cy="2884827"/>
            </a:xfrm>
            <a:custGeom>
              <a:rect b="b" l="l" r="r" t="t"/>
              <a:pathLst>
                <a:path extrusionOk="0" h="43971" w="113">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2176224"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2494752"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2813346"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3131874"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3450336" y="0"/>
              <a:ext cx="7479" cy="2884827"/>
            </a:xfrm>
            <a:custGeom>
              <a:rect b="b" l="l" r="r" t="t"/>
              <a:pathLst>
                <a:path extrusionOk="0" h="43971" w="114">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3768929"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4087457"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p:nvPr/>
          </p:nvSpPr>
          <p:spPr>
            <a:xfrm>
              <a:off x="4405920"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4724447"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a:off x="5043041" y="0"/>
              <a:ext cx="7414" cy="2884827"/>
            </a:xfrm>
            <a:custGeom>
              <a:rect b="b" l="l" r="r" t="t"/>
              <a:pathLst>
                <a:path extrusionOk="0" h="43971" w="113">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5361634"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6"/>
            <p:cNvSpPr/>
            <p:nvPr/>
          </p:nvSpPr>
          <p:spPr>
            <a:xfrm>
              <a:off x="5680031"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5998624"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p:nvPr/>
          </p:nvSpPr>
          <p:spPr>
            <a:xfrm>
              <a:off x="6317152"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6"/>
            <p:cNvSpPr/>
            <p:nvPr/>
          </p:nvSpPr>
          <p:spPr>
            <a:xfrm>
              <a:off x="6635615" y="0"/>
              <a:ext cx="7479" cy="2884827"/>
            </a:xfrm>
            <a:custGeom>
              <a:rect b="b" l="l" r="r" t="t"/>
              <a:pathLst>
                <a:path extrusionOk="0" h="43971" w="114">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6954208"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7272736"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0" y="70857"/>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p:nvPr/>
          </p:nvSpPr>
          <p:spPr>
            <a:xfrm>
              <a:off x="0" y="374885"/>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0" y="678783"/>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0" y="982811"/>
              <a:ext cx="7440875" cy="7414"/>
            </a:xfrm>
            <a:custGeom>
              <a:rect b="b" l="l" r="r" t="t"/>
              <a:pathLst>
                <a:path extrusionOk="0" h="113"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0" y="1286708"/>
              <a:ext cx="7440875" cy="7545"/>
            </a:xfrm>
            <a:custGeom>
              <a:rect b="b" l="l" r="r" t="t"/>
              <a:pathLst>
                <a:path extrusionOk="0" h="115"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0" y="1590737"/>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6"/>
            <p:cNvSpPr/>
            <p:nvPr/>
          </p:nvSpPr>
          <p:spPr>
            <a:xfrm>
              <a:off x="0" y="1894700"/>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a:off x="0" y="2198597"/>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0" y="2502625"/>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0" y="2806523"/>
              <a:ext cx="7440875" cy="7479"/>
            </a:xfrm>
            <a:custGeom>
              <a:rect b="b" l="l" r="r" t="t"/>
              <a:pathLst>
                <a:path extrusionOk="0" h="114"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265057"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p:nvPr/>
          </p:nvSpPr>
          <p:spPr>
            <a:xfrm>
              <a:off x="583651"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p:nvPr/>
          </p:nvSpPr>
          <p:spPr>
            <a:xfrm>
              <a:off x="902179"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1220641"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1539169"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6"/>
            <p:cNvSpPr/>
            <p:nvPr/>
          </p:nvSpPr>
          <p:spPr>
            <a:xfrm>
              <a:off x="1857762" y="2431703"/>
              <a:ext cx="7414" cy="1720754"/>
            </a:xfrm>
            <a:custGeom>
              <a:rect b="b" l="l" r="r" t="t"/>
              <a:pathLst>
                <a:path extrusionOk="0" h="26228" w="113">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a:off x="2176224"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2494752"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a:off x="2813346"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6"/>
            <p:cNvSpPr/>
            <p:nvPr/>
          </p:nvSpPr>
          <p:spPr>
            <a:xfrm>
              <a:off x="3131874"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p:nvPr/>
          </p:nvSpPr>
          <p:spPr>
            <a:xfrm>
              <a:off x="3450336" y="2431703"/>
              <a:ext cx="7479" cy="1720754"/>
            </a:xfrm>
            <a:custGeom>
              <a:rect b="b" l="l" r="r" t="t"/>
              <a:pathLst>
                <a:path extrusionOk="0" h="26228" w="114">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p:nvPr/>
          </p:nvSpPr>
          <p:spPr>
            <a:xfrm>
              <a:off x="3768929"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6"/>
            <p:cNvSpPr/>
            <p:nvPr/>
          </p:nvSpPr>
          <p:spPr>
            <a:xfrm>
              <a:off x="4087457"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p:nvPr/>
          </p:nvSpPr>
          <p:spPr>
            <a:xfrm>
              <a:off x="4405920"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a:off x="4724447"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p:nvPr/>
          </p:nvSpPr>
          <p:spPr>
            <a:xfrm>
              <a:off x="5043041" y="2431703"/>
              <a:ext cx="7414" cy="1720754"/>
            </a:xfrm>
            <a:custGeom>
              <a:rect b="b" l="l" r="r" t="t"/>
              <a:pathLst>
                <a:path extrusionOk="0" h="26228" w="113">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5361634"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a:off x="5680031"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a:off x="5998624"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a:off x="6317152"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a:off x="6635615" y="2431703"/>
              <a:ext cx="7479" cy="1720754"/>
            </a:xfrm>
            <a:custGeom>
              <a:rect b="b" l="l" r="r" t="t"/>
              <a:pathLst>
                <a:path extrusionOk="0" h="26228" w="114">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6954208"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7272736"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6"/>
            <p:cNvSpPr/>
            <p:nvPr/>
          </p:nvSpPr>
          <p:spPr>
            <a:xfrm>
              <a:off x="0" y="2502494"/>
              <a:ext cx="7440875" cy="7479"/>
            </a:xfrm>
            <a:custGeom>
              <a:rect b="b" l="l" r="r" t="t"/>
              <a:pathLst>
                <a:path extrusionOk="0" h="114"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p:nvPr/>
          </p:nvSpPr>
          <p:spPr>
            <a:xfrm>
              <a:off x="0" y="2806523"/>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0" y="3110420"/>
              <a:ext cx="7440875" cy="7545"/>
            </a:xfrm>
            <a:custGeom>
              <a:rect b="b" l="l" r="r" t="t"/>
              <a:pathLst>
                <a:path extrusionOk="0" h="115"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a:off x="0" y="3414448"/>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a:off x="0" y="3718411"/>
              <a:ext cx="7440875" cy="7479"/>
            </a:xfrm>
            <a:custGeom>
              <a:rect b="b" l="l" r="r" t="t"/>
              <a:pathLst>
                <a:path extrusionOk="0" h="114" w="113415">
                  <a:moveTo>
                    <a:pt x="0" y="0"/>
                  </a:moveTo>
                  <a:lnTo>
                    <a:pt x="0" y="113"/>
                  </a:lnTo>
                  <a:lnTo>
                    <a:pt x="113414" y="113"/>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a:off x="0" y="4022440"/>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 name="Google Shape;136;p16"/>
          <p:cNvGrpSpPr/>
          <p:nvPr/>
        </p:nvGrpSpPr>
        <p:grpSpPr>
          <a:xfrm>
            <a:off x="502465" y="399924"/>
            <a:ext cx="8139069" cy="4343656"/>
            <a:chOff x="916986" y="2500875"/>
            <a:chExt cx="2280618" cy="1217119"/>
          </a:xfrm>
        </p:grpSpPr>
        <p:sp>
          <p:nvSpPr>
            <p:cNvPr id="137" name="Google Shape;137;p16"/>
            <p:cNvSpPr/>
            <p:nvPr/>
          </p:nvSpPr>
          <p:spPr>
            <a:xfrm>
              <a:off x="930568" y="2514572"/>
              <a:ext cx="105996" cy="1189768"/>
            </a:xfrm>
            <a:custGeom>
              <a:rect b="b" l="l" r="r" t="t"/>
              <a:pathLst>
                <a:path extrusionOk="0" h="20586" w="1834">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1036508" y="2514572"/>
              <a:ext cx="2147431" cy="1189768"/>
            </a:xfrm>
            <a:custGeom>
              <a:rect b="b" l="l" r="r" t="t"/>
              <a:pathLst>
                <a:path extrusionOk="0" h="20586" w="3715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a:off x="916986" y="2500875"/>
              <a:ext cx="93570" cy="139459"/>
            </a:xfrm>
            <a:custGeom>
              <a:rect b="b" l="l" r="r" t="t"/>
              <a:pathLst>
                <a:path extrusionOk="0" h="2413" w="1619">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p:nvPr/>
          </p:nvSpPr>
          <p:spPr>
            <a:xfrm>
              <a:off x="916986" y="3578650"/>
              <a:ext cx="133160" cy="139344"/>
            </a:xfrm>
            <a:custGeom>
              <a:rect b="b" l="l" r="r" t="t"/>
              <a:pathLst>
                <a:path extrusionOk="0" h="2411" w="2304">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p:nvPr/>
          </p:nvSpPr>
          <p:spPr>
            <a:xfrm>
              <a:off x="2917819" y="3493113"/>
              <a:ext cx="279786" cy="224880"/>
            </a:xfrm>
            <a:custGeom>
              <a:rect b="b" l="l" r="r" t="t"/>
              <a:pathLst>
                <a:path extrusionOk="0" h="3891" w="484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16"/>
          <p:cNvSpPr txBox="1"/>
          <p:nvPr>
            <p:ph type="title"/>
          </p:nvPr>
        </p:nvSpPr>
        <p:spPr>
          <a:xfrm>
            <a:off x="1291500" y="2400500"/>
            <a:ext cx="4320000" cy="9159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50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 name="Google Shape;143;p16"/>
          <p:cNvSpPr txBox="1"/>
          <p:nvPr>
            <p:ph hasCustomPrompt="1" idx="2" type="title"/>
          </p:nvPr>
        </p:nvSpPr>
        <p:spPr>
          <a:xfrm>
            <a:off x="1291500" y="1241525"/>
            <a:ext cx="1652100" cy="915900"/>
          </a:xfrm>
          <a:prstGeom prst="rect">
            <a:avLst/>
          </a:prstGeom>
          <a:noFill/>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44" name="Google Shape;144;p16"/>
          <p:cNvSpPr txBox="1"/>
          <p:nvPr>
            <p:ph idx="1" type="subTitle"/>
          </p:nvPr>
        </p:nvSpPr>
        <p:spPr>
          <a:xfrm>
            <a:off x="1291500" y="3360725"/>
            <a:ext cx="4320000" cy="375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5" name="Google Shape;145;p16"/>
          <p:cNvSpPr/>
          <p:nvPr/>
        </p:nvSpPr>
        <p:spPr>
          <a:xfrm>
            <a:off x="1190841" y="4876886"/>
            <a:ext cx="207420" cy="186779"/>
          </a:xfrm>
          <a:custGeom>
            <a:rect b="b" l="l" r="r" t="t"/>
            <a:pathLst>
              <a:path extrusionOk="0" h="3502" w="3889">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212841" y="4445786"/>
            <a:ext cx="207420" cy="186779"/>
          </a:xfrm>
          <a:custGeom>
            <a:rect b="b" l="l" r="r" t="t"/>
            <a:pathLst>
              <a:path extrusionOk="0" h="3502" w="3889">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C073"/>
        </a:solidFill>
      </p:bgPr>
    </p:bg>
    <p:spTree>
      <p:nvGrpSpPr>
        <p:cNvPr id="150" name="Shape 150"/>
        <p:cNvGrpSpPr/>
        <p:nvPr/>
      </p:nvGrpSpPr>
      <p:grpSpPr>
        <a:xfrm>
          <a:off x="0" y="0"/>
          <a:ext cx="0" cy="0"/>
          <a:chOff x="0" y="0"/>
          <a:chExt cx="0" cy="0"/>
        </a:xfrm>
      </p:grpSpPr>
      <p:sp>
        <p:nvSpPr>
          <p:cNvPr id="151" name="Google Shape;151;p17"/>
          <p:cNvSpPr/>
          <p:nvPr/>
        </p:nvSpPr>
        <p:spPr>
          <a:xfrm>
            <a:off x="-228600" y="518400"/>
            <a:ext cx="9601200" cy="1477800"/>
          </a:xfrm>
          <a:prstGeom prst="rect">
            <a:avLst/>
          </a:prstGeom>
          <a:solidFill>
            <a:srgbClr val="FEF9D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7"/>
          <p:cNvSpPr/>
          <p:nvPr/>
        </p:nvSpPr>
        <p:spPr>
          <a:xfrm>
            <a:off x="228590" y="228602"/>
            <a:ext cx="2057400" cy="2057400"/>
          </a:xfrm>
          <a:prstGeom prst="ellipse">
            <a:avLst/>
          </a:prstGeom>
          <a:solidFill>
            <a:srgbClr val="FAC073"/>
          </a:solidFill>
          <a:ln cap="flat" cmpd="sng" w="152400">
            <a:solidFill>
              <a:srgbClr val="FEF9DE"/>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latin typeface="Merriweather"/>
                <a:ea typeface="Merriweather"/>
                <a:cs typeface="Merriweather"/>
                <a:sym typeface="Merriweather"/>
              </a:rPr>
              <a:t>Fall</a:t>
            </a:r>
            <a:endParaRPr sz="3200">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latin typeface="Merriweather"/>
                <a:ea typeface="Merriweather"/>
                <a:cs typeface="Merriweather"/>
                <a:sym typeface="Merriweather"/>
              </a:rPr>
              <a:t>4</a:t>
            </a:r>
            <a:endParaRPr sz="9600">
              <a:latin typeface="Merriweather"/>
              <a:ea typeface="Merriweather"/>
              <a:cs typeface="Merriweather"/>
              <a:sym typeface="Merriweather"/>
            </a:endParaRPr>
          </a:p>
        </p:txBody>
      </p:sp>
      <p:sp>
        <p:nvSpPr>
          <p:cNvPr id="153" name="Google Shape;153;p17"/>
          <p:cNvSpPr/>
          <p:nvPr/>
        </p:nvSpPr>
        <p:spPr>
          <a:xfrm>
            <a:off x="-228600" y="3118800"/>
            <a:ext cx="9601200" cy="1477800"/>
          </a:xfrm>
          <a:prstGeom prst="rect">
            <a:avLst/>
          </a:prstGeom>
          <a:noFill/>
          <a:ln cap="flat" cmpd="sng" w="152400">
            <a:solidFill>
              <a:srgbClr val="FEF9D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7"/>
          <p:cNvSpPr/>
          <p:nvPr/>
        </p:nvSpPr>
        <p:spPr>
          <a:xfrm>
            <a:off x="6857990" y="2829002"/>
            <a:ext cx="2057400" cy="20574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80000"/>
              </a:lnSpc>
              <a:spcBef>
                <a:spcPts val="0"/>
              </a:spcBef>
              <a:spcAft>
                <a:spcPts val="0"/>
              </a:spcAft>
              <a:buNone/>
            </a:pPr>
            <a:r>
              <a:t/>
            </a:r>
            <a:endParaRPr sz="9600">
              <a:latin typeface="Leckerli One"/>
              <a:ea typeface="Leckerli One"/>
              <a:cs typeface="Leckerli One"/>
              <a:sym typeface="Leckerli One"/>
            </a:endParaRPr>
          </a:p>
        </p:txBody>
      </p:sp>
      <p:pic>
        <p:nvPicPr>
          <p:cNvPr id="155" name="Google Shape;155;p17" title="1.png"/>
          <p:cNvPicPr preferRelativeResize="0"/>
          <p:nvPr/>
        </p:nvPicPr>
        <p:blipFill>
          <a:blip r:embed="rId3">
            <a:alphaModFix/>
          </a:blip>
          <a:stretch>
            <a:fillRect/>
          </a:stretch>
        </p:blipFill>
        <p:spPr>
          <a:xfrm>
            <a:off x="6857990" y="2829000"/>
            <a:ext cx="2057400" cy="2057400"/>
          </a:xfrm>
          <a:prstGeom prst="rect">
            <a:avLst/>
          </a:prstGeom>
          <a:noFill/>
          <a:ln>
            <a:noFill/>
          </a:ln>
        </p:spPr>
      </p:pic>
      <p:sp>
        <p:nvSpPr>
          <p:cNvPr id="156" name="Google Shape;156;p17"/>
          <p:cNvSpPr txBox="1"/>
          <p:nvPr/>
        </p:nvSpPr>
        <p:spPr>
          <a:xfrm>
            <a:off x="228600" y="3211200"/>
            <a:ext cx="6400800" cy="12930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3600">
                <a:latin typeface="Merriweather"/>
                <a:ea typeface="Merriweather"/>
                <a:cs typeface="Merriweather"/>
                <a:sym typeface="Merriweather"/>
              </a:rPr>
              <a:t>Stuy Prep</a:t>
            </a:r>
            <a:endParaRPr sz="3600">
              <a:latin typeface="Merriweather"/>
              <a:ea typeface="Merriweather"/>
              <a:cs typeface="Merriweather"/>
              <a:sym typeface="Merriweather"/>
            </a:endParaRPr>
          </a:p>
          <a:p>
            <a:pPr indent="0" lvl="0" marL="0" rtl="0" algn="r">
              <a:spcBef>
                <a:spcPts val="0"/>
              </a:spcBef>
              <a:spcAft>
                <a:spcPts val="0"/>
              </a:spcAft>
              <a:buNone/>
            </a:pPr>
            <a:r>
              <a:rPr lang="en" sz="4800">
                <a:latin typeface="Merriweather"/>
                <a:ea typeface="Merriweather"/>
                <a:cs typeface="Merriweather"/>
                <a:sym typeface="Merriweather"/>
              </a:rPr>
              <a:t>Lesson 26F4</a:t>
            </a:r>
            <a:endParaRPr sz="4800">
              <a:latin typeface="Merriweather"/>
              <a:ea typeface="Merriweather"/>
              <a:cs typeface="Merriweather"/>
              <a:sym typeface="Merriweather"/>
            </a:endParaRPr>
          </a:p>
        </p:txBody>
      </p:sp>
      <p:sp>
        <p:nvSpPr>
          <p:cNvPr id="157" name="Google Shape;157;p17"/>
          <p:cNvSpPr txBox="1"/>
          <p:nvPr/>
        </p:nvSpPr>
        <p:spPr>
          <a:xfrm>
            <a:off x="2514600" y="518400"/>
            <a:ext cx="6400800" cy="147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200">
                <a:latin typeface="Merriweather"/>
                <a:ea typeface="Merriweather"/>
                <a:cs typeface="Merriweather"/>
                <a:sym typeface="Merriweather"/>
              </a:rPr>
              <a:t>Integration of Knowledge and Ideas and Geometric Figures and Angles</a:t>
            </a:r>
            <a:endParaRPr sz="3200">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161" name="Shape 161"/>
        <p:cNvGrpSpPr/>
        <p:nvPr/>
      </p:nvGrpSpPr>
      <p:grpSpPr>
        <a:xfrm>
          <a:off x="0" y="0"/>
          <a:ext cx="0" cy="0"/>
          <a:chOff x="0" y="0"/>
          <a:chExt cx="0" cy="0"/>
        </a:xfrm>
      </p:grpSpPr>
      <p:sp>
        <p:nvSpPr>
          <p:cNvPr id="162" name="Google Shape;162;p18"/>
          <p:cNvSpPr/>
          <p:nvPr/>
        </p:nvSpPr>
        <p:spPr>
          <a:xfrm>
            <a:off x="-1522208" y="4131550"/>
            <a:ext cx="11479688" cy="1011961"/>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₊✩‧₊˚౨ৎ˚₊✩‧₊ ✮ ⋆ ˚｡⋆｡°✩⋆˚˖°</a:t>
            </a:r>
          </a:p>
        </p:txBody>
      </p:sp>
      <p:sp>
        <p:nvSpPr>
          <p:cNvPr id="163" name="Google Shape;163;p18"/>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18"/>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165" name="Google Shape;165;p1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Homework</a:t>
            </a:r>
            <a:endParaRPr sz="4800">
              <a:latin typeface="Merriweather"/>
              <a:ea typeface="Merriweather"/>
              <a:cs typeface="Merriweather"/>
              <a:sym typeface="Merriweather"/>
            </a:endParaRPr>
          </a:p>
        </p:txBody>
      </p:sp>
      <p:pic>
        <p:nvPicPr>
          <p:cNvPr id="166" name="Google Shape;166;p1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167" name="Google Shape;167;p18"/>
          <p:cNvSpPr txBox="1"/>
          <p:nvPr/>
        </p:nvSpPr>
        <p:spPr>
          <a:xfrm>
            <a:off x="228600" y="1490400"/>
            <a:ext cx="8686800" cy="7389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lang="en" sz="2400">
                <a:solidFill>
                  <a:schemeClr val="dk1"/>
                </a:solidFill>
                <a:latin typeface="DM Sans"/>
                <a:ea typeface="DM Sans"/>
                <a:cs typeface="DM Sans"/>
                <a:sym typeface="DM Sans"/>
              </a:rPr>
              <a:t>Does anyone have questions on </a:t>
            </a:r>
            <a:r>
              <a:rPr b="1" lang="en" sz="2400">
                <a:solidFill>
                  <a:schemeClr val="dk1"/>
                </a:solidFill>
                <a:latin typeface="DM Sans"/>
                <a:ea typeface="DM Sans"/>
                <a:cs typeface="DM Sans"/>
                <a:sym typeface="DM Sans"/>
              </a:rPr>
              <a:t>26F3 Homework: Key Ideas and Details and Transformations</a:t>
            </a:r>
            <a:r>
              <a:rPr lang="en" sz="2400">
                <a:solidFill>
                  <a:schemeClr val="dk1"/>
                </a:solidFill>
                <a:latin typeface="DM Sans"/>
                <a:ea typeface="DM Sans"/>
                <a:cs typeface="DM Sans"/>
                <a:sym typeface="DM Sans"/>
              </a:rPr>
              <a:t>?</a:t>
            </a:r>
            <a:endParaRPr sz="24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800"/>
                                        <p:tgtEl>
                                          <p:spTgt spid="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C073"/>
        </a:solidFill>
      </p:bgPr>
    </p:bg>
    <p:spTree>
      <p:nvGrpSpPr>
        <p:cNvPr id="171" name="Shape 171"/>
        <p:cNvGrpSpPr/>
        <p:nvPr/>
      </p:nvGrpSpPr>
      <p:grpSpPr>
        <a:xfrm>
          <a:off x="0" y="0"/>
          <a:ext cx="0" cy="0"/>
          <a:chOff x="0" y="0"/>
          <a:chExt cx="0" cy="0"/>
        </a:xfrm>
      </p:grpSpPr>
      <p:sp>
        <p:nvSpPr>
          <p:cNvPr id="172" name="Google Shape;172;p19"/>
          <p:cNvSpPr/>
          <p:nvPr/>
        </p:nvSpPr>
        <p:spPr>
          <a:xfrm>
            <a:off x="-16087983" y="4228150"/>
            <a:ext cx="25231995" cy="915356"/>
          </a:xfrm>
          <a:prstGeom prst="rect">
            <a:avLst/>
          </a:prstGeom>
        </p:spPr>
        <p:txBody>
          <a:bodyPr>
            <a:prstTxWarp prst="textPlain"/>
          </a:bodyPr>
          <a:lstStyle/>
          <a:p>
            <a:pPr lvl="0" algn="ctr"/>
            <a:r>
              <a:rPr b="0" i="0">
                <a:ln cap="flat" cmpd="sng" w="76200">
                  <a:solidFill>
                    <a:srgbClr val="FEF9DE"/>
                  </a:solidFill>
                  <a:prstDash val="solid"/>
                  <a:round/>
                  <a:headEnd len="sm" w="sm" type="none"/>
                  <a:tailEnd len="sm" w="sm" type="none"/>
                </a:ln>
                <a:noFill/>
                <a:latin typeface="DM Sans"/>
              </a:rPr>
              <a:t>argument relevant sufficient reasoning irrelevant evaluate</a:t>
            </a:r>
          </a:p>
        </p:txBody>
      </p:sp>
      <p:sp>
        <p:nvSpPr>
          <p:cNvPr id="173" name="Google Shape;173;p19"/>
          <p:cNvSpPr/>
          <p:nvPr/>
        </p:nvSpPr>
        <p:spPr>
          <a:xfrm>
            <a:off x="-8" y="0"/>
            <a:ext cx="25231995" cy="915356"/>
          </a:xfrm>
          <a:prstGeom prst="rect">
            <a:avLst/>
          </a:prstGeom>
        </p:spPr>
        <p:txBody>
          <a:bodyPr>
            <a:prstTxWarp prst="textPlain"/>
          </a:bodyPr>
          <a:lstStyle/>
          <a:p>
            <a:pPr lvl="0" algn="ctr"/>
            <a:r>
              <a:rPr b="0" i="0">
                <a:ln cap="flat" cmpd="sng" w="76200">
                  <a:solidFill>
                    <a:srgbClr val="FEF9DE"/>
                  </a:solidFill>
                  <a:prstDash val="solid"/>
                  <a:round/>
                  <a:headEnd len="sm" w="sm" type="none"/>
                  <a:tailEnd len="sm" w="sm" type="none"/>
                </a:ln>
                <a:noFill/>
                <a:latin typeface="DM Sans"/>
              </a:rPr>
              <a:t>argument relevant sufficient reasoning irrelevant evaluate</a:t>
            </a:r>
          </a:p>
        </p:txBody>
      </p:sp>
      <p:sp>
        <p:nvSpPr>
          <p:cNvPr id="174" name="Google Shape;174;p19"/>
          <p:cNvSpPr/>
          <p:nvPr/>
        </p:nvSpPr>
        <p:spPr>
          <a:xfrm>
            <a:off x="0" y="1547100"/>
            <a:ext cx="9144000" cy="738900"/>
          </a:xfrm>
          <a:prstGeom prst="rect">
            <a:avLst/>
          </a:prstGeom>
          <a:solidFill>
            <a:srgbClr val="FEF9D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9"/>
          <p:cNvSpPr/>
          <p:nvPr/>
        </p:nvSpPr>
        <p:spPr>
          <a:xfrm>
            <a:off x="228590" y="228602"/>
            <a:ext cx="2057400" cy="2057400"/>
          </a:xfrm>
          <a:prstGeom prst="ellipse">
            <a:avLst/>
          </a:prstGeom>
          <a:solidFill>
            <a:srgbClr val="FEF9DE"/>
          </a:solidFill>
          <a:ln cap="flat" cmpd="sng" w="152400">
            <a:solidFill>
              <a:srgbClr val="FAC073"/>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latin typeface="Merriweather"/>
                <a:ea typeface="Merriweather"/>
                <a:cs typeface="Merriweather"/>
                <a:sym typeface="Merriweather"/>
              </a:rPr>
              <a:t>Fall</a:t>
            </a:r>
            <a:endParaRPr sz="3200">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latin typeface="Merriweather"/>
                <a:ea typeface="Merriweather"/>
                <a:cs typeface="Merriweather"/>
                <a:sym typeface="Merriweather"/>
              </a:rPr>
              <a:t>4</a:t>
            </a:r>
            <a:endParaRPr sz="9600">
              <a:latin typeface="Merriweather"/>
              <a:ea typeface="Merriweather"/>
              <a:cs typeface="Merriweather"/>
              <a:sym typeface="Merriweather"/>
            </a:endParaRPr>
          </a:p>
        </p:txBody>
      </p:sp>
      <p:sp>
        <p:nvSpPr>
          <p:cNvPr id="176" name="Google Shape;176;p19"/>
          <p:cNvSpPr txBox="1"/>
          <p:nvPr/>
        </p:nvSpPr>
        <p:spPr>
          <a:xfrm>
            <a:off x="2514600" y="1693350"/>
            <a:ext cx="6400800" cy="44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900">
                <a:latin typeface="Merriweather"/>
                <a:ea typeface="Merriweather"/>
                <a:cs typeface="Merriweather"/>
                <a:sym typeface="Merriweather"/>
              </a:rPr>
              <a:t>Integration of Knowledge and Ideas</a:t>
            </a:r>
            <a:endParaRPr sz="2900">
              <a:latin typeface="Merriweather"/>
              <a:ea typeface="Merriweather"/>
              <a:cs typeface="Merriweather"/>
              <a:sym typeface="Merriweather"/>
            </a:endParaRPr>
          </a:p>
        </p:txBody>
      </p:sp>
      <p:sp>
        <p:nvSpPr>
          <p:cNvPr id="177" name="Google Shape;177;p19"/>
          <p:cNvSpPr txBox="1"/>
          <p:nvPr/>
        </p:nvSpPr>
        <p:spPr>
          <a:xfrm>
            <a:off x="2514600" y="1011000"/>
            <a:ext cx="64008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200">
                <a:latin typeface="DM Sans"/>
                <a:ea typeface="DM Sans"/>
                <a:cs typeface="DM Sans"/>
                <a:sym typeface="DM Sans"/>
              </a:rPr>
              <a:t>English Language Arts</a:t>
            </a:r>
            <a:endParaRPr sz="3200">
              <a:latin typeface="DM Sans"/>
              <a:ea typeface="DM Sans"/>
              <a:cs typeface="DM Sans"/>
              <a:sym typeface="DM Sans"/>
            </a:endParaRPr>
          </a:p>
        </p:txBody>
      </p:sp>
      <p:sp>
        <p:nvSpPr>
          <p:cNvPr id="178" name="Google Shape;178;p19"/>
          <p:cNvSpPr txBox="1"/>
          <p:nvPr/>
        </p:nvSpPr>
        <p:spPr>
          <a:xfrm>
            <a:off x="228600" y="2514600"/>
            <a:ext cx="4114800" cy="1847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latin typeface="DM Sans"/>
                <a:ea typeface="DM Sans"/>
                <a:cs typeface="DM Sans"/>
                <a:sym typeface="DM Sans"/>
              </a:rPr>
              <a:t>Aim:</a:t>
            </a:r>
            <a:r>
              <a:rPr lang="en" sz="2400">
                <a:latin typeface="DM Sans"/>
                <a:ea typeface="DM Sans"/>
                <a:cs typeface="DM Sans"/>
                <a:sym typeface="DM Sans"/>
              </a:rPr>
              <a:t> Analyze the development of arguments to determine whether or not a claim has relevant and sufficient evidence.</a:t>
            </a:r>
            <a:endParaRPr sz="2400">
              <a:latin typeface="DM Sans"/>
              <a:ea typeface="DM Sans"/>
              <a:cs typeface="DM Sans"/>
              <a:sym typeface="DM Sans"/>
            </a:endParaRPr>
          </a:p>
        </p:txBody>
      </p:sp>
      <p:sp>
        <p:nvSpPr>
          <p:cNvPr id="179" name="Google Shape;179;p19"/>
          <p:cNvSpPr txBox="1"/>
          <p:nvPr/>
        </p:nvSpPr>
        <p:spPr>
          <a:xfrm>
            <a:off x="4800600" y="2518650"/>
            <a:ext cx="4114800" cy="7389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latin typeface="DM Sans"/>
                <a:ea typeface="DM Sans"/>
                <a:cs typeface="DM Sans"/>
                <a:sym typeface="DM Sans"/>
              </a:rPr>
              <a:t>Do Now</a:t>
            </a:r>
            <a:r>
              <a:rPr b="1" lang="en" sz="2400">
                <a:latin typeface="DM Sans"/>
                <a:ea typeface="DM Sans"/>
                <a:cs typeface="DM Sans"/>
                <a:sym typeface="DM Sans"/>
              </a:rPr>
              <a:t>:</a:t>
            </a:r>
            <a:r>
              <a:rPr lang="en" sz="2400">
                <a:latin typeface="DM Sans"/>
                <a:ea typeface="DM Sans"/>
                <a:cs typeface="DM Sans"/>
                <a:sym typeface="DM Sans"/>
              </a:rPr>
              <a:t> Again: why is it so important to cite evidence?</a:t>
            </a:r>
            <a:endParaRPr sz="24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800"/>
                                        <p:tgtEl>
                                          <p:spTgt spid="177"/>
                                        </p:tgtEl>
                                      </p:cBhvr>
                                    </p:animEffect>
                                  </p:childTnLst>
                                </p:cTn>
                              </p:par>
                              <p:par>
                                <p:cTn fill="hold" nodeType="with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800"/>
                                        <p:tgtEl>
                                          <p:spTgt spid="176"/>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800"/>
                                        <p:tgtEl>
                                          <p:spTgt spid="178"/>
                                        </p:tgtEl>
                                      </p:cBhvr>
                                    </p:animEffect>
                                  </p:childTnLst>
                                </p:cTn>
                              </p:par>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8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183" name="Shape 183"/>
        <p:cNvGrpSpPr/>
        <p:nvPr/>
      </p:nvGrpSpPr>
      <p:grpSpPr>
        <a:xfrm>
          <a:off x="0" y="0"/>
          <a:ext cx="0" cy="0"/>
          <a:chOff x="0" y="0"/>
          <a:chExt cx="0" cy="0"/>
        </a:xfrm>
      </p:grpSpPr>
      <p:sp>
        <p:nvSpPr>
          <p:cNvPr id="184" name="Google Shape;184;p20"/>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185" name="Google Shape;185;p20"/>
          <p:cNvSpPr txBox="1"/>
          <p:nvPr/>
        </p:nvSpPr>
        <p:spPr>
          <a:xfrm>
            <a:off x="228600" y="1443875"/>
            <a:ext cx="4114800" cy="30477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200">
                <a:latin typeface="DM Sans"/>
                <a:ea typeface="DM Sans"/>
                <a:cs typeface="DM Sans"/>
                <a:sym typeface="DM Sans"/>
              </a:rPr>
              <a:t>An </a:t>
            </a:r>
            <a:r>
              <a:rPr b="1" lang="en" sz="2200">
                <a:latin typeface="DM Sans"/>
                <a:ea typeface="DM Sans"/>
                <a:cs typeface="DM Sans"/>
                <a:sym typeface="DM Sans"/>
              </a:rPr>
              <a:t>argument</a:t>
            </a:r>
            <a:r>
              <a:rPr lang="en" sz="2200">
                <a:latin typeface="DM Sans"/>
                <a:ea typeface="DM Sans"/>
                <a:cs typeface="DM Sans"/>
                <a:sym typeface="DM Sans"/>
              </a:rPr>
              <a:t> is a position or viewpoint that an author supports using reasoning and evidence. Authors use arguments to persuade readers to agree with their ideas. A strong argument consists of three main components:</a:t>
            </a:r>
            <a:endParaRPr sz="2200">
              <a:latin typeface="DM Sans"/>
              <a:ea typeface="DM Sans"/>
              <a:cs typeface="DM Sans"/>
              <a:sym typeface="DM Sans"/>
            </a:endParaRPr>
          </a:p>
          <a:p>
            <a:pPr indent="0" lvl="0" marL="0" rtl="0" algn="l">
              <a:spcBef>
                <a:spcPts val="0"/>
              </a:spcBef>
              <a:spcAft>
                <a:spcPts val="0"/>
              </a:spcAft>
              <a:buNone/>
            </a:pPr>
            <a:r>
              <a:rPr lang="en" sz="2200">
                <a:latin typeface="DM Sans"/>
                <a:ea typeface="DM Sans"/>
                <a:cs typeface="DM Sans"/>
                <a:sym typeface="DM Sans"/>
              </a:rPr>
              <a:t>.</a:t>
            </a:r>
            <a:endParaRPr sz="2200">
              <a:latin typeface="DM Sans"/>
              <a:ea typeface="DM Sans"/>
              <a:cs typeface="DM Sans"/>
              <a:sym typeface="DM Sans"/>
            </a:endParaRPr>
          </a:p>
        </p:txBody>
      </p:sp>
      <p:sp>
        <p:nvSpPr>
          <p:cNvPr id="186" name="Google Shape;186;p20"/>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20"/>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188" name="Google Shape;188;p20"/>
          <p:cNvSpPr txBox="1"/>
          <p:nvPr/>
        </p:nvSpPr>
        <p:spPr>
          <a:xfrm>
            <a:off x="1490400" y="267150"/>
            <a:ext cx="7425000" cy="661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300">
                <a:latin typeface="Merriweather"/>
                <a:ea typeface="Merriweather"/>
                <a:cs typeface="Merriweather"/>
                <a:sym typeface="Merriweather"/>
              </a:rPr>
              <a:t>Development of Arguments</a:t>
            </a:r>
            <a:endParaRPr sz="4300">
              <a:latin typeface="Merriweather"/>
              <a:ea typeface="Merriweather"/>
              <a:cs typeface="Merriweather"/>
              <a:sym typeface="Merriweather"/>
            </a:endParaRPr>
          </a:p>
        </p:txBody>
      </p:sp>
      <p:pic>
        <p:nvPicPr>
          <p:cNvPr id="189" name="Google Shape;189;p2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190" name="Google Shape;190;p20"/>
          <p:cNvSpPr txBox="1"/>
          <p:nvPr/>
        </p:nvSpPr>
        <p:spPr>
          <a:xfrm>
            <a:off x="4800600" y="1443875"/>
            <a:ext cx="4114800" cy="30477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2200">
                <a:solidFill>
                  <a:schemeClr val="dk1"/>
                </a:solidFill>
                <a:latin typeface="DM Sans"/>
                <a:ea typeface="DM Sans"/>
                <a:cs typeface="DM Sans"/>
                <a:sym typeface="DM Sans"/>
              </a:rPr>
              <a:t>Thesis</a:t>
            </a:r>
            <a:r>
              <a:rPr lang="en" sz="2200">
                <a:solidFill>
                  <a:schemeClr val="dk1"/>
                </a:solidFill>
                <a:latin typeface="DM Sans"/>
                <a:ea typeface="DM Sans"/>
                <a:cs typeface="DM Sans"/>
                <a:sym typeface="DM Sans"/>
              </a:rPr>
              <a:t>: The author's overall position or central argument.</a:t>
            </a:r>
            <a:endParaRPr sz="2200">
              <a:solidFill>
                <a:schemeClr val="dk1"/>
              </a:solidFill>
              <a:latin typeface="DM Sans"/>
              <a:ea typeface="DM Sans"/>
              <a:cs typeface="DM Sans"/>
              <a:sym typeface="DM Sans"/>
            </a:endParaRPr>
          </a:p>
          <a:p>
            <a:pPr indent="0" lvl="0" marL="0" rtl="0" algn="l">
              <a:spcBef>
                <a:spcPts val="0"/>
              </a:spcBef>
              <a:spcAft>
                <a:spcPts val="0"/>
              </a:spcAft>
              <a:buNone/>
            </a:pPr>
            <a:r>
              <a:rPr b="1" lang="en" sz="2200">
                <a:solidFill>
                  <a:schemeClr val="dk1"/>
                </a:solidFill>
                <a:latin typeface="DM Sans"/>
                <a:ea typeface="DM Sans"/>
                <a:cs typeface="DM Sans"/>
                <a:sym typeface="DM Sans"/>
              </a:rPr>
              <a:t>Claims</a:t>
            </a:r>
            <a:r>
              <a:rPr lang="en" sz="2200">
                <a:solidFill>
                  <a:schemeClr val="dk1"/>
                </a:solidFill>
                <a:latin typeface="DM Sans"/>
                <a:ea typeface="DM Sans"/>
                <a:cs typeface="DM Sans"/>
                <a:sym typeface="DM Sans"/>
              </a:rPr>
              <a:t>: Specific statements or reasons that support the thesis.</a:t>
            </a:r>
            <a:endParaRPr sz="2200">
              <a:solidFill>
                <a:schemeClr val="dk1"/>
              </a:solidFill>
              <a:latin typeface="DM Sans"/>
              <a:ea typeface="DM Sans"/>
              <a:cs typeface="DM Sans"/>
              <a:sym typeface="DM Sans"/>
            </a:endParaRPr>
          </a:p>
          <a:p>
            <a:pPr indent="0" lvl="0" marL="0" rtl="0" algn="l">
              <a:spcBef>
                <a:spcPts val="0"/>
              </a:spcBef>
              <a:spcAft>
                <a:spcPts val="0"/>
              </a:spcAft>
              <a:buNone/>
            </a:pPr>
            <a:r>
              <a:rPr b="1" lang="en" sz="2200">
                <a:solidFill>
                  <a:schemeClr val="dk1"/>
                </a:solidFill>
                <a:latin typeface="DM Sans"/>
                <a:ea typeface="DM Sans"/>
                <a:cs typeface="DM Sans"/>
                <a:sym typeface="DM Sans"/>
              </a:rPr>
              <a:t>Evidence</a:t>
            </a:r>
            <a:r>
              <a:rPr lang="en" sz="2200">
                <a:solidFill>
                  <a:schemeClr val="dk1"/>
                </a:solidFill>
                <a:latin typeface="DM Sans"/>
                <a:ea typeface="DM Sans"/>
                <a:cs typeface="DM Sans"/>
                <a:sym typeface="DM Sans"/>
              </a:rPr>
              <a:t>: Facts, examples, statistics, or other information that support individual claims.</a:t>
            </a:r>
            <a:endParaRPr sz="2200">
              <a:solidFill>
                <a:schemeClr val="dk1"/>
              </a:solidFill>
              <a:latin typeface="DM Sans"/>
              <a:ea typeface="DM Sans"/>
              <a:cs typeface="DM Sans"/>
              <a:sym typeface="DM Sans"/>
            </a:endParaRPr>
          </a:p>
          <a:p>
            <a:pPr indent="0" lvl="0" marL="0" rtl="0" algn="l">
              <a:spcBef>
                <a:spcPts val="0"/>
              </a:spcBef>
              <a:spcAft>
                <a:spcPts val="0"/>
              </a:spcAft>
              <a:buNone/>
            </a:pPr>
            <a:r>
              <a:t/>
            </a:r>
            <a:endParaRPr sz="22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800"/>
                                        <p:tgtEl>
                                          <p:spTgt spid="185"/>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8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194" name="Shape 194"/>
        <p:cNvGrpSpPr/>
        <p:nvPr/>
      </p:nvGrpSpPr>
      <p:grpSpPr>
        <a:xfrm>
          <a:off x="0" y="0"/>
          <a:ext cx="0" cy="0"/>
          <a:chOff x="0" y="0"/>
          <a:chExt cx="0" cy="0"/>
        </a:xfrm>
      </p:grpSpPr>
      <p:sp>
        <p:nvSpPr>
          <p:cNvPr id="195" name="Google Shape;195;p21"/>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196" name="Google Shape;196;p21"/>
          <p:cNvSpPr txBox="1"/>
          <p:nvPr/>
        </p:nvSpPr>
        <p:spPr>
          <a:xfrm>
            <a:off x="228600" y="1445125"/>
            <a:ext cx="8686800" cy="2616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700">
                <a:latin typeface="DM Sans"/>
                <a:ea typeface="DM Sans"/>
                <a:cs typeface="DM Sans"/>
                <a:sym typeface="DM Sans"/>
              </a:rPr>
              <a:t>THESIS: Schools should provide students with more opportunities for outdoor learning.</a:t>
            </a:r>
            <a:endParaRPr sz="1700">
              <a:latin typeface="DM Sans"/>
              <a:ea typeface="DM Sans"/>
              <a:cs typeface="DM Sans"/>
              <a:sym typeface="DM Sans"/>
            </a:endParaRPr>
          </a:p>
        </p:txBody>
      </p:sp>
      <p:sp>
        <p:nvSpPr>
          <p:cNvPr id="197" name="Google Shape;197;p21"/>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1"/>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199" name="Google Shape;199;p21"/>
          <p:cNvSpPr txBox="1"/>
          <p:nvPr/>
        </p:nvSpPr>
        <p:spPr>
          <a:xfrm>
            <a:off x="1490400" y="290250"/>
            <a:ext cx="7425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000">
                <a:latin typeface="Merriweather"/>
                <a:ea typeface="Merriweather"/>
                <a:cs typeface="Merriweather"/>
                <a:sym typeface="Merriweather"/>
              </a:rPr>
              <a:t>Thesis vs. Claims vs. Evidence</a:t>
            </a:r>
            <a:endParaRPr sz="4000">
              <a:latin typeface="Merriweather"/>
              <a:ea typeface="Merriweather"/>
              <a:cs typeface="Merriweather"/>
              <a:sym typeface="Merriweather"/>
            </a:endParaRPr>
          </a:p>
        </p:txBody>
      </p:sp>
      <p:pic>
        <p:nvPicPr>
          <p:cNvPr id="200" name="Google Shape;200;p2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01" name="Google Shape;201;p21"/>
          <p:cNvSpPr txBox="1"/>
          <p:nvPr/>
        </p:nvSpPr>
        <p:spPr>
          <a:xfrm>
            <a:off x="2514600" y="1058650"/>
            <a:ext cx="4114800" cy="3387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200">
                <a:latin typeface="DM Sans"/>
                <a:ea typeface="DM Sans"/>
                <a:cs typeface="DM Sans"/>
                <a:sym typeface="DM Sans"/>
              </a:rPr>
              <a:t>How Arguments Are Structured</a:t>
            </a:r>
            <a:endParaRPr sz="2200">
              <a:latin typeface="DM Sans"/>
              <a:ea typeface="DM Sans"/>
              <a:cs typeface="DM Sans"/>
              <a:sym typeface="DM Sans"/>
            </a:endParaRPr>
          </a:p>
        </p:txBody>
      </p:sp>
      <p:sp>
        <p:nvSpPr>
          <p:cNvPr id="202" name="Google Shape;202;p21"/>
          <p:cNvSpPr txBox="1"/>
          <p:nvPr/>
        </p:nvSpPr>
        <p:spPr>
          <a:xfrm>
            <a:off x="228600" y="1859525"/>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800">
                <a:latin typeface="DM Sans"/>
                <a:ea typeface="DM Sans"/>
                <a:cs typeface="DM Sans"/>
                <a:sym typeface="DM Sans"/>
              </a:rPr>
              <a:t>Claim 1</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Outdoor learning improves students' concentration.</a:t>
            </a:r>
            <a:endParaRPr sz="1800">
              <a:latin typeface="DM Sans"/>
              <a:ea typeface="DM Sans"/>
              <a:cs typeface="DM Sans"/>
              <a:sym typeface="DM Sans"/>
            </a:endParaRPr>
          </a:p>
          <a:p>
            <a:pPr indent="0" lvl="0" marL="0" rtl="0" algn="l">
              <a:spcBef>
                <a:spcPts val="0"/>
              </a:spcBef>
              <a:spcAft>
                <a:spcPts val="0"/>
              </a:spcAft>
              <a:buNone/>
            </a:pPr>
            <a:r>
              <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Evidence 1</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A study found that students performed better on attention tests after outdoor lessons.</a:t>
            </a:r>
            <a:endParaRPr sz="1800">
              <a:latin typeface="DM Sans"/>
              <a:ea typeface="DM Sans"/>
              <a:cs typeface="DM Sans"/>
              <a:sym typeface="DM Sans"/>
            </a:endParaRPr>
          </a:p>
        </p:txBody>
      </p:sp>
      <p:sp>
        <p:nvSpPr>
          <p:cNvPr id="203" name="Google Shape;203;p21"/>
          <p:cNvSpPr txBox="1"/>
          <p:nvPr/>
        </p:nvSpPr>
        <p:spPr>
          <a:xfrm>
            <a:off x="4800600" y="1859525"/>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800">
                <a:solidFill>
                  <a:schemeClr val="dk1"/>
                </a:solidFill>
                <a:latin typeface="DM Sans"/>
                <a:ea typeface="DM Sans"/>
                <a:cs typeface="DM Sans"/>
                <a:sym typeface="DM Sans"/>
              </a:rPr>
              <a:t>Claim 2</a:t>
            </a:r>
            <a:endParaRPr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Outdoor learning encourages physical activity.</a:t>
            </a:r>
            <a:endParaRPr sz="1800">
              <a:solidFill>
                <a:schemeClr val="dk1"/>
              </a:solidFill>
              <a:latin typeface="DM Sans"/>
              <a:ea typeface="DM Sans"/>
              <a:cs typeface="DM Sans"/>
              <a:sym typeface="DM Sans"/>
            </a:endParaRPr>
          </a:p>
          <a:p>
            <a:pPr indent="0" lvl="0" marL="0" rtl="0" algn="l">
              <a:spcBef>
                <a:spcPts val="0"/>
              </a:spcBef>
              <a:spcAft>
                <a:spcPts val="0"/>
              </a:spcAft>
              <a:buNone/>
            </a:pPr>
            <a:r>
              <a:t/>
            </a:r>
            <a:endParaRPr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Evidence 2</a:t>
            </a:r>
            <a:endParaRPr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Students in outdoor classes spent more time walking and participating in active lessons.</a:t>
            </a:r>
            <a:endParaRPr sz="1800">
              <a:solidFill>
                <a:schemeClr val="dk1"/>
              </a:solidFill>
              <a:latin typeface="DM Sans"/>
              <a:ea typeface="DM Sans"/>
              <a:cs typeface="DM Sans"/>
              <a:sym typeface="DM Sans"/>
            </a:endParaRPr>
          </a:p>
        </p:txBody>
      </p:sp>
      <p:sp>
        <p:nvSpPr>
          <p:cNvPr id="204" name="Google Shape;204;p21"/>
          <p:cNvSpPr txBox="1"/>
          <p:nvPr/>
        </p:nvSpPr>
        <p:spPr>
          <a:xfrm>
            <a:off x="1290600" y="4075925"/>
            <a:ext cx="6562800" cy="231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500">
                <a:latin typeface="DM Sans"/>
                <a:ea typeface="DM Sans"/>
                <a:cs typeface="DM Sans"/>
                <a:sym typeface="DM Sans"/>
              </a:rPr>
              <a:t>Evidence supports claims, and claims work together to support the thesis.</a:t>
            </a:r>
            <a:endParaRPr sz="15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8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208" name="Shape 208"/>
        <p:cNvGrpSpPr/>
        <p:nvPr/>
      </p:nvGrpSpPr>
      <p:grpSpPr>
        <a:xfrm>
          <a:off x="0" y="0"/>
          <a:ext cx="0" cy="0"/>
          <a:chOff x="0" y="0"/>
          <a:chExt cx="0" cy="0"/>
        </a:xfrm>
      </p:grpSpPr>
      <p:sp>
        <p:nvSpPr>
          <p:cNvPr id="209" name="Google Shape;209;p22"/>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210" name="Google Shape;210;p22"/>
          <p:cNvSpPr txBox="1"/>
          <p:nvPr/>
        </p:nvSpPr>
        <p:spPr>
          <a:xfrm>
            <a:off x="228600" y="1261800"/>
            <a:ext cx="4114800" cy="2709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200">
                <a:latin typeface="DM Sans"/>
                <a:ea typeface="DM Sans"/>
                <a:cs typeface="DM Sans"/>
                <a:sym typeface="DM Sans"/>
              </a:rPr>
              <a:t>Authors develop their arguments by:</a:t>
            </a:r>
            <a:endParaRPr sz="2200">
              <a:latin typeface="DM Sans"/>
              <a:ea typeface="DM Sans"/>
              <a:cs typeface="DM Sans"/>
              <a:sym typeface="DM Sans"/>
            </a:endParaRPr>
          </a:p>
          <a:p>
            <a:pPr indent="0" lvl="0" marL="0" rtl="0" algn="l">
              <a:spcBef>
                <a:spcPts val="0"/>
              </a:spcBef>
              <a:spcAft>
                <a:spcPts val="0"/>
              </a:spcAft>
              <a:buNone/>
            </a:pPr>
            <a:r>
              <a:rPr lang="en" sz="2200">
                <a:latin typeface="DM Sans"/>
                <a:ea typeface="DM Sans"/>
                <a:cs typeface="DM Sans"/>
                <a:sym typeface="DM Sans"/>
              </a:rPr>
              <a:t>- </a:t>
            </a:r>
            <a:r>
              <a:rPr b="1" lang="en" sz="2200">
                <a:latin typeface="DM Sans"/>
                <a:ea typeface="DM Sans"/>
                <a:cs typeface="DM Sans"/>
                <a:sym typeface="DM Sans"/>
              </a:rPr>
              <a:t>Presenting a claim</a:t>
            </a:r>
            <a:r>
              <a:rPr lang="en" sz="2200">
                <a:latin typeface="DM Sans"/>
                <a:ea typeface="DM Sans"/>
                <a:cs typeface="DM Sans"/>
                <a:sym typeface="DM Sans"/>
              </a:rPr>
              <a:t>: Introducing a reason that supports their thesis.</a:t>
            </a:r>
            <a:endParaRPr sz="2200">
              <a:latin typeface="DM Sans"/>
              <a:ea typeface="DM Sans"/>
              <a:cs typeface="DM Sans"/>
              <a:sym typeface="DM Sans"/>
            </a:endParaRPr>
          </a:p>
          <a:p>
            <a:pPr indent="0" lvl="0" marL="0" rtl="0" algn="l">
              <a:spcBef>
                <a:spcPts val="0"/>
              </a:spcBef>
              <a:spcAft>
                <a:spcPts val="0"/>
              </a:spcAft>
              <a:buNone/>
            </a:pPr>
            <a:r>
              <a:rPr lang="en" sz="2200">
                <a:latin typeface="DM Sans"/>
                <a:ea typeface="DM Sans"/>
                <a:cs typeface="DM Sans"/>
                <a:sym typeface="DM Sans"/>
              </a:rPr>
              <a:t>- </a:t>
            </a:r>
            <a:r>
              <a:rPr b="1" lang="en" sz="2200">
                <a:latin typeface="DM Sans"/>
                <a:ea typeface="DM Sans"/>
                <a:cs typeface="DM Sans"/>
                <a:sym typeface="DM Sans"/>
              </a:rPr>
              <a:t>Providing examples</a:t>
            </a:r>
            <a:r>
              <a:rPr lang="en" sz="2200">
                <a:latin typeface="DM Sans"/>
                <a:ea typeface="DM Sans"/>
                <a:cs typeface="DM Sans"/>
                <a:sym typeface="DM Sans"/>
              </a:rPr>
              <a:t>: Using specific situations to illustrate an idea.</a:t>
            </a:r>
            <a:endParaRPr sz="2200">
              <a:latin typeface="DM Sans"/>
              <a:ea typeface="DM Sans"/>
              <a:cs typeface="DM Sans"/>
              <a:sym typeface="DM Sans"/>
            </a:endParaRPr>
          </a:p>
        </p:txBody>
      </p:sp>
      <p:sp>
        <p:nvSpPr>
          <p:cNvPr id="211" name="Google Shape;211;p22"/>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22"/>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13" name="Google Shape;213;p22"/>
          <p:cNvSpPr txBox="1"/>
          <p:nvPr/>
        </p:nvSpPr>
        <p:spPr>
          <a:xfrm>
            <a:off x="1490400" y="321000"/>
            <a:ext cx="7425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600">
                <a:latin typeface="Merriweather"/>
                <a:ea typeface="Merriweather"/>
                <a:cs typeface="Merriweather"/>
                <a:sym typeface="Merriweather"/>
              </a:rPr>
              <a:t>How Authors Develop Arguments</a:t>
            </a:r>
            <a:endParaRPr sz="3600">
              <a:latin typeface="Merriweather"/>
              <a:ea typeface="Merriweather"/>
              <a:cs typeface="Merriweather"/>
              <a:sym typeface="Merriweather"/>
            </a:endParaRPr>
          </a:p>
        </p:txBody>
      </p:sp>
      <p:pic>
        <p:nvPicPr>
          <p:cNvPr id="214" name="Google Shape;214;p2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15" name="Google Shape;215;p22"/>
          <p:cNvSpPr txBox="1"/>
          <p:nvPr/>
        </p:nvSpPr>
        <p:spPr>
          <a:xfrm>
            <a:off x="4800600" y="1261800"/>
            <a:ext cx="4114800" cy="29247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1900">
                <a:solidFill>
                  <a:schemeClr val="dk1"/>
                </a:solidFill>
                <a:latin typeface="DM Sans"/>
                <a:ea typeface="DM Sans"/>
                <a:cs typeface="DM Sans"/>
                <a:sym typeface="DM Sans"/>
              </a:rPr>
              <a:t>- </a:t>
            </a:r>
            <a:r>
              <a:rPr b="1" lang="en" sz="1900">
                <a:solidFill>
                  <a:schemeClr val="dk1"/>
                </a:solidFill>
                <a:latin typeface="DM Sans"/>
                <a:ea typeface="DM Sans"/>
                <a:cs typeface="DM Sans"/>
                <a:sym typeface="DM Sans"/>
              </a:rPr>
              <a:t>Using facts or statistics:</a:t>
            </a:r>
            <a:r>
              <a:rPr lang="en" sz="1900">
                <a:solidFill>
                  <a:schemeClr val="dk1"/>
                </a:solidFill>
                <a:latin typeface="DM Sans"/>
                <a:ea typeface="DM Sans"/>
                <a:cs typeface="DM Sans"/>
                <a:sym typeface="DM Sans"/>
              </a:rPr>
              <a:t> Presenting measurable information.</a:t>
            </a:r>
            <a:endParaRPr sz="19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1900">
                <a:solidFill>
                  <a:schemeClr val="dk1"/>
                </a:solidFill>
                <a:latin typeface="DM Sans"/>
                <a:ea typeface="DM Sans"/>
                <a:cs typeface="DM Sans"/>
                <a:sym typeface="DM Sans"/>
              </a:rPr>
              <a:t>- </a:t>
            </a:r>
            <a:r>
              <a:rPr b="1" lang="en" sz="1900">
                <a:solidFill>
                  <a:schemeClr val="dk1"/>
                </a:solidFill>
                <a:latin typeface="DM Sans"/>
                <a:ea typeface="DM Sans"/>
                <a:cs typeface="DM Sans"/>
                <a:sym typeface="DM Sans"/>
              </a:rPr>
              <a:t>Explaining cause and effect</a:t>
            </a:r>
            <a:r>
              <a:rPr lang="en" sz="1900">
                <a:solidFill>
                  <a:schemeClr val="dk1"/>
                </a:solidFill>
                <a:latin typeface="DM Sans"/>
                <a:ea typeface="DM Sans"/>
                <a:cs typeface="DM Sans"/>
                <a:sym typeface="DM Sans"/>
              </a:rPr>
              <a:t>: Showing how one action leads to a particular result.</a:t>
            </a:r>
            <a:endParaRPr sz="19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1900">
                <a:solidFill>
                  <a:schemeClr val="dk1"/>
                </a:solidFill>
                <a:latin typeface="DM Sans"/>
                <a:ea typeface="DM Sans"/>
                <a:cs typeface="DM Sans"/>
                <a:sym typeface="DM Sans"/>
              </a:rPr>
              <a:t>- </a:t>
            </a:r>
            <a:r>
              <a:rPr b="1" lang="en" sz="1900">
                <a:solidFill>
                  <a:schemeClr val="dk1"/>
                </a:solidFill>
                <a:latin typeface="DM Sans"/>
                <a:ea typeface="DM Sans"/>
                <a:cs typeface="DM Sans"/>
                <a:sym typeface="DM Sans"/>
              </a:rPr>
              <a:t>Addressing counterarguments</a:t>
            </a:r>
            <a:r>
              <a:rPr lang="en" sz="1900">
                <a:solidFill>
                  <a:schemeClr val="dk1"/>
                </a:solidFill>
                <a:latin typeface="DM Sans"/>
                <a:ea typeface="DM Sans"/>
                <a:cs typeface="DM Sans"/>
                <a:sym typeface="DM Sans"/>
              </a:rPr>
              <a:t>: Recognizing and responding to opposing viewpoints.</a:t>
            </a:r>
            <a:endParaRPr sz="19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1900">
                <a:solidFill>
                  <a:schemeClr val="dk1"/>
                </a:solidFill>
                <a:latin typeface="DM Sans"/>
                <a:ea typeface="DM Sans"/>
                <a:cs typeface="DM Sans"/>
                <a:sym typeface="DM Sans"/>
              </a:rPr>
              <a:t>- </a:t>
            </a:r>
            <a:r>
              <a:rPr b="1" lang="en" sz="1900">
                <a:solidFill>
                  <a:schemeClr val="dk1"/>
                </a:solidFill>
                <a:latin typeface="DM Sans"/>
                <a:ea typeface="DM Sans"/>
                <a:cs typeface="DM Sans"/>
                <a:sym typeface="DM Sans"/>
              </a:rPr>
              <a:t>Drawing conclusions</a:t>
            </a:r>
            <a:r>
              <a:rPr lang="en" sz="1900">
                <a:solidFill>
                  <a:schemeClr val="dk1"/>
                </a:solidFill>
                <a:latin typeface="DM Sans"/>
                <a:ea typeface="DM Sans"/>
                <a:cs typeface="DM Sans"/>
                <a:sym typeface="DM Sans"/>
              </a:rPr>
              <a:t>: Connecting evidence back to the overall thesis.</a:t>
            </a:r>
            <a:endParaRPr sz="1900">
              <a:solidFill>
                <a:schemeClr val="dk1"/>
              </a:solidFill>
              <a:latin typeface="DM Sans"/>
              <a:ea typeface="DM Sans"/>
              <a:cs typeface="DM Sans"/>
              <a:sym typeface="DM Sans"/>
            </a:endParaRPr>
          </a:p>
        </p:txBody>
      </p:sp>
      <p:sp>
        <p:nvSpPr>
          <p:cNvPr id="216" name="Google Shape;216;p22"/>
          <p:cNvSpPr txBox="1"/>
          <p:nvPr/>
        </p:nvSpPr>
        <p:spPr>
          <a:xfrm>
            <a:off x="228600" y="4075925"/>
            <a:ext cx="4343400" cy="461700"/>
          </a:xfrm>
          <a:prstGeom prst="rect">
            <a:avLst/>
          </a:prstGeom>
          <a:solidFill>
            <a:srgbClr val="FEF9DE"/>
          </a:solid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500">
                <a:latin typeface="DM Sans"/>
                <a:ea typeface="DM Sans"/>
                <a:cs typeface="DM Sans"/>
                <a:sym typeface="DM Sans"/>
              </a:rPr>
              <a:t>SHSAT Tip: Pay attention to how each paragraph contributes to the author's overall argument.</a:t>
            </a:r>
            <a:endParaRPr sz="15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800"/>
                                        <p:tgtEl>
                                          <p:spTgt spid="210"/>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8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220" name="Shape 220"/>
        <p:cNvGrpSpPr/>
        <p:nvPr/>
      </p:nvGrpSpPr>
      <p:grpSpPr>
        <a:xfrm>
          <a:off x="0" y="0"/>
          <a:ext cx="0" cy="0"/>
          <a:chOff x="0" y="0"/>
          <a:chExt cx="0" cy="0"/>
        </a:xfrm>
      </p:grpSpPr>
      <p:sp>
        <p:nvSpPr>
          <p:cNvPr id="221" name="Google Shape;221;p23"/>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222" name="Google Shape;222;p23"/>
          <p:cNvSpPr txBox="1"/>
          <p:nvPr/>
        </p:nvSpPr>
        <p:spPr>
          <a:xfrm>
            <a:off x="228600" y="1111188"/>
            <a:ext cx="8686800" cy="2047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457200" lvl="0" marL="0" rtl="0" algn="l">
              <a:spcBef>
                <a:spcPts val="0"/>
              </a:spcBef>
              <a:spcAft>
                <a:spcPts val="0"/>
              </a:spcAft>
              <a:buNone/>
            </a:pPr>
            <a:r>
              <a:rPr lang="en" sz="1900">
                <a:latin typeface="DM Sans"/>
                <a:ea typeface="DM Sans"/>
                <a:cs typeface="DM Sans"/>
                <a:sym typeface="DM Sans"/>
              </a:rPr>
              <a:t>           Many schools are considering starting classes later in the morning. Supporters argue that later start times would help students get more sleep and improve their academic performance. In one school district, students reported sleeping an average of 35 minutes longer after the district delayed its school start time. Teachers also reported that fewer students appeared tired during morning classes. These observations suggest that later start times may improve students' readiness to learn.</a:t>
            </a:r>
            <a:endParaRPr sz="1900">
              <a:latin typeface="DM Sans"/>
              <a:ea typeface="DM Sans"/>
              <a:cs typeface="DM Sans"/>
              <a:sym typeface="DM Sans"/>
            </a:endParaRPr>
          </a:p>
        </p:txBody>
      </p:sp>
      <p:sp>
        <p:nvSpPr>
          <p:cNvPr id="223" name="Google Shape;223;p23"/>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3"/>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25" name="Google Shape;225;p23"/>
          <p:cNvSpPr txBox="1"/>
          <p:nvPr/>
        </p:nvSpPr>
        <p:spPr>
          <a:xfrm>
            <a:off x="1490400" y="359400"/>
            <a:ext cx="7425000" cy="477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100">
                <a:latin typeface="Merriweather"/>
                <a:ea typeface="Merriweather"/>
                <a:cs typeface="Merriweather"/>
                <a:sym typeface="Merriweather"/>
              </a:rPr>
              <a:t>Guided Practice: Identify the Argument</a:t>
            </a:r>
            <a:endParaRPr sz="3100">
              <a:latin typeface="Merriweather"/>
              <a:ea typeface="Merriweather"/>
              <a:cs typeface="Merriweather"/>
              <a:sym typeface="Merriweather"/>
            </a:endParaRPr>
          </a:p>
        </p:txBody>
      </p:sp>
      <p:pic>
        <p:nvPicPr>
          <p:cNvPr id="226" name="Google Shape;226;p2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27" name="Google Shape;227;p23"/>
          <p:cNvSpPr txBox="1"/>
          <p:nvPr/>
        </p:nvSpPr>
        <p:spPr>
          <a:xfrm>
            <a:off x="1728750" y="3231575"/>
            <a:ext cx="5686500" cy="923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What is the author's main thesis?</a:t>
            </a:r>
            <a:endParaRPr sz="1500">
              <a:solidFill>
                <a:schemeClr val="dk1"/>
              </a:solidFill>
              <a:latin typeface="DM Sans"/>
              <a:ea typeface="DM Sans"/>
              <a:cs typeface="DM Sans"/>
              <a:sym typeface="DM Sans"/>
            </a:endParaRPr>
          </a:p>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Identify two claims or supporting reasons.</a:t>
            </a:r>
            <a:endParaRPr sz="1500">
              <a:solidFill>
                <a:schemeClr val="dk1"/>
              </a:solidFill>
              <a:latin typeface="DM Sans"/>
              <a:ea typeface="DM Sans"/>
              <a:cs typeface="DM Sans"/>
              <a:sym typeface="DM Sans"/>
            </a:endParaRPr>
          </a:p>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What evidence supports the argument?</a:t>
            </a:r>
            <a:endParaRPr sz="1500">
              <a:solidFill>
                <a:schemeClr val="dk1"/>
              </a:solidFill>
              <a:latin typeface="DM Sans"/>
              <a:ea typeface="DM Sans"/>
              <a:cs typeface="DM Sans"/>
              <a:sym typeface="DM Sans"/>
            </a:endParaRPr>
          </a:p>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How does the author connect the evidence to the thesis?</a:t>
            </a:r>
            <a:endParaRPr sz="15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800"/>
                                        <p:tgtEl>
                                          <p:spTgt spid="222"/>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8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231" name="Shape 231"/>
        <p:cNvGrpSpPr/>
        <p:nvPr/>
      </p:nvGrpSpPr>
      <p:grpSpPr>
        <a:xfrm>
          <a:off x="0" y="0"/>
          <a:ext cx="0" cy="0"/>
          <a:chOff x="0" y="0"/>
          <a:chExt cx="0" cy="0"/>
        </a:xfrm>
      </p:grpSpPr>
      <p:sp>
        <p:nvSpPr>
          <p:cNvPr id="232" name="Google Shape;232;p24"/>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233" name="Google Shape;233;p24"/>
          <p:cNvSpPr txBox="1"/>
          <p:nvPr/>
        </p:nvSpPr>
        <p:spPr>
          <a:xfrm>
            <a:off x="457200" y="1490400"/>
            <a:ext cx="4114800" cy="27705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000">
                <a:latin typeface="DM Sans"/>
                <a:ea typeface="DM Sans"/>
                <a:cs typeface="DM Sans"/>
                <a:sym typeface="DM Sans"/>
              </a:rPr>
              <a:t>Evidence must satisfy TWO important requirements:</a:t>
            </a:r>
            <a:endParaRPr sz="200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n" sz="2000">
                <a:solidFill>
                  <a:schemeClr val="dk1"/>
                </a:solidFill>
                <a:latin typeface="DM Sans"/>
                <a:ea typeface="DM Sans"/>
                <a:cs typeface="DM Sans"/>
                <a:sym typeface="DM Sans"/>
              </a:rPr>
              <a:t>Relevant Evidence</a:t>
            </a:r>
            <a:r>
              <a:rPr lang="en" sz="2000">
                <a:solidFill>
                  <a:schemeClr val="dk1"/>
                </a:solidFill>
                <a:latin typeface="DM Sans"/>
                <a:ea typeface="DM Sans"/>
                <a:cs typeface="DM Sans"/>
                <a:sym typeface="DM Sans"/>
              </a:rPr>
              <a:t>: Information that directly relates to and supports a specific claim.</a:t>
            </a:r>
            <a:endParaRPr sz="20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n" sz="2000">
                <a:solidFill>
                  <a:schemeClr val="dk1"/>
                </a:solidFill>
                <a:latin typeface="DM Sans"/>
                <a:ea typeface="DM Sans"/>
                <a:cs typeface="DM Sans"/>
                <a:sym typeface="DM Sans"/>
              </a:rPr>
              <a:t>Sufficient Evidence</a:t>
            </a:r>
            <a:r>
              <a:rPr lang="en" sz="2000">
                <a:solidFill>
                  <a:schemeClr val="dk1"/>
                </a:solidFill>
                <a:latin typeface="DM Sans"/>
                <a:ea typeface="DM Sans"/>
                <a:cs typeface="DM Sans"/>
                <a:sym typeface="DM Sans"/>
              </a:rPr>
              <a:t>: Enough convincing information to reasonably support the claim.</a:t>
            </a:r>
            <a:endParaRPr sz="2000">
              <a:solidFill>
                <a:schemeClr val="dk1"/>
              </a:solidFill>
              <a:latin typeface="DM Sans"/>
              <a:ea typeface="DM Sans"/>
              <a:cs typeface="DM Sans"/>
              <a:sym typeface="DM Sans"/>
            </a:endParaRPr>
          </a:p>
          <a:p>
            <a:pPr indent="0" lvl="0" marL="0" rtl="0" algn="l">
              <a:spcBef>
                <a:spcPts val="0"/>
              </a:spcBef>
              <a:spcAft>
                <a:spcPts val="0"/>
              </a:spcAft>
              <a:buNone/>
            </a:pPr>
            <a:r>
              <a:t/>
            </a:r>
            <a:endParaRPr sz="2000">
              <a:latin typeface="DM Sans"/>
              <a:ea typeface="DM Sans"/>
              <a:cs typeface="DM Sans"/>
              <a:sym typeface="DM Sans"/>
            </a:endParaRPr>
          </a:p>
        </p:txBody>
      </p:sp>
      <p:sp>
        <p:nvSpPr>
          <p:cNvPr id="234" name="Google Shape;234;p24"/>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24"/>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36" name="Google Shape;236;p24"/>
          <p:cNvSpPr txBox="1"/>
          <p:nvPr/>
        </p:nvSpPr>
        <p:spPr>
          <a:xfrm>
            <a:off x="1490400" y="313350"/>
            <a:ext cx="7425000" cy="569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700">
                <a:latin typeface="Merriweather"/>
                <a:ea typeface="Merriweather"/>
                <a:cs typeface="Merriweather"/>
                <a:sym typeface="Merriweather"/>
              </a:rPr>
              <a:t>Relevant and Sufficient Evidence</a:t>
            </a:r>
            <a:endParaRPr sz="3700">
              <a:latin typeface="Merriweather"/>
              <a:ea typeface="Merriweather"/>
              <a:cs typeface="Merriweather"/>
              <a:sym typeface="Merriweather"/>
            </a:endParaRPr>
          </a:p>
        </p:txBody>
      </p:sp>
      <p:pic>
        <p:nvPicPr>
          <p:cNvPr id="237" name="Google Shape;237;p2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38" name="Google Shape;238;p24"/>
          <p:cNvSpPr txBox="1"/>
          <p:nvPr/>
        </p:nvSpPr>
        <p:spPr>
          <a:xfrm>
            <a:off x="4800600" y="1490400"/>
            <a:ext cx="4114800" cy="25089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000">
                <a:solidFill>
                  <a:schemeClr val="dk1"/>
                </a:solidFill>
                <a:latin typeface="DM Sans"/>
                <a:ea typeface="DM Sans"/>
                <a:cs typeface="DM Sans"/>
                <a:sym typeface="DM Sans"/>
              </a:rPr>
              <a:t>Important Distinction</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Relevant evidence answers: "Does this information actually support the claim?"</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Sufficient evidence answers: "Is there enough evidence to justify the claim?"</a:t>
            </a:r>
            <a:endParaRPr sz="2000">
              <a:solidFill>
                <a:schemeClr val="dk1"/>
              </a:solidFill>
              <a:latin typeface="DM Sans"/>
              <a:ea typeface="DM Sans"/>
              <a:cs typeface="DM Sans"/>
              <a:sym typeface="DM Sans"/>
            </a:endParaRPr>
          </a:p>
          <a:p>
            <a:pPr indent="0" lvl="0" marL="0" rtl="0" algn="l">
              <a:spcBef>
                <a:spcPts val="0"/>
              </a:spcBef>
              <a:spcAft>
                <a:spcPts val="0"/>
              </a:spcAft>
              <a:buNone/>
            </a:pPr>
            <a:r>
              <a:t/>
            </a:r>
            <a:endParaRPr sz="900">
              <a:solidFill>
                <a:schemeClr val="dk1"/>
              </a:solidFill>
              <a:latin typeface="DM Sans"/>
              <a:ea typeface="DM Sans"/>
              <a:cs typeface="DM Sans"/>
              <a:sym typeface="DM Sans"/>
            </a:endParaRPr>
          </a:p>
          <a:p>
            <a:pPr indent="0" lvl="0" marL="0" rtl="0" algn="l">
              <a:spcBef>
                <a:spcPts val="0"/>
              </a:spcBef>
              <a:spcAft>
                <a:spcPts val="0"/>
              </a:spcAft>
              <a:buNone/>
            </a:pPr>
            <a:r>
              <a:rPr lang="en">
                <a:solidFill>
                  <a:schemeClr val="dk1"/>
                </a:solidFill>
                <a:latin typeface="DM Sans"/>
                <a:ea typeface="DM Sans"/>
                <a:cs typeface="DM Sans"/>
                <a:sym typeface="DM Sans"/>
              </a:rPr>
              <a:t>Evidence can be relevant without being sufficient.</a:t>
            </a:r>
            <a:endParaRPr>
              <a:solidFill>
                <a:schemeClr val="dk1"/>
              </a:solidFill>
              <a:latin typeface="DM Sans"/>
              <a:ea typeface="DM Sans"/>
              <a:cs typeface="DM Sans"/>
              <a:sym typeface="DM Sans"/>
            </a:endParaRPr>
          </a:p>
        </p:txBody>
      </p:sp>
      <p:sp>
        <p:nvSpPr>
          <p:cNvPr id="239" name="Google Shape;239;p24"/>
          <p:cNvSpPr txBox="1"/>
          <p:nvPr/>
        </p:nvSpPr>
        <p:spPr>
          <a:xfrm>
            <a:off x="311400" y="4075925"/>
            <a:ext cx="8604000" cy="369300"/>
          </a:xfrm>
          <a:prstGeom prst="rect">
            <a:avLst/>
          </a:prstGeom>
          <a:solidFill>
            <a:srgbClr val="FEF9DE"/>
          </a:solid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200">
                <a:latin typeface="DM Sans"/>
                <a:ea typeface="DM Sans"/>
                <a:cs typeface="DM Sans"/>
                <a:sym typeface="DM Sans"/>
              </a:rPr>
              <a:t>Evaluate whether the AUTHOR provides enough evidence for the AUTHOR'S claim, not just whether the evidence sounds interesting or believable.</a:t>
            </a:r>
            <a:endParaRPr sz="12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800"/>
                                        <p:tgtEl>
                                          <p:spTgt spid="233"/>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8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243" name="Shape 243"/>
        <p:cNvGrpSpPr/>
        <p:nvPr/>
      </p:nvGrpSpPr>
      <p:grpSpPr>
        <a:xfrm>
          <a:off x="0" y="0"/>
          <a:ext cx="0" cy="0"/>
          <a:chOff x="0" y="0"/>
          <a:chExt cx="0" cy="0"/>
        </a:xfrm>
      </p:grpSpPr>
      <p:sp>
        <p:nvSpPr>
          <p:cNvPr id="244" name="Google Shape;244;p25"/>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245" name="Google Shape;245;p25"/>
          <p:cNvSpPr txBox="1"/>
          <p:nvPr/>
        </p:nvSpPr>
        <p:spPr>
          <a:xfrm>
            <a:off x="228600" y="1202774"/>
            <a:ext cx="8686800" cy="2047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457200" lvl="0" marL="0" rtl="0" algn="l">
              <a:spcBef>
                <a:spcPts val="0"/>
              </a:spcBef>
              <a:spcAft>
                <a:spcPts val="0"/>
              </a:spcAft>
              <a:buNone/>
            </a:pPr>
            <a:r>
              <a:rPr lang="en" sz="1900">
                <a:latin typeface="DM Sans"/>
                <a:ea typeface="DM Sans"/>
                <a:cs typeface="DM Sans"/>
                <a:sym typeface="DM Sans"/>
              </a:rPr>
              <a:t>         Claim: School libraries improve students' reading skills.</a:t>
            </a:r>
            <a:endParaRPr sz="1900">
              <a:latin typeface="DM Sans"/>
              <a:ea typeface="DM Sans"/>
              <a:cs typeface="DM Sans"/>
              <a:sym typeface="DM Sans"/>
            </a:endParaRPr>
          </a:p>
          <a:p>
            <a:pPr indent="0" lvl="0" marL="0" rtl="0" algn="l">
              <a:spcBef>
                <a:spcPts val="0"/>
              </a:spcBef>
              <a:spcAft>
                <a:spcPts val="0"/>
              </a:spcAft>
              <a:buNone/>
            </a:pPr>
            <a:r>
              <a:rPr b="1" lang="en" sz="1900">
                <a:latin typeface="DM Sans"/>
                <a:ea typeface="DM Sans"/>
                <a:cs typeface="DM Sans"/>
                <a:sym typeface="DM Sans"/>
              </a:rPr>
              <a:t>Evidence A</a:t>
            </a:r>
            <a:r>
              <a:rPr lang="en" sz="1900">
                <a:latin typeface="DM Sans"/>
                <a:ea typeface="DM Sans"/>
                <a:cs typeface="DM Sans"/>
                <a:sym typeface="DM Sans"/>
              </a:rPr>
              <a:t>: Students who regularly borrowed books from the school library showed improvement on reading assessments.</a:t>
            </a:r>
            <a:endParaRPr sz="1900">
              <a:latin typeface="DM Sans"/>
              <a:ea typeface="DM Sans"/>
              <a:cs typeface="DM Sans"/>
              <a:sym typeface="DM Sans"/>
            </a:endParaRPr>
          </a:p>
          <a:p>
            <a:pPr indent="0" lvl="0" marL="0" rtl="0" algn="l">
              <a:spcBef>
                <a:spcPts val="0"/>
              </a:spcBef>
              <a:spcAft>
                <a:spcPts val="0"/>
              </a:spcAft>
              <a:buNone/>
            </a:pPr>
            <a:r>
              <a:rPr b="1" lang="en" sz="1900">
                <a:latin typeface="DM Sans"/>
                <a:ea typeface="DM Sans"/>
                <a:cs typeface="DM Sans"/>
                <a:sym typeface="DM Sans"/>
              </a:rPr>
              <a:t>Evidence B</a:t>
            </a:r>
            <a:r>
              <a:rPr lang="en" sz="1900">
                <a:latin typeface="DM Sans"/>
                <a:ea typeface="DM Sans"/>
                <a:cs typeface="DM Sans"/>
                <a:sym typeface="DM Sans"/>
              </a:rPr>
              <a:t>: The school library recently purchased new furniture and painted its walls.</a:t>
            </a:r>
            <a:endParaRPr sz="1900">
              <a:latin typeface="DM Sans"/>
              <a:ea typeface="DM Sans"/>
              <a:cs typeface="DM Sans"/>
              <a:sym typeface="DM Sans"/>
            </a:endParaRPr>
          </a:p>
          <a:p>
            <a:pPr indent="0" lvl="0" marL="0" rtl="0" algn="l">
              <a:spcBef>
                <a:spcPts val="0"/>
              </a:spcBef>
              <a:spcAft>
                <a:spcPts val="0"/>
              </a:spcAft>
              <a:buNone/>
            </a:pPr>
            <a:r>
              <a:rPr b="1" lang="en" sz="1900">
                <a:latin typeface="DM Sans"/>
                <a:ea typeface="DM Sans"/>
                <a:cs typeface="DM Sans"/>
                <a:sym typeface="DM Sans"/>
              </a:rPr>
              <a:t>Evidence C</a:t>
            </a:r>
            <a:r>
              <a:rPr lang="en" sz="1900">
                <a:latin typeface="DM Sans"/>
                <a:ea typeface="DM Sans"/>
                <a:cs typeface="DM Sans"/>
                <a:sym typeface="DM Sans"/>
              </a:rPr>
              <a:t>: Students who participated in library reading programs demonstrated measurable growth in vocabulary.</a:t>
            </a:r>
            <a:endParaRPr sz="1900">
              <a:latin typeface="DM Sans"/>
              <a:ea typeface="DM Sans"/>
              <a:cs typeface="DM Sans"/>
              <a:sym typeface="DM Sans"/>
            </a:endParaRPr>
          </a:p>
        </p:txBody>
      </p:sp>
      <p:sp>
        <p:nvSpPr>
          <p:cNvPr id="246" name="Google Shape;246;p25"/>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5"/>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48" name="Google Shape;248;p25"/>
          <p:cNvSpPr txBox="1"/>
          <p:nvPr/>
        </p:nvSpPr>
        <p:spPr>
          <a:xfrm>
            <a:off x="1490400" y="359400"/>
            <a:ext cx="7425000" cy="477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100">
                <a:latin typeface="Merriweather"/>
                <a:ea typeface="Merriweather"/>
                <a:cs typeface="Merriweather"/>
                <a:sym typeface="Merriweather"/>
              </a:rPr>
              <a:t>Relevant vs. Irrelevant Evidence</a:t>
            </a:r>
            <a:endParaRPr sz="3100">
              <a:latin typeface="Merriweather"/>
              <a:ea typeface="Merriweather"/>
              <a:cs typeface="Merriweather"/>
              <a:sym typeface="Merriweather"/>
            </a:endParaRPr>
          </a:p>
        </p:txBody>
      </p:sp>
      <p:pic>
        <p:nvPicPr>
          <p:cNvPr id="249" name="Google Shape;249;p2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50" name="Google Shape;250;p25"/>
          <p:cNvSpPr txBox="1"/>
          <p:nvPr/>
        </p:nvSpPr>
        <p:spPr>
          <a:xfrm>
            <a:off x="1055100" y="3341313"/>
            <a:ext cx="7033800" cy="6927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500">
                <a:solidFill>
                  <a:schemeClr val="dk1"/>
                </a:solidFill>
                <a:latin typeface="DM Sans"/>
                <a:ea typeface="DM Sans"/>
                <a:cs typeface="DM Sans"/>
                <a:sym typeface="DM Sans"/>
              </a:rPr>
              <a:t>Which evidence directly supports the claim?</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Which evidence is related to libraries but does not support the claim?</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Why is mentioning the same topic not enough to make evidence relevant?</a:t>
            </a:r>
            <a:endParaRPr sz="15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800"/>
                                        <p:tgtEl>
                                          <p:spTgt spid="245"/>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8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254" name="Shape 254"/>
        <p:cNvGrpSpPr/>
        <p:nvPr/>
      </p:nvGrpSpPr>
      <p:grpSpPr>
        <a:xfrm>
          <a:off x="0" y="0"/>
          <a:ext cx="0" cy="0"/>
          <a:chOff x="0" y="0"/>
          <a:chExt cx="0" cy="0"/>
        </a:xfrm>
      </p:grpSpPr>
      <p:sp>
        <p:nvSpPr>
          <p:cNvPr id="255" name="Google Shape;255;p26"/>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256" name="Google Shape;256;p26"/>
          <p:cNvSpPr txBox="1"/>
          <p:nvPr/>
        </p:nvSpPr>
        <p:spPr>
          <a:xfrm>
            <a:off x="228600" y="1202774"/>
            <a:ext cx="8686800" cy="2047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457200" lvl="0" marL="0" rtl="0" algn="l">
              <a:spcBef>
                <a:spcPts val="0"/>
              </a:spcBef>
              <a:spcAft>
                <a:spcPts val="0"/>
              </a:spcAft>
              <a:buNone/>
            </a:pPr>
            <a:r>
              <a:rPr b="1" lang="en" sz="1900">
                <a:latin typeface="DM Sans"/>
                <a:ea typeface="DM Sans"/>
                <a:cs typeface="DM Sans"/>
                <a:sym typeface="DM Sans"/>
              </a:rPr>
              <a:t>          Claim</a:t>
            </a:r>
            <a:r>
              <a:rPr lang="en" sz="1900">
                <a:latin typeface="DM Sans"/>
                <a:ea typeface="DM Sans"/>
                <a:cs typeface="DM Sans"/>
                <a:sym typeface="DM Sans"/>
              </a:rPr>
              <a:t>: A new after-school tutoring program improves mathematics achievement for all students.</a:t>
            </a:r>
            <a:endParaRPr sz="1900">
              <a:latin typeface="DM Sans"/>
              <a:ea typeface="DM Sans"/>
              <a:cs typeface="DM Sans"/>
              <a:sym typeface="DM Sans"/>
            </a:endParaRPr>
          </a:p>
          <a:p>
            <a:pPr indent="0" lvl="0" marL="0" rtl="0" algn="l">
              <a:spcBef>
                <a:spcPts val="0"/>
              </a:spcBef>
              <a:spcAft>
                <a:spcPts val="0"/>
              </a:spcAft>
              <a:buNone/>
            </a:pPr>
            <a:r>
              <a:rPr b="1" lang="en" sz="1900">
                <a:latin typeface="DM Sans"/>
                <a:ea typeface="DM Sans"/>
                <a:cs typeface="DM Sans"/>
                <a:sym typeface="DM Sans"/>
              </a:rPr>
              <a:t>Evidence A</a:t>
            </a:r>
            <a:r>
              <a:rPr lang="en" sz="1900">
                <a:latin typeface="DM Sans"/>
                <a:ea typeface="DM Sans"/>
                <a:cs typeface="DM Sans"/>
                <a:sym typeface="DM Sans"/>
              </a:rPr>
              <a:t>: One student improved their mathematics score after attending tutoring.</a:t>
            </a:r>
            <a:endParaRPr sz="1900">
              <a:latin typeface="DM Sans"/>
              <a:ea typeface="DM Sans"/>
              <a:cs typeface="DM Sans"/>
              <a:sym typeface="DM Sans"/>
            </a:endParaRPr>
          </a:p>
          <a:p>
            <a:pPr indent="0" lvl="0" marL="0" rtl="0" algn="l">
              <a:spcBef>
                <a:spcPts val="0"/>
              </a:spcBef>
              <a:spcAft>
                <a:spcPts val="0"/>
              </a:spcAft>
              <a:buNone/>
            </a:pPr>
            <a:r>
              <a:rPr b="1" lang="en" sz="1900">
                <a:latin typeface="DM Sans"/>
                <a:ea typeface="DM Sans"/>
                <a:cs typeface="DM Sans"/>
                <a:sym typeface="DM Sans"/>
              </a:rPr>
              <a:t>Evidence B</a:t>
            </a:r>
            <a:r>
              <a:rPr lang="en" sz="1900">
                <a:latin typeface="DM Sans"/>
                <a:ea typeface="DM Sans"/>
                <a:cs typeface="DM Sans"/>
                <a:sym typeface="DM Sans"/>
              </a:rPr>
              <a:t>: Among 200 participants, average mathematics scores increased after three months of tutoring.</a:t>
            </a:r>
            <a:endParaRPr sz="1900">
              <a:latin typeface="DM Sans"/>
              <a:ea typeface="DM Sans"/>
              <a:cs typeface="DM Sans"/>
              <a:sym typeface="DM Sans"/>
            </a:endParaRPr>
          </a:p>
          <a:p>
            <a:pPr indent="0" lvl="0" marL="0" rtl="0" algn="l">
              <a:spcBef>
                <a:spcPts val="0"/>
              </a:spcBef>
              <a:spcAft>
                <a:spcPts val="0"/>
              </a:spcAft>
              <a:buNone/>
            </a:pPr>
            <a:r>
              <a:rPr b="1" lang="en" sz="1900">
                <a:latin typeface="DM Sans"/>
                <a:ea typeface="DM Sans"/>
                <a:cs typeface="DM Sans"/>
                <a:sym typeface="DM Sans"/>
              </a:rPr>
              <a:t>Evidence C</a:t>
            </a:r>
            <a:r>
              <a:rPr lang="en" sz="1900">
                <a:latin typeface="DM Sans"/>
                <a:ea typeface="DM Sans"/>
                <a:cs typeface="DM Sans"/>
                <a:sym typeface="DM Sans"/>
              </a:rPr>
              <a:t>: Students reported that the tutoring sessions were enjoyable.</a:t>
            </a:r>
            <a:endParaRPr sz="1900">
              <a:latin typeface="DM Sans"/>
              <a:ea typeface="DM Sans"/>
              <a:cs typeface="DM Sans"/>
              <a:sym typeface="DM Sans"/>
            </a:endParaRPr>
          </a:p>
        </p:txBody>
      </p:sp>
      <p:sp>
        <p:nvSpPr>
          <p:cNvPr id="257" name="Google Shape;257;p26"/>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26"/>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59" name="Google Shape;259;p26"/>
          <p:cNvSpPr txBox="1"/>
          <p:nvPr/>
        </p:nvSpPr>
        <p:spPr>
          <a:xfrm>
            <a:off x="1490400" y="359400"/>
            <a:ext cx="7425000" cy="477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100">
                <a:latin typeface="Merriweather"/>
                <a:ea typeface="Merriweather"/>
                <a:cs typeface="Merriweather"/>
                <a:sym typeface="Merriweather"/>
              </a:rPr>
              <a:t>Sufficient vs. Insufficient Evidence</a:t>
            </a:r>
            <a:endParaRPr sz="3100">
              <a:latin typeface="Merriweather"/>
              <a:ea typeface="Merriweather"/>
              <a:cs typeface="Merriweather"/>
              <a:sym typeface="Merriweather"/>
            </a:endParaRPr>
          </a:p>
        </p:txBody>
      </p:sp>
      <p:pic>
        <p:nvPicPr>
          <p:cNvPr id="260" name="Google Shape;260;p2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61" name="Google Shape;261;p26"/>
          <p:cNvSpPr txBox="1"/>
          <p:nvPr/>
        </p:nvSpPr>
        <p:spPr>
          <a:xfrm>
            <a:off x="1802400" y="3304750"/>
            <a:ext cx="5539200" cy="923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500">
                <a:solidFill>
                  <a:schemeClr val="dk1"/>
                </a:solidFill>
                <a:latin typeface="DM Sans"/>
                <a:ea typeface="DM Sans"/>
                <a:cs typeface="DM Sans"/>
                <a:sym typeface="DM Sans"/>
              </a:rPr>
              <a:t>Which evidence is most convincing?</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Why is Evidence A insufficient?</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Does Evidence B fully prove the claim about all students?</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What additional information would strengthen the argument?</a:t>
            </a:r>
            <a:endParaRPr sz="15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800"/>
                                        <p:tgtEl>
                                          <p:spTgt spid="256"/>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8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265" name="Shape 265"/>
        <p:cNvGrpSpPr/>
        <p:nvPr/>
      </p:nvGrpSpPr>
      <p:grpSpPr>
        <a:xfrm>
          <a:off x="0" y="0"/>
          <a:ext cx="0" cy="0"/>
          <a:chOff x="0" y="0"/>
          <a:chExt cx="0" cy="0"/>
        </a:xfrm>
      </p:grpSpPr>
      <p:sp>
        <p:nvSpPr>
          <p:cNvPr id="266" name="Google Shape;266;p27"/>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267" name="Google Shape;267;p27"/>
          <p:cNvSpPr txBox="1"/>
          <p:nvPr/>
        </p:nvSpPr>
        <p:spPr>
          <a:xfrm>
            <a:off x="228600" y="1443875"/>
            <a:ext cx="4114800" cy="27705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1800">
                <a:latin typeface="DM Sans"/>
                <a:ea typeface="DM Sans"/>
                <a:cs typeface="DM Sans"/>
                <a:sym typeface="DM Sans"/>
              </a:rPr>
              <a:t>1. Irrelevant Evidence</a:t>
            </a:r>
            <a:endParaRPr b="1"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Does not directly support the claim.</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Example: Arguing that exercise improves concentration by mentioning that gyms have expensive equipment.</a:t>
            </a:r>
            <a:endParaRPr sz="1800">
              <a:latin typeface="DM Sans"/>
              <a:ea typeface="DM Sans"/>
              <a:cs typeface="DM Sans"/>
              <a:sym typeface="DM Sans"/>
            </a:endParaRPr>
          </a:p>
          <a:p>
            <a:pPr indent="0" lvl="0" marL="0" rtl="0" algn="l">
              <a:spcBef>
                <a:spcPts val="0"/>
              </a:spcBef>
              <a:spcAft>
                <a:spcPts val="0"/>
              </a:spcAft>
              <a:buNone/>
            </a:pPr>
            <a:r>
              <a:rPr b="1" lang="en" sz="1800">
                <a:latin typeface="DM Sans"/>
                <a:ea typeface="DM Sans"/>
                <a:cs typeface="DM Sans"/>
                <a:sym typeface="DM Sans"/>
              </a:rPr>
              <a:t>2. Insufficient Evidence</a:t>
            </a:r>
            <a:endParaRPr b="1"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Provides too little information.</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Example: Claiming all students prefer online learning because three students said so.</a:t>
            </a:r>
            <a:endParaRPr sz="1800">
              <a:latin typeface="DM Sans"/>
              <a:ea typeface="DM Sans"/>
              <a:cs typeface="DM Sans"/>
              <a:sym typeface="DM Sans"/>
            </a:endParaRPr>
          </a:p>
        </p:txBody>
      </p:sp>
      <p:sp>
        <p:nvSpPr>
          <p:cNvPr id="268" name="Google Shape;268;p27"/>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7"/>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70" name="Google Shape;270;p27"/>
          <p:cNvSpPr txBox="1"/>
          <p:nvPr/>
        </p:nvSpPr>
        <p:spPr>
          <a:xfrm>
            <a:off x="1490400" y="282450"/>
            <a:ext cx="7425000" cy="631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100">
                <a:latin typeface="Merriweather"/>
                <a:ea typeface="Merriweather"/>
                <a:cs typeface="Merriweather"/>
                <a:sym typeface="Merriweather"/>
              </a:rPr>
              <a:t>Four Ways Evidence Can Fail</a:t>
            </a:r>
            <a:endParaRPr sz="4100">
              <a:latin typeface="Merriweather"/>
              <a:ea typeface="Merriweather"/>
              <a:cs typeface="Merriweather"/>
              <a:sym typeface="Merriweather"/>
            </a:endParaRPr>
          </a:p>
        </p:txBody>
      </p:sp>
      <p:pic>
        <p:nvPicPr>
          <p:cNvPr id="271" name="Google Shape;271;p2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72" name="Google Shape;272;p27"/>
          <p:cNvSpPr txBox="1"/>
          <p:nvPr/>
        </p:nvSpPr>
        <p:spPr>
          <a:xfrm>
            <a:off x="4800600" y="967500"/>
            <a:ext cx="4114800" cy="33249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1800">
                <a:solidFill>
                  <a:schemeClr val="dk1"/>
                </a:solidFill>
                <a:latin typeface="DM Sans"/>
                <a:ea typeface="DM Sans"/>
                <a:cs typeface="DM Sans"/>
                <a:sym typeface="DM Sans"/>
              </a:rPr>
              <a:t>3. Unreliable Evidence</a:t>
            </a:r>
            <a:endParaRPr b="1"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 Comes from questionable or unsupported sources.</a:t>
            </a:r>
            <a:endParaRPr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 Example: Using an anonymous online comment as proof of a scientific conclusion.</a:t>
            </a:r>
            <a:endParaRPr sz="1800">
              <a:solidFill>
                <a:schemeClr val="dk1"/>
              </a:solidFill>
              <a:latin typeface="DM Sans"/>
              <a:ea typeface="DM Sans"/>
              <a:cs typeface="DM Sans"/>
              <a:sym typeface="DM Sans"/>
            </a:endParaRPr>
          </a:p>
          <a:p>
            <a:pPr indent="0" lvl="0" marL="0" rtl="0" algn="l">
              <a:spcBef>
                <a:spcPts val="0"/>
              </a:spcBef>
              <a:spcAft>
                <a:spcPts val="0"/>
              </a:spcAft>
              <a:buNone/>
            </a:pPr>
            <a:r>
              <a:rPr b="1" lang="en" sz="1800">
                <a:solidFill>
                  <a:schemeClr val="dk1"/>
                </a:solidFill>
                <a:latin typeface="DM Sans"/>
                <a:ea typeface="DM Sans"/>
                <a:cs typeface="DM Sans"/>
                <a:sym typeface="DM Sans"/>
              </a:rPr>
              <a:t>4. Overgeneralized Evidence</a:t>
            </a:r>
            <a:endParaRPr b="1"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 Uses a limited example to support an overly broad conclusion.</a:t>
            </a:r>
            <a:endParaRPr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 Example: Claiming everyone learns better with music because one student does.</a:t>
            </a:r>
            <a:endParaRPr sz="18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800"/>
                                        <p:tgtEl>
                                          <p:spTgt spid="267"/>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8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276" name="Shape 276"/>
        <p:cNvGrpSpPr/>
        <p:nvPr/>
      </p:nvGrpSpPr>
      <p:grpSpPr>
        <a:xfrm>
          <a:off x="0" y="0"/>
          <a:ext cx="0" cy="0"/>
          <a:chOff x="0" y="0"/>
          <a:chExt cx="0" cy="0"/>
        </a:xfrm>
      </p:grpSpPr>
      <p:sp>
        <p:nvSpPr>
          <p:cNvPr id="277" name="Google Shape;277;p28"/>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278" name="Google Shape;278;p28"/>
          <p:cNvSpPr txBox="1"/>
          <p:nvPr/>
        </p:nvSpPr>
        <p:spPr>
          <a:xfrm>
            <a:off x="228600" y="1443875"/>
            <a:ext cx="4114800" cy="24936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1800">
                <a:latin typeface="DM Sans"/>
                <a:ea typeface="DM Sans"/>
                <a:cs typeface="DM Sans"/>
                <a:sym typeface="DM Sans"/>
              </a:rPr>
              <a:t>Step 1: Identify the Claim</a:t>
            </a:r>
            <a:endParaRPr b="1"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What exactly is the author trying to prove?</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Underline important words such as all, most, always, causes, or improves.</a:t>
            </a:r>
            <a:endParaRPr sz="1800">
              <a:latin typeface="DM Sans"/>
              <a:ea typeface="DM Sans"/>
              <a:cs typeface="DM Sans"/>
              <a:sym typeface="DM Sans"/>
            </a:endParaRPr>
          </a:p>
          <a:p>
            <a:pPr indent="0" lvl="0" marL="0" rtl="0" algn="l">
              <a:spcBef>
                <a:spcPts val="0"/>
              </a:spcBef>
              <a:spcAft>
                <a:spcPts val="0"/>
              </a:spcAft>
              <a:buNone/>
            </a:pPr>
            <a:r>
              <a:t/>
            </a:r>
            <a:endParaRPr sz="1800">
              <a:latin typeface="DM Sans"/>
              <a:ea typeface="DM Sans"/>
              <a:cs typeface="DM Sans"/>
              <a:sym typeface="DM Sans"/>
            </a:endParaRPr>
          </a:p>
          <a:p>
            <a:pPr indent="0" lvl="0" marL="0" rtl="0" algn="l">
              <a:spcBef>
                <a:spcPts val="0"/>
              </a:spcBef>
              <a:spcAft>
                <a:spcPts val="0"/>
              </a:spcAft>
              <a:buNone/>
            </a:pPr>
            <a:r>
              <a:rPr b="1" lang="en" sz="1800">
                <a:latin typeface="DM Sans"/>
                <a:ea typeface="DM Sans"/>
                <a:cs typeface="DM Sans"/>
                <a:sym typeface="DM Sans"/>
              </a:rPr>
              <a:t>Step 2: Identify the Evidence</a:t>
            </a:r>
            <a:endParaRPr b="1"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What facts, examples, or observations does the author provide?</a:t>
            </a:r>
            <a:endParaRPr sz="1800">
              <a:latin typeface="DM Sans"/>
              <a:ea typeface="DM Sans"/>
              <a:cs typeface="DM Sans"/>
              <a:sym typeface="DM Sans"/>
            </a:endParaRPr>
          </a:p>
        </p:txBody>
      </p:sp>
      <p:sp>
        <p:nvSpPr>
          <p:cNvPr id="279" name="Google Shape;279;p28"/>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28"/>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81" name="Google Shape;281;p28"/>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How to Evaluate Evidence on the SHSAT</a:t>
            </a:r>
            <a:endParaRPr sz="3000">
              <a:latin typeface="Merriweather"/>
              <a:ea typeface="Merriweather"/>
              <a:cs typeface="Merriweather"/>
              <a:sym typeface="Merriweather"/>
            </a:endParaRPr>
          </a:p>
        </p:txBody>
      </p:sp>
      <p:pic>
        <p:nvPicPr>
          <p:cNvPr id="282" name="Google Shape;282;p2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83" name="Google Shape;283;p28"/>
          <p:cNvSpPr txBox="1"/>
          <p:nvPr/>
        </p:nvSpPr>
        <p:spPr>
          <a:xfrm>
            <a:off x="4800600" y="1720925"/>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1800">
                <a:solidFill>
                  <a:schemeClr val="dk1"/>
                </a:solidFill>
                <a:latin typeface="DM Sans"/>
                <a:ea typeface="DM Sans"/>
                <a:cs typeface="DM Sans"/>
                <a:sym typeface="DM Sans"/>
              </a:rPr>
              <a:t>Step 3: Evaluate Relevance</a:t>
            </a:r>
            <a:endParaRPr b="1"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 Does the evidence directly relate to the claim?</a:t>
            </a:r>
            <a:endParaRPr sz="1800">
              <a:solidFill>
                <a:schemeClr val="dk1"/>
              </a:solidFill>
              <a:latin typeface="DM Sans"/>
              <a:ea typeface="DM Sans"/>
              <a:cs typeface="DM Sans"/>
              <a:sym typeface="DM Sans"/>
            </a:endParaRPr>
          </a:p>
          <a:p>
            <a:pPr indent="0" lvl="0" marL="0" rtl="0" algn="l">
              <a:spcBef>
                <a:spcPts val="0"/>
              </a:spcBef>
              <a:spcAft>
                <a:spcPts val="0"/>
              </a:spcAft>
              <a:buNone/>
            </a:pPr>
            <a:r>
              <a:t/>
            </a:r>
            <a:endParaRPr sz="1800">
              <a:solidFill>
                <a:schemeClr val="dk1"/>
              </a:solidFill>
              <a:latin typeface="DM Sans"/>
              <a:ea typeface="DM Sans"/>
              <a:cs typeface="DM Sans"/>
              <a:sym typeface="DM Sans"/>
            </a:endParaRPr>
          </a:p>
          <a:p>
            <a:pPr indent="0" lvl="0" marL="0" rtl="0" algn="l">
              <a:spcBef>
                <a:spcPts val="0"/>
              </a:spcBef>
              <a:spcAft>
                <a:spcPts val="0"/>
              </a:spcAft>
              <a:buNone/>
            </a:pPr>
            <a:r>
              <a:rPr b="1" lang="en" sz="1800">
                <a:solidFill>
                  <a:schemeClr val="dk1"/>
                </a:solidFill>
                <a:latin typeface="DM Sans"/>
                <a:ea typeface="DM Sans"/>
                <a:cs typeface="DM Sans"/>
                <a:sym typeface="DM Sans"/>
              </a:rPr>
              <a:t>Step 4: Evaluate Sufficiency</a:t>
            </a:r>
            <a:endParaRPr b="1"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 Is there enough convincing evidence to support the strength and scope of the claim?</a:t>
            </a:r>
            <a:endParaRPr sz="18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800"/>
                                        <p:tgtEl>
                                          <p:spTgt spid="278"/>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8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287" name="Shape 287"/>
        <p:cNvGrpSpPr/>
        <p:nvPr/>
      </p:nvGrpSpPr>
      <p:grpSpPr>
        <a:xfrm>
          <a:off x="0" y="0"/>
          <a:ext cx="0" cy="0"/>
          <a:chOff x="0" y="0"/>
          <a:chExt cx="0" cy="0"/>
        </a:xfrm>
      </p:grpSpPr>
      <p:sp>
        <p:nvSpPr>
          <p:cNvPr id="288" name="Google Shape;288;p29"/>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289" name="Google Shape;289;p29"/>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29"/>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91" name="Google Shape;291;p29"/>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Guided Practice: Evaluate the Evidence</a:t>
            </a:r>
            <a:endParaRPr sz="3000">
              <a:latin typeface="Merriweather"/>
              <a:ea typeface="Merriweather"/>
              <a:cs typeface="Merriweather"/>
              <a:sym typeface="Merriweather"/>
            </a:endParaRPr>
          </a:p>
        </p:txBody>
      </p:sp>
      <p:pic>
        <p:nvPicPr>
          <p:cNvPr id="292" name="Google Shape;292;p2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93" name="Google Shape;293;p29"/>
          <p:cNvSpPr txBox="1"/>
          <p:nvPr/>
        </p:nvSpPr>
        <p:spPr>
          <a:xfrm>
            <a:off x="228600" y="1111188"/>
            <a:ext cx="8686800" cy="17547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457200" lvl="0" marL="0" rtl="0" algn="l">
              <a:spcBef>
                <a:spcPts val="0"/>
              </a:spcBef>
              <a:spcAft>
                <a:spcPts val="0"/>
              </a:spcAft>
              <a:buNone/>
            </a:pPr>
            <a:r>
              <a:rPr lang="en" sz="1900">
                <a:latin typeface="DM Sans"/>
                <a:ea typeface="DM Sans"/>
                <a:cs typeface="DM Sans"/>
                <a:sym typeface="DM Sans"/>
              </a:rPr>
              <a:t>         A principal argues that replacing traditional textbooks with tablets will improve academic achievement. To support this claim, she explains that tablets allow students to access digital resources, watch instructional videos, and complete interactive assignments. She also reports that 90% of students surveyed said they enjoyed using tablets. The principal concludes that tablets will lead to higher examination scores.</a:t>
            </a:r>
            <a:endParaRPr sz="1900">
              <a:latin typeface="DM Sans"/>
              <a:ea typeface="DM Sans"/>
              <a:cs typeface="DM Sans"/>
              <a:sym typeface="DM Sans"/>
            </a:endParaRPr>
          </a:p>
        </p:txBody>
      </p:sp>
      <p:sp>
        <p:nvSpPr>
          <p:cNvPr id="294" name="Google Shape;294;p29"/>
          <p:cNvSpPr txBox="1"/>
          <p:nvPr/>
        </p:nvSpPr>
        <p:spPr>
          <a:xfrm>
            <a:off x="1728750" y="2969825"/>
            <a:ext cx="5686500" cy="1154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What is the principal's main claim?</a:t>
            </a:r>
            <a:endParaRPr sz="1500">
              <a:solidFill>
                <a:schemeClr val="dk1"/>
              </a:solidFill>
              <a:latin typeface="DM Sans"/>
              <a:ea typeface="DM Sans"/>
              <a:cs typeface="DM Sans"/>
              <a:sym typeface="DM Sans"/>
            </a:endParaRPr>
          </a:p>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What evidence does she provide?</a:t>
            </a:r>
            <a:endParaRPr sz="1500">
              <a:solidFill>
                <a:schemeClr val="dk1"/>
              </a:solidFill>
              <a:latin typeface="DM Sans"/>
              <a:ea typeface="DM Sans"/>
              <a:cs typeface="DM Sans"/>
              <a:sym typeface="DM Sans"/>
            </a:endParaRPr>
          </a:p>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Is her evidence relevant?</a:t>
            </a:r>
            <a:endParaRPr sz="1500">
              <a:solidFill>
                <a:schemeClr val="dk1"/>
              </a:solidFill>
              <a:latin typeface="DM Sans"/>
              <a:ea typeface="DM Sans"/>
              <a:cs typeface="DM Sans"/>
              <a:sym typeface="DM Sans"/>
            </a:endParaRPr>
          </a:p>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Is her evidence sufficient?</a:t>
            </a:r>
            <a:endParaRPr sz="1500">
              <a:solidFill>
                <a:schemeClr val="dk1"/>
              </a:solidFill>
              <a:latin typeface="DM Sans"/>
              <a:ea typeface="DM Sans"/>
              <a:cs typeface="DM Sans"/>
              <a:sym typeface="DM Sans"/>
            </a:endParaRPr>
          </a:p>
          <a:p>
            <a:pPr indent="-323850" lvl="0" marL="457200" rtl="0" algn="l">
              <a:spcBef>
                <a:spcPts val="0"/>
              </a:spcBef>
              <a:spcAft>
                <a:spcPts val="0"/>
              </a:spcAft>
              <a:buClr>
                <a:schemeClr val="dk1"/>
              </a:buClr>
              <a:buSzPts val="1500"/>
              <a:buFont typeface="DM Sans"/>
              <a:buAutoNum type="arabicPeriod"/>
            </a:pPr>
            <a:r>
              <a:rPr lang="en" sz="1500">
                <a:solidFill>
                  <a:schemeClr val="dk1"/>
                </a:solidFill>
                <a:latin typeface="DM Sans"/>
                <a:ea typeface="DM Sans"/>
                <a:cs typeface="DM Sans"/>
                <a:sym typeface="DM Sans"/>
              </a:rPr>
              <a:t>What additional evidence would strengthen her argument?</a:t>
            </a:r>
            <a:endParaRPr sz="1500">
              <a:solidFill>
                <a:schemeClr val="dk1"/>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298" name="Shape 298"/>
        <p:cNvGrpSpPr/>
        <p:nvPr/>
      </p:nvGrpSpPr>
      <p:grpSpPr>
        <a:xfrm>
          <a:off x="0" y="0"/>
          <a:ext cx="0" cy="0"/>
          <a:chOff x="0" y="0"/>
          <a:chExt cx="0" cy="0"/>
        </a:xfrm>
      </p:grpSpPr>
      <p:sp>
        <p:nvSpPr>
          <p:cNvPr id="299" name="Google Shape;299;p30"/>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300" name="Google Shape;300;p30"/>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30"/>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02" name="Google Shape;302;p30"/>
          <p:cNvSpPr txBox="1"/>
          <p:nvPr/>
        </p:nvSpPr>
        <p:spPr>
          <a:xfrm>
            <a:off x="1490400" y="405600"/>
            <a:ext cx="7425000" cy="384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500">
                <a:latin typeface="Merriweather"/>
                <a:ea typeface="Merriweather"/>
                <a:cs typeface="Merriweather"/>
                <a:sym typeface="Merriweather"/>
              </a:rPr>
              <a:t>Guided Practice: Choose the Strongest Evidence</a:t>
            </a:r>
            <a:endParaRPr sz="2500">
              <a:latin typeface="Merriweather"/>
              <a:ea typeface="Merriweather"/>
              <a:cs typeface="Merriweather"/>
              <a:sym typeface="Merriweather"/>
            </a:endParaRPr>
          </a:p>
        </p:txBody>
      </p:sp>
      <p:pic>
        <p:nvPicPr>
          <p:cNvPr id="303" name="Google Shape;303;p3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04" name="Google Shape;304;p30"/>
          <p:cNvSpPr txBox="1"/>
          <p:nvPr/>
        </p:nvSpPr>
        <p:spPr>
          <a:xfrm>
            <a:off x="228600" y="1111188"/>
            <a:ext cx="8686800" cy="32169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b="1" lang="en" sz="1900">
                <a:latin typeface="DM Sans"/>
                <a:ea typeface="DM Sans"/>
                <a:cs typeface="DM Sans"/>
                <a:sym typeface="DM Sans"/>
              </a:rPr>
              <a:t>Claim</a:t>
            </a:r>
            <a:r>
              <a:rPr lang="en" sz="1900">
                <a:latin typeface="DM Sans"/>
                <a:ea typeface="DM Sans"/>
                <a:cs typeface="DM Sans"/>
                <a:sym typeface="DM Sans"/>
              </a:rPr>
              <a:t>: A community recycling program has successfully reduced the amount of waste sent to landfills. </a:t>
            </a:r>
            <a:endParaRPr sz="1900">
              <a:latin typeface="DM Sans"/>
              <a:ea typeface="DM Sans"/>
              <a:cs typeface="DM Sans"/>
              <a:sym typeface="DM Sans"/>
            </a:endParaRPr>
          </a:p>
          <a:p>
            <a:pPr indent="0" lvl="0" marL="0" rtl="0" algn="l">
              <a:spcBef>
                <a:spcPts val="0"/>
              </a:spcBef>
              <a:spcAft>
                <a:spcPts val="0"/>
              </a:spcAft>
              <a:buNone/>
            </a:pPr>
            <a:r>
              <a:rPr lang="en" sz="1900">
                <a:latin typeface="DM Sans"/>
                <a:ea typeface="DM Sans"/>
                <a:cs typeface="DM Sans"/>
                <a:sym typeface="DM Sans"/>
              </a:rPr>
              <a:t>Which piece of evidence BEST supports this claim?</a:t>
            </a:r>
            <a:endParaRPr sz="1900">
              <a:latin typeface="DM Sans"/>
              <a:ea typeface="DM Sans"/>
              <a:cs typeface="DM Sans"/>
              <a:sym typeface="DM Sans"/>
            </a:endParaRPr>
          </a:p>
          <a:p>
            <a:pPr indent="0" lvl="0" marL="0" rtl="0" algn="l">
              <a:spcBef>
                <a:spcPts val="0"/>
              </a:spcBef>
              <a:spcAft>
                <a:spcPts val="0"/>
              </a:spcAft>
              <a:buNone/>
            </a:pPr>
            <a:r>
              <a:rPr lang="en" sz="1900">
                <a:latin typeface="DM Sans"/>
                <a:ea typeface="DM Sans"/>
                <a:cs typeface="DM Sans"/>
                <a:sym typeface="DM Sans"/>
              </a:rPr>
              <a:t>A. Residents have expressed enthusiasm about participating in the new recycling program.</a:t>
            </a:r>
            <a:endParaRPr sz="1900">
              <a:latin typeface="DM Sans"/>
              <a:ea typeface="DM Sans"/>
              <a:cs typeface="DM Sans"/>
              <a:sym typeface="DM Sans"/>
            </a:endParaRPr>
          </a:p>
          <a:p>
            <a:pPr indent="0" lvl="0" marL="0" rtl="0" algn="l">
              <a:spcBef>
                <a:spcPts val="0"/>
              </a:spcBef>
              <a:spcAft>
                <a:spcPts val="0"/>
              </a:spcAft>
              <a:buNone/>
            </a:pPr>
            <a:r>
              <a:rPr lang="en" sz="1900">
                <a:latin typeface="DM Sans"/>
                <a:ea typeface="DM Sans"/>
                <a:cs typeface="DM Sans"/>
                <a:sym typeface="DM Sans"/>
              </a:rPr>
              <a:t>B. The community distributed more than 5,000 recycling bins during the program's first year.</a:t>
            </a:r>
            <a:endParaRPr sz="1900">
              <a:latin typeface="DM Sans"/>
              <a:ea typeface="DM Sans"/>
              <a:cs typeface="DM Sans"/>
              <a:sym typeface="DM Sans"/>
            </a:endParaRPr>
          </a:p>
          <a:p>
            <a:pPr indent="0" lvl="0" marL="0" rtl="0" algn="l">
              <a:spcBef>
                <a:spcPts val="0"/>
              </a:spcBef>
              <a:spcAft>
                <a:spcPts val="0"/>
              </a:spcAft>
              <a:buNone/>
            </a:pPr>
            <a:r>
              <a:rPr lang="en" sz="1900">
                <a:latin typeface="DM Sans"/>
                <a:ea typeface="DM Sans"/>
                <a:cs typeface="DM Sans"/>
                <a:sym typeface="DM Sans"/>
              </a:rPr>
              <a:t>C. Municipal records show that the amount of waste sent to landfills decreased by 28% during the program's first year.</a:t>
            </a:r>
            <a:endParaRPr sz="1900">
              <a:latin typeface="DM Sans"/>
              <a:ea typeface="DM Sans"/>
              <a:cs typeface="DM Sans"/>
              <a:sym typeface="DM Sans"/>
            </a:endParaRPr>
          </a:p>
          <a:p>
            <a:pPr indent="0" lvl="0" marL="0" rtl="0" algn="l">
              <a:spcBef>
                <a:spcPts val="0"/>
              </a:spcBef>
              <a:spcAft>
                <a:spcPts val="0"/>
              </a:spcAft>
              <a:buNone/>
            </a:pPr>
            <a:r>
              <a:rPr lang="en" sz="1900">
                <a:latin typeface="DM Sans"/>
                <a:ea typeface="DM Sans"/>
                <a:cs typeface="DM Sans"/>
                <a:sym typeface="DM Sans"/>
              </a:rPr>
              <a:t>D. Community leaders believe that recycling is an important environmental responsibility.</a:t>
            </a:r>
            <a:endParaRPr sz="1900">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308" name="Shape 308"/>
        <p:cNvGrpSpPr/>
        <p:nvPr/>
      </p:nvGrpSpPr>
      <p:grpSpPr>
        <a:xfrm>
          <a:off x="0" y="0"/>
          <a:ext cx="0" cy="0"/>
          <a:chOff x="0" y="0"/>
          <a:chExt cx="0" cy="0"/>
        </a:xfrm>
      </p:grpSpPr>
      <p:sp>
        <p:nvSpPr>
          <p:cNvPr id="309" name="Google Shape;309;p31"/>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310" name="Google Shape;310;p31"/>
          <p:cNvSpPr txBox="1"/>
          <p:nvPr/>
        </p:nvSpPr>
        <p:spPr>
          <a:xfrm>
            <a:off x="228600" y="1490400"/>
            <a:ext cx="4114800" cy="14778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SHSAT multiple-choice questions often include tempting distractors. This can include:</a:t>
            </a:r>
            <a:endParaRPr sz="2400">
              <a:latin typeface="DM Sans"/>
              <a:ea typeface="DM Sans"/>
              <a:cs typeface="DM Sans"/>
              <a:sym typeface="DM Sans"/>
            </a:endParaRPr>
          </a:p>
        </p:txBody>
      </p:sp>
      <p:sp>
        <p:nvSpPr>
          <p:cNvPr id="311" name="Google Shape;311;p31"/>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31"/>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13" name="Google Shape;313;p3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Trick Answers</a:t>
            </a:r>
            <a:endParaRPr sz="4800">
              <a:latin typeface="Merriweather"/>
              <a:ea typeface="Merriweather"/>
              <a:cs typeface="Merriweather"/>
              <a:sym typeface="Merriweather"/>
            </a:endParaRPr>
          </a:p>
        </p:txBody>
      </p:sp>
      <p:pic>
        <p:nvPicPr>
          <p:cNvPr id="314" name="Google Shape;314;p3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15" name="Google Shape;315;p31"/>
          <p:cNvSpPr txBox="1"/>
          <p:nvPr/>
        </p:nvSpPr>
        <p:spPr>
          <a:xfrm>
            <a:off x="4690700" y="1097075"/>
            <a:ext cx="4114800" cy="30015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1500">
                <a:solidFill>
                  <a:schemeClr val="dk1"/>
                </a:solidFill>
                <a:latin typeface="DM Sans"/>
                <a:ea typeface="DM Sans"/>
                <a:cs typeface="DM Sans"/>
                <a:sym typeface="DM Sans"/>
              </a:rPr>
              <a:t>Too Broad:</a:t>
            </a:r>
            <a:r>
              <a:rPr lang="en" sz="1500">
                <a:solidFill>
                  <a:schemeClr val="dk1"/>
                </a:solidFill>
                <a:latin typeface="DM Sans"/>
                <a:ea typeface="DM Sans"/>
                <a:cs typeface="DM Sans"/>
                <a:sym typeface="DM Sans"/>
              </a:rPr>
              <a:t> Makes a claim that goes beyond what the passage supports.</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Too Narrow</a:t>
            </a:r>
            <a:r>
              <a:rPr lang="en" sz="1500">
                <a:solidFill>
                  <a:schemeClr val="dk1"/>
                </a:solidFill>
                <a:latin typeface="DM Sans"/>
                <a:ea typeface="DM Sans"/>
                <a:cs typeface="DM Sans"/>
                <a:sym typeface="DM Sans"/>
              </a:rPr>
              <a:t>: Focuses on a minor detail rather than the overall argument.</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Half-True:</a:t>
            </a:r>
            <a:r>
              <a:rPr lang="en" sz="1500">
                <a:solidFill>
                  <a:schemeClr val="dk1"/>
                </a:solidFill>
                <a:latin typeface="DM Sans"/>
                <a:ea typeface="DM Sans"/>
                <a:cs typeface="DM Sans"/>
                <a:sym typeface="DM Sans"/>
              </a:rPr>
              <a:t> Includes accurate information but reaches an unsupported conclusion.</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Out of Scope</a:t>
            </a:r>
            <a:r>
              <a:rPr lang="en" sz="1500">
                <a:solidFill>
                  <a:schemeClr val="dk1"/>
                </a:solidFill>
                <a:latin typeface="DM Sans"/>
                <a:ea typeface="DM Sans"/>
                <a:cs typeface="DM Sans"/>
                <a:sym typeface="DM Sans"/>
              </a:rPr>
              <a:t>: Introduces information that the passage never establishes.</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Reversal:</a:t>
            </a:r>
            <a:r>
              <a:rPr lang="en" sz="1500">
                <a:solidFill>
                  <a:schemeClr val="dk1"/>
                </a:solidFill>
                <a:latin typeface="DM Sans"/>
                <a:ea typeface="DM Sans"/>
                <a:cs typeface="DM Sans"/>
                <a:sym typeface="DM Sans"/>
              </a:rPr>
              <a:t> States the opposite of what the author argues.</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Extreme Language:</a:t>
            </a:r>
            <a:r>
              <a:rPr lang="en" sz="1500">
                <a:solidFill>
                  <a:schemeClr val="dk1"/>
                </a:solidFill>
                <a:latin typeface="DM Sans"/>
                <a:ea typeface="DM Sans"/>
                <a:cs typeface="DM Sans"/>
                <a:sym typeface="DM Sans"/>
              </a:rPr>
              <a:t> Uses words such as always, never, entirely, or everyone without sufficient support.</a:t>
            </a:r>
            <a:endParaRPr sz="15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800"/>
                                        <p:tgtEl>
                                          <p:spTgt spid="310"/>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8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319" name="Shape 319"/>
        <p:cNvGrpSpPr/>
        <p:nvPr/>
      </p:nvGrpSpPr>
      <p:grpSpPr>
        <a:xfrm>
          <a:off x="0" y="0"/>
          <a:ext cx="0" cy="0"/>
          <a:chOff x="0" y="0"/>
          <a:chExt cx="0" cy="0"/>
        </a:xfrm>
      </p:grpSpPr>
      <p:sp>
        <p:nvSpPr>
          <p:cNvPr id="320" name="Google Shape;320;p32"/>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321" name="Google Shape;321;p32"/>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32"/>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23" name="Google Shape;323;p32"/>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Spot the Trick Answer</a:t>
            </a:r>
            <a:endParaRPr sz="3000">
              <a:latin typeface="Merriweather"/>
              <a:ea typeface="Merriweather"/>
              <a:cs typeface="Merriweather"/>
              <a:sym typeface="Merriweather"/>
            </a:endParaRPr>
          </a:p>
        </p:txBody>
      </p:sp>
      <p:pic>
        <p:nvPicPr>
          <p:cNvPr id="324" name="Google Shape;324;p3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25" name="Google Shape;325;p32"/>
          <p:cNvSpPr txBox="1"/>
          <p:nvPr/>
        </p:nvSpPr>
        <p:spPr>
          <a:xfrm>
            <a:off x="228600" y="1111188"/>
            <a:ext cx="8686800" cy="17547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457200" lvl="0" marL="0" rtl="0" algn="l">
              <a:spcBef>
                <a:spcPts val="0"/>
              </a:spcBef>
              <a:spcAft>
                <a:spcPts val="0"/>
              </a:spcAft>
              <a:buNone/>
            </a:pPr>
            <a:r>
              <a:rPr lang="en" sz="1900">
                <a:latin typeface="DM Sans"/>
                <a:ea typeface="DM Sans"/>
                <a:cs typeface="DM Sans"/>
                <a:sym typeface="DM Sans"/>
              </a:rPr>
              <a:t>           Some cities have introduced bike-sharing programs to reduce traffic congestion. These programs allow residents to rent bicycles for short trips rather than relying on cars. In one city, transportation officials reported a modest reduction in car trips downtown after a bike-sharing program was introduced. However, the program had little effect on traffic in neighborhoods farther from the city center.</a:t>
            </a:r>
            <a:endParaRPr sz="1900">
              <a:latin typeface="DM Sans"/>
              <a:ea typeface="DM Sans"/>
              <a:cs typeface="DM Sans"/>
              <a:sym typeface="DM Sans"/>
            </a:endParaRPr>
          </a:p>
        </p:txBody>
      </p:sp>
      <p:sp>
        <p:nvSpPr>
          <p:cNvPr id="326" name="Google Shape;326;p32"/>
          <p:cNvSpPr txBox="1"/>
          <p:nvPr/>
        </p:nvSpPr>
        <p:spPr>
          <a:xfrm>
            <a:off x="1728750" y="2865900"/>
            <a:ext cx="5686500" cy="1385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500">
                <a:solidFill>
                  <a:schemeClr val="dk1"/>
                </a:solidFill>
                <a:latin typeface="DM Sans"/>
                <a:ea typeface="DM Sans"/>
                <a:cs typeface="DM Sans"/>
                <a:sym typeface="DM Sans"/>
              </a:rPr>
              <a:t>Which conclusion is BEST supported by the passage?</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A. Bike-sharing programs eliminate traffic congestion in cities.</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B. Bike-sharing programs can reduce some car travel, although their effects may vary by location.</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C. Bike-sharing programs are ineffective outside major cities.</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D. Every resident prefers bicycles over cars for short trips.</a:t>
            </a:r>
            <a:endParaRPr sz="1500">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330" name="Shape 330"/>
        <p:cNvGrpSpPr/>
        <p:nvPr/>
      </p:nvGrpSpPr>
      <p:grpSpPr>
        <a:xfrm>
          <a:off x="0" y="0"/>
          <a:ext cx="0" cy="0"/>
          <a:chOff x="0" y="0"/>
          <a:chExt cx="0" cy="0"/>
        </a:xfrm>
      </p:grpSpPr>
      <p:sp>
        <p:nvSpPr>
          <p:cNvPr id="331" name="Google Shape;331;p33"/>
          <p:cNvSpPr/>
          <p:nvPr/>
        </p:nvSpPr>
        <p:spPr>
          <a:xfrm>
            <a:off x="-16087983" y="4228150"/>
            <a:ext cx="25231995" cy="915356"/>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argument relevant sufficient reasoning irrelevant evaluate</a:t>
            </a:r>
          </a:p>
        </p:txBody>
      </p:sp>
      <p:sp>
        <p:nvSpPr>
          <p:cNvPr id="332" name="Google Shape;332;p33"/>
          <p:cNvSpPr txBox="1"/>
          <p:nvPr/>
        </p:nvSpPr>
        <p:spPr>
          <a:xfrm>
            <a:off x="228600" y="1490400"/>
            <a:ext cx="4114800" cy="24627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2000">
                <a:latin typeface="DM Sans"/>
                <a:ea typeface="DM Sans"/>
                <a:cs typeface="DM Sans"/>
                <a:sym typeface="DM Sans"/>
              </a:rPr>
              <a:t>1. Read the question first.</a:t>
            </a:r>
            <a:endParaRPr b="1" sz="2000">
              <a:latin typeface="DM Sans"/>
              <a:ea typeface="DM Sans"/>
              <a:cs typeface="DM Sans"/>
              <a:sym typeface="DM Sans"/>
            </a:endParaRPr>
          </a:p>
          <a:p>
            <a:pPr indent="0" lvl="0" marL="0" rtl="0" algn="l">
              <a:spcBef>
                <a:spcPts val="0"/>
              </a:spcBef>
              <a:spcAft>
                <a:spcPts val="0"/>
              </a:spcAft>
              <a:buNone/>
            </a:pPr>
            <a:r>
              <a:rPr lang="en" sz="2000">
                <a:latin typeface="DM Sans"/>
                <a:ea typeface="DM Sans"/>
                <a:cs typeface="DM Sans"/>
                <a:sym typeface="DM Sans"/>
              </a:rPr>
              <a:t>- Determine whether it asks about an argument, claim, or supporting evidence.</a:t>
            </a:r>
            <a:endParaRPr sz="2000">
              <a:latin typeface="DM Sans"/>
              <a:ea typeface="DM Sans"/>
              <a:cs typeface="DM Sans"/>
              <a:sym typeface="DM Sans"/>
            </a:endParaRPr>
          </a:p>
          <a:p>
            <a:pPr indent="0" lvl="0" marL="0" rtl="0" algn="l">
              <a:spcBef>
                <a:spcPts val="0"/>
              </a:spcBef>
              <a:spcAft>
                <a:spcPts val="0"/>
              </a:spcAft>
              <a:buNone/>
            </a:pPr>
            <a:r>
              <a:rPr b="1" lang="en" sz="2000">
                <a:latin typeface="DM Sans"/>
                <a:ea typeface="DM Sans"/>
                <a:cs typeface="DM Sans"/>
                <a:sym typeface="DM Sans"/>
              </a:rPr>
              <a:t>2. Predict the answer before looking at the choices.</a:t>
            </a:r>
            <a:endParaRPr b="1" sz="2000">
              <a:latin typeface="DM Sans"/>
              <a:ea typeface="DM Sans"/>
              <a:cs typeface="DM Sans"/>
              <a:sym typeface="DM Sans"/>
            </a:endParaRPr>
          </a:p>
          <a:p>
            <a:pPr indent="0" lvl="0" marL="0" rtl="0" algn="l">
              <a:spcBef>
                <a:spcPts val="0"/>
              </a:spcBef>
              <a:spcAft>
                <a:spcPts val="0"/>
              </a:spcAft>
              <a:buNone/>
            </a:pPr>
            <a:r>
              <a:rPr lang="en" sz="2000">
                <a:latin typeface="DM Sans"/>
                <a:ea typeface="DM Sans"/>
                <a:cs typeface="DM Sans"/>
                <a:sym typeface="DM Sans"/>
              </a:rPr>
              <a:t>- Use the passage to formulate your own response.</a:t>
            </a:r>
            <a:endParaRPr sz="2000">
              <a:latin typeface="DM Sans"/>
              <a:ea typeface="DM Sans"/>
              <a:cs typeface="DM Sans"/>
              <a:sym typeface="DM Sans"/>
            </a:endParaRPr>
          </a:p>
        </p:txBody>
      </p:sp>
      <p:sp>
        <p:nvSpPr>
          <p:cNvPr id="333" name="Google Shape;333;p33"/>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p33"/>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35" name="Google Shape;335;p33"/>
          <p:cNvSpPr txBox="1"/>
          <p:nvPr/>
        </p:nvSpPr>
        <p:spPr>
          <a:xfrm>
            <a:off x="1508725" y="313350"/>
            <a:ext cx="7425000" cy="569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700">
                <a:latin typeface="Merriweather"/>
                <a:ea typeface="Merriweather"/>
                <a:cs typeface="Merriweather"/>
                <a:sym typeface="Merriweather"/>
              </a:rPr>
              <a:t>How to Eliminate Trick Answers</a:t>
            </a:r>
            <a:endParaRPr sz="3300">
              <a:latin typeface="Merriweather"/>
              <a:ea typeface="Merriweather"/>
              <a:cs typeface="Merriweather"/>
              <a:sym typeface="Merriweather"/>
            </a:endParaRPr>
          </a:p>
        </p:txBody>
      </p:sp>
      <p:pic>
        <p:nvPicPr>
          <p:cNvPr id="336" name="Google Shape;336;p3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37" name="Google Shape;337;p33"/>
          <p:cNvSpPr txBox="1"/>
          <p:nvPr/>
        </p:nvSpPr>
        <p:spPr>
          <a:xfrm>
            <a:off x="4462100" y="1028550"/>
            <a:ext cx="4361700" cy="338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2000">
                <a:solidFill>
                  <a:schemeClr val="dk1"/>
                </a:solidFill>
                <a:latin typeface="DM Sans"/>
                <a:ea typeface="DM Sans"/>
                <a:cs typeface="DM Sans"/>
                <a:sym typeface="DM Sans"/>
              </a:rPr>
              <a:t>3. Eliminate unsupported choices.</a:t>
            </a:r>
            <a:endParaRPr b="1"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Cross out answers that exaggerate, contradict, or introduce new information.</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b="1" lang="en" sz="2000">
                <a:solidFill>
                  <a:schemeClr val="dk1"/>
                </a:solidFill>
                <a:latin typeface="DM Sans"/>
                <a:ea typeface="DM Sans"/>
                <a:cs typeface="DM Sans"/>
                <a:sym typeface="DM Sans"/>
              </a:rPr>
              <a:t>4. Compare the remaining choices.</a:t>
            </a:r>
            <a:endParaRPr b="1"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Choose the answer with the strongest and most direct textual support.</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b="1" lang="en" sz="2000">
                <a:solidFill>
                  <a:schemeClr val="dk1"/>
                </a:solidFill>
                <a:latin typeface="DM Sans"/>
                <a:ea typeface="DM Sans"/>
                <a:cs typeface="DM Sans"/>
                <a:sym typeface="DM Sans"/>
              </a:rPr>
              <a:t>5. Verify your selection.</a:t>
            </a:r>
            <a:endParaRPr b="1"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Return to the passage and identify the evidence that justifies it.</a:t>
            </a:r>
            <a:endParaRPr sz="20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800"/>
                                        <p:tgtEl>
                                          <p:spTgt spid="332"/>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8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C073"/>
        </a:solidFill>
      </p:bgPr>
    </p:bg>
    <p:spTree>
      <p:nvGrpSpPr>
        <p:cNvPr id="341" name="Shape 341"/>
        <p:cNvGrpSpPr/>
        <p:nvPr/>
      </p:nvGrpSpPr>
      <p:grpSpPr>
        <a:xfrm>
          <a:off x="0" y="0"/>
          <a:ext cx="0" cy="0"/>
          <a:chOff x="0" y="0"/>
          <a:chExt cx="0" cy="0"/>
        </a:xfrm>
      </p:grpSpPr>
      <p:sp>
        <p:nvSpPr>
          <p:cNvPr id="342" name="Google Shape;342;p34"/>
          <p:cNvSpPr/>
          <p:nvPr/>
        </p:nvSpPr>
        <p:spPr>
          <a:xfrm>
            <a:off x="-6127783" y="4033425"/>
            <a:ext cx="15271794" cy="1110073"/>
          </a:xfrm>
          <a:prstGeom prst="rect">
            <a:avLst/>
          </a:prstGeom>
        </p:spPr>
        <p:txBody>
          <a:bodyPr>
            <a:prstTxWarp prst="textPlain"/>
          </a:bodyPr>
          <a:lstStyle/>
          <a:p>
            <a:pPr lvl="0" algn="ctr"/>
            <a:r>
              <a:rPr b="0" i="0">
                <a:ln cap="flat" cmpd="sng" w="76200">
                  <a:solidFill>
                    <a:srgbClr val="FEF9DE"/>
                  </a:solidFill>
                  <a:prstDash val="solid"/>
                  <a:round/>
                  <a:headEnd len="sm" w="sm" type="none"/>
                  <a:tailEnd len="sm" w="sm" type="none"/>
                </a:ln>
                <a:noFill/>
                <a:latin typeface="DM Sans"/>
              </a:rPr>
              <a:t>scale △ 5 12 13 cross ∠ ≊ parallel ∟</a:t>
            </a:r>
          </a:p>
        </p:txBody>
      </p:sp>
      <p:sp>
        <p:nvSpPr>
          <p:cNvPr id="343" name="Google Shape;343;p34"/>
          <p:cNvSpPr/>
          <p:nvPr/>
        </p:nvSpPr>
        <p:spPr>
          <a:xfrm>
            <a:off x="-8" y="0"/>
            <a:ext cx="15271794" cy="1110073"/>
          </a:xfrm>
          <a:prstGeom prst="rect">
            <a:avLst/>
          </a:prstGeom>
        </p:spPr>
        <p:txBody>
          <a:bodyPr>
            <a:prstTxWarp prst="textPlain"/>
          </a:bodyPr>
          <a:lstStyle/>
          <a:p>
            <a:pPr lvl="0" algn="ctr"/>
            <a:r>
              <a:rPr b="0" i="0">
                <a:ln cap="flat" cmpd="sng" w="76200">
                  <a:solidFill>
                    <a:srgbClr val="FEF9DE"/>
                  </a:solidFill>
                  <a:prstDash val="solid"/>
                  <a:round/>
                  <a:headEnd len="sm" w="sm" type="none"/>
                  <a:tailEnd len="sm" w="sm" type="none"/>
                </a:ln>
                <a:noFill/>
                <a:latin typeface="DM Sans"/>
              </a:rPr>
              <a:t>scale △ 5 12 13 cross ∠ ≊ parallel ∟</a:t>
            </a:r>
          </a:p>
        </p:txBody>
      </p:sp>
      <p:sp>
        <p:nvSpPr>
          <p:cNvPr id="344" name="Google Shape;344;p34"/>
          <p:cNvSpPr/>
          <p:nvPr/>
        </p:nvSpPr>
        <p:spPr>
          <a:xfrm>
            <a:off x="0" y="1547100"/>
            <a:ext cx="9144000" cy="738900"/>
          </a:xfrm>
          <a:prstGeom prst="rect">
            <a:avLst/>
          </a:prstGeom>
          <a:solidFill>
            <a:srgbClr val="FEF9D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34"/>
          <p:cNvSpPr/>
          <p:nvPr/>
        </p:nvSpPr>
        <p:spPr>
          <a:xfrm>
            <a:off x="228590" y="228602"/>
            <a:ext cx="2057400" cy="2057400"/>
          </a:xfrm>
          <a:prstGeom prst="ellipse">
            <a:avLst/>
          </a:prstGeom>
          <a:solidFill>
            <a:srgbClr val="FEF9DE"/>
          </a:solidFill>
          <a:ln cap="flat" cmpd="sng" w="152400">
            <a:solidFill>
              <a:srgbClr val="FAC073"/>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latin typeface="Merriweather"/>
                <a:ea typeface="Merriweather"/>
                <a:cs typeface="Merriweather"/>
                <a:sym typeface="Merriweather"/>
              </a:rPr>
              <a:t>Fall</a:t>
            </a:r>
            <a:endParaRPr sz="3200">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latin typeface="Merriweather"/>
                <a:ea typeface="Merriweather"/>
                <a:cs typeface="Merriweather"/>
                <a:sym typeface="Merriweather"/>
              </a:rPr>
              <a:t>4</a:t>
            </a:r>
            <a:endParaRPr sz="9600">
              <a:latin typeface="Merriweather"/>
              <a:ea typeface="Merriweather"/>
              <a:cs typeface="Merriweather"/>
              <a:sym typeface="Merriweather"/>
            </a:endParaRPr>
          </a:p>
        </p:txBody>
      </p:sp>
      <p:sp>
        <p:nvSpPr>
          <p:cNvPr id="346" name="Google Shape;346;p34"/>
          <p:cNvSpPr txBox="1"/>
          <p:nvPr/>
        </p:nvSpPr>
        <p:spPr>
          <a:xfrm>
            <a:off x="2514600" y="1654950"/>
            <a:ext cx="6400800" cy="52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400">
                <a:latin typeface="Merriweather"/>
                <a:ea typeface="Merriweather"/>
                <a:cs typeface="Merriweather"/>
                <a:sym typeface="Merriweather"/>
              </a:rPr>
              <a:t>Geometric Figures and Angles</a:t>
            </a:r>
            <a:endParaRPr sz="3400">
              <a:latin typeface="Merriweather"/>
              <a:ea typeface="Merriweather"/>
              <a:cs typeface="Merriweather"/>
              <a:sym typeface="Merriweather"/>
            </a:endParaRPr>
          </a:p>
        </p:txBody>
      </p:sp>
      <p:sp>
        <p:nvSpPr>
          <p:cNvPr id="347" name="Google Shape;347;p34"/>
          <p:cNvSpPr txBox="1"/>
          <p:nvPr/>
        </p:nvSpPr>
        <p:spPr>
          <a:xfrm>
            <a:off x="2514600" y="1011000"/>
            <a:ext cx="64008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200">
                <a:latin typeface="DM Sans"/>
                <a:ea typeface="DM Sans"/>
                <a:cs typeface="DM Sans"/>
                <a:sym typeface="DM Sans"/>
              </a:rPr>
              <a:t>Mathematics</a:t>
            </a:r>
            <a:endParaRPr sz="3200">
              <a:latin typeface="DM Sans"/>
              <a:ea typeface="DM Sans"/>
              <a:cs typeface="DM Sans"/>
              <a:sym typeface="DM Sans"/>
            </a:endParaRPr>
          </a:p>
        </p:txBody>
      </p:sp>
      <p:sp>
        <p:nvSpPr>
          <p:cNvPr id="348" name="Google Shape;348;p34"/>
          <p:cNvSpPr txBox="1"/>
          <p:nvPr/>
        </p:nvSpPr>
        <p:spPr>
          <a:xfrm>
            <a:off x="228600" y="2514600"/>
            <a:ext cx="4114800" cy="1847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latin typeface="DM Sans"/>
                <a:ea typeface="DM Sans"/>
                <a:cs typeface="DM Sans"/>
                <a:sym typeface="DM Sans"/>
              </a:rPr>
              <a:t>Aim:</a:t>
            </a:r>
            <a:r>
              <a:rPr lang="en" sz="2400">
                <a:latin typeface="DM Sans"/>
                <a:ea typeface="DM Sans"/>
                <a:cs typeface="DM Sans"/>
                <a:sym typeface="DM Sans"/>
              </a:rPr>
              <a:t> Use modeling strategies to describe relationships between geometric figures and between angles.</a:t>
            </a:r>
            <a:endParaRPr sz="2400">
              <a:latin typeface="DM Sans"/>
              <a:ea typeface="DM Sans"/>
              <a:cs typeface="DM Sans"/>
              <a:sym typeface="DM Sans"/>
            </a:endParaRPr>
          </a:p>
        </p:txBody>
      </p:sp>
      <p:sp>
        <p:nvSpPr>
          <p:cNvPr id="349" name="Google Shape;349;p34"/>
          <p:cNvSpPr txBox="1"/>
          <p:nvPr/>
        </p:nvSpPr>
        <p:spPr>
          <a:xfrm>
            <a:off x="4800600" y="2518650"/>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latin typeface="DM Sans"/>
                <a:ea typeface="DM Sans"/>
                <a:cs typeface="DM Sans"/>
                <a:sym typeface="DM Sans"/>
              </a:rPr>
              <a:t>Do Now:</a:t>
            </a:r>
            <a:r>
              <a:rPr lang="en" sz="2400">
                <a:latin typeface="DM Sans"/>
                <a:ea typeface="DM Sans"/>
                <a:cs typeface="DM Sans"/>
                <a:sym typeface="DM Sans"/>
              </a:rPr>
              <a:t> What is congruence? What is similarity?</a:t>
            </a:r>
            <a:endParaRPr sz="24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8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800"/>
                                        <p:tgtEl>
                                          <p:spTgt spid="346"/>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800"/>
                                        <p:tgtEl>
                                          <p:spTgt spid="348"/>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800"/>
                                        <p:tgtEl>
                                          <p:spTgt spid="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353" name="Shape 353"/>
        <p:cNvGrpSpPr/>
        <p:nvPr/>
      </p:nvGrpSpPr>
      <p:grpSpPr>
        <a:xfrm>
          <a:off x="0" y="0"/>
          <a:ext cx="0" cy="0"/>
          <a:chOff x="0" y="0"/>
          <a:chExt cx="0" cy="0"/>
        </a:xfrm>
      </p:grpSpPr>
      <p:sp>
        <p:nvSpPr>
          <p:cNvPr id="354" name="Google Shape;354;p35"/>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355" name="Google Shape;355;p35"/>
          <p:cNvSpPr txBox="1"/>
          <p:nvPr/>
        </p:nvSpPr>
        <p:spPr>
          <a:xfrm>
            <a:off x="228600" y="1490400"/>
            <a:ext cx="4114800" cy="1847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I can’t put a rectangle the size of my room in this slide. But I can put a smaller rectangle and give a </a:t>
            </a:r>
            <a:r>
              <a:rPr b="1" lang="en" sz="2400">
                <a:latin typeface="DM Sans"/>
                <a:ea typeface="DM Sans"/>
                <a:cs typeface="DM Sans"/>
                <a:sym typeface="DM Sans"/>
              </a:rPr>
              <a:t>scale factor</a:t>
            </a:r>
            <a:r>
              <a:rPr lang="en" sz="2400">
                <a:latin typeface="DM Sans"/>
                <a:ea typeface="DM Sans"/>
                <a:cs typeface="DM Sans"/>
                <a:sym typeface="DM Sans"/>
              </a:rPr>
              <a:t> (1 in to 3 ft).</a:t>
            </a:r>
            <a:endParaRPr sz="2400">
              <a:latin typeface="DM Sans"/>
              <a:ea typeface="DM Sans"/>
              <a:cs typeface="DM Sans"/>
              <a:sym typeface="DM Sans"/>
            </a:endParaRPr>
          </a:p>
        </p:txBody>
      </p:sp>
      <p:sp>
        <p:nvSpPr>
          <p:cNvPr id="356" name="Google Shape;356;p35"/>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7" name="Google Shape;357;p35"/>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58" name="Google Shape;358;p3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Scale Drawings</a:t>
            </a:r>
            <a:endParaRPr sz="4800">
              <a:latin typeface="Merriweather"/>
              <a:ea typeface="Merriweather"/>
              <a:cs typeface="Merriweather"/>
              <a:sym typeface="Merriweather"/>
            </a:endParaRPr>
          </a:p>
        </p:txBody>
      </p:sp>
      <p:pic>
        <p:nvPicPr>
          <p:cNvPr id="359" name="Google Shape;359;p35"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360" name="Google Shape;360;p35"/>
          <p:cNvGrpSpPr/>
          <p:nvPr/>
        </p:nvGrpSpPr>
        <p:grpSpPr>
          <a:xfrm>
            <a:off x="4800600" y="1490400"/>
            <a:ext cx="4114800" cy="1828800"/>
            <a:chOff x="4800600" y="1490400"/>
            <a:chExt cx="4114800" cy="1828800"/>
          </a:xfrm>
        </p:grpSpPr>
        <p:sp>
          <p:nvSpPr>
            <p:cNvPr id="361" name="Google Shape;361;p35"/>
            <p:cNvSpPr/>
            <p:nvPr/>
          </p:nvSpPr>
          <p:spPr>
            <a:xfrm>
              <a:off x="4800600" y="1490400"/>
              <a:ext cx="4114800" cy="1828800"/>
            </a:xfrm>
            <a:prstGeom prst="rect">
              <a:avLst/>
            </a:prstGeom>
            <a:solidFill>
              <a:srgbClr val="FAC073"/>
            </a:solidFill>
            <a:ln cap="flat" cmpd="sng" w="19050">
              <a:solidFill>
                <a:srgbClr val="000000"/>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35"/>
            <p:cNvSpPr txBox="1"/>
            <p:nvPr/>
          </p:nvSpPr>
          <p:spPr>
            <a:xfrm>
              <a:off x="4800600" y="2164650"/>
              <a:ext cx="914400" cy="480300"/>
            </a:xfrm>
            <a:prstGeom prst="rect">
              <a:avLst/>
            </a:prstGeom>
            <a:noFill/>
            <a:ln>
              <a:noFill/>
            </a:ln>
            <a:effectLst>
              <a:outerShdw blurRad="71438" rotWithShape="0" algn="bl">
                <a:srgbClr val="FFFFFF"/>
              </a:outerShdw>
            </a:effectLst>
          </p:spPr>
          <p:txBody>
            <a:bodyPr anchorCtr="0" anchor="t" bIns="54850" lIns="54850" spcFirstLastPara="1" rIns="54850" wrap="square" tIns="54850">
              <a:spAutoFit/>
            </a:bodyPr>
            <a:lstStyle/>
            <a:p>
              <a:pPr indent="0" lvl="0" marL="0" rtl="0" algn="l">
                <a:spcBef>
                  <a:spcPts val="0"/>
                </a:spcBef>
                <a:spcAft>
                  <a:spcPts val="0"/>
                </a:spcAft>
                <a:buNone/>
              </a:pPr>
              <a:r>
                <a:rPr lang="en" sz="2400">
                  <a:latin typeface="DM Sans"/>
                  <a:ea typeface="DM Sans"/>
                  <a:cs typeface="DM Sans"/>
                  <a:sym typeface="DM Sans"/>
                </a:rPr>
                <a:t>2 in</a:t>
              </a:r>
              <a:endParaRPr sz="2400">
                <a:latin typeface="DM Sans"/>
                <a:ea typeface="DM Sans"/>
                <a:cs typeface="DM Sans"/>
                <a:sym typeface="DM Sans"/>
              </a:endParaRPr>
            </a:p>
          </p:txBody>
        </p:sp>
        <p:sp>
          <p:nvSpPr>
            <p:cNvPr id="363" name="Google Shape;363;p35"/>
            <p:cNvSpPr txBox="1"/>
            <p:nvPr/>
          </p:nvSpPr>
          <p:spPr>
            <a:xfrm>
              <a:off x="6400800" y="2838900"/>
              <a:ext cx="914400" cy="480300"/>
            </a:xfrm>
            <a:prstGeom prst="rect">
              <a:avLst/>
            </a:prstGeom>
            <a:noFill/>
            <a:ln>
              <a:noFill/>
            </a:ln>
            <a:effectLst>
              <a:outerShdw blurRad="71438" rotWithShape="0" algn="bl">
                <a:srgbClr val="FFFFFF"/>
              </a:outerShdw>
            </a:effectLst>
          </p:spPr>
          <p:txBody>
            <a:bodyPr anchorCtr="0" anchor="t" bIns="54850" lIns="54850" spcFirstLastPara="1" rIns="54850" wrap="square" tIns="54850">
              <a:spAutoFit/>
            </a:bodyPr>
            <a:lstStyle/>
            <a:p>
              <a:pPr indent="0" lvl="0" marL="0" rtl="0" algn="ctr">
                <a:spcBef>
                  <a:spcPts val="0"/>
                </a:spcBef>
                <a:spcAft>
                  <a:spcPts val="0"/>
                </a:spcAft>
                <a:buNone/>
              </a:pPr>
              <a:r>
                <a:rPr lang="en" sz="2400">
                  <a:latin typeface="DM Sans"/>
                  <a:ea typeface="DM Sans"/>
                  <a:cs typeface="DM Sans"/>
                  <a:sym typeface="DM Sans"/>
                </a:rPr>
                <a:t>4.5</a:t>
              </a:r>
              <a:r>
                <a:rPr lang="en" sz="2400">
                  <a:latin typeface="DM Sans"/>
                  <a:ea typeface="DM Sans"/>
                  <a:cs typeface="DM Sans"/>
                  <a:sym typeface="DM Sans"/>
                </a:rPr>
                <a:t> in</a:t>
              </a:r>
              <a:endParaRPr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800"/>
                                        <p:tgtEl>
                                          <p:spTgt spid="355"/>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8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367" name="Shape 367"/>
        <p:cNvGrpSpPr/>
        <p:nvPr/>
      </p:nvGrpSpPr>
      <p:grpSpPr>
        <a:xfrm>
          <a:off x="0" y="0"/>
          <a:ext cx="0" cy="0"/>
          <a:chOff x="0" y="0"/>
          <a:chExt cx="0" cy="0"/>
        </a:xfrm>
      </p:grpSpPr>
      <p:sp>
        <p:nvSpPr>
          <p:cNvPr id="368" name="Google Shape;368;p36"/>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369" name="Google Shape;369;p36"/>
          <p:cNvSpPr txBox="1"/>
          <p:nvPr/>
        </p:nvSpPr>
        <p:spPr>
          <a:xfrm>
            <a:off x="228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Scale factor: 1 in to 3 ft</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Let’s find the area:</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2 in(3 ft⁄in) × 4.5 in(3 ft⁄in)</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6 ft × 13.5 ft</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81 ft</a:t>
            </a:r>
            <a:r>
              <a:rPr baseline="30000" lang="en" sz="2400">
                <a:latin typeface="DM Sans"/>
                <a:ea typeface="DM Sans"/>
                <a:cs typeface="DM Sans"/>
                <a:sym typeface="DM Sans"/>
              </a:rPr>
              <a:t>2</a:t>
            </a:r>
            <a:endParaRPr sz="2400">
              <a:latin typeface="DM Sans"/>
              <a:ea typeface="DM Sans"/>
              <a:cs typeface="DM Sans"/>
              <a:sym typeface="DM Sans"/>
            </a:endParaRPr>
          </a:p>
        </p:txBody>
      </p:sp>
      <p:sp>
        <p:nvSpPr>
          <p:cNvPr id="370" name="Google Shape;370;p36"/>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36"/>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72" name="Google Shape;372;p3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Scale Drawings</a:t>
            </a:r>
            <a:endParaRPr sz="4800">
              <a:latin typeface="Merriweather"/>
              <a:ea typeface="Merriweather"/>
              <a:cs typeface="Merriweather"/>
              <a:sym typeface="Merriweather"/>
            </a:endParaRPr>
          </a:p>
        </p:txBody>
      </p:sp>
      <p:pic>
        <p:nvPicPr>
          <p:cNvPr id="373" name="Google Shape;373;p36"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374" name="Google Shape;374;p36"/>
          <p:cNvGrpSpPr/>
          <p:nvPr/>
        </p:nvGrpSpPr>
        <p:grpSpPr>
          <a:xfrm>
            <a:off x="4800600" y="1490400"/>
            <a:ext cx="4114800" cy="1828800"/>
            <a:chOff x="4800600" y="1490400"/>
            <a:chExt cx="4114800" cy="1828800"/>
          </a:xfrm>
        </p:grpSpPr>
        <p:sp>
          <p:nvSpPr>
            <p:cNvPr id="375" name="Google Shape;375;p36"/>
            <p:cNvSpPr/>
            <p:nvPr/>
          </p:nvSpPr>
          <p:spPr>
            <a:xfrm>
              <a:off x="4800600" y="1490400"/>
              <a:ext cx="4114800" cy="1828800"/>
            </a:xfrm>
            <a:prstGeom prst="rect">
              <a:avLst/>
            </a:prstGeom>
            <a:solidFill>
              <a:srgbClr val="FAC073"/>
            </a:solidFill>
            <a:ln cap="flat" cmpd="sng" w="19050">
              <a:solidFill>
                <a:srgbClr val="000000"/>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36"/>
            <p:cNvSpPr txBox="1"/>
            <p:nvPr/>
          </p:nvSpPr>
          <p:spPr>
            <a:xfrm>
              <a:off x="4800600" y="2164650"/>
              <a:ext cx="914400" cy="480300"/>
            </a:xfrm>
            <a:prstGeom prst="rect">
              <a:avLst/>
            </a:prstGeom>
            <a:noFill/>
            <a:ln>
              <a:noFill/>
            </a:ln>
            <a:effectLst>
              <a:outerShdw blurRad="71438" rotWithShape="0" algn="bl">
                <a:srgbClr val="FFFFFF"/>
              </a:outerShdw>
            </a:effectLst>
          </p:spPr>
          <p:txBody>
            <a:bodyPr anchorCtr="0" anchor="t" bIns="54850" lIns="54850" spcFirstLastPara="1" rIns="54850" wrap="square" tIns="54850">
              <a:spAutoFit/>
            </a:bodyPr>
            <a:lstStyle/>
            <a:p>
              <a:pPr indent="0" lvl="0" marL="0" rtl="0" algn="l">
                <a:spcBef>
                  <a:spcPts val="0"/>
                </a:spcBef>
                <a:spcAft>
                  <a:spcPts val="0"/>
                </a:spcAft>
                <a:buNone/>
              </a:pPr>
              <a:r>
                <a:rPr lang="en" sz="2400">
                  <a:latin typeface="DM Sans"/>
                  <a:ea typeface="DM Sans"/>
                  <a:cs typeface="DM Sans"/>
                  <a:sym typeface="DM Sans"/>
                </a:rPr>
                <a:t>2 in</a:t>
              </a:r>
              <a:endParaRPr sz="2400">
                <a:latin typeface="DM Sans"/>
                <a:ea typeface="DM Sans"/>
                <a:cs typeface="DM Sans"/>
                <a:sym typeface="DM Sans"/>
              </a:endParaRPr>
            </a:p>
          </p:txBody>
        </p:sp>
        <p:sp>
          <p:nvSpPr>
            <p:cNvPr id="377" name="Google Shape;377;p36"/>
            <p:cNvSpPr txBox="1"/>
            <p:nvPr/>
          </p:nvSpPr>
          <p:spPr>
            <a:xfrm>
              <a:off x="6400800" y="2838900"/>
              <a:ext cx="914400" cy="480300"/>
            </a:xfrm>
            <a:prstGeom prst="rect">
              <a:avLst/>
            </a:prstGeom>
            <a:noFill/>
            <a:ln>
              <a:noFill/>
            </a:ln>
            <a:effectLst>
              <a:outerShdw blurRad="71438" rotWithShape="0" algn="bl">
                <a:srgbClr val="FFFFFF"/>
              </a:outerShdw>
            </a:effectLst>
          </p:spPr>
          <p:txBody>
            <a:bodyPr anchorCtr="0" anchor="t" bIns="54850" lIns="54850" spcFirstLastPara="1" rIns="54850" wrap="square" tIns="54850">
              <a:spAutoFit/>
            </a:bodyPr>
            <a:lstStyle/>
            <a:p>
              <a:pPr indent="0" lvl="0" marL="0" rtl="0" algn="ctr">
                <a:spcBef>
                  <a:spcPts val="0"/>
                </a:spcBef>
                <a:spcAft>
                  <a:spcPts val="0"/>
                </a:spcAft>
                <a:buNone/>
              </a:pPr>
              <a:r>
                <a:rPr lang="en" sz="2400">
                  <a:latin typeface="DM Sans"/>
                  <a:ea typeface="DM Sans"/>
                  <a:cs typeface="DM Sans"/>
                  <a:sym typeface="DM Sans"/>
                </a:rPr>
                <a:t>4.5 in</a:t>
              </a:r>
              <a:endParaRPr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800"/>
                                        <p:tgtEl>
                                          <p:spTgt spid="3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381" name="Shape 381"/>
        <p:cNvGrpSpPr/>
        <p:nvPr/>
      </p:nvGrpSpPr>
      <p:grpSpPr>
        <a:xfrm>
          <a:off x="0" y="0"/>
          <a:ext cx="0" cy="0"/>
          <a:chOff x="0" y="0"/>
          <a:chExt cx="0" cy="0"/>
        </a:xfrm>
      </p:grpSpPr>
      <p:sp>
        <p:nvSpPr>
          <p:cNvPr id="382" name="Google Shape;382;p37"/>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383" name="Google Shape;383;p37"/>
          <p:cNvSpPr txBox="1"/>
          <p:nvPr/>
        </p:nvSpPr>
        <p:spPr>
          <a:xfrm>
            <a:off x="228600" y="1490400"/>
            <a:ext cx="4114800" cy="2955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Be careful when you convert in</a:t>
            </a:r>
            <a:r>
              <a:rPr baseline="30000" lang="en" sz="2400">
                <a:latin typeface="DM Sans"/>
                <a:ea typeface="DM Sans"/>
                <a:cs typeface="DM Sans"/>
                <a:sym typeface="DM Sans"/>
              </a:rPr>
              <a:t>2</a:t>
            </a:r>
            <a:r>
              <a:rPr lang="en" sz="2400">
                <a:latin typeface="DM Sans"/>
                <a:ea typeface="DM Sans"/>
                <a:cs typeface="DM Sans"/>
                <a:sym typeface="DM Sans"/>
              </a:rPr>
              <a:t> to ft</a:t>
            </a:r>
            <a:r>
              <a:rPr baseline="30000" lang="en" sz="2400">
                <a:latin typeface="DM Sans"/>
                <a:ea typeface="DM Sans"/>
                <a:cs typeface="DM Sans"/>
                <a:sym typeface="DM Sans"/>
              </a:rPr>
              <a:t>2</a:t>
            </a:r>
            <a:r>
              <a:rPr lang="en" sz="2400">
                <a:latin typeface="DM Sans"/>
                <a:ea typeface="DM Sans"/>
                <a:cs typeface="DM Sans"/>
                <a:sym typeface="DM Sans"/>
              </a:rPr>
              <a:t>:</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2 × 4.5 in = 9 in</a:t>
            </a:r>
            <a:r>
              <a:rPr baseline="30000" lang="en" sz="2400">
                <a:latin typeface="DM Sans"/>
                <a:ea typeface="DM Sans"/>
                <a:cs typeface="DM Sans"/>
                <a:sym typeface="DM Sans"/>
              </a:rPr>
              <a:t>2</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9 in</a:t>
            </a:r>
            <a:r>
              <a:rPr baseline="30000" lang="en" sz="2400">
                <a:latin typeface="DM Sans"/>
                <a:ea typeface="DM Sans"/>
                <a:cs typeface="DM Sans"/>
                <a:sym typeface="DM Sans"/>
              </a:rPr>
              <a:t>2</a:t>
            </a:r>
            <a:r>
              <a:rPr lang="en" sz="2400">
                <a:latin typeface="DM Sans"/>
                <a:ea typeface="DM Sans"/>
                <a:cs typeface="DM Sans"/>
                <a:sym typeface="DM Sans"/>
              </a:rPr>
              <a:t>(3 ft⁄in)</a:t>
            </a:r>
            <a:r>
              <a:rPr baseline="30000" lang="en" sz="2400">
                <a:latin typeface="DM Sans"/>
                <a:ea typeface="DM Sans"/>
                <a:cs typeface="DM Sans"/>
                <a:sym typeface="DM Sans"/>
              </a:rPr>
              <a:t>2</a:t>
            </a:r>
            <a:r>
              <a:rPr lang="en" sz="2400">
                <a:latin typeface="DM Sans"/>
                <a:ea typeface="DM Sans"/>
                <a:cs typeface="DM Sans"/>
                <a:sym typeface="DM Sans"/>
              </a:rPr>
              <a:t> </a:t>
            </a:r>
            <a:r>
              <a:rPr i="1" lang="en" sz="2400">
                <a:latin typeface="DM Sans"/>
                <a:ea typeface="DM Sans"/>
                <a:cs typeface="DM Sans"/>
                <a:sym typeface="DM Sans"/>
              </a:rPr>
              <a:t>scale factor squared because of the in</a:t>
            </a:r>
            <a:r>
              <a:rPr baseline="30000" i="1" lang="en" sz="2400">
                <a:latin typeface="DM Sans"/>
                <a:ea typeface="DM Sans"/>
                <a:cs typeface="DM Sans"/>
                <a:sym typeface="DM Sans"/>
              </a:rPr>
              <a:t>2</a:t>
            </a:r>
            <a:endParaRPr baseline="30000" i="1"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9 in</a:t>
            </a:r>
            <a:r>
              <a:rPr baseline="30000" lang="en" sz="2400">
                <a:latin typeface="DM Sans"/>
                <a:ea typeface="DM Sans"/>
                <a:cs typeface="DM Sans"/>
                <a:sym typeface="DM Sans"/>
              </a:rPr>
              <a:t>2</a:t>
            </a:r>
            <a:r>
              <a:rPr lang="en" sz="2400">
                <a:latin typeface="DM Sans"/>
                <a:ea typeface="DM Sans"/>
                <a:cs typeface="DM Sans"/>
                <a:sym typeface="DM Sans"/>
              </a:rPr>
              <a:t>(9 ft</a:t>
            </a:r>
            <a:r>
              <a:rPr baseline="30000" lang="en" sz="2400">
                <a:latin typeface="DM Sans"/>
                <a:ea typeface="DM Sans"/>
                <a:cs typeface="DM Sans"/>
                <a:sym typeface="DM Sans"/>
              </a:rPr>
              <a:t>2</a:t>
            </a:r>
            <a:r>
              <a:rPr lang="en" sz="2400">
                <a:latin typeface="DM Sans"/>
                <a:ea typeface="DM Sans"/>
                <a:cs typeface="DM Sans"/>
                <a:sym typeface="DM Sans"/>
              </a:rPr>
              <a:t>⁄in</a:t>
            </a:r>
            <a:r>
              <a:rPr baseline="30000" lang="en" sz="2400">
                <a:latin typeface="DM Sans"/>
                <a:ea typeface="DM Sans"/>
                <a:cs typeface="DM Sans"/>
                <a:sym typeface="DM Sans"/>
              </a:rPr>
              <a:t>2</a:t>
            </a:r>
            <a:r>
              <a:rPr lang="en" sz="2400">
                <a:latin typeface="DM Sans"/>
                <a:ea typeface="DM Sans"/>
                <a:cs typeface="DM Sans"/>
                <a:sym typeface="DM Sans"/>
              </a:rPr>
              <a:t>)</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81 ft</a:t>
            </a:r>
            <a:r>
              <a:rPr baseline="30000" lang="en" sz="2400">
                <a:latin typeface="DM Sans"/>
                <a:ea typeface="DM Sans"/>
                <a:cs typeface="DM Sans"/>
                <a:sym typeface="DM Sans"/>
              </a:rPr>
              <a:t>2</a:t>
            </a:r>
            <a:endParaRPr sz="2400">
              <a:latin typeface="DM Sans"/>
              <a:ea typeface="DM Sans"/>
              <a:cs typeface="DM Sans"/>
              <a:sym typeface="DM Sans"/>
            </a:endParaRPr>
          </a:p>
        </p:txBody>
      </p:sp>
      <p:sp>
        <p:nvSpPr>
          <p:cNvPr id="384" name="Google Shape;384;p37"/>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5" name="Google Shape;385;p37"/>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86" name="Google Shape;386;p3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Scale Drawings</a:t>
            </a:r>
            <a:endParaRPr sz="4800">
              <a:latin typeface="Merriweather"/>
              <a:ea typeface="Merriweather"/>
              <a:cs typeface="Merriweather"/>
              <a:sym typeface="Merriweather"/>
            </a:endParaRPr>
          </a:p>
        </p:txBody>
      </p:sp>
      <p:pic>
        <p:nvPicPr>
          <p:cNvPr id="387" name="Google Shape;387;p37"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388" name="Google Shape;388;p37"/>
          <p:cNvGrpSpPr/>
          <p:nvPr/>
        </p:nvGrpSpPr>
        <p:grpSpPr>
          <a:xfrm>
            <a:off x="4800600" y="1490400"/>
            <a:ext cx="4114800" cy="1828800"/>
            <a:chOff x="4800600" y="1490400"/>
            <a:chExt cx="4114800" cy="1828800"/>
          </a:xfrm>
        </p:grpSpPr>
        <p:sp>
          <p:nvSpPr>
            <p:cNvPr id="389" name="Google Shape;389;p37"/>
            <p:cNvSpPr/>
            <p:nvPr/>
          </p:nvSpPr>
          <p:spPr>
            <a:xfrm>
              <a:off x="4800600" y="1490400"/>
              <a:ext cx="4114800" cy="1828800"/>
            </a:xfrm>
            <a:prstGeom prst="rect">
              <a:avLst/>
            </a:prstGeom>
            <a:solidFill>
              <a:srgbClr val="FAC073"/>
            </a:solidFill>
            <a:ln cap="flat" cmpd="sng" w="19050">
              <a:solidFill>
                <a:srgbClr val="000000"/>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37"/>
            <p:cNvSpPr txBox="1"/>
            <p:nvPr/>
          </p:nvSpPr>
          <p:spPr>
            <a:xfrm>
              <a:off x="4800600" y="2164650"/>
              <a:ext cx="914400" cy="480300"/>
            </a:xfrm>
            <a:prstGeom prst="rect">
              <a:avLst/>
            </a:prstGeom>
            <a:noFill/>
            <a:ln>
              <a:noFill/>
            </a:ln>
            <a:effectLst>
              <a:outerShdw blurRad="71438" rotWithShape="0" algn="bl">
                <a:srgbClr val="FFFFFF"/>
              </a:outerShdw>
            </a:effectLst>
          </p:spPr>
          <p:txBody>
            <a:bodyPr anchorCtr="0" anchor="t" bIns="54850" lIns="54850" spcFirstLastPara="1" rIns="54850" wrap="square" tIns="54850">
              <a:spAutoFit/>
            </a:bodyPr>
            <a:lstStyle/>
            <a:p>
              <a:pPr indent="0" lvl="0" marL="0" rtl="0" algn="l">
                <a:spcBef>
                  <a:spcPts val="0"/>
                </a:spcBef>
                <a:spcAft>
                  <a:spcPts val="0"/>
                </a:spcAft>
                <a:buNone/>
              </a:pPr>
              <a:r>
                <a:rPr lang="en" sz="2400">
                  <a:latin typeface="DM Sans"/>
                  <a:ea typeface="DM Sans"/>
                  <a:cs typeface="DM Sans"/>
                  <a:sym typeface="DM Sans"/>
                </a:rPr>
                <a:t>2 in</a:t>
              </a:r>
              <a:endParaRPr sz="2400">
                <a:latin typeface="DM Sans"/>
                <a:ea typeface="DM Sans"/>
                <a:cs typeface="DM Sans"/>
                <a:sym typeface="DM Sans"/>
              </a:endParaRPr>
            </a:p>
          </p:txBody>
        </p:sp>
        <p:sp>
          <p:nvSpPr>
            <p:cNvPr id="391" name="Google Shape;391;p37"/>
            <p:cNvSpPr txBox="1"/>
            <p:nvPr/>
          </p:nvSpPr>
          <p:spPr>
            <a:xfrm>
              <a:off x="6400800" y="2838900"/>
              <a:ext cx="914400" cy="480300"/>
            </a:xfrm>
            <a:prstGeom prst="rect">
              <a:avLst/>
            </a:prstGeom>
            <a:noFill/>
            <a:ln>
              <a:noFill/>
            </a:ln>
            <a:effectLst>
              <a:outerShdw blurRad="71438" rotWithShape="0" algn="bl">
                <a:srgbClr val="FFFFFF"/>
              </a:outerShdw>
            </a:effectLst>
          </p:spPr>
          <p:txBody>
            <a:bodyPr anchorCtr="0" anchor="t" bIns="54850" lIns="54850" spcFirstLastPara="1" rIns="54850" wrap="square" tIns="54850">
              <a:spAutoFit/>
            </a:bodyPr>
            <a:lstStyle/>
            <a:p>
              <a:pPr indent="0" lvl="0" marL="0" rtl="0" algn="ctr">
                <a:spcBef>
                  <a:spcPts val="0"/>
                </a:spcBef>
                <a:spcAft>
                  <a:spcPts val="0"/>
                </a:spcAft>
                <a:buNone/>
              </a:pPr>
              <a:r>
                <a:rPr lang="en" sz="2400">
                  <a:latin typeface="DM Sans"/>
                  <a:ea typeface="DM Sans"/>
                  <a:cs typeface="DM Sans"/>
                  <a:sym typeface="DM Sans"/>
                </a:rPr>
                <a:t>4.5 in</a:t>
              </a:r>
              <a:endParaRPr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8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395" name="Shape 395"/>
        <p:cNvGrpSpPr/>
        <p:nvPr/>
      </p:nvGrpSpPr>
      <p:grpSpPr>
        <a:xfrm>
          <a:off x="0" y="0"/>
          <a:ext cx="0" cy="0"/>
          <a:chOff x="0" y="0"/>
          <a:chExt cx="0" cy="0"/>
        </a:xfrm>
      </p:grpSpPr>
      <p:sp>
        <p:nvSpPr>
          <p:cNvPr id="396" name="Google Shape;396;p38"/>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397" name="Google Shape;397;p38"/>
          <p:cNvSpPr txBox="1"/>
          <p:nvPr/>
        </p:nvSpPr>
        <p:spPr>
          <a:xfrm>
            <a:off x="228600" y="1490400"/>
            <a:ext cx="4114800" cy="7389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Let’s draw: A triangle with side lengths 2, 2, 2.</a:t>
            </a:r>
            <a:endParaRPr sz="2400">
              <a:latin typeface="DM Sans"/>
              <a:ea typeface="DM Sans"/>
              <a:cs typeface="DM Sans"/>
              <a:sym typeface="DM Sans"/>
            </a:endParaRPr>
          </a:p>
        </p:txBody>
      </p:sp>
      <p:sp>
        <p:nvSpPr>
          <p:cNvPr id="398" name="Google Shape;398;p38"/>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9" name="Google Shape;399;p38"/>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00" name="Google Shape;400;p3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Drawing Triangles</a:t>
            </a:r>
            <a:endParaRPr sz="4800">
              <a:latin typeface="Merriweather"/>
              <a:ea typeface="Merriweather"/>
              <a:cs typeface="Merriweather"/>
              <a:sym typeface="Merriweather"/>
            </a:endParaRPr>
          </a:p>
        </p:txBody>
      </p:sp>
      <p:pic>
        <p:nvPicPr>
          <p:cNvPr id="401" name="Google Shape;401;p3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02" name="Google Shape;402;p38"/>
          <p:cNvSpPr/>
          <p:nvPr/>
        </p:nvSpPr>
        <p:spPr>
          <a:xfrm>
            <a:off x="5943600" y="1490400"/>
            <a:ext cx="1828800" cy="1581900"/>
          </a:xfrm>
          <a:prstGeom prst="triangle">
            <a:avLst>
              <a:gd fmla="val 50000" name="adj"/>
            </a:avLst>
          </a:prstGeom>
          <a:solidFill>
            <a:srgbClr val="FAC073"/>
          </a:solidFill>
          <a:ln cap="flat" cmpd="sng" w="19050">
            <a:solidFill>
              <a:srgbClr val="000000"/>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800"/>
                                        <p:tgtEl>
                                          <p:spTgt spid="397"/>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800"/>
                                        <p:tgtEl>
                                          <p:spTgt spid="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406" name="Shape 406"/>
        <p:cNvGrpSpPr/>
        <p:nvPr/>
      </p:nvGrpSpPr>
      <p:grpSpPr>
        <a:xfrm>
          <a:off x="0" y="0"/>
          <a:ext cx="0" cy="0"/>
          <a:chOff x="0" y="0"/>
          <a:chExt cx="0" cy="0"/>
        </a:xfrm>
      </p:grpSpPr>
      <p:sp>
        <p:nvSpPr>
          <p:cNvPr id="407" name="Google Shape;407;p39"/>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408" name="Google Shape;408;p39"/>
          <p:cNvSpPr txBox="1"/>
          <p:nvPr/>
        </p:nvSpPr>
        <p:spPr>
          <a:xfrm>
            <a:off x="228600" y="1490400"/>
            <a:ext cx="4114800" cy="7389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Let’s draw: A triangle with side lengths 2, 3, 3.</a:t>
            </a:r>
            <a:endParaRPr sz="2400">
              <a:latin typeface="DM Sans"/>
              <a:ea typeface="DM Sans"/>
              <a:cs typeface="DM Sans"/>
              <a:sym typeface="DM Sans"/>
            </a:endParaRPr>
          </a:p>
        </p:txBody>
      </p:sp>
      <p:sp>
        <p:nvSpPr>
          <p:cNvPr id="409" name="Google Shape;409;p39"/>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39"/>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11" name="Google Shape;411;p3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Drawing Triangles</a:t>
            </a:r>
            <a:endParaRPr sz="4800">
              <a:latin typeface="Merriweather"/>
              <a:ea typeface="Merriweather"/>
              <a:cs typeface="Merriweather"/>
              <a:sym typeface="Merriweather"/>
            </a:endParaRPr>
          </a:p>
        </p:txBody>
      </p:sp>
      <p:pic>
        <p:nvPicPr>
          <p:cNvPr id="412" name="Google Shape;412;p3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13" name="Google Shape;413;p39"/>
          <p:cNvSpPr/>
          <p:nvPr/>
        </p:nvSpPr>
        <p:spPr>
          <a:xfrm>
            <a:off x="5943600" y="1490400"/>
            <a:ext cx="1828800" cy="2587800"/>
          </a:xfrm>
          <a:prstGeom prst="triangle">
            <a:avLst>
              <a:gd fmla="val 50000" name="adj"/>
            </a:avLst>
          </a:prstGeom>
          <a:solidFill>
            <a:srgbClr val="FAC073"/>
          </a:solidFill>
          <a:ln cap="flat" cmpd="sng" w="19050">
            <a:solidFill>
              <a:srgbClr val="000000"/>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800"/>
                                        <p:tgtEl>
                                          <p:spTgt spid="408"/>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800"/>
                                        <p:tgtEl>
                                          <p:spTgt spid="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417" name="Shape 417"/>
        <p:cNvGrpSpPr/>
        <p:nvPr/>
      </p:nvGrpSpPr>
      <p:grpSpPr>
        <a:xfrm>
          <a:off x="0" y="0"/>
          <a:ext cx="0" cy="0"/>
          <a:chOff x="0" y="0"/>
          <a:chExt cx="0" cy="0"/>
        </a:xfrm>
      </p:grpSpPr>
      <p:sp>
        <p:nvSpPr>
          <p:cNvPr id="418" name="Google Shape;418;p40"/>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419" name="Google Shape;419;p40"/>
          <p:cNvSpPr txBox="1"/>
          <p:nvPr/>
        </p:nvSpPr>
        <p:spPr>
          <a:xfrm>
            <a:off x="228600" y="1490400"/>
            <a:ext cx="4114800" cy="7389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Let’s draw: A triangle with side lengths 1, 2, 4.</a:t>
            </a:r>
            <a:endParaRPr sz="2400">
              <a:latin typeface="DM Sans"/>
              <a:ea typeface="DM Sans"/>
              <a:cs typeface="DM Sans"/>
              <a:sym typeface="DM Sans"/>
            </a:endParaRPr>
          </a:p>
        </p:txBody>
      </p:sp>
      <p:sp>
        <p:nvSpPr>
          <p:cNvPr id="420" name="Google Shape;420;p40"/>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1" name="Google Shape;421;p40"/>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22" name="Google Shape;422;p4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Drawing Triangles</a:t>
            </a:r>
            <a:endParaRPr sz="4800">
              <a:latin typeface="Merriweather"/>
              <a:ea typeface="Merriweather"/>
              <a:cs typeface="Merriweather"/>
              <a:sym typeface="Merriweather"/>
            </a:endParaRPr>
          </a:p>
        </p:txBody>
      </p:sp>
      <p:pic>
        <p:nvPicPr>
          <p:cNvPr id="423" name="Google Shape;423;p40"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424" name="Google Shape;424;p40"/>
          <p:cNvGrpSpPr/>
          <p:nvPr/>
        </p:nvGrpSpPr>
        <p:grpSpPr>
          <a:xfrm>
            <a:off x="5564100" y="1490400"/>
            <a:ext cx="2587800" cy="2587800"/>
            <a:chOff x="5564100" y="1490400"/>
            <a:chExt cx="2587800" cy="2587800"/>
          </a:xfrm>
        </p:grpSpPr>
        <p:cxnSp>
          <p:nvCxnSpPr>
            <p:cNvPr id="425" name="Google Shape;425;p40"/>
            <p:cNvCxnSpPr/>
            <p:nvPr/>
          </p:nvCxnSpPr>
          <p:spPr>
            <a:xfrm flipH="1">
              <a:off x="5564100" y="1490400"/>
              <a:ext cx="2587800" cy="2587800"/>
            </a:xfrm>
            <a:prstGeom prst="straightConnector1">
              <a:avLst/>
            </a:prstGeom>
            <a:noFill/>
            <a:ln cap="flat" cmpd="sng" w="19050">
              <a:solidFill>
                <a:srgbClr val="000000"/>
              </a:solidFill>
              <a:prstDash val="solid"/>
              <a:round/>
              <a:headEnd len="med" w="med" type="none"/>
              <a:tailEnd len="med" w="med" type="none"/>
            </a:ln>
            <a:effectLst>
              <a:outerShdw blurRad="71438" rotWithShape="0" algn="bl">
                <a:srgbClr val="FFFFFF"/>
              </a:outerShdw>
            </a:effectLst>
          </p:spPr>
        </p:cxnSp>
        <p:cxnSp>
          <p:nvCxnSpPr>
            <p:cNvPr id="426" name="Google Shape;426;p40"/>
            <p:cNvCxnSpPr/>
            <p:nvPr/>
          </p:nvCxnSpPr>
          <p:spPr>
            <a:xfrm rot="10800000">
              <a:off x="5564100" y="4078200"/>
              <a:ext cx="914400" cy="0"/>
            </a:xfrm>
            <a:prstGeom prst="straightConnector1">
              <a:avLst/>
            </a:prstGeom>
            <a:noFill/>
            <a:ln cap="flat" cmpd="sng" w="19050">
              <a:solidFill>
                <a:srgbClr val="000000"/>
              </a:solidFill>
              <a:prstDash val="solid"/>
              <a:round/>
              <a:headEnd len="med" w="med" type="none"/>
              <a:tailEnd len="med" w="med" type="none"/>
            </a:ln>
            <a:effectLst>
              <a:outerShdw blurRad="71438" rotWithShape="0" algn="bl">
                <a:srgbClr val="FFFFFF"/>
              </a:outerShdw>
            </a:effectLst>
          </p:spPr>
        </p:cxnSp>
        <p:cxnSp>
          <p:nvCxnSpPr>
            <p:cNvPr id="427" name="Google Shape;427;p40"/>
            <p:cNvCxnSpPr/>
            <p:nvPr/>
          </p:nvCxnSpPr>
          <p:spPr>
            <a:xfrm flipH="1">
              <a:off x="6478500" y="2541900"/>
              <a:ext cx="996600" cy="1536300"/>
            </a:xfrm>
            <a:prstGeom prst="straightConnector1">
              <a:avLst/>
            </a:prstGeom>
            <a:noFill/>
            <a:ln cap="flat" cmpd="sng" w="19050">
              <a:solidFill>
                <a:srgbClr val="000000"/>
              </a:solidFill>
              <a:prstDash val="solid"/>
              <a:round/>
              <a:headEnd len="med" w="med" type="none"/>
              <a:tailEnd len="med" w="med" type="none"/>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800"/>
                                        <p:tgtEl>
                                          <p:spTgt spid="419"/>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800"/>
                                        <p:tgtEl>
                                          <p:spTgt spid="4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431" name="Shape 431"/>
        <p:cNvGrpSpPr/>
        <p:nvPr/>
      </p:nvGrpSpPr>
      <p:grpSpPr>
        <a:xfrm>
          <a:off x="0" y="0"/>
          <a:ext cx="0" cy="0"/>
          <a:chOff x="0" y="0"/>
          <a:chExt cx="0" cy="0"/>
        </a:xfrm>
      </p:grpSpPr>
      <p:sp>
        <p:nvSpPr>
          <p:cNvPr id="432" name="Google Shape;432;p41"/>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433" name="Google Shape;433;p41"/>
          <p:cNvSpPr txBox="1"/>
          <p:nvPr/>
        </p:nvSpPr>
        <p:spPr>
          <a:xfrm>
            <a:off x="228600" y="1490400"/>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Clr>
                <a:schemeClr val="dk1"/>
              </a:buClr>
              <a:buSzPts val="1100"/>
              <a:buFont typeface="Arial"/>
              <a:buNone/>
            </a:pPr>
            <a:r>
              <a:rPr lang="en" sz="2400">
                <a:solidFill>
                  <a:schemeClr val="dk1"/>
                </a:solidFill>
                <a:latin typeface="DM Sans"/>
                <a:ea typeface="DM Sans"/>
                <a:cs typeface="DM Sans"/>
                <a:sym typeface="DM Sans"/>
              </a:rPr>
              <a:t>You can’t! Each side connects two points in the most direct way possible. For the sides of length 1 and 2, they can’t connect those two points, even if they take the most direct route.</a:t>
            </a:r>
            <a:endParaRPr sz="2400">
              <a:latin typeface="DM Sans"/>
              <a:ea typeface="DM Sans"/>
              <a:cs typeface="DM Sans"/>
              <a:sym typeface="DM Sans"/>
            </a:endParaRPr>
          </a:p>
        </p:txBody>
      </p:sp>
      <p:sp>
        <p:nvSpPr>
          <p:cNvPr id="434" name="Google Shape;434;p41"/>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41"/>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36" name="Google Shape;436;p4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Drawing Triangles</a:t>
            </a:r>
            <a:endParaRPr sz="4800">
              <a:latin typeface="Merriweather"/>
              <a:ea typeface="Merriweather"/>
              <a:cs typeface="Merriweather"/>
              <a:sym typeface="Merriweather"/>
            </a:endParaRPr>
          </a:p>
        </p:txBody>
      </p:sp>
      <p:pic>
        <p:nvPicPr>
          <p:cNvPr id="437" name="Google Shape;437;p41"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438" name="Google Shape;438;p41"/>
          <p:cNvGrpSpPr/>
          <p:nvPr/>
        </p:nvGrpSpPr>
        <p:grpSpPr>
          <a:xfrm>
            <a:off x="5564100" y="1490400"/>
            <a:ext cx="2587800" cy="2587800"/>
            <a:chOff x="5564100" y="1490400"/>
            <a:chExt cx="2587800" cy="2587800"/>
          </a:xfrm>
        </p:grpSpPr>
        <p:cxnSp>
          <p:nvCxnSpPr>
            <p:cNvPr id="439" name="Google Shape;439;p41"/>
            <p:cNvCxnSpPr/>
            <p:nvPr/>
          </p:nvCxnSpPr>
          <p:spPr>
            <a:xfrm flipH="1">
              <a:off x="5564100" y="1490400"/>
              <a:ext cx="2587800" cy="2587800"/>
            </a:xfrm>
            <a:prstGeom prst="straightConnector1">
              <a:avLst/>
            </a:prstGeom>
            <a:noFill/>
            <a:ln cap="flat" cmpd="sng" w="19050">
              <a:solidFill>
                <a:srgbClr val="000000"/>
              </a:solidFill>
              <a:prstDash val="solid"/>
              <a:round/>
              <a:headEnd len="med" w="med" type="none"/>
              <a:tailEnd len="med" w="med" type="none"/>
            </a:ln>
            <a:effectLst>
              <a:outerShdw blurRad="71438" rotWithShape="0" algn="bl">
                <a:srgbClr val="FFFFFF"/>
              </a:outerShdw>
            </a:effectLst>
          </p:spPr>
        </p:cxnSp>
        <p:cxnSp>
          <p:nvCxnSpPr>
            <p:cNvPr id="440" name="Google Shape;440;p41"/>
            <p:cNvCxnSpPr/>
            <p:nvPr/>
          </p:nvCxnSpPr>
          <p:spPr>
            <a:xfrm rot="10800000">
              <a:off x="5564100" y="4078200"/>
              <a:ext cx="914400" cy="0"/>
            </a:xfrm>
            <a:prstGeom prst="straightConnector1">
              <a:avLst/>
            </a:prstGeom>
            <a:noFill/>
            <a:ln cap="flat" cmpd="sng" w="19050">
              <a:solidFill>
                <a:srgbClr val="000000"/>
              </a:solidFill>
              <a:prstDash val="solid"/>
              <a:round/>
              <a:headEnd len="med" w="med" type="none"/>
              <a:tailEnd len="med" w="med" type="none"/>
            </a:ln>
            <a:effectLst>
              <a:outerShdw blurRad="71438" rotWithShape="0" algn="bl">
                <a:srgbClr val="FFFFFF"/>
              </a:outerShdw>
            </a:effectLst>
          </p:spPr>
        </p:cxnSp>
        <p:cxnSp>
          <p:nvCxnSpPr>
            <p:cNvPr id="441" name="Google Shape;441;p41"/>
            <p:cNvCxnSpPr/>
            <p:nvPr/>
          </p:nvCxnSpPr>
          <p:spPr>
            <a:xfrm flipH="1">
              <a:off x="6478500" y="2541900"/>
              <a:ext cx="996600" cy="1536300"/>
            </a:xfrm>
            <a:prstGeom prst="straightConnector1">
              <a:avLst/>
            </a:prstGeom>
            <a:noFill/>
            <a:ln cap="flat" cmpd="sng" w="19050">
              <a:solidFill>
                <a:srgbClr val="000000"/>
              </a:solidFill>
              <a:prstDash val="solid"/>
              <a:round/>
              <a:headEnd len="med" w="med" type="none"/>
              <a:tailEnd len="med" w="med" type="none"/>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8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445" name="Shape 445"/>
        <p:cNvGrpSpPr/>
        <p:nvPr/>
      </p:nvGrpSpPr>
      <p:grpSpPr>
        <a:xfrm>
          <a:off x="0" y="0"/>
          <a:ext cx="0" cy="0"/>
          <a:chOff x="0" y="0"/>
          <a:chExt cx="0" cy="0"/>
        </a:xfrm>
      </p:grpSpPr>
      <p:sp>
        <p:nvSpPr>
          <p:cNvPr id="446" name="Google Shape;446;p42"/>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447" name="Google Shape;447;p42"/>
          <p:cNvSpPr txBox="1"/>
          <p:nvPr/>
        </p:nvSpPr>
        <p:spPr>
          <a:xfrm>
            <a:off x="228600" y="1490400"/>
            <a:ext cx="4114800" cy="7389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Let’s draw: A triangle with side lengths 2, 2, 4.</a:t>
            </a:r>
            <a:endParaRPr sz="2400">
              <a:latin typeface="DM Sans"/>
              <a:ea typeface="DM Sans"/>
              <a:cs typeface="DM Sans"/>
              <a:sym typeface="DM Sans"/>
            </a:endParaRPr>
          </a:p>
        </p:txBody>
      </p:sp>
      <p:sp>
        <p:nvSpPr>
          <p:cNvPr id="448" name="Google Shape;448;p42"/>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9" name="Google Shape;449;p42"/>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50" name="Google Shape;450;p4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Drawing Triangles</a:t>
            </a:r>
            <a:endParaRPr sz="4800">
              <a:latin typeface="Merriweather"/>
              <a:ea typeface="Merriweather"/>
              <a:cs typeface="Merriweather"/>
              <a:sym typeface="Merriweather"/>
            </a:endParaRPr>
          </a:p>
        </p:txBody>
      </p:sp>
      <p:pic>
        <p:nvPicPr>
          <p:cNvPr id="451" name="Google Shape;451;p42" title="1.png"/>
          <p:cNvPicPr preferRelativeResize="0"/>
          <p:nvPr/>
        </p:nvPicPr>
        <p:blipFill>
          <a:blip r:embed="rId3">
            <a:alphaModFix/>
          </a:blip>
          <a:stretch>
            <a:fillRect/>
          </a:stretch>
        </p:blipFill>
        <p:spPr>
          <a:xfrm>
            <a:off x="228600" y="228600"/>
            <a:ext cx="1033200" cy="1033200"/>
          </a:xfrm>
          <a:prstGeom prst="rect">
            <a:avLst/>
          </a:prstGeom>
          <a:noFill/>
          <a:ln>
            <a:noFill/>
          </a:ln>
        </p:spPr>
      </p:pic>
      <p:cxnSp>
        <p:nvCxnSpPr>
          <p:cNvPr id="452" name="Google Shape;452;p42"/>
          <p:cNvCxnSpPr/>
          <p:nvPr/>
        </p:nvCxnSpPr>
        <p:spPr>
          <a:xfrm flipH="1">
            <a:off x="5564100" y="1490400"/>
            <a:ext cx="2587800" cy="2587800"/>
          </a:xfrm>
          <a:prstGeom prst="straightConnector1">
            <a:avLst/>
          </a:prstGeom>
          <a:noFill/>
          <a:ln cap="flat" cmpd="sng" w="19050">
            <a:solidFill>
              <a:srgbClr val="000000"/>
            </a:solidFill>
            <a:prstDash val="solid"/>
            <a:round/>
            <a:headEnd len="med" w="med" type="none"/>
            <a:tailEnd len="med" w="med" type="none"/>
          </a:ln>
          <a:effectLst>
            <a:outerShdw blurRad="71438" rotWithShape="0" algn="bl">
              <a:srgbClr val="FFFFFF"/>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800"/>
                                        <p:tgtEl>
                                          <p:spTgt spid="447"/>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800"/>
                                        <p:tgtEl>
                                          <p:spTgt spid="4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456" name="Shape 456"/>
        <p:cNvGrpSpPr/>
        <p:nvPr/>
      </p:nvGrpSpPr>
      <p:grpSpPr>
        <a:xfrm>
          <a:off x="0" y="0"/>
          <a:ext cx="0" cy="0"/>
          <a:chOff x="0" y="0"/>
          <a:chExt cx="0" cy="0"/>
        </a:xfrm>
      </p:grpSpPr>
      <p:sp>
        <p:nvSpPr>
          <p:cNvPr id="457" name="Google Shape;457;p43"/>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458" name="Google Shape;458;p43"/>
          <p:cNvSpPr txBox="1"/>
          <p:nvPr/>
        </p:nvSpPr>
        <p:spPr>
          <a:xfrm>
            <a:off x="228600" y="1490400"/>
            <a:ext cx="4114800" cy="2955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The only way for the shorter sides to connect the endpoints of the longer side is to take the most direct route, overlapping with the longer side. For our purposes, this is not a triangle.</a:t>
            </a:r>
            <a:endParaRPr sz="2400">
              <a:latin typeface="DM Sans"/>
              <a:ea typeface="DM Sans"/>
              <a:cs typeface="DM Sans"/>
              <a:sym typeface="DM Sans"/>
            </a:endParaRPr>
          </a:p>
        </p:txBody>
      </p:sp>
      <p:sp>
        <p:nvSpPr>
          <p:cNvPr id="459" name="Google Shape;459;p43"/>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0" name="Google Shape;460;p43"/>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61" name="Google Shape;461;p4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Drawing Triangles</a:t>
            </a:r>
            <a:endParaRPr sz="4800">
              <a:latin typeface="Merriweather"/>
              <a:ea typeface="Merriweather"/>
              <a:cs typeface="Merriweather"/>
              <a:sym typeface="Merriweather"/>
            </a:endParaRPr>
          </a:p>
        </p:txBody>
      </p:sp>
      <p:pic>
        <p:nvPicPr>
          <p:cNvPr id="462" name="Google Shape;462;p43" title="1.png"/>
          <p:cNvPicPr preferRelativeResize="0"/>
          <p:nvPr/>
        </p:nvPicPr>
        <p:blipFill>
          <a:blip r:embed="rId3">
            <a:alphaModFix/>
          </a:blip>
          <a:stretch>
            <a:fillRect/>
          </a:stretch>
        </p:blipFill>
        <p:spPr>
          <a:xfrm>
            <a:off x="228600" y="228600"/>
            <a:ext cx="1033200" cy="1033200"/>
          </a:xfrm>
          <a:prstGeom prst="rect">
            <a:avLst/>
          </a:prstGeom>
          <a:noFill/>
          <a:ln>
            <a:noFill/>
          </a:ln>
        </p:spPr>
      </p:pic>
      <p:cxnSp>
        <p:nvCxnSpPr>
          <p:cNvPr id="463" name="Google Shape;463;p43"/>
          <p:cNvCxnSpPr/>
          <p:nvPr/>
        </p:nvCxnSpPr>
        <p:spPr>
          <a:xfrm flipH="1">
            <a:off x="5564100" y="1490400"/>
            <a:ext cx="2587800" cy="2587800"/>
          </a:xfrm>
          <a:prstGeom prst="straightConnector1">
            <a:avLst/>
          </a:prstGeom>
          <a:noFill/>
          <a:ln cap="flat" cmpd="sng" w="19050">
            <a:solidFill>
              <a:srgbClr val="000000"/>
            </a:solidFill>
            <a:prstDash val="solid"/>
            <a:round/>
            <a:headEnd len="med" w="med" type="none"/>
            <a:tailEnd len="med" w="med" type="none"/>
          </a:ln>
          <a:effectLst>
            <a:outerShdw blurRad="71438" rotWithShape="0" algn="bl">
              <a:srgbClr val="FFFFFF"/>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800"/>
                                        <p:tgtEl>
                                          <p:spTgt spid="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467" name="Shape 467"/>
        <p:cNvGrpSpPr/>
        <p:nvPr/>
      </p:nvGrpSpPr>
      <p:grpSpPr>
        <a:xfrm>
          <a:off x="0" y="0"/>
          <a:ext cx="0" cy="0"/>
          <a:chOff x="0" y="0"/>
          <a:chExt cx="0" cy="0"/>
        </a:xfrm>
      </p:grpSpPr>
      <p:sp>
        <p:nvSpPr>
          <p:cNvPr id="468" name="Google Shape;468;p44"/>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469" name="Google Shape;469;p44"/>
          <p:cNvSpPr txBox="1"/>
          <p:nvPr/>
        </p:nvSpPr>
        <p:spPr>
          <a:xfrm>
            <a:off x="228600" y="1490400"/>
            <a:ext cx="4114800" cy="7389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Let’s draw: A triangle with angles 60°, 60°, 60°.</a:t>
            </a:r>
            <a:endParaRPr sz="2400">
              <a:latin typeface="DM Sans"/>
              <a:ea typeface="DM Sans"/>
              <a:cs typeface="DM Sans"/>
              <a:sym typeface="DM Sans"/>
            </a:endParaRPr>
          </a:p>
        </p:txBody>
      </p:sp>
      <p:sp>
        <p:nvSpPr>
          <p:cNvPr id="470" name="Google Shape;470;p44"/>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 name="Google Shape;471;p44"/>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72" name="Google Shape;472;p4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Drawing Triangles</a:t>
            </a:r>
            <a:endParaRPr sz="4800">
              <a:latin typeface="Merriweather"/>
              <a:ea typeface="Merriweather"/>
              <a:cs typeface="Merriweather"/>
              <a:sym typeface="Merriweather"/>
            </a:endParaRPr>
          </a:p>
        </p:txBody>
      </p:sp>
      <p:pic>
        <p:nvPicPr>
          <p:cNvPr id="473" name="Google Shape;473;p4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74" name="Google Shape;474;p44"/>
          <p:cNvSpPr/>
          <p:nvPr/>
        </p:nvSpPr>
        <p:spPr>
          <a:xfrm>
            <a:off x="5943600" y="1490400"/>
            <a:ext cx="1828800" cy="1581900"/>
          </a:xfrm>
          <a:prstGeom prst="triangle">
            <a:avLst>
              <a:gd fmla="val 50000" name="adj"/>
            </a:avLst>
          </a:prstGeom>
          <a:solidFill>
            <a:srgbClr val="FAC073"/>
          </a:solidFill>
          <a:ln cap="flat" cmpd="sng" w="19050">
            <a:solidFill>
              <a:srgbClr val="000000"/>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800"/>
                                        <p:tgtEl>
                                          <p:spTgt spid="469"/>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800"/>
                                        <p:tgtEl>
                                          <p:spTgt spid="4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478" name="Shape 478"/>
        <p:cNvGrpSpPr/>
        <p:nvPr/>
      </p:nvGrpSpPr>
      <p:grpSpPr>
        <a:xfrm>
          <a:off x="0" y="0"/>
          <a:ext cx="0" cy="0"/>
          <a:chOff x="0" y="0"/>
          <a:chExt cx="0" cy="0"/>
        </a:xfrm>
      </p:grpSpPr>
      <p:sp>
        <p:nvSpPr>
          <p:cNvPr id="479" name="Google Shape;479;p45"/>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480" name="Google Shape;480;p45"/>
          <p:cNvSpPr txBox="1"/>
          <p:nvPr/>
        </p:nvSpPr>
        <p:spPr>
          <a:xfrm>
            <a:off x="228600" y="1490400"/>
            <a:ext cx="4114800" cy="14778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Let’s draw: A triangle with angles 30°, 60°, 90°.</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Notice: The sum is 180°.</a:t>
            </a:r>
            <a:endParaRPr sz="2400">
              <a:latin typeface="DM Sans"/>
              <a:ea typeface="DM Sans"/>
              <a:cs typeface="DM Sans"/>
              <a:sym typeface="DM Sans"/>
            </a:endParaRPr>
          </a:p>
        </p:txBody>
      </p:sp>
      <p:sp>
        <p:nvSpPr>
          <p:cNvPr id="481" name="Google Shape;481;p45"/>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45"/>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83" name="Google Shape;483;p4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Drawing Triangles</a:t>
            </a:r>
            <a:endParaRPr sz="4800">
              <a:latin typeface="Merriweather"/>
              <a:ea typeface="Merriweather"/>
              <a:cs typeface="Merriweather"/>
              <a:sym typeface="Merriweather"/>
            </a:endParaRPr>
          </a:p>
        </p:txBody>
      </p:sp>
      <p:pic>
        <p:nvPicPr>
          <p:cNvPr id="484" name="Google Shape;484;p4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85" name="Google Shape;485;p45"/>
          <p:cNvSpPr/>
          <p:nvPr/>
        </p:nvSpPr>
        <p:spPr>
          <a:xfrm flipH="1">
            <a:off x="5486400" y="1490400"/>
            <a:ext cx="2743200" cy="1581900"/>
          </a:xfrm>
          <a:prstGeom prst="rtTriangle">
            <a:avLst/>
          </a:prstGeom>
          <a:solidFill>
            <a:srgbClr val="FAC073"/>
          </a:solidFill>
          <a:ln cap="flat" cmpd="sng" w="19050">
            <a:solidFill>
              <a:srgbClr val="000000"/>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800"/>
                                        <p:tgtEl>
                                          <p:spTgt spid="4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489" name="Shape 489"/>
        <p:cNvGrpSpPr/>
        <p:nvPr/>
      </p:nvGrpSpPr>
      <p:grpSpPr>
        <a:xfrm>
          <a:off x="0" y="0"/>
          <a:ext cx="0" cy="0"/>
          <a:chOff x="0" y="0"/>
          <a:chExt cx="0" cy="0"/>
        </a:xfrm>
      </p:grpSpPr>
      <p:sp>
        <p:nvSpPr>
          <p:cNvPr id="490" name="Google Shape;490;p46"/>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491" name="Google Shape;491;p46"/>
          <p:cNvSpPr txBox="1"/>
          <p:nvPr/>
        </p:nvSpPr>
        <p:spPr>
          <a:xfrm>
            <a:off x="228600" y="1490400"/>
            <a:ext cx="4114800" cy="1847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Let’s draw: A triangle with three right angles.</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Notice: The sum is not 180°, so this triangle is impossible.</a:t>
            </a:r>
            <a:endParaRPr sz="2400">
              <a:latin typeface="DM Sans"/>
              <a:ea typeface="DM Sans"/>
              <a:cs typeface="DM Sans"/>
              <a:sym typeface="DM Sans"/>
            </a:endParaRPr>
          </a:p>
        </p:txBody>
      </p:sp>
      <p:sp>
        <p:nvSpPr>
          <p:cNvPr id="492" name="Google Shape;492;p46"/>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46"/>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94" name="Google Shape;494;p4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Drawing Triangles</a:t>
            </a:r>
            <a:endParaRPr sz="4800">
              <a:latin typeface="Merriweather"/>
              <a:ea typeface="Merriweather"/>
              <a:cs typeface="Merriweather"/>
              <a:sym typeface="Merriweather"/>
            </a:endParaRPr>
          </a:p>
        </p:txBody>
      </p:sp>
      <p:pic>
        <p:nvPicPr>
          <p:cNvPr id="495" name="Google Shape;495;p46"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496" name="Google Shape;496;p46"/>
          <p:cNvGrpSpPr/>
          <p:nvPr/>
        </p:nvGrpSpPr>
        <p:grpSpPr>
          <a:xfrm>
            <a:off x="5943600" y="1490400"/>
            <a:ext cx="1828800" cy="1828800"/>
            <a:chOff x="1828800" y="1141050"/>
            <a:chExt cx="1828800" cy="1828800"/>
          </a:xfrm>
        </p:grpSpPr>
        <p:cxnSp>
          <p:nvCxnSpPr>
            <p:cNvPr id="497" name="Google Shape;497;p46"/>
            <p:cNvCxnSpPr/>
            <p:nvPr/>
          </p:nvCxnSpPr>
          <p:spPr>
            <a:xfrm>
              <a:off x="1828800" y="1141050"/>
              <a:ext cx="0" cy="1828800"/>
            </a:xfrm>
            <a:prstGeom prst="straightConnector1">
              <a:avLst/>
            </a:prstGeom>
            <a:noFill/>
            <a:ln cap="flat" cmpd="sng" w="19050">
              <a:solidFill>
                <a:srgbClr val="000000"/>
              </a:solidFill>
              <a:prstDash val="solid"/>
              <a:round/>
              <a:headEnd len="med" w="med" type="none"/>
              <a:tailEnd len="med" w="med" type="none"/>
            </a:ln>
            <a:effectLst>
              <a:outerShdw blurRad="71438" rotWithShape="0" algn="bl">
                <a:srgbClr val="FFFFFF"/>
              </a:outerShdw>
            </a:effectLst>
          </p:spPr>
        </p:cxnSp>
        <p:cxnSp>
          <p:nvCxnSpPr>
            <p:cNvPr id="498" name="Google Shape;498;p46"/>
            <p:cNvCxnSpPr/>
            <p:nvPr/>
          </p:nvCxnSpPr>
          <p:spPr>
            <a:xfrm>
              <a:off x="1828800" y="2969850"/>
              <a:ext cx="1828800" cy="0"/>
            </a:xfrm>
            <a:prstGeom prst="straightConnector1">
              <a:avLst/>
            </a:prstGeom>
            <a:noFill/>
            <a:ln cap="flat" cmpd="sng" w="19050">
              <a:solidFill>
                <a:srgbClr val="000000"/>
              </a:solidFill>
              <a:prstDash val="solid"/>
              <a:round/>
              <a:headEnd len="med" w="med" type="none"/>
              <a:tailEnd len="med" w="med" type="none"/>
            </a:ln>
            <a:effectLst>
              <a:outerShdw blurRad="71438" rotWithShape="0" algn="bl">
                <a:srgbClr val="FFFFFF"/>
              </a:outerShdw>
            </a:effectLst>
          </p:spPr>
        </p:cxnSp>
        <p:cxnSp>
          <p:nvCxnSpPr>
            <p:cNvPr id="499" name="Google Shape;499;p46"/>
            <p:cNvCxnSpPr/>
            <p:nvPr/>
          </p:nvCxnSpPr>
          <p:spPr>
            <a:xfrm>
              <a:off x="3657600" y="1141050"/>
              <a:ext cx="0" cy="1828800"/>
            </a:xfrm>
            <a:prstGeom prst="straightConnector1">
              <a:avLst/>
            </a:prstGeom>
            <a:noFill/>
            <a:ln cap="flat" cmpd="sng" w="19050">
              <a:solidFill>
                <a:srgbClr val="000000"/>
              </a:solidFill>
              <a:prstDash val="solid"/>
              <a:round/>
              <a:headEnd len="med" w="med" type="none"/>
              <a:tailEnd len="med" w="med" type="none"/>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800"/>
                                        <p:tgtEl>
                                          <p:spTgt spid="491"/>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800"/>
                                        <p:tgtEl>
                                          <p:spTgt spid="4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503" name="Shape 503"/>
        <p:cNvGrpSpPr/>
        <p:nvPr/>
      </p:nvGrpSpPr>
      <p:grpSpPr>
        <a:xfrm>
          <a:off x="0" y="0"/>
          <a:ext cx="0" cy="0"/>
          <a:chOff x="0" y="0"/>
          <a:chExt cx="0" cy="0"/>
        </a:xfrm>
      </p:grpSpPr>
      <p:sp>
        <p:nvSpPr>
          <p:cNvPr id="504" name="Google Shape;504;p47"/>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505" name="Google Shape;505;p47"/>
          <p:cNvSpPr txBox="1"/>
          <p:nvPr/>
        </p:nvSpPr>
        <p:spPr>
          <a:xfrm>
            <a:off x="228600" y="1490400"/>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Let’s slice a 3D shape! This will create a 2D </a:t>
            </a:r>
            <a:r>
              <a:rPr b="1" lang="en" sz="2400">
                <a:latin typeface="DM Sans"/>
                <a:ea typeface="DM Sans"/>
                <a:cs typeface="DM Sans"/>
                <a:sym typeface="DM Sans"/>
              </a:rPr>
              <a:t>cross section</a:t>
            </a:r>
            <a:r>
              <a:rPr lang="en" sz="2400">
                <a:latin typeface="DM Sans"/>
                <a:ea typeface="DM Sans"/>
                <a:cs typeface="DM Sans"/>
                <a:sym typeface="DM Sans"/>
              </a:rPr>
              <a:t>.</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Shown: slicing a right rectangular prism parallel to the base.</a:t>
            </a:r>
            <a:endParaRPr sz="2400">
              <a:latin typeface="DM Sans"/>
              <a:ea typeface="DM Sans"/>
              <a:cs typeface="DM Sans"/>
              <a:sym typeface="DM Sans"/>
            </a:endParaRPr>
          </a:p>
        </p:txBody>
      </p:sp>
      <p:sp>
        <p:nvSpPr>
          <p:cNvPr id="506" name="Google Shape;506;p47"/>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47"/>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08" name="Google Shape;508;p4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Cross Sections</a:t>
            </a:r>
            <a:endParaRPr sz="4800">
              <a:latin typeface="Merriweather"/>
              <a:ea typeface="Merriweather"/>
              <a:cs typeface="Merriweather"/>
              <a:sym typeface="Merriweather"/>
            </a:endParaRPr>
          </a:p>
        </p:txBody>
      </p:sp>
      <p:pic>
        <p:nvPicPr>
          <p:cNvPr id="509" name="Google Shape;509;p47" title="1.png"/>
          <p:cNvPicPr preferRelativeResize="0"/>
          <p:nvPr/>
        </p:nvPicPr>
        <p:blipFill>
          <a:blip r:embed="rId3">
            <a:alphaModFix/>
          </a:blip>
          <a:stretch>
            <a:fillRect/>
          </a:stretch>
        </p:blipFill>
        <p:spPr>
          <a:xfrm>
            <a:off x="228600" y="228600"/>
            <a:ext cx="1033200" cy="1033200"/>
          </a:xfrm>
          <a:prstGeom prst="rect">
            <a:avLst/>
          </a:prstGeom>
          <a:noFill/>
          <a:ln>
            <a:noFill/>
          </a:ln>
        </p:spPr>
      </p:pic>
      <p:pic>
        <p:nvPicPr>
          <p:cNvPr id="510" name="Google Shape;510;p47" title="Untitled Graph _ Desmos.png"/>
          <p:cNvPicPr preferRelativeResize="0"/>
          <p:nvPr/>
        </p:nvPicPr>
        <p:blipFill rotWithShape="1">
          <a:blip r:embed="rId4">
            <a:alphaModFix/>
          </a:blip>
          <a:srcRect b="41718" l="4733" r="4769" t="3649"/>
          <a:stretch/>
        </p:blipFill>
        <p:spPr>
          <a:xfrm>
            <a:off x="4800600" y="1490400"/>
            <a:ext cx="4114800" cy="3214360"/>
          </a:xfrm>
          <a:prstGeom prst="rect">
            <a:avLst/>
          </a:prstGeom>
          <a:noFill/>
          <a:ln cap="flat" cmpd="sng" w="19050">
            <a:solidFill>
              <a:srgbClr val="FAC073"/>
            </a:solidFill>
            <a:prstDash val="solid"/>
            <a:round/>
            <a:headEnd len="sm" w="sm" type="none"/>
            <a:tailEnd len="sm" w="sm" type="none"/>
          </a:ln>
        </p:spPr>
      </p:pic>
      <p:pic>
        <p:nvPicPr>
          <p:cNvPr id="511" name="Google Shape;511;p47" title="Untitled Graph _ Desmos 1.png"/>
          <p:cNvPicPr preferRelativeResize="0"/>
          <p:nvPr/>
        </p:nvPicPr>
        <p:blipFill rotWithShape="1">
          <a:blip r:embed="rId5">
            <a:alphaModFix amt="75000"/>
          </a:blip>
          <a:srcRect b="41714" l="4733" r="4761" t="3650"/>
          <a:stretch/>
        </p:blipFill>
        <p:spPr>
          <a:xfrm>
            <a:off x="4800600" y="1490400"/>
            <a:ext cx="4114800" cy="3214360"/>
          </a:xfrm>
          <a:prstGeom prst="rect">
            <a:avLst/>
          </a:prstGeom>
          <a:noFill/>
          <a:ln cap="flat" cmpd="sng" w="19050">
            <a:solidFill>
              <a:srgbClr val="FAC073"/>
            </a:solidFill>
            <a:prstDash val="solid"/>
            <a:round/>
            <a:headEnd len="sm" w="sm" type="none"/>
            <a:tailEnd len="sm" w="sm" type="none"/>
          </a:ln>
        </p:spPr>
      </p:pic>
      <p:sp>
        <p:nvSpPr>
          <p:cNvPr id="512" name="Google Shape;512;p47"/>
          <p:cNvSpPr txBox="1"/>
          <p:nvPr/>
        </p:nvSpPr>
        <p:spPr>
          <a:xfrm>
            <a:off x="2001700" y="-1484825"/>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lang="en" sz="2400">
                <a:latin typeface="DM Sans"/>
                <a:ea typeface="DM Sans"/>
                <a:cs typeface="DM Sans"/>
                <a:sym typeface="DM Sans"/>
              </a:rPr>
              <a:t>This text is so I can have the cross section appear 4 seconds after</a:t>
            </a:r>
            <a:endParaRPr sz="24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800"/>
                                        <p:tgtEl>
                                          <p:spTgt spid="505"/>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800"/>
                                        <p:tgtEl>
                                          <p:spTgt spid="510"/>
                                        </p:tgtEl>
                                      </p:cBhvr>
                                    </p:animEffect>
                                  </p:childTnLst>
                                </p:cTn>
                              </p:par>
                            </p:childTnLst>
                          </p:cTn>
                        </p:par>
                        <p:par>
                          <p:cTn fill="hold">
                            <p:stCondLst>
                              <p:cond delay="1600"/>
                            </p:stCondLst>
                            <p:childTnLst>
                              <p:par>
                                <p:cTn fill="hold" nodeType="after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4000"/>
                                        <p:tgtEl>
                                          <p:spTgt spid="512"/>
                                        </p:tgtEl>
                                      </p:cBhvr>
                                    </p:animEffect>
                                  </p:childTnLst>
                                </p:cTn>
                              </p:par>
                            </p:childTnLst>
                          </p:cTn>
                        </p:par>
                        <p:par>
                          <p:cTn fill="hold">
                            <p:stCondLst>
                              <p:cond delay="5600"/>
                            </p:stCondLst>
                            <p:childTnLst>
                              <p:par>
                                <p:cTn fill="hold" nodeType="after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800"/>
                                        <p:tgtEl>
                                          <p:spTgt spid="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516" name="Shape 516"/>
        <p:cNvGrpSpPr/>
        <p:nvPr/>
      </p:nvGrpSpPr>
      <p:grpSpPr>
        <a:xfrm>
          <a:off x="0" y="0"/>
          <a:ext cx="0" cy="0"/>
          <a:chOff x="0" y="0"/>
          <a:chExt cx="0" cy="0"/>
        </a:xfrm>
      </p:grpSpPr>
      <p:sp>
        <p:nvSpPr>
          <p:cNvPr id="517" name="Google Shape;517;p48"/>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518" name="Google Shape;518;p48"/>
          <p:cNvSpPr txBox="1"/>
          <p:nvPr/>
        </p:nvSpPr>
        <p:spPr>
          <a:xfrm>
            <a:off x="228600" y="1490400"/>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Shown: slicing a right rectangular prism perpendicular to the base.</a:t>
            </a:r>
            <a:endParaRPr sz="2400">
              <a:latin typeface="DM Sans"/>
              <a:ea typeface="DM Sans"/>
              <a:cs typeface="DM Sans"/>
              <a:sym typeface="DM Sans"/>
            </a:endParaRPr>
          </a:p>
        </p:txBody>
      </p:sp>
      <p:sp>
        <p:nvSpPr>
          <p:cNvPr id="519" name="Google Shape;519;p48"/>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48"/>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21" name="Google Shape;521;p4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Cross Sections</a:t>
            </a:r>
            <a:endParaRPr sz="4800">
              <a:latin typeface="Merriweather"/>
              <a:ea typeface="Merriweather"/>
              <a:cs typeface="Merriweather"/>
              <a:sym typeface="Merriweather"/>
            </a:endParaRPr>
          </a:p>
        </p:txBody>
      </p:sp>
      <p:pic>
        <p:nvPicPr>
          <p:cNvPr id="522" name="Google Shape;522;p4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23" name="Google Shape;523;p48"/>
          <p:cNvSpPr txBox="1"/>
          <p:nvPr/>
        </p:nvSpPr>
        <p:spPr>
          <a:xfrm>
            <a:off x="2001700" y="-1484825"/>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lang="en" sz="2400">
                <a:latin typeface="DM Sans"/>
                <a:ea typeface="DM Sans"/>
                <a:cs typeface="DM Sans"/>
                <a:sym typeface="DM Sans"/>
              </a:rPr>
              <a:t>This text is so I can have the cross section appear </a:t>
            </a:r>
            <a:r>
              <a:rPr lang="en" sz="2400">
                <a:latin typeface="DM Sans"/>
                <a:ea typeface="DM Sans"/>
                <a:cs typeface="DM Sans"/>
                <a:sym typeface="DM Sans"/>
              </a:rPr>
              <a:t>4</a:t>
            </a:r>
            <a:r>
              <a:rPr lang="en" sz="2400">
                <a:latin typeface="DM Sans"/>
                <a:ea typeface="DM Sans"/>
                <a:cs typeface="DM Sans"/>
                <a:sym typeface="DM Sans"/>
              </a:rPr>
              <a:t> seconds after</a:t>
            </a:r>
            <a:endParaRPr sz="2400">
              <a:latin typeface="DM Sans"/>
              <a:ea typeface="DM Sans"/>
              <a:cs typeface="DM Sans"/>
              <a:sym typeface="DM Sans"/>
            </a:endParaRPr>
          </a:p>
        </p:txBody>
      </p:sp>
      <p:pic>
        <p:nvPicPr>
          <p:cNvPr id="524" name="Google Shape;524;p48" title="right rect prism perp 1.png"/>
          <p:cNvPicPr preferRelativeResize="0"/>
          <p:nvPr/>
        </p:nvPicPr>
        <p:blipFill rotWithShape="1">
          <a:blip r:embed="rId4">
            <a:alphaModFix/>
          </a:blip>
          <a:srcRect b="41774" l="4738" r="4666" t="3768"/>
          <a:stretch/>
        </p:blipFill>
        <p:spPr>
          <a:xfrm>
            <a:off x="4800600" y="1490400"/>
            <a:ext cx="4114800" cy="3198233"/>
          </a:xfrm>
          <a:prstGeom prst="rect">
            <a:avLst/>
          </a:prstGeom>
          <a:noFill/>
          <a:ln cap="flat" cmpd="sng" w="19050">
            <a:solidFill>
              <a:srgbClr val="FAC073"/>
            </a:solidFill>
            <a:prstDash val="solid"/>
            <a:round/>
            <a:headEnd len="sm" w="sm" type="none"/>
            <a:tailEnd len="sm" w="sm" type="none"/>
          </a:ln>
        </p:spPr>
      </p:pic>
      <p:pic>
        <p:nvPicPr>
          <p:cNvPr id="525" name="Google Shape;525;p48" title="right rect prism perp 2.png"/>
          <p:cNvPicPr preferRelativeResize="0"/>
          <p:nvPr/>
        </p:nvPicPr>
        <p:blipFill rotWithShape="1">
          <a:blip r:embed="rId5">
            <a:alphaModFix amt="75000"/>
          </a:blip>
          <a:srcRect b="41769" l="4738" r="4666" t="3774"/>
          <a:stretch/>
        </p:blipFill>
        <p:spPr>
          <a:xfrm>
            <a:off x="4800600" y="1490400"/>
            <a:ext cx="4114800" cy="3198233"/>
          </a:xfrm>
          <a:prstGeom prst="rect">
            <a:avLst/>
          </a:prstGeom>
          <a:noFill/>
          <a:ln cap="flat" cmpd="sng" w="19050">
            <a:solidFill>
              <a:srgbClr val="FAC073"/>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800"/>
                                        <p:tgtEl>
                                          <p:spTgt spid="518"/>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800"/>
                                        <p:tgtEl>
                                          <p:spTgt spid="524"/>
                                        </p:tgtEl>
                                      </p:cBhvr>
                                    </p:animEffect>
                                  </p:childTnLst>
                                </p:cTn>
                              </p:par>
                            </p:childTnLst>
                          </p:cTn>
                        </p:par>
                        <p:par>
                          <p:cTn fill="hold">
                            <p:stCondLst>
                              <p:cond delay="1600"/>
                            </p:stCondLst>
                            <p:childTnLst>
                              <p:par>
                                <p:cTn fill="hold" nodeType="after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4000"/>
                                        <p:tgtEl>
                                          <p:spTgt spid="523"/>
                                        </p:tgtEl>
                                      </p:cBhvr>
                                    </p:animEffect>
                                  </p:childTnLst>
                                </p:cTn>
                              </p:par>
                            </p:childTnLst>
                          </p:cTn>
                        </p:par>
                        <p:par>
                          <p:cTn fill="hold">
                            <p:stCondLst>
                              <p:cond delay="5600"/>
                            </p:stCondLst>
                            <p:childTnLst>
                              <p:par>
                                <p:cTn fill="hold" nodeType="after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800"/>
                                        <p:tgtEl>
                                          <p:spTgt spid="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529" name="Shape 529"/>
        <p:cNvGrpSpPr/>
        <p:nvPr/>
      </p:nvGrpSpPr>
      <p:grpSpPr>
        <a:xfrm>
          <a:off x="0" y="0"/>
          <a:ext cx="0" cy="0"/>
          <a:chOff x="0" y="0"/>
          <a:chExt cx="0" cy="0"/>
        </a:xfrm>
      </p:grpSpPr>
      <p:sp>
        <p:nvSpPr>
          <p:cNvPr id="530" name="Google Shape;530;p49"/>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531" name="Google Shape;531;p49"/>
          <p:cNvSpPr txBox="1"/>
          <p:nvPr/>
        </p:nvSpPr>
        <p:spPr>
          <a:xfrm>
            <a:off x="228600" y="1490400"/>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Shown: slicing a right rectangular pyramid parallel to the base.</a:t>
            </a:r>
            <a:endParaRPr sz="2400">
              <a:latin typeface="DM Sans"/>
              <a:ea typeface="DM Sans"/>
              <a:cs typeface="DM Sans"/>
              <a:sym typeface="DM Sans"/>
            </a:endParaRPr>
          </a:p>
        </p:txBody>
      </p:sp>
      <p:sp>
        <p:nvSpPr>
          <p:cNvPr id="532" name="Google Shape;532;p49"/>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49"/>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34" name="Google Shape;534;p4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Cross Sections</a:t>
            </a:r>
            <a:endParaRPr sz="4800">
              <a:latin typeface="Merriweather"/>
              <a:ea typeface="Merriweather"/>
              <a:cs typeface="Merriweather"/>
              <a:sym typeface="Merriweather"/>
            </a:endParaRPr>
          </a:p>
        </p:txBody>
      </p:sp>
      <p:pic>
        <p:nvPicPr>
          <p:cNvPr id="535" name="Google Shape;535;p4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36" name="Google Shape;536;p49"/>
          <p:cNvSpPr txBox="1"/>
          <p:nvPr/>
        </p:nvSpPr>
        <p:spPr>
          <a:xfrm>
            <a:off x="2001700" y="-1484825"/>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lang="en" sz="2400">
                <a:latin typeface="DM Sans"/>
                <a:ea typeface="DM Sans"/>
                <a:cs typeface="DM Sans"/>
                <a:sym typeface="DM Sans"/>
              </a:rPr>
              <a:t>This text is so I can have the cross section appear 4 seconds after</a:t>
            </a:r>
            <a:endParaRPr sz="2400">
              <a:latin typeface="DM Sans"/>
              <a:ea typeface="DM Sans"/>
              <a:cs typeface="DM Sans"/>
              <a:sym typeface="DM Sans"/>
            </a:endParaRPr>
          </a:p>
        </p:txBody>
      </p:sp>
      <p:pic>
        <p:nvPicPr>
          <p:cNvPr id="537" name="Google Shape;537;p49" title="Desmos _ 3D Graphing Calculator31.png"/>
          <p:cNvPicPr preferRelativeResize="0"/>
          <p:nvPr/>
        </p:nvPicPr>
        <p:blipFill rotWithShape="1">
          <a:blip r:embed="rId4">
            <a:alphaModFix/>
          </a:blip>
          <a:srcRect b="41733" l="5189" r="5045" t="3934"/>
          <a:stretch/>
        </p:blipFill>
        <p:spPr>
          <a:xfrm>
            <a:off x="4800600" y="1490400"/>
            <a:ext cx="4114800" cy="3228837"/>
          </a:xfrm>
          <a:prstGeom prst="rect">
            <a:avLst/>
          </a:prstGeom>
          <a:noFill/>
          <a:ln cap="flat" cmpd="sng" w="19050">
            <a:solidFill>
              <a:srgbClr val="FAC073"/>
            </a:solidFill>
            <a:prstDash val="solid"/>
            <a:round/>
            <a:headEnd len="sm" w="sm" type="none"/>
            <a:tailEnd len="sm" w="sm" type="none"/>
          </a:ln>
        </p:spPr>
      </p:pic>
      <p:pic>
        <p:nvPicPr>
          <p:cNvPr id="538" name="Google Shape;538;p49" title="Desmos _ 3D Graphing Calculator32.png"/>
          <p:cNvPicPr preferRelativeResize="0"/>
          <p:nvPr/>
        </p:nvPicPr>
        <p:blipFill rotWithShape="1">
          <a:blip r:embed="rId5">
            <a:alphaModFix amt="75000"/>
          </a:blip>
          <a:srcRect b="41735" l="5189" r="5045" t="3928"/>
          <a:stretch/>
        </p:blipFill>
        <p:spPr>
          <a:xfrm>
            <a:off x="4800600" y="1490400"/>
            <a:ext cx="4114800" cy="3228837"/>
          </a:xfrm>
          <a:prstGeom prst="rect">
            <a:avLst/>
          </a:prstGeom>
          <a:noFill/>
          <a:ln cap="flat" cmpd="sng" w="19050">
            <a:solidFill>
              <a:srgbClr val="FAC073"/>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800"/>
                                        <p:tgtEl>
                                          <p:spTgt spid="531"/>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800"/>
                                        <p:tgtEl>
                                          <p:spTgt spid="537"/>
                                        </p:tgtEl>
                                      </p:cBhvr>
                                    </p:animEffect>
                                  </p:childTnLst>
                                </p:cTn>
                              </p:par>
                            </p:childTnLst>
                          </p:cTn>
                        </p:par>
                        <p:par>
                          <p:cTn fill="hold">
                            <p:stCondLst>
                              <p:cond delay="1600"/>
                            </p:stCondLst>
                            <p:childTnLst>
                              <p:par>
                                <p:cTn fill="hold" nodeType="after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4000"/>
                                        <p:tgtEl>
                                          <p:spTgt spid="536"/>
                                        </p:tgtEl>
                                      </p:cBhvr>
                                    </p:animEffect>
                                  </p:childTnLst>
                                </p:cTn>
                              </p:par>
                            </p:childTnLst>
                          </p:cTn>
                        </p:par>
                        <p:par>
                          <p:cTn fill="hold">
                            <p:stCondLst>
                              <p:cond delay="5600"/>
                            </p:stCondLst>
                            <p:childTnLst>
                              <p:par>
                                <p:cTn fill="hold" nodeType="after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800"/>
                                        <p:tgtEl>
                                          <p:spTgt spid="5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542" name="Shape 542"/>
        <p:cNvGrpSpPr/>
        <p:nvPr/>
      </p:nvGrpSpPr>
      <p:grpSpPr>
        <a:xfrm>
          <a:off x="0" y="0"/>
          <a:ext cx="0" cy="0"/>
          <a:chOff x="0" y="0"/>
          <a:chExt cx="0" cy="0"/>
        </a:xfrm>
      </p:grpSpPr>
      <p:sp>
        <p:nvSpPr>
          <p:cNvPr id="543" name="Google Shape;543;p50"/>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544" name="Google Shape;544;p50"/>
          <p:cNvSpPr txBox="1"/>
          <p:nvPr/>
        </p:nvSpPr>
        <p:spPr>
          <a:xfrm>
            <a:off x="228600" y="1490400"/>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Shown: slicing a right rectangular pyramid perpendicular to the base.</a:t>
            </a:r>
            <a:endParaRPr sz="2400">
              <a:latin typeface="DM Sans"/>
              <a:ea typeface="DM Sans"/>
              <a:cs typeface="DM Sans"/>
              <a:sym typeface="DM Sans"/>
            </a:endParaRPr>
          </a:p>
        </p:txBody>
      </p:sp>
      <p:sp>
        <p:nvSpPr>
          <p:cNvPr id="545" name="Google Shape;545;p50"/>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50"/>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47" name="Google Shape;547;p5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Cross Sections</a:t>
            </a:r>
            <a:endParaRPr sz="4800">
              <a:latin typeface="Merriweather"/>
              <a:ea typeface="Merriweather"/>
              <a:cs typeface="Merriweather"/>
              <a:sym typeface="Merriweather"/>
            </a:endParaRPr>
          </a:p>
        </p:txBody>
      </p:sp>
      <p:pic>
        <p:nvPicPr>
          <p:cNvPr id="548" name="Google Shape;548;p5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49" name="Google Shape;549;p50"/>
          <p:cNvSpPr txBox="1"/>
          <p:nvPr/>
        </p:nvSpPr>
        <p:spPr>
          <a:xfrm>
            <a:off x="2001700" y="-1484825"/>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lang="en" sz="2400">
                <a:latin typeface="DM Sans"/>
                <a:ea typeface="DM Sans"/>
                <a:cs typeface="DM Sans"/>
                <a:sym typeface="DM Sans"/>
              </a:rPr>
              <a:t>This text is so I can have the cross section appear 4 seconds after</a:t>
            </a:r>
            <a:endParaRPr sz="2400">
              <a:latin typeface="DM Sans"/>
              <a:ea typeface="DM Sans"/>
              <a:cs typeface="DM Sans"/>
              <a:sym typeface="DM Sans"/>
            </a:endParaRPr>
          </a:p>
        </p:txBody>
      </p:sp>
      <p:pic>
        <p:nvPicPr>
          <p:cNvPr id="550" name="Google Shape;550;p50" title="Desmos _ 3D Graphing Calculator41.png"/>
          <p:cNvPicPr preferRelativeResize="0"/>
          <p:nvPr/>
        </p:nvPicPr>
        <p:blipFill rotWithShape="1">
          <a:blip r:embed="rId4">
            <a:alphaModFix/>
          </a:blip>
          <a:srcRect b="41832" l="4822" r="4885" t="3805"/>
          <a:stretch/>
        </p:blipFill>
        <p:spPr>
          <a:xfrm>
            <a:off x="4800600" y="1490400"/>
            <a:ext cx="4114800" cy="3198233"/>
          </a:xfrm>
          <a:prstGeom prst="rect">
            <a:avLst/>
          </a:prstGeom>
          <a:noFill/>
          <a:ln cap="flat" cmpd="sng" w="19050">
            <a:solidFill>
              <a:srgbClr val="FAC073"/>
            </a:solidFill>
            <a:prstDash val="solid"/>
            <a:round/>
            <a:headEnd len="sm" w="sm" type="none"/>
            <a:tailEnd len="sm" w="sm" type="none"/>
          </a:ln>
        </p:spPr>
      </p:pic>
      <p:pic>
        <p:nvPicPr>
          <p:cNvPr id="551" name="Google Shape;551;p50" title="Desmos _ 3D Graphing Calculator42.png"/>
          <p:cNvPicPr preferRelativeResize="0"/>
          <p:nvPr/>
        </p:nvPicPr>
        <p:blipFill rotWithShape="1">
          <a:blip r:embed="rId5">
            <a:alphaModFix amt="75000"/>
          </a:blip>
          <a:srcRect b="41827" l="4821" r="4893" t="3811"/>
          <a:stretch/>
        </p:blipFill>
        <p:spPr>
          <a:xfrm>
            <a:off x="4800600" y="1490400"/>
            <a:ext cx="4114800" cy="3198233"/>
          </a:xfrm>
          <a:prstGeom prst="rect">
            <a:avLst/>
          </a:prstGeom>
          <a:noFill/>
          <a:ln cap="flat" cmpd="sng" w="19050">
            <a:solidFill>
              <a:srgbClr val="FAC073"/>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800"/>
                                        <p:tgtEl>
                                          <p:spTgt spid="544"/>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800"/>
                                        <p:tgtEl>
                                          <p:spTgt spid="550"/>
                                        </p:tgtEl>
                                      </p:cBhvr>
                                    </p:animEffect>
                                  </p:childTnLst>
                                </p:cTn>
                              </p:par>
                            </p:childTnLst>
                          </p:cTn>
                        </p:par>
                        <p:par>
                          <p:cTn fill="hold">
                            <p:stCondLst>
                              <p:cond delay="1600"/>
                            </p:stCondLst>
                            <p:childTnLst>
                              <p:par>
                                <p:cTn fill="hold" nodeType="after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4000"/>
                                        <p:tgtEl>
                                          <p:spTgt spid="549"/>
                                        </p:tgtEl>
                                      </p:cBhvr>
                                    </p:animEffect>
                                  </p:childTnLst>
                                </p:cTn>
                              </p:par>
                            </p:childTnLst>
                          </p:cTn>
                        </p:par>
                        <p:par>
                          <p:cTn fill="hold">
                            <p:stCondLst>
                              <p:cond delay="5600"/>
                            </p:stCondLst>
                            <p:childTnLst>
                              <p:par>
                                <p:cTn fill="hold" nodeType="after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800"/>
                                        <p:tgtEl>
                                          <p:spTgt spid="5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555" name="Shape 555"/>
        <p:cNvGrpSpPr/>
        <p:nvPr/>
      </p:nvGrpSpPr>
      <p:grpSpPr>
        <a:xfrm>
          <a:off x="0" y="0"/>
          <a:ext cx="0" cy="0"/>
          <a:chOff x="0" y="0"/>
          <a:chExt cx="0" cy="0"/>
        </a:xfrm>
      </p:grpSpPr>
      <p:sp>
        <p:nvSpPr>
          <p:cNvPr id="556" name="Google Shape;556;p51"/>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557" name="Google Shape;557;p51"/>
          <p:cNvSpPr txBox="1"/>
          <p:nvPr/>
        </p:nvSpPr>
        <p:spPr>
          <a:xfrm>
            <a:off x="228600" y="1490400"/>
            <a:ext cx="4114800" cy="2955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b="1" lang="en" sz="2400">
                <a:latin typeface="DM Sans"/>
                <a:ea typeface="DM Sans"/>
                <a:cs typeface="DM Sans"/>
                <a:sym typeface="DM Sans"/>
              </a:rPr>
              <a:t>Adjacent</a:t>
            </a:r>
            <a:r>
              <a:rPr b="1" lang="en" sz="2400">
                <a:latin typeface="DM Sans"/>
                <a:ea typeface="DM Sans"/>
                <a:cs typeface="DM Sans"/>
                <a:sym typeface="DM Sans"/>
              </a:rPr>
              <a:t> angles</a:t>
            </a:r>
            <a:r>
              <a:rPr lang="en" sz="2400">
                <a:latin typeface="DM Sans"/>
                <a:ea typeface="DM Sans"/>
                <a:cs typeface="DM Sans"/>
                <a:sym typeface="DM Sans"/>
              </a:rPr>
              <a:t> share a common vertex and one common side.</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a:t>
            </a:r>
            <a:r>
              <a:rPr i="1" lang="en" sz="2400">
                <a:latin typeface="DM Sans"/>
                <a:ea typeface="DM Sans"/>
                <a:cs typeface="DM Sans"/>
                <a:sym typeface="DM Sans"/>
              </a:rPr>
              <a:t>ADC</a:t>
            </a:r>
            <a:r>
              <a:rPr lang="en" sz="2400">
                <a:latin typeface="DM Sans"/>
                <a:ea typeface="DM Sans"/>
                <a:cs typeface="DM Sans"/>
                <a:sym typeface="DM Sans"/>
              </a:rPr>
              <a:t> is a larger angle composed of adjacent angles ∠</a:t>
            </a:r>
            <a:r>
              <a:rPr i="1" lang="en" sz="2400">
                <a:latin typeface="DM Sans"/>
                <a:ea typeface="DM Sans"/>
                <a:cs typeface="DM Sans"/>
                <a:sym typeface="DM Sans"/>
              </a:rPr>
              <a:t>ADB</a:t>
            </a:r>
            <a:r>
              <a:rPr lang="en" sz="2400">
                <a:latin typeface="DM Sans"/>
                <a:ea typeface="DM Sans"/>
                <a:cs typeface="DM Sans"/>
                <a:sym typeface="DM Sans"/>
              </a:rPr>
              <a:t> and ∠</a:t>
            </a:r>
            <a:r>
              <a:rPr i="1" lang="en" sz="2400">
                <a:latin typeface="DM Sans"/>
                <a:ea typeface="DM Sans"/>
                <a:cs typeface="DM Sans"/>
                <a:sym typeface="DM Sans"/>
              </a:rPr>
              <a:t>BDC</a:t>
            </a:r>
            <a:r>
              <a:rPr lang="en" sz="2400">
                <a:latin typeface="DM Sans"/>
                <a:ea typeface="DM Sans"/>
                <a:cs typeface="DM Sans"/>
                <a:sym typeface="DM Sans"/>
              </a:rPr>
              <a:t>, so</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m∠</a:t>
            </a:r>
            <a:r>
              <a:rPr i="1" lang="en" sz="2400">
                <a:latin typeface="DM Sans"/>
                <a:ea typeface="DM Sans"/>
                <a:cs typeface="DM Sans"/>
                <a:sym typeface="DM Sans"/>
              </a:rPr>
              <a:t>ADC</a:t>
            </a:r>
            <a:r>
              <a:rPr lang="en" sz="2400">
                <a:latin typeface="DM Sans"/>
                <a:ea typeface="DM Sans"/>
                <a:cs typeface="DM Sans"/>
                <a:sym typeface="DM Sans"/>
              </a:rPr>
              <a:t> = m∠</a:t>
            </a:r>
            <a:r>
              <a:rPr i="1" lang="en" sz="2400">
                <a:latin typeface="DM Sans"/>
                <a:ea typeface="DM Sans"/>
                <a:cs typeface="DM Sans"/>
                <a:sym typeface="DM Sans"/>
              </a:rPr>
              <a:t>ADB</a:t>
            </a:r>
            <a:r>
              <a:rPr lang="en" sz="2400">
                <a:latin typeface="DM Sans"/>
                <a:ea typeface="DM Sans"/>
                <a:cs typeface="DM Sans"/>
                <a:sym typeface="DM Sans"/>
              </a:rPr>
              <a:t> + m∠</a:t>
            </a:r>
            <a:r>
              <a:rPr i="1" lang="en" sz="2400">
                <a:latin typeface="DM Sans"/>
                <a:ea typeface="DM Sans"/>
                <a:cs typeface="DM Sans"/>
                <a:sym typeface="DM Sans"/>
              </a:rPr>
              <a:t>BDC</a:t>
            </a:r>
            <a:r>
              <a:rPr lang="en" sz="2400">
                <a:latin typeface="DM Sans"/>
                <a:ea typeface="DM Sans"/>
                <a:cs typeface="DM Sans"/>
                <a:sym typeface="DM Sans"/>
              </a:rPr>
              <a:t>.</a:t>
            </a:r>
            <a:endParaRPr sz="2400">
              <a:latin typeface="DM Sans"/>
              <a:ea typeface="DM Sans"/>
              <a:cs typeface="DM Sans"/>
              <a:sym typeface="DM Sans"/>
            </a:endParaRPr>
          </a:p>
        </p:txBody>
      </p:sp>
      <p:sp>
        <p:nvSpPr>
          <p:cNvPr id="558" name="Google Shape;558;p51"/>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51"/>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60" name="Google Shape;560;p5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Angle Relationships</a:t>
            </a:r>
            <a:endParaRPr sz="4800">
              <a:latin typeface="Merriweather"/>
              <a:ea typeface="Merriweather"/>
              <a:cs typeface="Merriweather"/>
              <a:sym typeface="Merriweather"/>
            </a:endParaRPr>
          </a:p>
        </p:txBody>
      </p:sp>
      <p:pic>
        <p:nvPicPr>
          <p:cNvPr id="561" name="Google Shape;561;p51"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562" name="Google Shape;562;p51"/>
          <p:cNvGrpSpPr/>
          <p:nvPr/>
        </p:nvGrpSpPr>
        <p:grpSpPr>
          <a:xfrm>
            <a:off x="4800600" y="1490400"/>
            <a:ext cx="4571861" cy="3351025"/>
            <a:chOff x="4800600" y="1338000"/>
            <a:chExt cx="4571861" cy="3351025"/>
          </a:xfrm>
        </p:grpSpPr>
        <p:sp>
          <p:nvSpPr>
            <p:cNvPr id="563" name="Google Shape;563;p51"/>
            <p:cNvSpPr/>
            <p:nvPr/>
          </p:nvSpPr>
          <p:spPr>
            <a:xfrm>
              <a:off x="5257800" y="2595485"/>
              <a:ext cx="2205000" cy="1908900"/>
            </a:xfrm>
            <a:prstGeom prst="triangle">
              <a:avLst>
                <a:gd fmla="val 50000" name="adj"/>
              </a:avLst>
            </a:prstGeom>
            <a:solidFill>
              <a:srgbClr val="FAC07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4" name="Google Shape;564;p51"/>
            <p:cNvSpPr/>
            <p:nvPr/>
          </p:nvSpPr>
          <p:spPr>
            <a:xfrm rot="3600868">
              <a:off x="6763479" y="1894693"/>
              <a:ext cx="2205965" cy="2205226"/>
            </a:xfrm>
            <a:prstGeom prst="rtTriangle">
              <a:avLst/>
            </a:prstGeom>
            <a:solidFill>
              <a:srgbClr val="FAC07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51"/>
            <p:cNvSpPr txBox="1"/>
            <p:nvPr/>
          </p:nvSpPr>
          <p:spPr>
            <a:xfrm>
              <a:off x="4800600" y="4319725"/>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A</a:t>
              </a:r>
              <a:endParaRPr i="1" sz="2400">
                <a:latin typeface="DM Sans"/>
                <a:ea typeface="DM Sans"/>
                <a:cs typeface="DM Sans"/>
                <a:sym typeface="DM Sans"/>
              </a:endParaRPr>
            </a:p>
          </p:txBody>
        </p:sp>
        <p:sp>
          <p:nvSpPr>
            <p:cNvPr id="566" name="Google Shape;566;p51"/>
            <p:cNvSpPr txBox="1"/>
            <p:nvPr/>
          </p:nvSpPr>
          <p:spPr>
            <a:xfrm>
              <a:off x="6131700" y="2202450"/>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ctr">
                <a:spcBef>
                  <a:spcPts val="0"/>
                </a:spcBef>
                <a:spcAft>
                  <a:spcPts val="0"/>
                </a:spcAft>
                <a:buNone/>
              </a:pPr>
              <a:r>
                <a:rPr i="1" lang="en" sz="2400">
                  <a:latin typeface="DM Sans"/>
                  <a:ea typeface="DM Sans"/>
                  <a:cs typeface="DM Sans"/>
                  <a:sym typeface="DM Sans"/>
                </a:rPr>
                <a:t>B</a:t>
              </a:r>
              <a:endParaRPr i="1" sz="2400">
                <a:latin typeface="DM Sans"/>
                <a:ea typeface="DM Sans"/>
                <a:cs typeface="DM Sans"/>
                <a:sym typeface="DM Sans"/>
              </a:endParaRPr>
            </a:p>
          </p:txBody>
        </p:sp>
        <p:sp>
          <p:nvSpPr>
            <p:cNvPr id="567" name="Google Shape;567;p51"/>
            <p:cNvSpPr txBox="1"/>
            <p:nvPr/>
          </p:nvSpPr>
          <p:spPr>
            <a:xfrm>
              <a:off x="8305800" y="1338000"/>
              <a:ext cx="457200" cy="369300"/>
            </a:xfrm>
            <a:prstGeom prst="rect">
              <a:avLst/>
            </a:prstGeom>
            <a:noFill/>
            <a:ln>
              <a:noFill/>
            </a:ln>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C</a:t>
              </a:r>
              <a:endParaRPr i="1" sz="2400">
                <a:latin typeface="DM Sans"/>
                <a:ea typeface="DM Sans"/>
                <a:cs typeface="DM Sans"/>
                <a:sym typeface="DM Sans"/>
              </a:endParaRPr>
            </a:p>
          </p:txBody>
        </p:sp>
        <p:sp>
          <p:nvSpPr>
            <p:cNvPr id="568" name="Google Shape;568;p51"/>
            <p:cNvSpPr txBox="1"/>
            <p:nvPr/>
          </p:nvSpPr>
          <p:spPr>
            <a:xfrm>
              <a:off x="7462800" y="4319725"/>
              <a:ext cx="457200" cy="369300"/>
            </a:xfrm>
            <a:prstGeom prst="rect">
              <a:avLst/>
            </a:prstGeom>
            <a:noFill/>
            <a:ln>
              <a:noFill/>
            </a:ln>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D</a:t>
              </a:r>
              <a:endParaRPr i="1"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800"/>
                                        <p:tgtEl>
                                          <p:spTgt spid="5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572" name="Shape 572"/>
        <p:cNvGrpSpPr/>
        <p:nvPr/>
      </p:nvGrpSpPr>
      <p:grpSpPr>
        <a:xfrm>
          <a:off x="0" y="0"/>
          <a:ext cx="0" cy="0"/>
          <a:chOff x="0" y="0"/>
          <a:chExt cx="0" cy="0"/>
        </a:xfrm>
      </p:grpSpPr>
      <p:sp>
        <p:nvSpPr>
          <p:cNvPr id="573" name="Google Shape;573;p52"/>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574" name="Google Shape;574;p52"/>
          <p:cNvSpPr txBox="1"/>
          <p:nvPr/>
        </p:nvSpPr>
        <p:spPr>
          <a:xfrm>
            <a:off x="228600" y="1490400"/>
            <a:ext cx="4114800" cy="2955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b="1" lang="en" sz="2400">
                <a:latin typeface="DM Sans"/>
                <a:ea typeface="DM Sans"/>
                <a:cs typeface="DM Sans"/>
                <a:sym typeface="DM Sans"/>
              </a:rPr>
              <a:t>Complementary</a:t>
            </a:r>
            <a:r>
              <a:rPr b="1" lang="en" sz="2400">
                <a:latin typeface="DM Sans"/>
                <a:ea typeface="DM Sans"/>
                <a:cs typeface="DM Sans"/>
                <a:sym typeface="DM Sans"/>
              </a:rPr>
              <a:t> angles</a:t>
            </a:r>
            <a:r>
              <a:rPr lang="en" sz="2400">
                <a:latin typeface="DM Sans"/>
                <a:ea typeface="DM Sans"/>
                <a:cs typeface="DM Sans"/>
                <a:sym typeface="DM Sans"/>
              </a:rPr>
              <a:t> are two angles, the sum of whose measures is 90°.</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a:t>
            </a:r>
            <a:r>
              <a:rPr lang="en" sz="2400">
                <a:solidFill>
                  <a:schemeClr val="dk1"/>
                </a:solidFill>
                <a:latin typeface="DM Sans"/>
                <a:ea typeface="DM Sans"/>
                <a:cs typeface="DM Sans"/>
                <a:sym typeface="DM Sans"/>
              </a:rPr>
              <a:t>m∠</a:t>
            </a:r>
            <a:r>
              <a:rPr i="1" lang="en" sz="2400">
                <a:solidFill>
                  <a:schemeClr val="dk1"/>
                </a:solidFill>
                <a:latin typeface="DM Sans"/>
                <a:ea typeface="DM Sans"/>
                <a:cs typeface="DM Sans"/>
                <a:sym typeface="DM Sans"/>
              </a:rPr>
              <a:t>AEC</a:t>
            </a:r>
            <a:r>
              <a:rPr lang="en" sz="2400">
                <a:solidFill>
                  <a:schemeClr val="dk1"/>
                </a:solidFill>
                <a:latin typeface="DM Sans"/>
                <a:ea typeface="DM Sans"/>
                <a:cs typeface="DM Sans"/>
                <a:sym typeface="DM Sans"/>
              </a:rPr>
              <a:t> + m∠</a:t>
            </a:r>
            <a:r>
              <a:rPr i="1" lang="en" sz="2400">
                <a:solidFill>
                  <a:schemeClr val="dk1"/>
                </a:solidFill>
                <a:latin typeface="DM Sans"/>
                <a:ea typeface="DM Sans"/>
                <a:cs typeface="DM Sans"/>
                <a:sym typeface="DM Sans"/>
              </a:rPr>
              <a:t>BEC</a:t>
            </a:r>
            <a:r>
              <a:rPr lang="en" sz="2400">
                <a:solidFill>
                  <a:schemeClr val="dk1"/>
                </a:solidFill>
                <a:latin typeface="DM Sans"/>
                <a:ea typeface="DM Sans"/>
                <a:cs typeface="DM Sans"/>
                <a:sym typeface="DM Sans"/>
              </a:rPr>
              <a:t> = 180°)</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Two adjacent complementary angles form a right angle.</a:t>
            </a:r>
            <a:endParaRPr sz="2400">
              <a:latin typeface="DM Sans"/>
              <a:ea typeface="DM Sans"/>
              <a:cs typeface="DM Sans"/>
              <a:sym typeface="DM Sans"/>
            </a:endParaRPr>
          </a:p>
        </p:txBody>
      </p:sp>
      <p:sp>
        <p:nvSpPr>
          <p:cNvPr id="575" name="Google Shape;575;p52"/>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52"/>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77" name="Google Shape;577;p5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Angle Relationships</a:t>
            </a:r>
            <a:endParaRPr sz="4800">
              <a:latin typeface="Merriweather"/>
              <a:ea typeface="Merriweather"/>
              <a:cs typeface="Merriweather"/>
              <a:sym typeface="Merriweather"/>
            </a:endParaRPr>
          </a:p>
        </p:txBody>
      </p:sp>
      <p:pic>
        <p:nvPicPr>
          <p:cNvPr id="578" name="Google Shape;578;p52"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579" name="Google Shape;579;p52"/>
          <p:cNvGrpSpPr/>
          <p:nvPr/>
        </p:nvGrpSpPr>
        <p:grpSpPr>
          <a:xfrm>
            <a:off x="4800600" y="1490400"/>
            <a:ext cx="4114800" cy="2198100"/>
            <a:chOff x="4922550" y="1401400"/>
            <a:chExt cx="4114800" cy="2198100"/>
          </a:xfrm>
        </p:grpSpPr>
        <p:sp>
          <p:nvSpPr>
            <p:cNvPr id="580" name="Google Shape;580;p52"/>
            <p:cNvSpPr/>
            <p:nvPr/>
          </p:nvSpPr>
          <p:spPr>
            <a:xfrm>
              <a:off x="5379750" y="1586063"/>
              <a:ext cx="3200400" cy="1828800"/>
            </a:xfrm>
            <a:prstGeom prst="rect">
              <a:avLst/>
            </a:prstGeom>
            <a:solidFill>
              <a:srgbClr val="FAC07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81" name="Google Shape;581;p52"/>
            <p:cNvCxnSpPr/>
            <p:nvPr/>
          </p:nvCxnSpPr>
          <p:spPr>
            <a:xfrm flipH="1" rot="10800000">
              <a:off x="5379750" y="1586050"/>
              <a:ext cx="3200400" cy="1828800"/>
            </a:xfrm>
            <a:prstGeom prst="straightConnector1">
              <a:avLst/>
            </a:prstGeom>
            <a:noFill/>
            <a:ln cap="flat" cmpd="sng" w="19050">
              <a:solidFill>
                <a:srgbClr val="000000"/>
              </a:solidFill>
              <a:prstDash val="solid"/>
              <a:round/>
              <a:headEnd len="med" w="med" type="none"/>
              <a:tailEnd len="med" w="med" type="none"/>
            </a:ln>
          </p:spPr>
        </p:cxnSp>
        <p:sp>
          <p:nvSpPr>
            <p:cNvPr id="582" name="Google Shape;582;p52"/>
            <p:cNvSpPr txBox="1"/>
            <p:nvPr/>
          </p:nvSpPr>
          <p:spPr>
            <a:xfrm>
              <a:off x="4922550" y="3230200"/>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A</a:t>
              </a:r>
              <a:endParaRPr i="1" sz="2400">
                <a:latin typeface="DM Sans"/>
                <a:ea typeface="DM Sans"/>
                <a:cs typeface="DM Sans"/>
                <a:sym typeface="DM Sans"/>
              </a:endParaRPr>
            </a:p>
          </p:txBody>
        </p:sp>
        <p:sp>
          <p:nvSpPr>
            <p:cNvPr id="583" name="Google Shape;583;p52"/>
            <p:cNvSpPr txBox="1"/>
            <p:nvPr/>
          </p:nvSpPr>
          <p:spPr>
            <a:xfrm>
              <a:off x="4922550" y="1401400"/>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B</a:t>
              </a:r>
              <a:endParaRPr i="1" sz="2400">
                <a:latin typeface="DM Sans"/>
                <a:ea typeface="DM Sans"/>
                <a:cs typeface="DM Sans"/>
                <a:sym typeface="DM Sans"/>
              </a:endParaRPr>
            </a:p>
          </p:txBody>
        </p:sp>
        <p:sp>
          <p:nvSpPr>
            <p:cNvPr id="584" name="Google Shape;584;p52"/>
            <p:cNvSpPr txBox="1"/>
            <p:nvPr/>
          </p:nvSpPr>
          <p:spPr>
            <a:xfrm>
              <a:off x="8580150" y="1401400"/>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C</a:t>
              </a:r>
              <a:endParaRPr i="1" sz="2400">
                <a:latin typeface="DM Sans"/>
                <a:ea typeface="DM Sans"/>
                <a:cs typeface="DM Sans"/>
                <a:sym typeface="DM Sans"/>
              </a:endParaRPr>
            </a:p>
          </p:txBody>
        </p:sp>
        <p:sp>
          <p:nvSpPr>
            <p:cNvPr id="585" name="Google Shape;585;p52"/>
            <p:cNvSpPr txBox="1"/>
            <p:nvPr/>
          </p:nvSpPr>
          <p:spPr>
            <a:xfrm>
              <a:off x="8580150" y="3230200"/>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D</a:t>
              </a:r>
              <a:endParaRPr i="1"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800"/>
                                        <p:tgtEl>
                                          <p:spTgt spid="574"/>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800"/>
                                        <p:tgtEl>
                                          <p:spTgt spid="5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589" name="Shape 589"/>
        <p:cNvGrpSpPr/>
        <p:nvPr/>
      </p:nvGrpSpPr>
      <p:grpSpPr>
        <a:xfrm>
          <a:off x="0" y="0"/>
          <a:ext cx="0" cy="0"/>
          <a:chOff x="0" y="0"/>
          <a:chExt cx="0" cy="0"/>
        </a:xfrm>
      </p:grpSpPr>
      <p:sp>
        <p:nvSpPr>
          <p:cNvPr id="590" name="Google Shape;590;p53"/>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591" name="Google Shape;591;p53"/>
          <p:cNvSpPr txBox="1"/>
          <p:nvPr/>
        </p:nvSpPr>
        <p:spPr>
          <a:xfrm>
            <a:off x="228600" y="1490400"/>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b="1" lang="en" sz="2400">
                <a:latin typeface="DM Sans"/>
                <a:ea typeface="DM Sans"/>
                <a:cs typeface="DM Sans"/>
                <a:sym typeface="DM Sans"/>
              </a:rPr>
              <a:t>Supplementary angles</a:t>
            </a:r>
            <a:r>
              <a:rPr lang="en" sz="2400">
                <a:latin typeface="DM Sans"/>
                <a:ea typeface="DM Sans"/>
                <a:cs typeface="DM Sans"/>
                <a:sym typeface="DM Sans"/>
              </a:rPr>
              <a:t> are two angles, the sum of whose measures is 180°.</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a:t>
            </a:r>
            <a:r>
              <a:rPr lang="en" sz="2400">
                <a:solidFill>
                  <a:schemeClr val="dk1"/>
                </a:solidFill>
                <a:latin typeface="DM Sans"/>
                <a:ea typeface="DM Sans"/>
                <a:cs typeface="DM Sans"/>
                <a:sym typeface="DM Sans"/>
              </a:rPr>
              <a:t>m∠</a:t>
            </a:r>
            <a:r>
              <a:rPr i="1" lang="en" sz="2400">
                <a:solidFill>
                  <a:schemeClr val="dk1"/>
                </a:solidFill>
                <a:latin typeface="DM Sans"/>
                <a:ea typeface="DM Sans"/>
                <a:cs typeface="DM Sans"/>
                <a:sym typeface="DM Sans"/>
              </a:rPr>
              <a:t>AEC</a:t>
            </a:r>
            <a:r>
              <a:rPr lang="en" sz="2400">
                <a:solidFill>
                  <a:schemeClr val="dk1"/>
                </a:solidFill>
                <a:latin typeface="DM Sans"/>
                <a:ea typeface="DM Sans"/>
                <a:cs typeface="DM Sans"/>
                <a:sym typeface="DM Sans"/>
              </a:rPr>
              <a:t> + m∠</a:t>
            </a:r>
            <a:r>
              <a:rPr i="1" lang="en" sz="2400">
                <a:solidFill>
                  <a:schemeClr val="dk1"/>
                </a:solidFill>
                <a:latin typeface="DM Sans"/>
                <a:ea typeface="DM Sans"/>
                <a:cs typeface="DM Sans"/>
                <a:sym typeface="DM Sans"/>
              </a:rPr>
              <a:t>BEC</a:t>
            </a:r>
            <a:r>
              <a:rPr lang="en" sz="2400">
                <a:solidFill>
                  <a:schemeClr val="dk1"/>
                </a:solidFill>
                <a:latin typeface="DM Sans"/>
                <a:ea typeface="DM Sans"/>
                <a:cs typeface="DM Sans"/>
                <a:sym typeface="DM Sans"/>
              </a:rPr>
              <a:t> = 180°)</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One way they can be formed is intersecting a straight line.</a:t>
            </a:r>
            <a:endParaRPr sz="2400">
              <a:latin typeface="DM Sans"/>
              <a:ea typeface="DM Sans"/>
              <a:cs typeface="DM Sans"/>
              <a:sym typeface="DM Sans"/>
            </a:endParaRPr>
          </a:p>
        </p:txBody>
      </p:sp>
      <p:sp>
        <p:nvSpPr>
          <p:cNvPr id="592" name="Google Shape;592;p53"/>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3" name="Google Shape;593;p53"/>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94" name="Google Shape;594;p5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Angle Relationships</a:t>
            </a:r>
            <a:endParaRPr sz="4800">
              <a:latin typeface="Merriweather"/>
              <a:ea typeface="Merriweather"/>
              <a:cs typeface="Merriweather"/>
              <a:sym typeface="Merriweather"/>
            </a:endParaRPr>
          </a:p>
        </p:txBody>
      </p:sp>
      <p:pic>
        <p:nvPicPr>
          <p:cNvPr id="595" name="Google Shape;595;p53"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596" name="Google Shape;596;p53"/>
          <p:cNvGrpSpPr/>
          <p:nvPr/>
        </p:nvGrpSpPr>
        <p:grpSpPr>
          <a:xfrm>
            <a:off x="4954121" y="957919"/>
            <a:ext cx="3808200" cy="3808200"/>
            <a:chOff x="4954121" y="957919"/>
            <a:chExt cx="3808200" cy="3808200"/>
          </a:xfrm>
        </p:grpSpPr>
        <p:sp>
          <p:nvSpPr>
            <p:cNvPr id="597" name="Google Shape;597;p53"/>
            <p:cNvSpPr/>
            <p:nvPr/>
          </p:nvSpPr>
          <p:spPr>
            <a:xfrm rot="-3360140">
              <a:off x="5486608" y="1490406"/>
              <a:ext cx="2743226" cy="2743226"/>
            </a:xfrm>
            <a:prstGeom prst="ellipse">
              <a:avLst/>
            </a:prstGeom>
            <a:solidFill>
              <a:srgbClr val="FAC073"/>
            </a:solidFill>
            <a:ln cap="flat" cmpd="sng" w="19050">
              <a:solidFill>
                <a:srgbClr val="000000"/>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98" name="Google Shape;598;p53"/>
            <p:cNvCxnSpPr/>
            <p:nvPr/>
          </p:nvCxnSpPr>
          <p:spPr>
            <a:xfrm>
              <a:off x="5486481" y="2862003"/>
              <a:ext cx="2743200" cy="0"/>
            </a:xfrm>
            <a:prstGeom prst="straightConnector1">
              <a:avLst/>
            </a:prstGeom>
            <a:noFill/>
            <a:ln cap="flat" cmpd="sng" w="19050">
              <a:solidFill>
                <a:srgbClr val="000000"/>
              </a:solidFill>
              <a:prstDash val="solid"/>
              <a:round/>
              <a:headEnd len="med" w="med" type="none"/>
              <a:tailEnd len="med" w="med" type="none"/>
            </a:ln>
          </p:spPr>
        </p:cxnSp>
        <p:cxnSp>
          <p:nvCxnSpPr>
            <p:cNvPr id="599" name="Google Shape;599;p53"/>
            <p:cNvCxnSpPr/>
            <p:nvPr/>
          </p:nvCxnSpPr>
          <p:spPr>
            <a:xfrm flipH="1" rot="-3359720">
              <a:off x="6242378" y="1703974"/>
              <a:ext cx="969852" cy="969852"/>
            </a:xfrm>
            <a:prstGeom prst="straightConnector1">
              <a:avLst/>
            </a:prstGeom>
            <a:noFill/>
            <a:ln cap="flat" cmpd="sng" w="19050">
              <a:solidFill>
                <a:srgbClr val="000000"/>
              </a:solidFill>
              <a:prstDash val="solid"/>
              <a:round/>
              <a:headEnd len="med" w="med" type="none"/>
              <a:tailEnd len="med" w="med" type="none"/>
            </a:ln>
          </p:spPr>
        </p:cxnSp>
        <p:sp>
          <p:nvSpPr>
            <p:cNvPr id="600" name="Google Shape;600;p53"/>
            <p:cNvSpPr txBox="1"/>
            <p:nvPr/>
          </p:nvSpPr>
          <p:spPr>
            <a:xfrm>
              <a:off x="6367725" y="1146400"/>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C</a:t>
              </a:r>
              <a:endParaRPr i="1" sz="2400">
                <a:latin typeface="DM Sans"/>
                <a:ea typeface="DM Sans"/>
                <a:cs typeface="DM Sans"/>
                <a:sym typeface="DM Sans"/>
              </a:endParaRPr>
            </a:p>
          </p:txBody>
        </p:sp>
        <p:sp>
          <p:nvSpPr>
            <p:cNvPr id="601" name="Google Shape;601;p53"/>
            <p:cNvSpPr txBox="1"/>
            <p:nvPr/>
          </p:nvSpPr>
          <p:spPr>
            <a:xfrm>
              <a:off x="5029275" y="2677350"/>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A</a:t>
              </a:r>
              <a:endParaRPr i="1" sz="2400">
                <a:latin typeface="DM Sans"/>
                <a:ea typeface="DM Sans"/>
                <a:cs typeface="DM Sans"/>
                <a:sym typeface="DM Sans"/>
              </a:endParaRPr>
            </a:p>
          </p:txBody>
        </p:sp>
        <p:sp>
          <p:nvSpPr>
            <p:cNvPr id="602" name="Google Shape;602;p53"/>
            <p:cNvSpPr txBox="1"/>
            <p:nvPr/>
          </p:nvSpPr>
          <p:spPr>
            <a:xfrm>
              <a:off x="8229675" y="2677350"/>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B</a:t>
              </a:r>
              <a:endParaRPr i="1" sz="2400">
                <a:latin typeface="DM Sans"/>
                <a:ea typeface="DM Sans"/>
                <a:cs typeface="DM Sans"/>
                <a:sym typeface="DM Sans"/>
              </a:endParaRPr>
            </a:p>
          </p:txBody>
        </p:sp>
        <p:sp>
          <p:nvSpPr>
            <p:cNvPr id="603" name="Google Shape;603;p53"/>
            <p:cNvSpPr txBox="1"/>
            <p:nvPr/>
          </p:nvSpPr>
          <p:spPr>
            <a:xfrm>
              <a:off x="6400875" y="2862000"/>
              <a:ext cx="457200" cy="369300"/>
            </a:xfrm>
            <a:prstGeom prst="rect">
              <a:avLst/>
            </a:prstGeom>
            <a:noFill/>
            <a:ln>
              <a:noFill/>
            </a:ln>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E</a:t>
              </a:r>
              <a:endParaRPr i="1" sz="2400">
                <a:latin typeface="DM Sans"/>
                <a:ea typeface="DM Sans"/>
                <a:cs typeface="DM Sans"/>
                <a:sym typeface="DM Sans"/>
              </a:endParaRPr>
            </a:p>
          </p:txBody>
        </p:sp>
        <p:cxnSp>
          <p:nvCxnSpPr>
            <p:cNvPr id="604" name="Google Shape;604;p53"/>
            <p:cNvCxnSpPr/>
            <p:nvPr/>
          </p:nvCxnSpPr>
          <p:spPr>
            <a:xfrm rot="-6060089">
              <a:off x="5486456" y="2861988"/>
              <a:ext cx="2743214" cy="0"/>
            </a:xfrm>
            <a:prstGeom prst="straightConnector1">
              <a:avLst/>
            </a:prstGeom>
            <a:noFill/>
            <a:ln cap="flat" cmpd="sng" w="19050">
              <a:solidFill>
                <a:srgbClr val="000000"/>
              </a:solidFill>
              <a:prstDash val="solid"/>
              <a:round/>
              <a:headEnd len="med" w="med" type="none"/>
              <a:tailEnd len="med" w="med" type="none"/>
            </a:ln>
          </p:spPr>
        </p:cxnSp>
        <p:sp>
          <p:nvSpPr>
            <p:cNvPr id="605" name="Google Shape;605;p53"/>
            <p:cNvSpPr txBox="1"/>
            <p:nvPr/>
          </p:nvSpPr>
          <p:spPr>
            <a:xfrm>
              <a:off x="6891225" y="4208400"/>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D</a:t>
              </a:r>
              <a:endParaRPr i="1"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800"/>
                                        <p:tgtEl>
                                          <p:spTgt spid="591"/>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800"/>
                                        <p:tgtEl>
                                          <p:spTgt spid="5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609" name="Shape 609"/>
        <p:cNvGrpSpPr/>
        <p:nvPr/>
      </p:nvGrpSpPr>
      <p:grpSpPr>
        <a:xfrm>
          <a:off x="0" y="0"/>
          <a:ext cx="0" cy="0"/>
          <a:chOff x="0" y="0"/>
          <a:chExt cx="0" cy="0"/>
        </a:xfrm>
      </p:grpSpPr>
      <p:sp>
        <p:nvSpPr>
          <p:cNvPr id="610" name="Google Shape;610;p54"/>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611" name="Google Shape;611;p54"/>
          <p:cNvSpPr txBox="1"/>
          <p:nvPr/>
        </p:nvSpPr>
        <p:spPr>
          <a:xfrm>
            <a:off x="228600" y="1490400"/>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b="1" lang="en" sz="2400">
                <a:latin typeface="DM Sans"/>
                <a:ea typeface="DM Sans"/>
                <a:cs typeface="DM Sans"/>
                <a:sym typeface="DM Sans"/>
              </a:rPr>
              <a:t>Vertical</a:t>
            </a:r>
            <a:r>
              <a:rPr b="1" lang="en" sz="2400">
                <a:latin typeface="DM Sans"/>
                <a:ea typeface="DM Sans"/>
                <a:cs typeface="DM Sans"/>
                <a:sym typeface="DM Sans"/>
              </a:rPr>
              <a:t> angles</a:t>
            </a:r>
            <a:r>
              <a:rPr lang="en" sz="2400">
                <a:latin typeface="DM Sans"/>
                <a:ea typeface="DM Sans"/>
                <a:cs typeface="DM Sans"/>
                <a:sym typeface="DM Sans"/>
              </a:rPr>
              <a:t> are two angles opposite each other when two lines intersect.</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Vertical angles are congruent.</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a:t>
            </a:r>
            <a:r>
              <a:rPr lang="en" sz="2400">
                <a:solidFill>
                  <a:schemeClr val="dk1"/>
                </a:solidFill>
                <a:latin typeface="DM Sans"/>
                <a:ea typeface="DM Sans"/>
                <a:cs typeface="DM Sans"/>
                <a:sym typeface="DM Sans"/>
              </a:rPr>
              <a:t>m∠</a:t>
            </a:r>
            <a:r>
              <a:rPr i="1" lang="en" sz="2400">
                <a:solidFill>
                  <a:schemeClr val="dk1"/>
                </a:solidFill>
                <a:latin typeface="DM Sans"/>
                <a:ea typeface="DM Sans"/>
                <a:cs typeface="DM Sans"/>
                <a:sym typeface="DM Sans"/>
              </a:rPr>
              <a:t>AEC</a:t>
            </a:r>
            <a:r>
              <a:rPr lang="en" sz="2400">
                <a:solidFill>
                  <a:schemeClr val="dk1"/>
                </a:solidFill>
                <a:latin typeface="DM Sans"/>
                <a:ea typeface="DM Sans"/>
                <a:cs typeface="DM Sans"/>
                <a:sym typeface="DM Sans"/>
              </a:rPr>
              <a:t> = m∠</a:t>
            </a:r>
            <a:r>
              <a:rPr i="1" lang="en" sz="2400">
                <a:solidFill>
                  <a:schemeClr val="dk1"/>
                </a:solidFill>
                <a:latin typeface="DM Sans"/>
                <a:ea typeface="DM Sans"/>
                <a:cs typeface="DM Sans"/>
                <a:sym typeface="DM Sans"/>
              </a:rPr>
              <a:t>BED</a:t>
            </a:r>
            <a:r>
              <a:rPr lang="en" sz="2400">
                <a:solidFill>
                  <a:schemeClr val="dk1"/>
                </a:solidFill>
                <a:latin typeface="DM Sans"/>
                <a:ea typeface="DM Sans"/>
                <a:cs typeface="DM Sans"/>
                <a:sym typeface="DM Sans"/>
              </a:rPr>
              <a:t>)</a:t>
            </a:r>
            <a:endParaRPr sz="2400">
              <a:latin typeface="DM Sans"/>
              <a:ea typeface="DM Sans"/>
              <a:cs typeface="DM Sans"/>
              <a:sym typeface="DM Sans"/>
            </a:endParaRPr>
          </a:p>
        </p:txBody>
      </p:sp>
      <p:sp>
        <p:nvSpPr>
          <p:cNvPr id="612" name="Google Shape;612;p54"/>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54"/>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14" name="Google Shape;614;p5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Angle Relationships</a:t>
            </a:r>
            <a:endParaRPr sz="4800">
              <a:latin typeface="Merriweather"/>
              <a:ea typeface="Merriweather"/>
              <a:cs typeface="Merriweather"/>
              <a:sym typeface="Merriweather"/>
            </a:endParaRPr>
          </a:p>
        </p:txBody>
      </p:sp>
      <p:pic>
        <p:nvPicPr>
          <p:cNvPr id="615" name="Google Shape;615;p54"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616" name="Google Shape;616;p54"/>
          <p:cNvGrpSpPr/>
          <p:nvPr/>
        </p:nvGrpSpPr>
        <p:grpSpPr>
          <a:xfrm>
            <a:off x="4954121" y="957919"/>
            <a:ext cx="3808200" cy="3808200"/>
            <a:chOff x="4954121" y="957919"/>
            <a:chExt cx="3808200" cy="3808200"/>
          </a:xfrm>
        </p:grpSpPr>
        <p:sp>
          <p:nvSpPr>
            <p:cNvPr id="617" name="Google Shape;617;p54"/>
            <p:cNvSpPr/>
            <p:nvPr/>
          </p:nvSpPr>
          <p:spPr>
            <a:xfrm rot="-3360140">
              <a:off x="5486608" y="1490406"/>
              <a:ext cx="2743226" cy="2743226"/>
            </a:xfrm>
            <a:prstGeom prst="ellipse">
              <a:avLst/>
            </a:prstGeom>
            <a:solidFill>
              <a:srgbClr val="FAC073"/>
            </a:solidFill>
            <a:ln cap="flat" cmpd="sng" w="19050">
              <a:solidFill>
                <a:srgbClr val="000000"/>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18" name="Google Shape;618;p54"/>
            <p:cNvCxnSpPr/>
            <p:nvPr/>
          </p:nvCxnSpPr>
          <p:spPr>
            <a:xfrm>
              <a:off x="5486481" y="2862003"/>
              <a:ext cx="2743200" cy="0"/>
            </a:xfrm>
            <a:prstGeom prst="straightConnector1">
              <a:avLst/>
            </a:prstGeom>
            <a:noFill/>
            <a:ln cap="flat" cmpd="sng" w="19050">
              <a:solidFill>
                <a:srgbClr val="000000"/>
              </a:solidFill>
              <a:prstDash val="solid"/>
              <a:round/>
              <a:headEnd len="med" w="med" type="none"/>
              <a:tailEnd len="med" w="med" type="none"/>
            </a:ln>
          </p:spPr>
        </p:cxnSp>
        <p:cxnSp>
          <p:nvCxnSpPr>
            <p:cNvPr id="619" name="Google Shape;619;p54"/>
            <p:cNvCxnSpPr/>
            <p:nvPr/>
          </p:nvCxnSpPr>
          <p:spPr>
            <a:xfrm flipH="1" rot="-3359720">
              <a:off x="6242378" y="1703974"/>
              <a:ext cx="969852" cy="969852"/>
            </a:xfrm>
            <a:prstGeom prst="straightConnector1">
              <a:avLst/>
            </a:prstGeom>
            <a:noFill/>
            <a:ln cap="flat" cmpd="sng" w="19050">
              <a:solidFill>
                <a:srgbClr val="000000"/>
              </a:solidFill>
              <a:prstDash val="solid"/>
              <a:round/>
              <a:headEnd len="med" w="med" type="none"/>
              <a:tailEnd len="med" w="med" type="none"/>
            </a:ln>
          </p:spPr>
        </p:cxnSp>
        <p:sp>
          <p:nvSpPr>
            <p:cNvPr id="620" name="Google Shape;620;p54"/>
            <p:cNvSpPr txBox="1"/>
            <p:nvPr/>
          </p:nvSpPr>
          <p:spPr>
            <a:xfrm>
              <a:off x="6367725" y="1146400"/>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C</a:t>
              </a:r>
              <a:endParaRPr i="1" sz="2400">
                <a:latin typeface="DM Sans"/>
                <a:ea typeface="DM Sans"/>
                <a:cs typeface="DM Sans"/>
                <a:sym typeface="DM Sans"/>
              </a:endParaRPr>
            </a:p>
          </p:txBody>
        </p:sp>
        <p:sp>
          <p:nvSpPr>
            <p:cNvPr id="621" name="Google Shape;621;p54"/>
            <p:cNvSpPr txBox="1"/>
            <p:nvPr/>
          </p:nvSpPr>
          <p:spPr>
            <a:xfrm>
              <a:off x="5029275" y="2677350"/>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A</a:t>
              </a:r>
              <a:endParaRPr i="1" sz="2400">
                <a:latin typeface="DM Sans"/>
                <a:ea typeface="DM Sans"/>
                <a:cs typeface="DM Sans"/>
                <a:sym typeface="DM Sans"/>
              </a:endParaRPr>
            </a:p>
          </p:txBody>
        </p:sp>
        <p:sp>
          <p:nvSpPr>
            <p:cNvPr id="622" name="Google Shape;622;p54"/>
            <p:cNvSpPr txBox="1"/>
            <p:nvPr/>
          </p:nvSpPr>
          <p:spPr>
            <a:xfrm>
              <a:off x="8229675" y="2677350"/>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B</a:t>
              </a:r>
              <a:endParaRPr i="1" sz="2400">
                <a:latin typeface="DM Sans"/>
                <a:ea typeface="DM Sans"/>
                <a:cs typeface="DM Sans"/>
                <a:sym typeface="DM Sans"/>
              </a:endParaRPr>
            </a:p>
          </p:txBody>
        </p:sp>
        <p:sp>
          <p:nvSpPr>
            <p:cNvPr id="623" name="Google Shape;623;p54"/>
            <p:cNvSpPr txBox="1"/>
            <p:nvPr/>
          </p:nvSpPr>
          <p:spPr>
            <a:xfrm>
              <a:off x="6400875" y="2862000"/>
              <a:ext cx="457200" cy="369300"/>
            </a:xfrm>
            <a:prstGeom prst="rect">
              <a:avLst/>
            </a:prstGeom>
            <a:noFill/>
            <a:ln>
              <a:noFill/>
            </a:ln>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E</a:t>
              </a:r>
              <a:endParaRPr i="1" sz="2400">
                <a:latin typeface="DM Sans"/>
                <a:ea typeface="DM Sans"/>
                <a:cs typeface="DM Sans"/>
                <a:sym typeface="DM Sans"/>
              </a:endParaRPr>
            </a:p>
          </p:txBody>
        </p:sp>
        <p:cxnSp>
          <p:nvCxnSpPr>
            <p:cNvPr id="624" name="Google Shape;624;p54"/>
            <p:cNvCxnSpPr/>
            <p:nvPr/>
          </p:nvCxnSpPr>
          <p:spPr>
            <a:xfrm rot="-6060089">
              <a:off x="5486456" y="2861988"/>
              <a:ext cx="2743214" cy="0"/>
            </a:xfrm>
            <a:prstGeom prst="straightConnector1">
              <a:avLst/>
            </a:prstGeom>
            <a:noFill/>
            <a:ln cap="flat" cmpd="sng" w="19050">
              <a:solidFill>
                <a:srgbClr val="000000"/>
              </a:solidFill>
              <a:prstDash val="solid"/>
              <a:round/>
              <a:headEnd len="med" w="med" type="none"/>
              <a:tailEnd len="med" w="med" type="none"/>
            </a:ln>
          </p:spPr>
        </p:cxnSp>
        <p:sp>
          <p:nvSpPr>
            <p:cNvPr id="625" name="Google Shape;625;p54"/>
            <p:cNvSpPr txBox="1"/>
            <p:nvPr/>
          </p:nvSpPr>
          <p:spPr>
            <a:xfrm>
              <a:off x="6891225" y="4208400"/>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D</a:t>
              </a:r>
              <a:endParaRPr i="1"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800"/>
                                        <p:tgtEl>
                                          <p:spTgt spid="6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629" name="Shape 629"/>
        <p:cNvGrpSpPr/>
        <p:nvPr/>
      </p:nvGrpSpPr>
      <p:grpSpPr>
        <a:xfrm>
          <a:off x="0" y="0"/>
          <a:ext cx="0" cy="0"/>
          <a:chOff x="0" y="0"/>
          <a:chExt cx="0" cy="0"/>
        </a:xfrm>
      </p:grpSpPr>
      <p:sp>
        <p:nvSpPr>
          <p:cNvPr id="630" name="Google Shape;630;p55"/>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631" name="Google Shape;631;p55"/>
          <p:cNvSpPr txBox="1"/>
          <p:nvPr/>
        </p:nvSpPr>
        <p:spPr>
          <a:xfrm>
            <a:off x="228600" y="1490400"/>
            <a:ext cx="4114800" cy="2955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We can use angle relationships to do algebra:</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If m∠</a:t>
            </a:r>
            <a:r>
              <a:rPr i="1" lang="en" sz="2400">
                <a:latin typeface="DM Sans"/>
                <a:ea typeface="DM Sans"/>
                <a:cs typeface="DM Sans"/>
                <a:sym typeface="DM Sans"/>
              </a:rPr>
              <a:t>AEC</a:t>
            </a:r>
            <a:r>
              <a:rPr lang="en" sz="2400">
                <a:latin typeface="DM Sans"/>
                <a:ea typeface="DM Sans"/>
                <a:cs typeface="DM Sans"/>
                <a:sym typeface="DM Sans"/>
              </a:rPr>
              <a:t> = (7</a:t>
            </a:r>
            <a:r>
              <a:rPr i="1" lang="en" sz="2400">
                <a:latin typeface="DM Sans"/>
                <a:ea typeface="DM Sans"/>
                <a:cs typeface="DM Sans"/>
                <a:sym typeface="DM Sans"/>
              </a:rPr>
              <a:t>x</a:t>
            </a:r>
            <a:r>
              <a:rPr lang="en" sz="2400">
                <a:latin typeface="DM Sans"/>
                <a:ea typeface="DM Sans"/>
                <a:cs typeface="DM Sans"/>
                <a:sym typeface="DM Sans"/>
              </a:rPr>
              <a:t> + 2)° and m∠</a:t>
            </a:r>
            <a:r>
              <a:rPr i="1" lang="en" sz="2400">
                <a:latin typeface="DM Sans"/>
                <a:ea typeface="DM Sans"/>
                <a:cs typeface="DM Sans"/>
                <a:sym typeface="DM Sans"/>
              </a:rPr>
              <a:t>BEC</a:t>
            </a:r>
            <a:r>
              <a:rPr lang="en" sz="2400">
                <a:latin typeface="DM Sans"/>
                <a:ea typeface="DM Sans"/>
                <a:cs typeface="DM Sans"/>
                <a:sym typeface="DM Sans"/>
              </a:rPr>
              <a:t> = 101°, solve for </a:t>
            </a:r>
            <a:r>
              <a:rPr i="1" lang="en" sz="2400">
                <a:latin typeface="DM Sans"/>
                <a:ea typeface="DM Sans"/>
                <a:cs typeface="DM Sans"/>
                <a:sym typeface="DM Sans"/>
              </a:rPr>
              <a:t>x</a:t>
            </a:r>
            <a:r>
              <a:rPr lang="en" sz="2400">
                <a:latin typeface="DM Sans"/>
                <a:ea typeface="DM Sans"/>
                <a:cs typeface="DM Sans"/>
                <a:sym typeface="DM Sans"/>
              </a:rPr>
              <a:t>.</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7</a:t>
            </a:r>
            <a:r>
              <a:rPr i="1" lang="en" sz="2400">
                <a:latin typeface="DM Sans"/>
                <a:ea typeface="DM Sans"/>
                <a:cs typeface="DM Sans"/>
                <a:sym typeface="DM Sans"/>
              </a:rPr>
              <a:t>x</a:t>
            </a:r>
            <a:r>
              <a:rPr lang="en" sz="2400">
                <a:latin typeface="DM Sans"/>
                <a:ea typeface="DM Sans"/>
                <a:cs typeface="DM Sans"/>
                <a:sym typeface="DM Sans"/>
              </a:rPr>
              <a:t> + 2 + 101 = 180</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7</a:t>
            </a:r>
            <a:r>
              <a:rPr i="1" lang="en" sz="2400">
                <a:latin typeface="DM Sans"/>
                <a:ea typeface="DM Sans"/>
                <a:cs typeface="DM Sans"/>
                <a:sym typeface="DM Sans"/>
              </a:rPr>
              <a:t>x</a:t>
            </a:r>
            <a:r>
              <a:rPr lang="en" sz="2400">
                <a:latin typeface="DM Sans"/>
                <a:ea typeface="DM Sans"/>
                <a:cs typeface="DM Sans"/>
                <a:sym typeface="DM Sans"/>
              </a:rPr>
              <a:t> + 103 = 180</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7</a:t>
            </a:r>
            <a:r>
              <a:rPr i="1" lang="en" sz="2400">
                <a:latin typeface="DM Sans"/>
                <a:ea typeface="DM Sans"/>
                <a:cs typeface="DM Sans"/>
                <a:sym typeface="DM Sans"/>
              </a:rPr>
              <a:t>x</a:t>
            </a:r>
            <a:r>
              <a:rPr lang="en" sz="2400">
                <a:latin typeface="DM Sans"/>
                <a:ea typeface="DM Sans"/>
                <a:cs typeface="DM Sans"/>
                <a:sym typeface="DM Sans"/>
              </a:rPr>
              <a:t> = 77</a:t>
            </a:r>
            <a:endParaRPr sz="2400">
              <a:latin typeface="DM Sans"/>
              <a:ea typeface="DM Sans"/>
              <a:cs typeface="DM Sans"/>
              <a:sym typeface="DM Sans"/>
            </a:endParaRPr>
          </a:p>
          <a:p>
            <a:pPr indent="0" lvl="0" marL="0" rtl="0" algn="r">
              <a:spcBef>
                <a:spcPts val="0"/>
              </a:spcBef>
              <a:spcAft>
                <a:spcPts val="0"/>
              </a:spcAft>
              <a:buNone/>
            </a:pPr>
            <a:r>
              <a:rPr i="1" lang="en" sz="2400">
                <a:latin typeface="DM Sans"/>
                <a:ea typeface="DM Sans"/>
                <a:cs typeface="DM Sans"/>
                <a:sym typeface="DM Sans"/>
              </a:rPr>
              <a:t>x</a:t>
            </a:r>
            <a:r>
              <a:rPr lang="en" sz="2400">
                <a:latin typeface="DM Sans"/>
                <a:ea typeface="DM Sans"/>
                <a:cs typeface="DM Sans"/>
                <a:sym typeface="DM Sans"/>
              </a:rPr>
              <a:t> = 11</a:t>
            </a:r>
            <a:endParaRPr sz="2400">
              <a:latin typeface="DM Sans"/>
              <a:ea typeface="DM Sans"/>
              <a:cs typeface="DM Sans"/>
              <a:sym typeface="DM Sans"/>
            </a:endParaRPr>
          </a:p>
        </p:txBody>
      </p:sp>
      <p:sp>
        <p:nvSpPr>
          <p:cNvPr id="632" name="Google Shape;632;p55"/>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3" name="Google Shape;633;p55"/>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34" name="Google Shape;634;p5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Angle Relationships</a:t>
            </a:r>
            <a:endParaRPr sz="4800">
              <a:latin typeface="Merriweather"/>
              <a:ea typeface="Merriweather"/>
              <a:cs typeface="Merriweather"/>
              <a:sym typeface="Merriweather"/>
            </a:endParaRPr>
          </a:p>
        </p:txBody>
      </p:sp>
      <p:pic>
        <p:nvPicPr>
          <p:cNvPr id="635" name="Google Shape;635;p55"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636" name="Google Shape;636;p55"/>
          <p:cNvGrpSpPr/>
          <p:nvPr/>
        </p:nvGrpSpPr>
        <p:grpSpPr>
          <a:xfrm>
            <a:off x="4954121" y="957919"/>
            <a:ext cx="3808200" cy="3808200"/>
            <a:chOff x="4954121" y="957919"/>
            <a:chExt cx="3808200" cy="3808200"/>
          </a:xfrm>
        </p:grpSpPr>
        <p:sp>
          <p:nvSpPr>
            <p:cNvPr id="637" name="Google Shape;637;p55"/>
            <p:cNvSpPr/>
            <p:nvPr/>
          </p:nvSpPr>
          <p:spPr>
            <a:xfrm rot="-3360140">
              <a:off x="5486608" y="1490406"/>
              <a:ext cx="2743226" cy="2743226"/>
            </a:xfrm>
            <a:prstGeom prst="ellipse">
              <a:avLst/>
            </a:prstGeom>
            <a:solidFill>
              <a:srgbClr val="FAC073"/>
            </a:solidFill>
            <a:ln cap="flat" cmpd="sng" w="19050">
              <a:solidFill>
                <a:srgbClr val="000000"/>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38" name="Google Shape;638;p55"/>
            <p:cNvCxnSpPr/>
            <p:nvPr/>
          </p:nvCxnSpPr>
          <p:spPr>
            <a:xfrm>
              <a:off x="5486481" y="2862003"/>
              <a:ext cx="2743200" cy="0"/>
            </a:xfrm>
            <a:prstGeom prst="straightConnector1">
              <a:avLst/>
            </a:prstGeom>
            <a:noFill/>
            <a:ln cap="flat" cmpd="sng" w="19050">
              <a:solidFill>
                <a:srgbClr val="000000"/>
              </a:solidFill>
              <a:prstDash val="solid"/>
              <a:round/>
              <a:headEnd len="med" w="med" type="none"/>
              <a:tailEnd len="med" w="med" type="none"/>
            </a:ln>
          </p:spPr>
        </p:cxnSp>
        <p:cxnSp>
          <p:nvCxnSpPr>
            <p:cNvPr id="639" name="Google Shape;639;p55"/>
            <p:cNvCxnSpPr/>
            <p:nvPr/>
          </p:nvCxnSpPr>
          <p:spPr>
            <a:xfrm flipH="1" rot="-3359720">
              <a:off x="6242378" y="1703974"/>
              <a:ext cx="969852" cy="969852"/>
            </a:xfrm>
            <a:prstGeom prst="straightConnector1">
              <a:avLst/>
            </a:prstGeom>
            <a:noFill/>
            <a:ln cap="flat" cmpd="sng" w="19050">
              <a:solidFill>
                <a:srgbClr val="000000"/>
              </a:solidFill>
              <a:prstDash val="solid"/>
              <a:round/>
              <a:headEnd len="med" w="med" type="none"/>
              <a:tailEnd len="med" w="med" type="none"/>
            </a:ln>
          </p:spPr>
        </p:cxnSp>
        <p:sp>
          <p:nvSpPr>
            <p:cNvPr id="640" name="Google Shape;640;p55"/>
            <p:cNvSpPr txBox="1"/>
            <p:nvPr/>
          </p:nvSpPr>
          <p:spPr>
            <a:xfrm>
              <a:off x="6367725" y="1146400"/>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C</a:t>
              </a:r>
              <a:endParaRPr i="1" sz="2400">
                <a:latin typeface="DM Sans"/>
                <a:ea typeface="DM Sans"/>
                <a:cs typeface="DM Sans"/>
                <a:sym typeface="DM Sans"/>
              </a:endParaRPr>
            </a:p>
          </p:txBody>
        </p:sp>
        <p:sp>
          <p:nvSpPr>
            <p:cNvPr id="641" name="Google Shape;641;p55"/>
            <p:cNvSpPr txBox="1"/>
            <p:nvPr/>
          </p:nvSpPr>
          <p:spPr>
            <a:xfrm>
              <a:off x="5029275" y="2677350"/>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A</a:t>
              </a:r>
              <a:endParaRPr i="1" sz="2400">
                <a:latin typeface="DM Sans"/>
                <a:ea typeface="DM Sans"/>
                <a:cs typeface="DM Sans"/>
                <a:sym typeface="DM Sans"/>
              </a:endParaRPr>
            </a:p>
          </p:txBody>
        </p:sp>
        <p:sp>
          <p:nvSpPr>
            <p:cNvPr id="642" name="Google Shape;642;p55"/>
            <p:cNvSpPr txBox="1"/>
            <p:nvPr/>
          </p:nvSpPr>
          <p:spPr>
            <a:xfrm>
              <a:off x="8229675" y="2677350"/>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B</a:t>
              </a:r>
              <a:endParaRPr i="1" sz="2400">
                <a:latin typeface="DM Sans"/>
                <a:ea typeface="DM Sans"/>
                <a:cs typeface="DM Sans"/>
                <a:sym typeface="DM Sans"/>
              </a:endParaRPr>
            </a:p>
          </p:txBody>
        </p:sp>
        <p:sp>
          <p:nvSpPr>
            <p:cNvPr id="643" name="Google Shape;643;p55"/>
            <p:cNvSpPr txBox="1"/>
            <p:nvPr/>
          </p:nvSpPr>
          <p:spPr>
            <a:xfrm>
              <a:off x="6400875" y="2862000"/>
              <a:ext cx="457200" cy="369300"/>
            </a:xfrm>
            <a:prstGeom prst="rect">
              <a:avLst/>
            </a:prstGeom>
            <a:noFill/>
            <a:ln>
              <a:noFill/>
            </a:ln>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E</a:t>
              </a:r>
              <a:endParaRPr i="1" sz="2400">
                <a:latin typeface="DM Sans"/>
                <a:ea typeface="DM Sans"/>
                <a:cs typeface="DM Sans"/>
                <a:sym typeface="DM Sans"/>
              </a:endParaRPr>
            </a:p>
          </p:txBody>
        </p:sp>
        <p:cxnSp>
          <p:nvCxnSpPr>
            <p:cNvPr id="644" name="Google Shape;644;p55"/>
            <p:cNvCxnSpPr/>
            <p:nvPr/>
          </p:nvCxnSpPr>
          <p:spPr>
            <a:xfrm rot="-6060089">
              <a:off x="5486456" y="2861988"/>
              <a:ext cx="2743214" cy="0"/>
            </a:xfrm>
            <a:prstGeom prst="straightConnector1">
              <a:avLst/>
            </a:prstGeom>
            <a:noFill/>
            <a:ln cap="flat" cmpd="sng" w="19050">
              <a:solidFill>
                <a:srgbClr val="000000"/>
              </a:solidFill>
              <a:prstDash val="solid"/>
              <a:round/>
              <a:headEnd len="med" w="med" type="none"/>
              <a:tailEnd len="med" w="med" type="none"/>
            </a:ln>
          </p:spPr>
        </p:cxnSp>
        <p:sp>
          <p:nvSpPr>
            <p:cNvPr id="645" name="Google Shape;645;p55"/>
            <p:cNvSpPr txBox="1"/>
            <p:nvPr/>
          </p:nvSpPr>
          <p:spPr>
            <a:xfrm>
              <a:off x="6891225" y="4208400"/>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D</a:t>
              </a:r>
              <a:endParaRPr i="1"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800"/>
                                        <p:tgtEl>
                                          <p:spTgt spid="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649" name="Shape 649"/>
        <p:cNvGrpSpPr/>
        <p:nvPr/>
      </p:nvGrpSpPr>
      <p:grpSpPr>
        <a:xfrm>
          <a:off x="0" y="0"/>
          <a:ext cx="0" cy="0"/>
          <a:chOff x="0" y="0"/>
          <a:chExt cx="0" cy="0"/>
        </a:xfrm>
      </p:grpSpPr>
      <p:sp>
        <p:nvSpPr>
          <p:cNvPr id="650" name="Google Shape;650;p56"/>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651" name="Google Shape;651;p56"/>
          <p:cNvSpPr txBox="1"/>
          <p:nvPr/>
        </p:nvSpPr>
        <p:spPr>
          <a:xfrm>
            <a:off x="228600" y="1490400"/>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i="1" lang="en" sz="2400">
                <a:latin typeface="DM Sans"/>
                <a:ea typeface="DM Sans"/>
                <a:cs typeface="DM Sans"/>
                <a:sym typeface="DM Sans"/>
              </a:rPr>
              <a:t>l</a:t>
            </a:r>
            <a:r>
              <a:rPr lang="en" sz="2400">
                <a:latin typeface="DM Sans"/>
                <a:ea typeface="DM Sans"/>
                <a:cs typeface="DM Sans"/>
                <a:sym typeface="DM Sans"/>
              </a:rPr>
              <a:t> ∥ </a:t>
            </a:r>
            <a:r>
              <a:rPr i="1" lang="en" sz="2400">
                <a:latin typeface="DM Sans"/>
                <a:ea typeface="DM Sans"/>
                <a:cs typeface="DM Sans"/>
                <a:sym typeface="DM Sans"/>
              </a:rPr>
              <a:t>m</a:t>
            </a:r>
            <a:r>
              <a:rPr lang="en" sz="2400">
                <a:latin typeface="DM Sans"/>
                <a:ea typeface="DM Sans"/>
                <a:cs typeface="DM Sans"/>
                <a:sym typeface="DM Sans"/>
              </a:rPr>
              <a:t> (line </a:t>
            </a:r>
            <a:r>
              <a:rPr i="1" lang="en" sz="2400">
                <a:latin typeface="DM Sans"/>
                <a:ea typeface="DM Sans"/>
                <a:cs typeface="DM Sans"/>
                <a:sym typeface="DM Sans"/>
              </a:rPr>
              <a:t>l</a:t>
            </a:r>
            <a:r>
              <a:rPr lang="en" sz="2400">
                <a:latin typeface="DM Sans"/>
                <a:ea typeface="DM Sans"/>
                <a:cs typeface="DM Sans"/>
                <a:sym typeface="DM Sans"/>
              </a:rPr>
              <a:t> is parallel to line </a:t>
            </a:r>
            <a:r>
              <a:rPr i="1" lang="en" sz="2400">
                <a:latin typeface="DM Sans"/>
                <a:ea typeface="DM Sans"/>
                <a:cs typeface="DM Sans"/>
                <a:sym typeface="DM Sans"/>
              </a:rPr>
              <a:t>m</a:t>
            </a:r>
            <a:r>
              <a:rPr lang="en" sz="2400">
                <a:latin typeface="DM Sans"/>
                <a:ea typeface="DM Sans"/>
                <a:cs typeface="DM Sans"/>
                <a:sym typeface="DM Sans"/>
              </a:rPr>
              <a:t>). What is the relationship between </a:t>
            </a:r>
            <a:r>
              <a:rPr i="1" lang="en" sz="2400">
                <a:latin typeface="DM Sans"/>
                <a:ea typeface="DM Sans"/>
                <a:cs typeface="DM Sans"/>
                <a:sym typeface="DM Sans"/>
              </a:rPr>
              <a:t>x</a:t>
            </a:r>
            <a:r>
              <a:rPr lang="en" sz="2400">
                <a:latin typeface="DM Sans"/>
                <a:ea typeface="DM Sans"/>
                <a:cs typeface="DM Sans"/>
                <a:sym typeface="DM Sans"/>
              </a:rPr>
              <a:t>° and </a:t>
            </a:r>
            <a:r>
              <a:rPr i="1" lang="en" sz="2400">
                <a:latin typeface="DM Sans"/>
                <a:ea typeface="DM Sans"/>
                <a:cs typeface="DM Sans"/>
                <a:sym typeface="DM Sans"/>
              </a:rPr>
              <a:t>y</a:t>
            </a:r>
            <a:r>
              <a:rPr lang="en" sz="2400">
                <a:latin typeface="DM Sans"/>
                <a:ea typeface="DM Sans"/>
                <a:cs typeface="DM Sans"/>
                <a:sym typeface="DM Sans"/>
              </a:rPr>
              <a:t>°?</a:t>
            </a:r>
            <a:endParaRPr sz="2400">
              <a:latin typeface="DM Sans"/>
              <a:ea typeface="DM Sans"/>
              <a:cs typeface="DM Sans"/>
              <a:sym typeface="DM Sans"/>
            </a:endParaRPr>
          </a:p>
        </p:txBody>
      </p:sp>
      <p:sp>
        <p:nvSpPr>
          <p:cNvPr id="652" name="Google Shape;652;p56"/>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p56"/>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54" name="Google Shape;654;p56"/>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Angles with Triangles and Parallel Lines</a:t>
            </a:r>
            <a:endParaRPr sz="3000">
              <a:latin typeface="Merriweather"/>
              <a:ea typeface="Merriweather"/>
              <a:cs typeface="Merriweather"/>
              <a:sym typeface="Merriweather"/>
            </a:endParaRPr>
          </a:p>
        </p:txBody>
      </p:sp>
      <p:pic>
        <p:nvPicPr>
          <p:cNvPr id="655" name="Google Shape;655;p56"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656" name="Google Shape;656;p56"/>
          <p:cNvGrpSpPr/>
          <p:nvPr/>
        </p:nvGrpSpPr>
        <p:grpSpPr>
          <a:xfrm>
            <a:off x="4800600" y="1490400"/>
            <a:ext cx="4114800" cy="3200400"/>
            <a:chOff x="4800600" y="1490400"/>
            <a:chExt cx="4114800" cy="3200400"/>
          </a:xfrm>
        </p:grpSpPr>
        <p:cxnSp>
          <p:nvCxnSpPr>
            <p:cNvPr id="657" name="Google Shape;657;p56"/>
            <p:cNvCxnSpPr/>
            <p:nvPr/>
          </p:nvCxnSpPr>
          <p:spPr>
            <a:xfrm>
              <a:off x="4800600" y="2404800"/>
              <a:ext cx="4114800" cy="0"/>
            </a:xfrm>
            <a:prstGeom prst="straightConnector1">
              <a:avLst/>
            </a:prstGeom>
            <a:noFill/>
            <a:ln cap="flat" cmpd="sng" w="38100">
              <a:solidFill>
                <a:srgbClr val="000000"/>
              </a:solidFill>
              <a:prstDash val="solid"/>
              <a:round/>
              <a:headEnd len="med" w="med" type="stealth"/>
              <a:tailEnd len="med" w="med" type="stealth"/>
            </a:ln>
          </p:spPr>
        </p:cxnSp>
        <p:cxnSp>
          <p:nvCxnSpPr>
            <p:cNvPr id="658" name="Google Shape;658;p56"/>
            <p:cNvCxnSpPr/>
            <p:nvPr/>
          </p:nvCxnSpPr>
          <p:spPr>
            <a:xfrm>
              <a:off x="4800600" y="3776400"/>
              <a:ext cx="4114800" cy="0"/>
            </a:xfrm>
            <a:prstGeom prst="straightConnector1">
              <a:avLst/>
            </a:prstGeom>
            <a:noFill/>
            <a:ln cap="flat" cmpd="sng" w="38100">
              <a:solidFill>
                <a:srgbClr val="000000"/>
              </a:solidFill>
              <a:prstDash val="solid"/>
              <a:round/>
              <a:headEnd len="med" w="med" type="stealth"/>
              <a:tailEnd len="med" w="med" type="stealth"/>
            </a:ln>
          </p:spPr>
        </p:cxnSp>
        <p:cxnSp>
          <p:nvCxnSpPr>
            <p:cNvPr id="659" name="Google Shape;659;p56"/>
            <p:cNvCxnSpPr/>
            <p:nvPr/>
          </p:nvCxnSpPr>
          <p:spPr>
            <a:xfrm>
              <a:off x="6400800" y="1490400"/>
              <a:ext cx="914400" cy="3200400"/>
            </a:xfrm>
            <a:prstGeom prst="straightConnector1">
              <a:avLst/>
            </a:prstGeom>
            <a:noFill/>
            <a:ln cap="flat" cmpd="sng" w="38100">
              <a:solidFill>
                <a:srgbClr val="000000"/>
              </a:solidFill>
              <a:prstDash val="solid"/>
              <a:round/>
              <a:headEnd len="med" w="med" type="stealth"/>
              <a:tailEnd len="med" w="med" type="stealth"/>
            </a:ln>
          </p:spPr>
        </p:cxnSp>
        <p:sp>
          <p:nvSpPr>
            <p:cNvPr id="660" name="Google Shape;660;p56"/>
            <p:cNvSpPr txBox="1"/>
            <p:nvPr/>
          </p:nvSpPr>
          <p:spPr>
            <a:xfrm>
              <a:off x="8458200" y="2404800"/>
              <a:ext cx="457200" cy="424800"/>
            </a:xfrm>
            <a:prstGeom prst="rect">
              <a:avLst/>
            </a:prstGeom>
            <a:noFill/>
            <a:ln>
              <a:noFill/>
            </a:ln>
            <a:effectLst>
              <a:outerShdw blurRad="71438" rotWithShape="0" algn="bl">
                <a:srgbClr val="FFFFFF"/>
              </a:outerShdw>
            </a:effectLst>
          </p:spPr>
          <p:txBody>
            <a:bodyPr anchorCtr="0" anchor="t" bIns="0" lIns="0" spcFirstLastPara="1" rIns="0" wrap="square" tIns="54850">
              <a:spAutoFit/>
            </a:bodyPr>
            <a:lstStyle/>
            <a:p>
              <a:pPr indent="0" lvl="0" marL="0" rtl="0" algn="r">
                <a:spcBef>
                  <a:spcPts val="0"/>
                </a:spcBef>
                <a:spcAft>
                  <a:spcPts val="0"/>
                </a:spcAft>
                <a:buNone/>
              </a:pPr>
              <a:r>
                <a:rPr i="1" lang="en" sz="2400">
                  <a:latin typeface="DM Sans"/>
                  <a:ea typeface="DM Sans"/>
                  <a:cs typeface="DM Sans"/>
                  <a:sym typeface="DM Sans"/>
                </a:rPr>
                <a:t>l</a:t>
              </a:r>
              <a:endParaRPr i="1" sz="2400">
                <a:latin typeface="DM Sans"/>
                <a:ea typeface="DM Sans"/>
                <a:cs typeface="DM Sans"/>
                <a:sym typeface="DM Sans"/>
              </a:endParaRPr>
            </a:p>
          </p:txBody>
        </p:sp>
        <p:sp>
          <p:nvSpPr>
            <p:cNvPr id="661" name="Google Shape;661;p56"/>
            <p:cNvSpPr txBox="1"/>
            <p:nvPr/>
          </p:nvSpPr>
          <p:spPr>
            <a:xfrm>
              <a:off x="8458200" y="3776400"/>
              <a:ext cx="457200" cy="424800"/>
            </a:xfrm>
            <a:prstGeom prst="rect">
              <a:avLst/>
            </a:prstGeom>
            <a:noFill/>
            <a:ln>
              <a:noFill/>
            </a:ln>
            <a:effectLst>
              <a:outerShdw blurRad="71438" rotWithShape="0" algn="bl">
                <a:srgbClr val="FFFFFF"/>
              </a:outerShdw>
            </a:effectLst>
          </p:spPr>
          <p:txBody>
            <a:bodyPr anchorCtr="0" anchor="t" bIns="0" lIns="0" spcFirstLastPara="1" rIns="0" wrap="square" tIns="54850">
              <a:spAutoFit/>
            </a:bodyPr>
            <a:lstStyle/>
            <a:p>
              <a:pPr indent="0" lvl="0" marL="0" rtl="0" algn="r">
                <a:spcBef>
                  <a:spcPts val="0"/>
                </a:spcBef>
                <a:spcAft>
                  <a:spcPts val="0"/>
                </a:spcAft>
                <a:buNone/>
              </a:pPr>
              <a:r>
                <a:rPr i="1" lang="en" sz="2400">
                  <a:latin typeface="DM Sans"/>
                  <a:ea typeface="DM Sans"/>
                  <a:cs typeface="DM Sans"/>
                  <a:sym typeface="DM Sans"/>
                </a:rPr>
                <a:t>m</a:t>
              </a:r>
              <a:endParaRPr i="1" sz="2400">
                <a:latin typeface="DM Sans"/>
                <a:ea typeface="DM Sans"/>
                <a:cs typeface="DM Sans"/>
                <a:sym typeface="DM Sans"/>
              </a:endParaRPr>
            </a:p>
          </p:txBody>
        </p:sp>
        <p:sp>
          <p:nvSpPr>
            <p:cNvPr id="662" name="Google Shape;662;p56"/>
            <p:cNvSpPr txBox="1"/>
            <p:nvPr/>
          </p:nvSpPr>
          <p:spPr>
            <a:xfrm>
              <a:off x="6629400" y="2035500"/>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x</a:t>
              </a:r>
              <a:r>
                <a:rPr lang="en" sz="2400">
                  <a:latin typeface="DM Sans"/>
                  <a:ea typeface="DM Sans"/>
                  <a:cs typeface="DM Sans"/>
                  <a:sym typeface="DM Sans"/>
                </a:rPr>
                <a:t>°</a:t>
              </a:r>
              <a:endParaRPr sz="2400">
                <a:latin typeface="DM Sans"/>
                <a:ea typeface="DM Sans"/>
                <a:cs typeface="DM Sans"/>
                <a:sym typeface="DM Sans"/>
              </a:endParaRPr>
            </a:p>
          </p:txBody>
        </p:sp>
        <p:sp>
          <p:nvSpPr>
            <p:cNvPr id="663" name="Google Shape;663;p56"/>
            <p:cNvSpPr txBox="1"/>
            <p:nvPr/>
          </p:nvSpPr>
          <p:spPr>
            <a:xfrm>
              <a:off x="6629400" y="3407100"/>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ctr">
                <a:spcBef>
                  <a:spcPts val="0"/>
                </a:spcBef>
                <a:spcAft>
                  <a:spcPts val="0"/>
                </a:spcAft>
                <a:buNone/>
              </a:pPr>
              <a:r>
                <a:rPr i="1" lang="en" sz="2400">
                  <a:latin typeface="DM Sans"/>
                  <a:ea typeface="DM Sans"/>
                  <a:cs typeface="DM Sans"/>
                  <a:sym typeface="DM Sans"/>
                </a:rPr>
                <a:t>y</a:t>
              </a:r>
              <a:r>
                <a:rPr lang="en" sz="2400">
                  <a:latin typeface="DM Sans"/>
                  <a:ea typeface="DM Sans"/>
                  <a:cs typeface="DM Sans"/>
                  <a:sym typeface="DM Sans"/>
                </a:rPr>
                <a:t>°</a:t>
              </a:r>
              <a:endParaRPr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800"/>
                                        <p:tgtEl>
                                          <p:spTgt spid="651"/>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800"/>
                                        <p:tgtEl>
                                          <p:spTgt spid="6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667" name="Shape 667"/>
        <p:cNvGrpSpPr/>
        <p:nvPr/>
      </p:nvGrpSpPr>
      <p:grpSpPr>
        <a:xfrm>
          <a:off x="0" y="0"/>
          <a:ext cx="0" cy="0"/>
          <a:chOff x="0" y="0"/>
          <a:chExt cx="0" cy="0"/>
        </a:xfrm>
      </p:grpSpPr>
      <p:sp>
        <p:nvSpPr>
          <p:cNvPr id="668" name="Google Shape;668;p57"/>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669" name="Google Shape;669;p57"/>
          <p:cNvSpPr txBox="1"/>
          <p:nvPr/>
        </p:nvSpPr>
        <p:spPr>
          <a:xfrm>
            <a:off x="228600" y="1490400"/>
            <a:ext cx="4114800" cy="1847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Translate </a:t>
            </a:r>
            <a:r>
              <a:rPr i="1" lang="en" sz="2400">
                <a:latin typeface="DM Sans"/>
                <a:ea typeface="DM Sans"/>
                <a:cs typeface="DM Sans"/>
                <a:sym typeface="DM Sans"/>
              </a:rPr>
              <a:t>m</a:t>
            </a:r>
            <a:r>
              <a:rPr lang="en" sz="2400">
                <a:latin typeface="DM Sans"/>
                <a:ea typeface="DM Sans"/>
                <a:cs typeface="DM Sans"/>
                <a:sym typeface="DM Sans"/>
              </a:rPr>
              <a:t> onto </a:t>
            </a:r>
            <a:r>
              <a:rPr i="1" lang="en" sz="2400">
                <a:latin typeface="DM Sans"/>
                <a:ea typeface="DM Sans"/>
                <a:cs typeface="DM Sans"/>
                <a:sym typeface="DM Sans"/>
              </a:rPr>
              <a:t>l</a:t>
            </a:r>
            <a:r>
              <a:rPr lang="en" sz="2400">
                <a:latin typeface="DM Sans"/>
                <a:ea typeface="DM Sans"/>
                <a:cs typeface="DM Sans"/>
                <a:sym typeface="DM Sans"/>
              </a:rPr>
              <a:t>. This is possible because </a:t>
            </a:r>
            <a:r>
              <a:rPr i="1" lang="en" sz="2400">
                <a:latin typeface="DM Sans"/>
                <a:ea typeface="DM Sans"/>
                <a:cs typeface="DM Sans"/>
                <a:sym typeface="DM Sans"/>
              </a:rPr>
              <a:t>l</a:t>
            </a:r>
            <a:r>
              <a:rPr lang="en" sz="2400">
                <a:latin typeface="DM Sans"/>
                <a:ea typeface="DM Sans"/>
                <a:cs typeface="DM Sans"/>
                <a:sym typeface="DM Sans"/>
              </a:rPr>
              <a:t> ∥ </a:t>
            </a:r>
            <a:r>
              <a:rPr i="1" lang="en" sz="2400">
                <a:latin typeface="DM Sans"/>
                <a:ea typeface="DM Sans"/>
                <a:cs typeface="DM Sans"/>
                <a:sym typeface="DM Sans"/>
              </a:rPr>
              <a:t>m</a:t>
            </a:r>
            <a:r>
              <a:rPr lang="en" sz="2400">
                <a:latin typeface="DM Sans"/>
                <a:ea typeface="DM Sans"/>
                <a:cs typeface="DM Sans"/>
                <a:sym typeface="DM Sans"/>
              </a:rPr>
              <a:t>.</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Now it should be clearer that </a:t>
            </a:r>
            <a:r>
              <a:rPr i="1" lang="en" sz="2400">
                <a:latin typeface="DM Sans"/>
                <a:ea typeface="DM Sans"/>
                <a:cs typeface="DM Sans"/>
                <a:sym typeface="DM Sans"/>
              </a:rPr>
              <a:t>x</a:t>
            </a:r>
            <a:r>
              <a:rPr lang="en" sz="2400">
                <a:latin typeface="DM Sans"/>
                <a:ea typeface="DM Sans"/>
                <a:cs typeface="DM Sans"/>
                <a:sym typeface="DM Sans"/>
              </a:rPr>
              <a:t> + </a:t>
            </a:r>
            <a:r>
              <a:rPr i="1" lang="en" sz="2400">
                <a:latin typeface="DM Sans"/>
                <a:ea typeface="DM Sans"/>
                <a:cs typeface="DM Sans"/>
                <a:sym typeface="DM Sans"/>
              </a:rPr>
              <a:t>y</a:t>
            </a:r>
            <a:r>
              <a:rPr lang="en" sz="2400">
                <a:latin typeface="DM Sans"/>
                <a:ea typeface="DM Sans"/>
                <a:cs typeface="DM Sans"/>
                <a:sym typeface="DM Sans"/>
              </a:rPr>
              <a:t> = 180.</a:t>
            </a:r>
            <a:endParaRPr sz="2400">
              <a:latin typeface="DM Sans"/>
              <a:ea typeface="DM Sans"/>
              <a:cs typeface="DM Sans"/>
              <a:sym typeface="DM Sans"/>
            </a:endParaRPr>
          </a:p>
        </p:txBody>
      </p:sp>
      <p:sp>
        <p:nvSpPr>
          <p:cNvPr id="670" name="Google Shape;670;p57"/>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1" name="Google Shape;671;p57"/>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72" name="Google Shape;672;p57"/>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Angles with Triangles and Parallel Lines</a:t>
            </a:r>
            <a:endParaRPr sz="3000">
              <a:latin typeface="Merriweather"/>
              <a:ea typeface="Merriweather"/>
              <a:cs typeface="Merriweather"/>
              <a:sym typeface="Merriweather"/>
            </a:endParaRPr>
          </a:p>
        </p:txBody>
      </p:sp>
      <p:pic>
        <p:nvPicPr>
          <p:cNvPr id="673" name="Google Shape;673;p57"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674" name="Google Shape;674;p57"/>
          <p:cNvGrpSpPr/>
          <p:nvPr/>
        </p:nvGrpSpPr>
        <p:grpSpPr>
          <a:xfrm>
            <a:off x="4800600" y="1490400"/>
            <a:ext cx="4114800" cy="3200400"/>
            <a:chOff x="4800600" y="1490400"/>
            <a:chExt cx="4114800" cy="3200400"/>
          </a:xfrm>
        </p:grpSpPr>
        <p:cxnSp>
          <p:nvCxnSpPr>
            <p:cNvPr id="675" name="Google Shape;675;p57"/>
            <p:cNvCxnSpPr/>
            <p:nvPr/>
          </p:nvCxnSpPr>
          <p:spPr>
            <a:xfrm>
              <a:off x="4800600" y="2404800"/>
              <a:ext cx="4114800" cy="0"/>
            </a:xfrm>
            <a:prstGeom prst="straightConnector1">
              <a:avLst/>
            </a:prstGeom>
            <a:noFill/>
            <a:ln cap="flat" cmpd="sng" w="38100">
              <a:solidFill>
                <a:srgbClr val="000000"/>
              </a:solidFill>
              <a:prstDash val="solid"/>
              <a:round/>
              <a:headEnd len="med" w="med" type="stealth"/>
              <a:tailEnd len="med" w="med" type="stealth"/>
            </a:ln>
          </p:spPr>
        </p:cxnSp>
        <p:cxnSp>
          <p:nvCxnSpPr>
            <p:cNvPr id="676" name="Google Shape;676;p57"/>
            <p:cNvCxnSpPr/>
            <p:nvPr/>
          </p:nvCxnSpPr>
          <p:spPr>
            <a:xfrm>
              <a:off x="6400800" y="1490400"/>
              <a:ext cx="914400" cy="3200400"/>
            </a:xfrm>
            <a:prstGeom prst="straightConnector1">
              <a:avLst/>
            </a:prstGeom>
            <a:noFill/>
            <a:ln cap="flat" cmpd="sng" w="38100">
              <a:solidFill>
                <a:srgbClr val="000000"/>
              </a:solidFill>
              <a:prstDash val="solid"/>
              <a:round/>
              <a:headEnd len="med" w="med" type="stealth"/>
              <a:tailEnd len="med" w="med" type="stealth"/>
            </a:ln>
          </p:spPr>
        </p:cxnSp>
        <p:sp>
          <p:nvSpPr>
            <p:cNvPr id="677" name="Google Shape;677;p57"/>
            <p:cNvSpPr txBox="1"/>
            <p:nvPr/>
          </p:nvSpPr>
          <p:spPr>
            <a:xfrm>
              <a:off x="8458200" y="2404800"/>
              <a:ext cx="457200" cy="424800"/>
            </a:xfrm>
            <a:prstGeom prst="rect">
              <a:avLst/>
            </a:prstGeom>
            <a:noFill/>
            <a:ln>
              <a:noFill/>
            </a:ln>
            <a:effectLst>
              <a:outerShdw blurRad="71438" rotWithShape="0" algn="bl">
                <a:srgbClr val="FFFFFF"/>
              </a:outerShdw>
            </a:effectLst>
          </p:spPr>
          <p:txBody>
            <a:bodyPr anchorCtr="0" anchor="t" bIns="0" lIns="0" spcFirstLastPara="1" rIns="0" wrap="square" tIns="54850">
              <a:spAutoFit/>
            </a:bodyPr>
            <a:lstStyle/>
            <a:p>
              <a:pPr indent="0" lvl="0" marL="0" rtl="0" algn="r">
                <a:spcBef>
                  <a:spcPts val="0"/>
                </a:spcBef>
                <a:spcAft>
                  <a:spcPts val="0"/>
                </a:spcAft>
                <a:buNone/>
              </a:pPr>
              <a:r>
                <a:rPr i="1" lang="en" sz="2400">
                  <a:latin typeface="DM Sans"/>
                  <a:ea typeface="DM Sans"/>
                  <a:cs typeface="DM Sans"/>
                  <a:sym typeface="DM Sans"/>
                </a:rPr>
                <a:t>l</a:t>
              </a:r>
              <a:endParaRPr i="1" sz="2400">
                <a:latin typeface="DM Sans"/>
                <a:ea typeface="DM Sans"/>
                <a:cs typeface="DM Sans"/>
                <a:sym typeface="DM Sans"/>
              </a:endParaRPr>
            </a:p>
          </p:txBody>
        </p:sp>
        <p:sp>
          <p:nvSpPr>
            <p:cNvPr id="678" name="Google Shape;678;p57"/>
            <p:cNvSpPr txBox="1"/>
            <p:nvPr/>
          </p:nvSpPr>
          <p:spPr>
            <a:xfrm>
              <a:off x="6629400" y="2035500"/>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x</a:t>
              </a:r>
              <a:r>
                <a:rPr lang="en" sz="2400">
                  <a:latin typeface="DM Sans"/>
                  <a:ea typeface="DM Sans"/>
                  <a:cs typeface="DM Sans"/>
                  <a:sym typeface="DM Sans"/>
                </a:rPr>
                <a:t>°</a:t>
              </a:r>
              <a:endParaRPr sz="2400">
                <a:latin typeface="DM Sans"/>
                <a:ea typeface="DM Sans"/>
                <a:cs typeface="DM Sans"/>
                <a:sym typeface="DM Sans"/>
              </a:endParaRPr>
            </a:p>
          </p:txBody>
        </p:sp>
        <p:sp>
          <p:nvSpPr>
            <p:cNvPr id="679" name="Google Shape;679;p57"/>
            <p:cNvSpPr txBox="1"/>
            <p:nvPr/>
          </p:nvSpPr>
          <p:spPr>
            <a:xfrm>
              <a:off x="6172200" y="2035500"/>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ctr">
                <a:spcBef>
                  <a:spcPts val="0"/>
                </a:spcBef>
                <a:spcAft>
                  <a:spcPts val="0"/>
                </a:spcAft>
                <a:buNone/>
              </a:pPr>
              <a:r>
                <a:rPr i="1" lang="en" sz="2400">
                  <a:latin typeface="DM Sans"/>
                  <a:ea typeface="DM Sans"/>
                  <a:cs typeface="DM Sans"/>
                  <a:sym typeface="DM Sans"/>
                </a:rPr>
                <a:t>y</a:t>
              </a:r>
              <a:r>
                <a:rPr lang="en" sz="2400">
                  <a:latin typeface="DM Sans"/>
                  <a:ea typeface="DM Sans"/>
                  <a:cs typeface="DM Sans"/>
                  <a:sym typeface="DM Sans"/>
                </a:rPr>
                <a:t>°</a:t>
              </a:r>
              <a:endParaRPr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800"/>
                                        <p:tgtEl>
                                          <p:spTgt spid="669"/>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800"/>
                                        <p:tgtEl>
                                          <p:spTgt spid="6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683" name="Shape 683"/>
        <p:cNvGrpSpPr/>
        <p:nvPr/>
      </p:nvGrpSpPr>
      <p:grpSpPr>
        <a:xfrm>
          <a:off x="0" y="0"/>
          <a:ext cx="0" cy="0"/>
          <a:chOff x="0" y="0"/>
          <a:chExt cx="0" cy="0"/>
        </a:xfrm>
      </p:grpSpPr>
      <p:sp>
        <p:nvSpPr>
          <p:cNvPr id="684" name="Google Shape;684;p58"/>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685" name="Google Shape;685;p58"/>
          <p:cNvSpPr txBox="1"/>
          <p:nvPr/>
        </p:nvSpPr>
        <p:spPr>
          <a:xfrm>
            <a:off x="228600" y="1490400"/>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i="1" lang="en" sz="2400">
                <a:latin typeface="DM Sans"/>
                <a:ea typeface="DM Sans"/>
                <a:cs typeface="DM Sans"/>
                <a:sym typeface="DM Sans"/>
              </a:rPr>
              <a:t>l</a:t>
            </a:r>
            <a:r>
              <a:rPr lang="en" sz="2400">
                <a:latin typeface="DM Sans"/>
                <a:ea typeface="DM Sans"/>
                <a:cs typeface="DM Sans"/>
                <a:sym typeface="DM Sans"/>
              </a:rPr>
              <a:t> ∥ </a:t>
            </a:r>
            <a:r>
              <a:rPr i="1" lang="en" sz="2400">
                <a:latin typeface="DM Sans"/>
                <a:ea typeface="DM Sans"/>
                <a:cs typeface="DM Sans"/>
                <a:sym typeface="DM Sans"/>
              </a:rPr>
              <a:t>m</a:t>
            </a:r>
            <a:r>
              <a:rPr lang="en" sz="2400">
                <a:latin typeface="DM Sans"/>
                <a:ea typeface="DM Sans"/>
                <a:cs typeface="DM Sans"/>
                <a:sym typeface="DM Sans"/>
              </a:rPr>
              <a:t> (line </a:t>
            </a:r>
            <a:r>
              <a:rPr i="1" lang="en" sz="2400">
                <a:latin typeface="DM Sans"/>
                <a:ea typeface="DM Sans"/>
                <a:cs typeface="DM Sans"/>
                <a:sym typeface="DM Sans"/>
              </a:rPr>
              <a:t>l</a:t>
            </a:r>
            <a:r>
              <a:rPr lang="en" sz="2400">
                <a:latin typeface="DM Sans"/>
                <a:ea typeface="DM Sans"/>
                <a:cs typeface="DM Sans"/>
                <a:sym typeface="DM Sans"/>
              </a:rPr>
              <a:t> is parallel to line </a:t>
            </a:r>
            <a:r>
              <a:rPr i="1" lang="en" sz="2400">
                <a:latin typeface="DM Sans"/>
                <a:ea typeface="DM Sans"/>
                <a:cs typeface="DM Sans"/>
                <a:sym typeface="DM Sans"/>
              </a:rPr>
              <a:t>m</a:t>
            </a:r>
            <a:r>
              <a:rPr lang="en" sz="2400">
                <a:latin typeface="DM Sans"/>
                <a:ea typeface="DM Sans"/>
                <a:cs typeface="DM Sans"/>
                <a:sym typeface="DM Sans"/>
              </a:rPr>
              <a:t>). What is the relationship between </a:t>
            </a:r>
            <a:r>
              <a:rPr i="1" lang="en" sz="2400">
                <a:latin typeface="DM Sans"/>
                <a:ea typeface="DM Sans"/>
                <a:cs typeface="DM Sans"/>
                <a:sym typeface="DM Sans"/>
              </a:rPr>
              <a:t>x</a:t>
            </a:r>
            <a:r>
              <a:rPr lang="en" sz="2400">
                <a:latin typeface="DM Sans"/>
                <a:ea typeface="DM Sans"/>
                <a:cs typeface="DM Sans"/>
                <a:sym typeface="DM Sans"/>
              </a:rPr>
              <a:t>° and </a:t>
            </a:r>
            <a:r>
              <a:rPr i="1" lang="en" sz="2400">
                <a:latin typeface="DM Sans"/>
                <a:ea typeface="DM Sans"/>
                <a:cs typeface="DM Sans"/>
                <a:sym typeface="DM Sans"/>
              </a:rPr>
              <a:t>z</a:t>
            </a:r>
            <a:r>
              <a:rPr lang="en" sz="2400">
                <a:latin typeface="DM Sans"/>
                <a:ea typeface="DM Sans"/>
                <a:cs typeface="DM Sans"/>
                <a:sym typeface="DM Sans"/>
              </a:rPr>
              <a:t>°?</a:t>
            </a:r>
            <a:endParaRPr sz="2400">
              <a:latin typeface="DM Sans"/>
              <a:ea typeface="DM Sans"/>
              <a:cs typeface="DM Sans"/>
              <a:sym typeface="DM Sans"/>
            </a:endParaRPr>
          </a:p>
        </p:txBody>
      </p:sp>
      <p:sp>
        <p:nvSpPr>
          <p:cNvPr id="686" name="Google Shape;686;p58"/>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7" name="Google Shape;687;p58"/>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88" name="Google Shape;688;p58"/>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Angles with Triangles and Parallel Lines</a:t>
            </a:r>
            <a:endParaRPr sz="3000">
              <a:latin typeface="Merriweather"/>
              <a:ea typeface="Merriweather"/>
              <a:cs typeface="Merriweather"/>
              <a:sym typeface="Merriweather"/>
            </a:endParaRPr>
          </a:p>
        </p:txBody>
      </p:sp>
      <p:pic>
        <p:nvPicPr>
          <p:cNvPr id="689" name="Google Shape;689;p58"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690" name="Google Shape;690;p58"/>
          <p:cNvGrpSpPr/>
          <p:nvPr/>
        </p:nvGrpSpPr>
        <p:grpSpPr>
          <a:xfrm>
            <a:off x="4800600" y="1490400"/>
            <a:ext cx="4114800" cy="3200400"/>
            <a:chOff x="4800600" y="1490400"/>
            <a:chExt cx="4114800" cy="3200400"/>
          </a:xfrm>
        </p:grpSpPr>
        <p:cxnSp>
          <p:nvCxnSpPr>
            <p:cNvPr id="691" name="Google Shape;691;p58"/>
            <p:cNvCxnSpPr/>
            <p:nvPr/>
          </p:nvCxnSpPr>
          <p:spPr>
            <a:xfrm>
              <a:off x="4800600" y="2404800"/>
              <a:ext cx="4114800" cy="0"/>
            </a:xfrm>
            <a:prstGeom prst="straightConnector1">
              <a:avLst/>
            </a:prstGeom>
            <a:noFill/>
            <a:ln cap="flat" cmpd="sng" w="38100">
              <a:solidFill>
                <a:srgbClr val="000000"/>
              </a:solidFill>
              <a:prstDash val="solid"/>
              <a:round/>
              <a:headEnd len="med" w="med" type="stealth"/>
              <a:tailEnd len="med" w="med" type="stealth"/>
            </a:ln>
          </p:spPr>
        </p:cxnSp>
        <p:cxnSp>
          <p:nvCxnSpPr>
            <p:cNvPr id="692" name="Google Shape;692;p58"/>
            <p:cNvCxnSpPr/>
            <p:nvPr/>
          </p:nvCxnSpPr>
          <p:spPr>
            <a:xfrm>
              <a:off x="4800600" y="3776400"/>
              <a:ext cx="4114800" cy="0"/>
            </a:xfrm>
            <a:prstGeom prst="straightConnector1">
              <a:avLst/>
            </a:prstGeom>
            <a:noFill/>
            <a:ln cap="flat" cmpd="sng" w="38100">
              <a:solidFill>
                <a:srgbClr val="000000"/>
              </a:solidFill>
              <a:prstDash val="solid"/>
              <a:round/>
              <a:headEnd len="med" w="med" type="stealth"/>
              <a:tailEnd len="med" w="med" type="stealth"/>
            </a:ln>
          </p:spPr>
        </p:cxnSp>
        <p:cxnSp>
          <p:nvCxnSpPr>
            <p:cNvPr id="693" name="Google Shape;693;p58"/>
            <p:cNvCxnSpPr/>
            <p:nvPr/>
          </p:nvCxnSpPr>
          <p:spPr>
            <a:xfrm>
              <a:off x="6400800" y="1490400"/>
              <a:ext cx="914400" cy="3200400"/>
            </a:xfrm>
            <a:prstGeom prst="straightConnector1">
              <a:avLst/>
            </a:prstGeom>
            <a:noFill/>
            <a:ln cap="flat" cmpd="sng" w="38100">
              <a:solidFill>
                <a:srgbClr val="000000"/>
              </a:solidFill>
              <a:prstDash val="solid"/>
              <a:round/>
              <a:headEnd len="med" w="med" type="stealth"/>
              <a:tailEnd len="med" w="med" type="stealth"/>
            </a:ln>
          </p:spPr>
        </p:cxnSp>
        <p:sp>
          <p:nvSpPr>
            <p:cNvPr id="694" name="Google Shape;694;p58"/>
            <p:cNvSpPr txBox="1"/>
            <p:nvPr/>
          </p:nvSpPr>
          <p:spPr>
            <a:xfrm>
              <a:off x="8458200" y="2404800"/>
              <a:ext cx="457200" cy="424800"/>
            </a:xfrm>
            <a:prstGeom prst="rect">
              <a:avLst/>
            </a:prstGeom>
            <a:noFill/>
            <a:ln>
              <a:noFill/>
            </a:ln>
            <a:effectLst>
              <a:outerShdw blurRad="71438" rotWithShape="0" algn="bl">
                <a:srgbClr val="FFFFFF"/>
              </a:outerShdw>
            </a:effectLst>
          </p:spPr>
          <p:txBody>
            <a:bodyPr anchorCtr="0" anchor="t" bIns="0" lIns="0" spcFirstLastPara="1" rIns="0" wrap="square" tIns="54850">
              <a:spAutoFit/>
            </a:bodyPr>
            <a:lstStyle/>
            <a:p>
              <a:pPr indent="0" lvl="0" marL="0" rtl="0" algn="r">
                <a:spcBef>
                  <a:spcPts val="0"/>
                </a:spcBef>
                <a:spcAft>
                  <a:spcPts val="0"/>
                </a:spcAft>
                <a:buNone/>
              </a:pPr>
              <a:r>
                <a:rPr i="1" lang="en" sz="2400">
                  <a:latin typeface="DM Sans"/>
                  <a:ea typeface="DM Sans"/>
                  <a:cs typeface="DM Sans"/>
                  <a:sym typeface="DM Sans"/>
                </a:rPr>
                <a:t>l</a:t>
              </a:r>
              <a:endParaRPr i="1" sz="2400">
                <a:latin typeface="DM Sans"/>
                <a:ea typeface="DM Sans"/>
                <a:cs typeface="DM Sans"/>
                <a:sym typeface="DM Sans"/>
              </a:endParaRPr>
            </a:p>
          </p:txBody>
        </p:sp>
        <p:sp>
          <p:nvSpPr>
            <p:cNvPr id="695" name="Google Shape;695;p58"/>
            <p:cNvSpPr txBox="1"/>
            <p:nvPr/>
          </p:nvSpPr>
          <p:spPr>
            <a:xfrm>
              <a:off x="8458200" y="3776400"/>
              <a:ext cx="457200" cy="424800"/>
            </a:xfrm>
            <a:prstGeom prst="rect">
              <a:avLst/>
            </a:prstGeom>
            <a:noFill/>
            <a:ln>
              <a:noFill/>
            </a:ln>
            <a:effectLst>
              <a:outerShdw blurRad="71438" rotWithShape="0" algn="bl">
                <a:srgbClr val="FFFFFF"/>
              </a:outerShdw>
            </a:effectLst>
          </p:spPr>
          <p:txBody>
            <a:bodyPr anchorCtr="0" anchor="t" bIns="0" lIns="0" spcFirstLastPara="1" rIns="0" wrap="square" tIns="54850">
              <a:spAutoFit/>
            </a:bodyPr>
            <a:lstStyle/>
            <a:p>
              <a:pPr indent="0" lvl="0" marL="0" rtl="0" algn="r">
                <a:spcBef>
                  <a:spcPts val="0"/>
                </a:spcBef>
                <a:spcAft>
                  <a:spcPts val="0"/>
                </a:spcAft>
                <a:buNone/>
              </a:pPr>
              <a:r>
                <a:rPr i="1" lang="en" sz="2400">
                  <a:latin typeface="DM Sans"/>
                  <a:ea typeface="DM Sans"/>
                  <a:cs typeface="DM Sans"/>
                  <a:sym typeface="DM Sans"/>
                </a:rPr>
                <a:t>m</a:t>
              </a:r>
              <a:endParaRPr i="1" sz="2400">
                <a:latin typeface="DM Sans"/>
                <a:ea typeface="DM Sans"/>
                <a:cs typeface="DM Sans"/>
                <a:sym typeface="DM Sans"/>
              </a:endParaRPr>
            </a:p>
          </p:txBody>
        </p:sp>
        <p:sp>
          <p:nvSpPr>
            <p:cNvPr id="696" name="Google Shape;696;p58"/>
            <p:cNvSpPr txBox="1"/>
            <p:nvPr/>
          </p:nvSpPr>
          <p:spPr>
            <a:xfrm>
              <a:off x="6629400" y="2035500"/>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x</a:t>
              </a:r>
              <a:r>
                <a:rPr lang="en" sz="2400">
                  <a:latin typeface="DM Sans"/>
                  <a:ea typeface="DM Sans"/>
                  <a:cs typeface="DM Sans"/>
                  <a:sym typeface="DM Sans"/>
                </a:rPr>
                <a:t>°</a:t>
              </a:r>
              <a:endParaRPr sz="2400">
                <a:latin typeface="DM Sans"/>
                <a:ea typeface="DM Sans"/>
                <a:cs typeface="DM Sans"/>
                <a:sym typeface="DM Sans"/>
              </a:endParaRPr>
            </a:p>
          </p:txBody>
        </p:sp>
        <p:sp>
          <p:nvSpPr>
            <p:cNvPr id="697" name="Google Shape;697;p58"/>
            <p:cNvSpPr txBox="1"/>
            <p:nvPr/>
          </p:nvSpPr>
          <p:spPr>
            <a:xfrm>
              <a:off x="6629400" y="3776400"/>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z</a:t>
              </a:r>
              <a:r>
                <a:rPr lang="en" sz="2400">
                  <a:latin typeface="DM Sans"/>
                  <a:ea typeface="DM Sans"/>
                  <a:cs typeface="DM Sans"/>
                  <a:sym typeface="DM Sans"/>
                </a:rPr>
                <a:t>°</a:t>
              </a:r>
              <a:endParaRPr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800"/>
                                        <p:tgtEl>
                                          <p:spTgt spid="685"/>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800"/>
                                        <p:tgtEl>
                                          <p:spTgt spid="6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701" name="Shape 701"/>
        <p:cNvGrpSpPr/>
        <p:nvPr/>
      </p:nvGrpSpPr>
      <p:grpSpPr>
        <a:xfrm>
          <a:off x="0" y="0"/>
          <a:ext cx="0" cy="0"/>
          <a:chOff x="0" y="0"/>
          <a:chExt cx="0" cy="0"/>
        </a:xfrm>
      </p:grpSpPr>
      <p:sp>
        <p:nvSpPr>
          <p:cNvPr id="702" name="Google Shape;702;p59"/>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703" name="Google Shape;703;p59"/>
          <p:cNvSpPr txBox="1"/>
          <p:nvPr/>
        </p:nvSpPr>
        <p:spPr>
          <a:xfrm>
            <a:off x="228600" y="1490400"/>
            <a:ext cx="4114800" cy="1847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Translate </a:t>
            </a:r>
            <a:r>
              <a:rPr i="1" lang="en" sz="2400">
                <a:latin typeface="DM Sans"/>
                <a:ea typeface="DM Sans"/>
                <a:cs typeface="DM Sans"/>
                <a:sym typeface="DM Sans"/>
              </a:rPr>
              <a:t>m</a:t>
            </a:r>
            <a:r>
              <a:rPr lang="en" sz="2400">
                <a:latin typeface="DM Sans"/>
                <a:ea typeface="DM Sans"/>
                <a:cs typeface="DM Sans"/>
                <a:sym typeface="DM Sans"/>
              </a:rPr>
              <a:t> onto </a:t>
            </a:r>
            <a:r>
              <a:rPr i="1" lang="en" sz="2400">
                <a:latin typeface="DM Sans"/>
                <a:ea typeface="DM Sans"/>
                <a:cs typeface="DM Sans"/>
                <a:sym typeface="DM Sans"/>
              </a:rPr>
              <a:t>l</a:t>
            </a:r>
            <a:r>
              <a:rPr lang="en" sz="2400">
                <a:latin typeface="DM Sans"/>
                <a:ea typeface="DM Sans"/>
                <a:cs typeface="DM Sans"/>
                <a:sym typeface="DM Sans"/>
              </a:rPr>
              <a:t>. This is possible because </a:t>
            </a:r>
            <a:r>
              <a:rPr i="1" lang="en" sz="2400">
                <a:latin typeface="DM Sans"/>
                <a:ea typeface="DM Sans"/>
                <a:cs typeface="DM Sans"/>
                <a:sym typeface="DM Sans"/>
              </a:rPr>
              <a:t>l</a:t>
            </a:r>
            <a:r>
              <a:rPr lang="en" sz="2400">
                <a:latin typeface="DM Sans"/>
                <a:ea typeface="DM Sans"/>
                <a:cs typeface="DM Sans"/>
                <a:sym typeface="DM Sans"/>
              </a:rPr>
              <a:t> ∥ </a:t>
            </a:r>
            <a:r>
              <a:rPr i="1" lang="en" sz="2400">
                <a:latin typeface="DM Sans"/>
                <a:ea typeface="DM Sans"/>
                <a:cs typeface="DM Sans"/>
                <a:sym typeface="DM Sans"/>
              </a:rPr>
              <a:t>m</a:t>
            </a:r>
            <a:r>
              <a:rPr lang="en" sz="2400">
                <a:latin typeface="DM Sans"/>
                <a:ea typeface="DM Sans"/>
                <a:cs typeface="DM Sans"/>
                <a:sym typeface="DM Sans"/>
              </a:rPr>
              <a:t>.</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Now it should be clearer that </a:t>
            </a:r>
            <a:r>
              <a:rPr i="1" lang="en" sz="2400">
                <a:latin typeface="DM Sans"/>
                <a:ea typeface="DM Sans"/>
                <a:cs typeface="DM Sans"/>
                <a:sym typeface="DM Sans"/>
              </a:rPr>
              <a:t>x</a:t>
            </a:r>
            <a:r>
              <a:rPr lang="en" sz="2400">
                <a:latin typeface="DM Sans"/>
                <a:ea typeface="DM Sans"/>
                <a:cs typeface="DM Sans"/>
                <a:sym typeface="DM Sans"/>
              </a:rPr>
              <a:t> = </a:t>
            </a:r>
            <a:r>
              <a:rPr i="1" lang="en" sz="2400">
                <a:latin typeface="DM Sans"/>
                <a:ea typeface="DM Sans"/>
                <a:cs typeface="DM Sans"/>
                <a:sym typeface="DM Sans"/>
              </a:rPr>
              <a:t>z</a:t>
            </a:r>
            <a:r>
              <a:rPr lang="en" sz="2400">
                <a:latin typeface="DM Sans"/>
                <a:ea typeface="DM Sans"/>
                <a:cs typeface="DM Sans"/>
                <a:sym typeface="DM Sans"/>
              </a:rPr>
              <a:t>.</a:t>
            </a:r>
            <a:endParaRPr sz="2400">
              <a:latin typeface="DM Sans"/>
              <a:ea typeface="DM Sans"/>
              <a:cs typeface="DM Sans"/>
              <a:sym typeface="DM Sans"/>
            </a:endParaRPr>
          </a:p>
        </p:txBody>
      </p:sp>
      <p:sp>
        <p:nvSpPr>
          <p:cNvPr id="704" name="Google Shape;704;p59"/>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5" name="Google Shape;705;p59"/>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06" name="Google Shape;706;p59"/>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Angles with Triangles and Parallel Lines</a:t>
            </a:r>
            <a:endParaRPr sz="3000">
              <a:latin typeface="Merriweather"/>
              <a:ea typeface="Merriweather"/>
              <a:cs typeface="Merriweather"/>
              <a:sym typeface="Merriweather"/>
            </a:endParaRPr>
          </a:p>
        </p:txBody>
      </p:sp>
      <p:pic>
        <p:nvPicPr>
          <p:cNvPr id="707" name="Google Shape;707;p59"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708" name="Google Shape;708;p59"/>
          <p:cNvGrpSpPr/>
          <p:nvPr/>
        </p:nvGrpSpPr>
        <p:grpSpPr>
          <a:xfrm>
            <a:off x="4800600" y="1490400"/>
            <a:ext cx="4114800" cy="3200400"/>
            <a:chOff x="4800600" y="1490400"/>
            <a:chExt cx="4114800" cy="3200400"/>
          </a:xfrm>
        </p:grpSpPr>
        <p:cxnSp>
          <p:nvCxnSpPr>
            <p:cNvPr id="709" name="Google Shape;709;p59"/>
            <p:cNvCxnSpPr/>
            <p:nvPr/>
          </p:nvCxnSpPr>
          <p:spPr>
            <a:xfrm>
              <a:off x="4800600" y="2404800"/>
              <a:ext cx="4114800" cy="0"/>
            </a:xfrm>
            <a:prstGeom prst="straightConnector1">
              <a:avLst/>
            </a:prstGeom>
            <a:noFill/>
            <a:ln cap="flat" cmpd="sng" w="38100">
              <a:solidFill>
                <a:srgbClr val="000000"/>
              </a:solidFill>
              <a:prstDash val="solid"/>
              <a:round/>
              <a:headEnd len="med" w="med" type="stealth"/>
              <a:tailEnd len="med" w="med" type="stealth"/>
            </a:ln>
          </p:spPr>
        </p:cxnSp>
        <p:cxnSp>
          <p:nvCxnSpPr>
            <p:cNvPr id="710" name="Google Shape;710;p59"/>
            <p:cNvCxnSpPr/>
            <p:nvPr/>
          </p:nvCxnSpPr>
          <p:spPr>
            <a:xfrm>
              <a:off x="6400800" y="1490400"/>
              <a:ext cx="914400" cy="3200400"/>
            </a:xfrm>
            <a:prstGeom prst="straightConnector1">
              <a:avLst/>
            </a:prstGeom>
            <a:noFill/>
            <a:ln cap="flat" cmpd="sng" w="38100">
              <a:solidFill>
                <a:srgbClr val="000000"/>
              </a:solidFill>
              <a:prstDash val="solid"/>
              <a:round/>
              <a:headEnd len="med" w="med" type="stealth"/>
              <a:tailEnd len="med" w="med" type="stealth"/>
            </a:ln>
          </p:spPr>
        </p:cxnSp>
        <p:sp>
          <p:nvSpPr>
            <p:cNvPr id="711" name="Google Shape;711;p59"/>
            <p:cNvSpPr txBox="1"/>
            <p:nvPr/>
          </p:nvSpPr>
          <p:spPr>
            <a:xfrm>
              <a:off x="8458200" y="2404800"/>
              <a:ext cx="457200" cy="424800"/>
            </a:xfrm>
            <a:prstGeom prst="rect">
              <a:avLst/>
            </a:prstGeom>
            <a:noFill/>
            <a:ln>
              <a:noFill/>
            </a:ln>
            <a:effectLst>
              <a:outerShdw blurRad="71438" rotWithShape="0" algn="bl">
                <a:srgbClr val="FFFFFF"/>
              </a:outerShdw>
            </a:effectLst>
          </p:spPr>
          <p:txBody>
            <a:bodyPr anchorCtr="0" anchor="t" bIns="0" lIns="0" spcFirstLastPara="1" rIns="0" wrap="square" tIns="54850">
              <a:spAutoFit/>
            </a:bodyPr>
            <a:lstStyle/>
            <a:p>
              <a:pPr indent="0" lvl="0" marL="0" rtl="0" algn="r">
                <a:spcBef>
                  <a:spcPts val="0"/>
                </a:spcBef>
                <a:spcAft>
                  <a:spcPts val="0"/>
                </a:spcAft>
                <a:buNone/>
              </a:pPr>
              <a:r>
                <a:rPr i="1" lang="en" sz="2400">
                  <a:latin typeface="DM Sans"/>
                  <a:ea typeface="DM Sans"/>
                  <a:cs typeface="DM Sans"/>
                  <a:sym typeface="DM Sans"/>
                </a:rPr>
                <a:t>l</a:t>
              </a:r>
              <a:endParaRPr i="1" sz="2400">
                <a:latin typeface="DM Sans"/>
                <a:ea typeface="DM Sans"/>
                <a:cs typeface="DM Sans"/>
                <a:sym typeface="DM Sans"/>
              </a:endParaRPr>
            </a:p>
          </p:txBody>
        </p:sp>
        <p:sp>
          <p:nvSpPr>
            <p:cNvPr id="712" name="Google Shape;712;p59"/>
            <p:cNvSpPr txBox="1"/>
            <p:nvPr/>
          </p:nvSpPr>
          <p:spPr>
            <a:xfrm>
              <a:off x="6629400" y="2035500"/>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x</a:t>
              </a:r>
              <a:r>
                <a:rPr lang="en" sz="2400">
                  <a:latin typeface="DM Sans"/>
                  <a:ea typeface="DM Sans"/>
                  <a:cs typeface="DM Sans"/>
                  <a:sym typeface="DM Sans"/>
                </a:rPr>
                <a:t>°</a:t>
              </a:r>
              <a:endParaRPr sz="2400">
                <a:latin typeface="DM Sans"/>
                <a:ea typeface="DM Sans"/>
                <a:cs typeface="DM Sans"/>
                <a:sym typeface="DM Sans"/>
              </a:endParaRPr>
            </a:p>
          </p:txBody>
        </p:sp>
        <p:sp>
          <p:nvSpPr>
            <p:cNvPr id="713" name="Google Shape;713;p59"/>
            <p:cNvSpPr txBox="1"/>
            <p:nvPr/>
          </p:nvSpPr>
          <p:spPr>
            <a:xfrm>
              <a:off x="6172200" y="2404800"/>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z</a:t>
              </a:r>
              <a:r>
                <a:rPr lang="en" sz="2400">
                  <a:latin typeface="DM Sans"/>
                  <a:ea typeface="DM Sans"/>
                  <a:cs typeface="DM Sans"/>
                  <a:sym typeface="DM Sans"/>
                </a:rPr>
                <a:t>°</a:t>
              </a:r>
              <a:endParaRPr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800"/>
                                        <p:tgtEl>
                                          <p:spTgt spid="703"/>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800"/>
                                        <p:tgtEl>
                                          <p:spTgt spid="7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717" name="Shape 717"/>
        <p:cNvGrpSpPr/>
        <p:nvPr/>
      </p:nvGrpSpPr>
      <p:grpSpPr>
        <a:xfrm>
          <a:off x="0" y="0"/>
          <a:ext cx="0" cy="0"/>
          <a:chOff x="0" y="0"/>
          <a:chExt cx="0" cy="0"/>
        </a:xfrm>
      </p:grpSpPr>
      <p:sp>
        <p:nvSpPr>
          <p:cNvPr id="718" name="Google Shape;718;p60"/>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719" name="Google Shape;719;p60"/>
          <p:cNvSpPr txBox="1"/>
          <p:nvPr/>
        </p:nvSpPr>
        <p:spPr>
          <a:xfrm>
            <a:off x="228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Later in the practice, you’ll use this diagram and the fact that line </a:t>
            </a:r>
            <a:r>
              <a:rPr i="1" lang="en" sz="2400">
                <a:latin typeface="DM Sans"/>
                <a:ea typeface="DM Sans"/>
                <a:cs typeface="DM Sans"/>
                <a:sym typeface="DM Sans"/>
              </a:rPr>
              <a:t>DE</a:t>
            </a:r>
            <a:r>
              <a:rPr lang="en" sz="2400">
                <a:latin typeface="DM Sans"/>
                <a:ea typeface="DM Sans"/>
                <a:cs typeface="DM Sans"/>
                <a:sym typeface="DM Sans"/>
              </a:rPr>
              <a:t> ∥ line </a:t>
            </a:r>
            <a:r>
              <a:rPr i="1" lang="en" sz="2400">
                <a:latin typeface="DM Sans"/>
                <a:ea typeface="DM Sans"/>
                <a:cs typeface="DM Sans"/>
                <a:sym typeface="DM Sans"/>
              </a:rPr>
              <a:t>AC</a:t>
            </a:r>
            <a:r>
              <a:rPr lang="en" sz="2400">
                <a:latin typeface="DM Sans"/>
                <a:ea typeface="DM Sans"/>
                <a:cs typeface="DM Sans"/>
                <a:sym typeface="DM Sans"/>
              </a:rPr>
              <a:t> to prove that the sum of the interior angles of a triangle is 180°.</a:t>
            </a:r>
            <a:endParaRPr sz="2400">
              <a:latin typeface="DM Sans"/>
              <a:ea typeface="DM Sans"/>
              <a:cs typeface="DM Sans"/>
              <a:sym typeface="DM Sans"/>
            </a:endParaRPr>
          </a:p>
        </p:txBody>
      </p:sp>
      <p:sp>
        <p:nvSpPr>
          <p:cNvPr id="720" name="Google Shape;720;p60"/>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1" name="Google Shape;721;p60"/>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22" name="Google Shape;722;p60"/>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Angles with Triangles and Parallel Lines</a:t>
            </a:r>
            <a:endParaRPr sz="3000">
              <a:latin typeface="Merriweather"/>
              <a:ea typeface="Merriweather"/>
              <a:cs typeface="Merriweather"/>
              <a:sym typeface="Merriweather"/>
            </a:endParaRPr>
          </a:p>
        </p:txBody>
      </p:sp>
      <p:pic>
        <p:nvPicPr>
          <p:cNvPr id="723" name="Google Shape;723;p60"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724" name="Google Shape;724;p60"/>
          <p:cNvGrpSpPr/>
          <p:nvPr/>
        </p:nvGrpSpPr>
        <p:grpSpPr>
          <a:xfrm>
            <a:off x="4800600" y="1378125"/>
            <a:ext cx="4114800" cy="2839950"/>
            <a:chOff x="4800600" y="1378125"/>
            <a:chExt cx="4114800" cy="2839950"/>
          </a:xfrm>
        </p:grpSpPr>
        <p:grpSp>
          <p:nvGrpSpPr>
            <p:cNvPr id="725" name="Google Shape;725;p60"/>
            <p:cNvGrpSpPr/>
            <p:nvPr/>
          </p:nvGrpSpPr>
          <p:grpSpPr>
            <a:xfrm>
              <a:off x="5486400" y="1747425"/>
              <a:ext cx="2743200" cy="2286000"/>
              <a:chOff x="5584425" y="1490400"/>
              <a:chExt cx="2743200" cy="2286000"/>
            </a:xfrm>
          </p:grpSpPr>
          <p:sp>
            <p:nvSpPr>
              <p:cNvPr id="726" name="Google Shape;726;p60"/>
              <p:cNvSpPr/>
              <p:nvPr/>
            </p:nvSpPr>
            <p:spPr>
              <a:xfrm flipH="1">
                <a:off x="5584425" y="1490400"/>
                <a:ext cx="9144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7" name="Google Shape;727;p60"/>
              <p:cNvSpPr/>
              <p:nvPr/>
            </p:nvSpPr>
            <p:spPr>
              <a:xfrm>
                <a:off x="6498825" y="1490400"/>
                <a:ext cx="18288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28" name="Google Shape;728;p60"/>
              <p:cNvCxnSpPr>
                <a:stCxn id="727" idx="0"/>
                <a:endCxn id="727" idx="4"/>
              </p:cNvCxnSpPr>
              <p:nvPr/>
            </p:nvCxnSpPr>
            <p:spPr>
              <a:xfrm>
                <a:off x="6498825" y="1490400"/>
                <a:ext cx="1828800" cy="2286000"/>
              </a:xfrm>
              <a:prstGeom prst="straightConnector1">
                <a:avLst/>
              </a:prstGeom>
              <a:noFill/>
              <a:ln cap="flat" cmpd="sng" w="19050">
                <a:solidFill>
                  <a:srgbClr val="000000"/>
                </a:solidFill>
                <a:prstDash val="solid"/>
                <a:round/>
                <a:headEnd len="med" w="med" type="none"/>
                <a:tailEnd len="med" w="med" type="none"/>
              </a:ln>
            </p:spPr>
          </p:cxnSp>
          <p:cxnSp>
            <p:nvCxnSpPr>
              <p:cNvPr id="729" name="Google Shape;729;p60"/>
              <p:cNvCxnSpPr>
                <a:stCxn id="726" idx="4"/>
                <a:endCxn id="727" idx="0"/>
              </p:cNvCxnSpPr>
              <p:nvPr/>
            </p:nvCxnSpPr>
            <p:spPr>
              <a:xfrm flipH="1" rot="10800000">
                <a:off x="5584425" y="1490400"/>
                <a:ext cx="914400" cy="2286000"/>
              </a:xfrm>
              <a:prstGeom prst="straightConnector1">
                <a:avLst/>
              </a:prstGeom>
              <a:noFill/>
              <a:ln cap="flat" cmpd="sng" w="19050">
                <a:solidFill>
                  <a:srgbClr val="000000"/>
                </a:solidFill>
                <a:prstDash val="solid"/>
                <a:round/>
                <a:headEnd len="med" w="med" type="none"/>
                <a:tailEnd len="med" w="med" type="none"/>
              </a:ln>
            </p:spPr>
          </p:cxnSp>
          <p:cxnSp>
            <p:nvCxnSpPr>
              <p:cNvPr id="730" name="Google Shape;730;p60"/>
              <p:cNvCxnSpPr>
                <a:stCxn id="726" idx="4"/>
                <a:endCxn id="727" idx="4"/>
              </p:cNvCxnSpPr>
              <p:nvPr/>
            </p:nvCxnSpPr>
            <p:spPr>
              <a:xfrm>
                <a:off x="5584425" y="3776400"/>
                <a:ext cx="2743200" cy="0"/>
              </a:xfrm>
              <a:prstGeom prst="straightConnector1">
                <a:avLst/>
              </a:prstGeom>
              <a:noFill/>
              <a:ln cap="flat" cmpd="sng" w="19050">
                <a:solidFill>
                  <a:srgbClr val="000000"/>
                </a:solidFill>
                <a:prstDash val="solid"/>
                <a:round/>
                <a:headEnd len="med" w="med" type="none"/>
                <a:tailEnd len="med" w="med" type="none"/>
              </a:ln>
            </p:spPr>
          </p:cxnSp>
        </p:grpSp>
        <p:cxnSp>
          <p:nvCxnSpPr>
            <p:cNvPr id="731" name="Google Shape;731;p60"/>
            <p:cNvCxnSpPr/>
            <p:nvPr/>
          </p:nvCxnSpPr>
          <p:spPr>
            <a:xfrm>
              <a:off x="4800600" y="1747425"/>
              <a:ext cx="4114800" cy="0"/>
            </a:xfrm>
            <a:prstGeom prst="straightConnector1">
              <a:avLst/>
            </a:prstGeom>
            <a:noFill/>
            <a:ln cap="flat" cmpd="sng" w="19050">
              <a:solidFill>
                <a:srgbClr val="000000"/>
              </a:solidFill>
              <a:prstDash val="solid"/>
              <a:round/>
              <a:headEnd len="med" w="med" type="stealth"/>
              <a:tailEnd len="med" w="med" type="stealth"/>
            </a:ln>
          </p:spPr>
        </p:cxnSp>
        <p:sp>
          <p:nvSpPr>
            <p:cNvPr id="732" name="Google Shape;732;p60"/>
            <p:cNvSpPr txBox="1"/>
            <p:nvPr/>
          </p:nvSpPr>
          <p:spPr>
            <a:xfrm>
              <a:off x="8229600" y="3848775"/>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C</a:t>
              </a:r>
              <a:endParaRPr i="1" sz="2400">
                <a:latin typeface="DM Sans"/>
                <a:ea typeface="DM Sans"/>
                <a:cs typeface="DM Sans"/>
                <a:sym typeface="DM Sans"/>
              </a:endParaRPr>
            </a:p>
          </p:txBody>
        </p:sp>
        <p:sp>
          <p:nvSpPr>
            <p:cNvPr id="733" name="Google Shape;733;p60"/>
            <p:cNvSpPr txBox="1"/>
            <p:nvPr/>
          </p:nvSpPr>
          <p:spPr>
            <a:xfrm>
              <a:off x="5029200" y="3848775"/>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A</a:t>
              </a:r>
              <a:endParaRPr i="1" sz="2400">
                <a:latin typeface="DM Sans"/>
                <a:ea typeface="DM Sans"/>
                <a:cs typeface="DM Sans"/>
                <a:sym typeface="DM Sans"/>
              </a:endParaRPr>
            </a:p>
          </p:txBody>
        </p:sp>
        <p:sp>
          <p:nvSpPr>
            <p:cNvPr id="734" name="Google Shape;734;p60"/>
            <p:cNvSpPr txBox="1"/>
            <p:nvPr/>
          </p:nvSpPr>
          <p:spPr>
            <a:xfrm>
              <a:off x="6172200" y="1378125"/>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B</a:t>
              </a:r>
              <a:endParaRPr i="1" sz="2400">
                <a:latin typeface="DM Sans"/>
                <a:ea typeface="DM Sans"/>
                <a:cs typeface="DM Sans"/>
                <a:sym typeface="DM Sans"/>
              </a:endParaRPr>
            </a:p>
          </p:txBody>
        </p:sp>
        <p:sp>
          <p:nvSpPr>
            <p:cNvPr id="735" name="Google Shape;735;p60"/>
            <p:cNvSpPr txBox="1"/>
            <p:nvPr/>
          </p:nvSpPr>
          <p:spPr>
            <a:xfrm>
              <a:off x="5257800" y="1378125"/>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D</a:t>
              </a:r>
              <a:endParaRPr i="1" sz="2400">
                <a:latin typeface="DM Sans"/>
                <a:ea typeface="DM Sans"/>
                <a:cs typeface="DM Sans"/>
                <a:sym typeface="DM Sans"/>
              </a:endParaRPr>
            </a:p>
          </p:txBody>
        </p:sp>
        <p:sp>
          <p:nvSpPr>
            <p:cNvPr id="736" name="Google Shape;736;p60"/>
            <p:cNvSpPr txBox="1"/>
            <p:nvPr/>
          </p:nvSpPr>
          <p:spPr>
            <a:xfrm>
              <a:off x="7086600" y="1378125"/>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E</a:t>
              </a:r>
              <a:endParaRPr i="1"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19"/>
                                        </p:tgtEl>
                                        <p:attrNameLst>
                                          <p:attrName>style.visibility</p:attrName>
                                        </p:attrNameLst>
                                      </p:cBhvr>
                                      <p:to>
                                        <p:strVal val="visible"/>
                                      </p:to>
                                    </p:set>
                                    <p:animEffect filter="fade" transition="in">
                                      <p:cBhvr>
                                        <p:cTn dur="800"/>
                                        <p:tgtEl>
                                          <p:spTgt spid="719"/>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724"/>
                                        </p:tgtEl>
                                        <p:attrNameLst>
                                          <p:attrName>style.visibility</p:attrName>
                                        </p:attrNameLst>
                                      </p:cBhvr>
                                      <p:to>
                                        <p:strVal val="visible"/>
                                      </p:to>
                                    </p:set>
                                    <p:animEffect filter="fade" transition="in">
                                      <p:cBhvr>
                                        <p:cTn dur="800"/>
                                        <p:tgtEl>
                                          <p:spTgt spid="7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740" name="Shape 740"/>
        <p:cNvGrpSpPr/>
        <p:nvPr/>
      </p:nvGrpSpPr>
      <p:grpSpPr>
        <a:xfrm>
          <a:off x="0" y="0"/>
          <a:ext cx="0" cy="0"/>
          <a:chOff x="0" y="0"/>
          <a:chExt cx="0" cy="0"/>
        </a:xfrm>
      </p:grpSpPr>
      <p:sp>
        <p:nvSpPr>
          <p:cNvPr id="741" name="Google Shape;741;p61"/>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742" name="Google Shape;742;p61"/>
          <p:cNvSpPr txBox="1"/>
          <p:nvPr/>
        </p:nvSpPr>
        <p:spPr>
          <a:xfrm>
            <a:off x="228600" y="1490400"/>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Extend line segment </a:t>
            </a:r>
            <a:r>
              <a:rPr i="1" lang="en" sz="2400">
                <a:latin typeface="DM Sans"/>
                <a:ea typeface="DM Sans"/>
                <a:cs typeface="DM Sans"/>
                <a:sym typeface="DM Sans"/>
              </a:rPr>
              <a:t>AC</a:t>
            </a:r>
            <a:r>
              <a:rPr lang="en" sz="2400">
                <a:latin typeface="DM Sans"/>
                <a:ea typeface="DM Sans"/>
                <a:cs typeface="DM Sans"/>
                <a:sym typeface="DM Sans"/>
              </a:rPr>
              <a:t> to form ray </a:t>
            </a:r>
            <a:r>
              <a:rPr i="1" lang="en" sz="2400">
                <a:latin typeface="DM Sans"/>
                <a:ea typeface="DM Sans"/>
                <a:cs typeface="DM Sans"/>
                <a:sym typeface="DM Sans"/>
              </a:rPr>
              <a:t>AD</a:t>
            </a:r>
            <a:r>
              <a:rPr lang="en" sz="2400">
                <a:latin typeface="DM Sans"/>
                <a:ea typeface="DM Sans"/>
                <a:cs typeface="DM Sans"/>
                <a:sym typeface="DM Sans"/>
              </a:rPr>
              <a:t>. This forms </a:t>
            </a:r>
            <a:r>
              <a:rPr b="1" lang="en" sz="2400">
                <a:latin typeface="DM Sans"/>
                <a:ea typeface="DM Sans"/>
                <a:cs typeface="DM Sans"/>
                <a:sym typeface="DM Sans"/>
              </a:rPr>
              <a:t>exterior angle</a:t>
            </a:r>
            <a:r>
              <a:rPr lang="en" sz="2400">
                <a:latin typeface="DM Sans"/>
                <a:ea typeface="DM Sans"/>
                <a:cs typeface="DM Sans"/>
                <a:sym typeface="DM Sans"/>
              </a:rPr>
              <a:t> </a:t>
            </a:r>
            <a:r>
              <a:rPr i="1" lang="en" sz="2400">
                <a:latin typeface="DM Sans"/>
                <a:ea typeface="DM Sans"/>
                <a:cs typeface="DM Sans"/>
                <a:sym typeface="DM Sans"/>
              </a:rPr>
              <a:t>BCD</a:t>
            </a:r>
            <a:r>
              <a:rPr lang="en" sz="2400">
                <a:latin typeface="DM Sans"/>
                <a:ea typeface="DM Sans"/>
                <a:cs typeface="DM Sans"/>
                <a:sym typeface="DM Sans"/>
              </a:rPr>
              <a:t>.</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m∠</a:t>
            </a:r>
            <a:r>
              <a:rPr i="1" lang="en" sz="2400">
                <a:latin typeface="DM Sans"/>
                <a:ea typeface="DM Sans"/>
                <a:cs typeface="DM Sans"/>
                <a:sym typeface="DM Sans"/>
              </a:rPr>
              <a:t>ACB</a:t>
            </a:r>
            <a:r>
              <a:rPr lang="en" sz="2400">
                <a:latin typeface="DM Sans"/>
                <a:ea typeface="DM Sans"/>
                <a:cs typeface="DM Sans"/>
                <a:sym typeface="DM Sans"/>
              </a:rPr>
              <a:t> + m∠</a:t>
            </a:r>
            <a:r>
              <a:rPr i="1" lang="en" sz="2400">
                <a:latin typeface="DM Sans"/>
                <a:ea typeface="DM Sans"/>
                <a:cs typeface="DM Sans"/>
                <a:sym typeface="DM Sans"/>
              </a:rPr>
              <a:t>BCD</a:t>
            </a:r>
            <a:r>
              <a:rPr lang="en" sz="2400">
                <a:latin typeface="DM Sans"/>
                <a:ea typeface="DM Sans"/>
                <a:cs typeface="DM Sans"/>
                <a:sym typeface="DM Sans"/>
              </a:rPr>
              <a:t> = 180°</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m∠</a:t>
            </a:r>
            <a:r>
              <a:rPr i="1" lang="en" sz="2400">
                <a:latin typeface="DM Sans"/>
                <a:ea typeface="DM Sans"/>
                <a:cs typeface="DM Sans"/>
                <a:sym typeface="DM Sans"/>
              </a:rPr>
              <a:t>A</a:t>
            </a:r>
            <a:r>
              <a:rPr lang="en" sz="2400">
                <a:latin typeface="DM Sans"/>
                <a:ea typeface="DM Sans"/>
                <a:cs typeface="DM Sans"/>
                <a:sym typeface="DM Sans"/>
              </a:rPr>
              <a:t> + m∠</a:t>
            </a:r>
            <a:r>
              <a:rPr i="1" lang="en" sz="2400">
                <a:latin typeface="DM Sans"/>
                <a:ea typeface="DM Sans"/>
                <a:cs typeface="DM Sans"/>
                <a:sym typeface="DM Sans"/>
              </a:rPr>
              <a:t>B</a:t>
            </a:r>
            <a:r>
              <a:rPr lang="en" sz="2400">
                <a:latin typeface="DM Sans"/>
                <a:ea typeface="DM Sans"/>
                <a:cs typeface="DM Sans"/>
                <a:sym typeface="DM Sans"/>
              </a:rPr>
              <a:t> + m∠</a:t>
            </a:r>
            <a:r>
              <a:rPr i="1" lang="en" sz="2400">
                <a:latin typeface="DM Sans"/>
                <a:ea typeface="DM Sans"/>
                <a:cs typeface="DM Sans"/>
                <a:sym typeface="DM Sans"/>
              </a:rPr>
              <a:t>ACB</a:t>
            </a:r>
            <a:r>
              <a:rPr lang="en" sz="2400">
                <a:latin typeface="DM Sans"/>
                <a:ea typeface="DM Sans"/>
                <a:cs typeface="DM Sans"/>
                <a:sym typeface="DM Sans"/>
              </a:rPr>
              <a:t> = 180°</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m∠</a:t>
            </a:r>
            <a:r>
              <a:rPr i="1" lang="en" sz="2400">
                <a:latin typeface="DM Sans"/>
                <a:ea typeface="DM Sans"/>
                <a:cs typeface="DM Sans"/>
                <a:sym typeface="DM Sans"/>
              </a:rPr>
              <a:t>BCD</a:t>
            </a:r>
            <a:r>
              <a:rPr lang="en" sz="2400">
                <a:latin typeface="DM Sans"/>
                <a:ea typeface="DM Sans"/>
                <a:cs typeface="DM Sans"/>
                <a:sym typeface="DM Sans"/>
              </a:rPr>
              <a:t> = m∠</a:t>
            </a:r>
            <a:r>
              <a:rPr i="1" lang="en" sz="2400">
                <a:latin typeface="DM Sans"/>
                <a:ea typeface="DM Sans"/>
                <a:cs typeface="DM Sans"/>
                <a:sym typeface="DM Sans"/>
              </a:rPr>
              <a:t>A</a:t>
            </a:r>
            <a:r>
              <a:rPr lang="en" sz="2400">
                <a:latin typeface="DM Sans"/>
                <a:ea typeface="DM Sans"/>
                <a:cs typeface="DM Sans"/>
                <a:sym typeface="DM Sans"/>
              </a:rPr>
              <a:t> + m∠</a:t>
            </a:r>
            <a:r>
              <a:rPr i="1" lang="en" sz="2400">
                <a:latin typeface="DM Sans"/>
                <a:ea typeface="DM Sans"/>
                <a:cs typeface="DM Sans"/>
                <a:sym typeface="DM Sans"/>
              </a:rPr>
              <a:t>B</a:t>
            </a:r>
            <a:endParaRPr sz="2400">
              <a:latin typeface="DM Sans"/>
              <a:ea typeface="DM Sans"/>
              <a:cs typeface="DM Sans"/>
              <a:sym typeface="DM Sans"/>
            </a:endParaRPr>
          </a:p>
        </p:txBody>
      </p:sp>
      <p:sp>
        <p:nvSpPr>
          <p:cNvPr id="743" name="Google Shape;743;p61"/>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4" name="Google Shape;744;p61"/>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45" name="Google Shape;745;p61"/>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Angles with Triangles and Parallel Lines</a:t>
            </a:r>
            <a:endParaRPr sz="3000">
              <a:latin typeface="Merriweather"/>
              <a:ea typeface="Merriweather"/>
              <a:cs typeface="Merriweather"/>
              <a:sym typeface="Merriweather"/>
            </a:endParaRPr>
          </a:p>
        </p:txBody>
      </p:sp>
      <p:pic>
        <p:nvPicPr>
          <p:cNvPr id="746" name="Google Shape;746;p61"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747" name="Google Shape;747;p61"/>
          <p:cNvGrpSpPr/>
          <p:nvPr/>
        </p:nvGrpSpPr>
        <p:grpSpPr>
          <a:xfrm>
            <a:off x="4572000" y="1378125"/>
            <a:ext cx="4343400" cy="3024600"/>
            <a:chOff x="4572000" y="1378125"/>
            <a:chExt cx="4343400" cy="3024600"/>
          </a:xfrm>
        </p:grpSpPr>
        <p:grpSp>
          <p:nvGrpSpPr>
            <p:cNvPr id="748" name="Google Shape;748;p61"/>
            <p:cNvGrpSpPr/>
            <p:nvPr/>
          </p:nvGrpSpPr>
          <p:grpSpPr>
            <a:xfrm>
              <a:off x="5029200" y="1747425"/>
              <a:ext cx="2743200" cy="2286000"/>
              <a:chOff x="5584425" y="1490400"/>
              <a:chExt cx="2743200" cy="2286000"/>
            </a:xfrm>
          </p:grpSpPr>
          <p:sp>
            <p:nvSpPr>
              <p:cNvPr id="749" name="Google Shape;749;p61"/>
              <p:cNvSpPr/>
              <p:nvPr/>
            </p:nvSpPr>
            <p:spPr>
              <a:xfrm flipH="1">
                <a:off x="5584425" y="1490400"/>
                <a:ext cx="9144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0" name="Google Shape;750;p61"/>
              <p:cNvSpPr/>
              <p:nvPr/>
            </p:nvSpPr>
            <p:spPr>
              <a:xfrm>
                <a:off x="6498825" y="1490400"/>
                <a:ext cx="18288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51" name="Google Shape;751;p61"/>
              <p:cNvCxnSpPr>
                <a:stCxn id="750" idx="0"/>
                <a:endCxn id="750" idx="4"/>
              </p:cNvCxnSpPr>
              <p:nvPr/>
            </p:nvCxnSpPr>
            <p:spPr>
              <a:xfrm>
                <a:off x="6498825" y="1490400"/>
                <a:ext cx="1828800" cy="2286000"/>
              </a:xfrm>
              <a:prstGeom prst="straightConnector1">
                <a:avLst/>
              </a:prstGeom>
              <a:noFill/>
              <a:ln cap="flat" cmpd="sng" w="19050">
                <a:solidFill>
                  <a:srgbClr val="000000"/>
                </a:solidFill>
                <a:prstDash val="solid"/>
                <a:round/>
                <a:headEnd len="med" w="med" type="none"/>
                <a:tailEnd len="med" w="med" type="none"/>
              </a:ln>
            </p:spPr>
          </p:cxnSp>
          <p:cxnSp>
            <p:nvCxnSpPr>
              <p:cNvPr id="752" name="Google Shape;752;p61"/>
              <p:cNvCxnSpPr>
                <a:stCxn id="749" idx="4"/>
                <a:endCxn id="750" idx="0"/>
              </p:cNvCxnSpPr>
              <p:nvPr/>
            </p:nvCxnSpPr>
            <p:spPr>
              <a:xfrm flipH="1" rot="10800000">
                <a:off x="5584425" y="1490400"/>
                <a:ext cx="914400" cy="2286000"/>
              </a:xfrm>
              <a:prstGeom prst="straightConnector1">
                <a:avLst/>
              </a:prstGeom>
              <a:noFill/>
              <a:ln cap="flat" cmpd="sng" w="19050">
                <a:solidFill>
                  <a:srgbClr val="000000"/>
                </a:solidFill>
                <a:prstDash val="solid"/>
                <a:round/>
                <a:headEnd len="med" w="med" type="none"/>
                <a:tailEnd len="med" w="med" type="none"/>
              </a:ln>
            </p:spPr>
          </p:cxnSp>
          <p:cxnSp>
            <p:nvCxnSpPr>
              <p:cNvPr id="753" name="Google Shape;753;p61"/>
              <p:cNvCxnSpPr>
                <a:stCxn id="749" idx="4"/>
                <a:endCxn id="750" idx="4"/>
              </p:cNvCxnSpPr>
              <p:nvPr/>
            </p:nvCxnSpPr>
            <p:spPr>
              <a:xfrm>
                <a:off x="5584425" y="3776400"/>
                <a:ext cx="2743200" cy="0"/>
              </a:xfrm>
              <a:prstGeom prst="straightConnector1">
                <a:avLst/>
              </a:prstGeom>
              <a:noFill/>
              <a:ln cap="flat" cmpd="sng" w="19050">
                <a:solidFill>
                  <a:srgbClr val="000000"/>
                </a:solidFill>
                <a:prstDash val="solid"/>
                <a:round/>
                <a:headEnd len="med" w="med" type="none"/>
                <a:tailEnd len="med" w="med" type="none"/>
              </a:ln>
            </p:spPr>
          </p:cxnSp>
        </p:grpSp>
        <p:cxnSp>
          <p:nvCxnSpPr>
            <p:cNvPr id="754" name="Google Shape;754;p61"/>
            <p:cNvCxnSpPr/>
            <p:nvPr/>
          </p:nvCxnSpPr>
          <p:spPr>
            <a:xfrm>
              <a:off x="5029200" y="4033425"/>
              <a:ext cx="3886200" cy="0"/>
            </a:xfrm>
            <a:prstGeom prst="straightConnector1">
              <a:avLst/>
            </a:prstGeom>
            <a:noFill/>
            <a:ln cap="flat" cmpd="sng" w="19050">
              <a:solidFill>
                <a:srgbClr val="000000"/>
              </a:solidFill>
              <a:prstDash val="solid"/>
              <a:round/>
              <a:headEnd len="med" w="med" type="none"/>
              <a:tailEnd len="med" w="med" type="stealth"/>
            </a:ln>
          </p:spPr>
        </p:cxnSp>
        <p:sp>
          <p:nvSpPr>
            <p:cNvPr id="755" name="Google Shape;755;p61"/>
            <p:cNvSpPr txBox="1"/>
            <p:nvPr/>
          </p:nvSpPr>
          <p:spPr>
            <a:xfrm>
              <a:off x="7315200" y="4033425"/>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i="1" lang="en" sz="2400">
                  <a:latin typeface="DM Sans"/>
                  <a:ea typeface="DM Sans"/>
                  <a:cs typeface="DM Sans"/>
                  <a:sym typeface="DM Sans"/>
                </a:rPr>
                <a:t>C</a:t>
              </a:r>
              <a:endParaRPr i="1" sz="2400">
                <a:latin typeface="DM Sans"/>
                <a:ea typeface="DM Sans"/>
                <a:cs typeface="DM Sans"/>
                <a:sym typeface="DM Sans"/>
              </a:endParaRPr>
            </a:p>
          </p:txBody>
        </p:sp>
        <p:sp>
          <p:nvSpPr>
            <p:cNvPr id="756" name="Google Shape;756;p61"/>
            <p:cNvSpPr txBox="1"/>
            <p:nvPr/>
          </p:nvSpPr>
          <p:spPr>
            <a:xfrm>
              <a:off x="4572000" y="3848775"/>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A</a:t>
              </a:r>
              <a:endParaRPr i="1" sz="2400">
                <a:latin typeface="DM Sans"/>
                <a:ea typeface="DM Sans"/>
                <a:cs typeface="DM Sans"/>
                <a:sym typeface="DM Sans"/>
              </a:endParaRPr>
            </a:p>
          </p:txBody>
        </p:sp>
        <p:sp>
          <p:nvSpPr>
            <p:cNvPr id="757" name="Google Shape;757;p61"/>
            <p:cNvSpPr txBox="1"/>
            <p:nvPr/>
          </p:nvSpPr>
          <p:spPr>
            <a:xfrm>
              <a:off x="5715000" y="1378125"/>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B</a:t>
              </a:r>
              <a:endParaRPr i="1" sz="2400">
                <a:latin typeface="DM Sans"/>
                <a:ea typeface="DM Sans"/>
                <a:cs typeface="DM Sans"/>
                <a:sym typeface="DM Sans"/>
              </a:endParaRPr>
            </a:p>
          </p:txBody>
        </p:sp>
        <p:sp>
          <p:nvSpPr>
            <p:cNvPr id="758" name="Google Shape;758;p61"/>
            <p:cNvSpPr txBox="1"/>
            <p:nvPr/>
          </p:nvSpPr>
          <p:spPr>
            <a:xfrm>
              <a:off x="8229600" y="4033425"/>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D</a:t>
              </a:r>
              <a:endParaRPr i="1"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800"/>
                                        <p:tgtEl>
                                          <p:spTgt spid="742"/>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747"/>
                                        </p:tgtEl>
                                        <p:attrNameLst>
                                          <p:attrName>style.visibility</p:attrName>
                                        </p:attrNameLst>
                                      </p:cBhvr>
                                      <p:to>
                                        <p:strVal val="visible"/>
                                      </p:to>
                                    </p:set>
                                    <p:animEffect filter="fade" transition="in">
                                      <p:cBhvr>
                                        <p:cTn dur="800"/>
                                        <p:tgtEl>
                                          <p:spTgt spid="7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762" name="Shape 762"/>
        <p:cNvGrpSpPr/>
        <p:nvPr/>
      </p:nvGrpSpPr>
      <p:grpSpPr>
        <a:xfrm>
          <a:off x="0" y="0"/>
          <a:ext cx="0" cy="0"/>
          <a:chOff x="0" y="0"/>
          <a:chExt cx="0" cy="0"/>
        </a:xfrm>
      </p:grpSpPr>
      <p:sp>
        <p:nvSpPr>
          <p:cNvPr id="763" name="Google Shape;763;p62"/>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764" name="Google Shape;764;p62"/>
          <p:cNvSpPr txBox="1"/>
          <p:nvPr/>
        </p:nvSpPr>
        <p:spPr>
          <a:xfrm>
            <a:off x="228600" y="1490400"/>
            <a:ext cx="4114800" cy="2955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If you know m∠</a:t>
            </a:r>
            <a:r>
              <a:rPr i="1" lang="en" sz="2400">
                <a:latin typeface="DM Sans"/>
                <a:ea typeface="DM Sans"/>
                <a:cs typeface="DM Sans"/>
                <a:sym typeface="DM Sans"/>
              </a:rPr>
              <a:t>A</a:t>
            </a:r>
            <a:r>
              <a:rPr lang="en" sz="2400">
                <a:latin typeface="DM Sans"/>
                <a:ea typeface="DM Sans"/>
                <a:cs typeface="DM Sans"/>
                <a:sym typeface="DM Sans"/>
              </a:rPr>
              <a:t> and m∠</a:t>
            </a:r>
            <a:r>
              <a:rPr i="1" lang="en" sz="2400">
                <a:latin typeface="DM Sans"/>
                <a:ea typeface="DM Sans"/>
                <a:cs typeface="DM Sans"/>
                <a:sym typeface="DM Sans"/>
              </a:rPr>
              <a:t>B</a:t>
            </a:r>
            <a:r>
              <a:rPr lang="en" sz="2400">
                <a:latin typeface="DM Sans"/>
                <a:ea typeface="DM Sans"/>
                <a:cs typeface="DM Sans"/>
                <a:sym typeface="DM Sans"/>
              </a:rPr>
              <a:t>, then </a:t>
            </a:r>
            <a:r>
              <a:rPr lang="en" sz="2400">
                <a:latin typeface="DM Sans"/>
                <a:ea typeface="DM Sans"/>
                <a:cs typeface="DM Sans"/>
                <a:sym typeface="DM Sans"/>
              </a:rPr>
              <a:t>you</a:t>
            </a:r>
            <a:r>
              <a:rPr lang="en" sz="2400">
                <a:latin typeface="DM Sans"/>
                <a:ea typeface="DM Sans"/>
                <a:cs typeface="DM Sans"/>
                <a:sym typeface="DM Sans"/>
              </a:rPr>
              <a:t> know m∠</a:t>
            </a:r>
            <a:r>
              <a:rPr i="1" lang="en" sz="2400">
                <a:latin typeface="DM Sans"/>
                <a:ea typeface="DM Sans"/>
                <a:cs typeface="DM Sans"/>
                <a:sym typeface="DM Sans"/>
              </a:rPr>
              <a:t>C</a:t>
            </a:r>
            <a:r>
              <a:rPr lang="en" sz="2400">
                <a:latin typeface="DM Sans"/>
                <a:ea typeface="DM Sans"/>
                <a:cs typeface="DM Sans"/>
                <a:sym typeface="DM Sans"/>
              </a:rPr>
              <a:t> (because sum must be 180°).</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So if ∠</a:t>
            </a:r>
            <a:r>
              <a:rPr i="1" lang="en" sz="2400">
                <a:latin typeface="DM Sans"/>
                <a:ea typeface="DM Sans"/>
                <a:cs typeface="DM Sans"/>
                <a:sym typeface="DM Sans"/>
              </a:rPr>
              <a:t>D</a:t>
            </a:r>
            <a:r>
              <a:rPr lang="en" sz="2400">
                <a:latin typeface="DM Sans"/>
                <a:ea typeface="DM Sans"/>
                <a:cs typeface="DM Sans"/>
                <a:sym typeface="DM Sans"/>
              </a:rPr>
              <a:t> ≅ ∠</a:t>
            </a:r>
            <a:r>
              <a:rPr i="1" lang="en" sz="2400">
                <a:latin typeface="DM Sans"/>
                <a:ea typeface="DM Sans"/>
                <a:cs typeface="DM Sans"/>
                <a:sym typeface="DM Sans"/>
              </a:rPr>
              <a:t>A</a:t>
            </a:r>
            <a:r>
              <a:rPr lang="en" sz="2400">
                <a:latin typeface="DM Sans"/>
                <a:ea typeface="DM Sans"/>
                <a:cs typeface="DM Sans"/>
                <a:sym typeface="DM Sans"/>
              </a:rPr>
              <a:t> and if ∠</a:t>
            </a:r>
            <a:r>
              <a:rPr i="1" lang="en" sz="2400">
                <a:latin typeface="DM Sans"/>
                <a:ea typeface="DM Sans"/>
                <a:cs typeface="DM Sans"/>
                <a:sym typeface="DM Sans"/>
              </a:rPr>
              <a:t>E</a:t>
            </a:r>
            <a:r>
              <a:rPr lang="en" sz="2400">
                <a:latin typeface="DM Sans"/>
                <a:ea typeface="DM Sans"/>
                <a:cs typeface="DM Sans"/>
                <a:sym typeface="DM Sans"/>
              </a:rPr>
              <a:t> ≅ ∠</a:t>
            </a:r>
            <a:r>
              <a:rPr i="1" lang="en" sz="2400">
                <a:latin typeface="DM Sans"/>
                <a:ea typeface="DM Sans"/>
                <a:cs typeface="DM Sans"/>
                <a:sym typeface="DM Sans"/>
              </a:rPr>
              <a:t>B</a:t>
            </a:r>
            <a:r>
              <a:rPr lang="en" sz="2400">
                <a:latin typeface="DM Sans"/>
                <a:ea typeface="DM Sans"/>
                <a:cs typeface="DM Sans"/>
                <a:sym typeface="DM Sans"/>
              </a:rPr>
              <a:t>, then ∠</a:t>
            </a:r>
            <a:r>
              <a:rPr i="1" lang="en" sz="2400">
                <a:latin typeface="DM Sans"/>
                <a:ea typeface="DM Sans"/>
                <a:cs typeface="DM Sans"/>
                <a:sym typeface="DM Sans"/>
              </a:rPr>
              <a:t>F</a:t>
            </a:r>
            <a:r>
              <a:rPr lang="en" sz="2400">
                <a:latin typeface="DM Sans"/>
                <a:ea typeface="DM Sans"/>
                <a:cs typeface="DM Sans"/>
                <a:sym typeface="DM Sans"/>
              </a:rPr>
              <a:t> ≅ ∠</a:t>
            </a:r>
            <a:r>
              <a:rPr i="1" lang="en" sz="2400">
                <a:latin typeface="DM Sans"/>
                <a:ea typeface="DM Sans"/>
                <a:cs typeface="DM Sans"/>
                <a:sym typeface="DM Sans"/>
              </a:rPr>
              <a:t>C</a:t>
            </a:r>
            <a:r>
              <a:rPr lang="en" sz="2400">
                <a:latin typeface="DM Sans"/>
                <a:ea typeface="DM Sans"/>
                <a:cs typeface="DM Sans"/>
                <a:sym typeface="DM Sans"/>
              </a:rPr>
              <a:t> </a:t>
            </a:r>
            <a:r>
              <a:rPr lang="en" sz="2400">
                <a:latin typeface="DM Sans"/>
                <a:ea typeface="DM Sans"/>
                <a:cs typeface="DM Sans"/>
                <a:sym typeface="DM Sans"/>
              </a:rPr>
              <a:t>and </a:t>
            </a:r>
            <a:r>
              <a:rPr lang="en" sz="2400">
                <a:latin typeface="DM Sans"/>
                <a:ea typeface="DM Sans"/>
                <a:cs typeface="DM Sans"/>
                <a:sym typeface="DM Sans"/>
              </a:rPr>
              <a:t>all </a:t>
            </a:r>
            <a:r>
              <a:rPr lang="en" sz="2400">
                <a:latin typeface="DM Sans"/>
                <a:ea typeface="DM Sans"/>
                <a:cs typeface="DM Sans"/>
                <a:sym typeface="DM Sans"/>
              </a:rPr>
              <a:t>corresponding</a:t>
            </a:r>
            <a:r>
              <a:rPr lang="en" sz="2400">
                <a:latin typeface="DM Sans"/>
                <a:ea typeface="DM Sans"/>
                <a:cs typeface="DM Sans"/>
                <a:sym typeface="DM Sans"/>
              </a:rPr>
              <a:t> angles are congruent.</a:t>
            </a:r>
            <a:endParaRPr sz="2400">
              <a:latin typeface="DM Sans"/>
              <a:ea typeface="DM Sans"/>
              <a:cs typeface="DM Sans"/>
              <a:sym typeface="DM Sans"/>
            </a:endParaRPr>
          </a:p>
        </p:txBody>
      </p:sp>
      <p:sp>
        <p:nvSpPr>
          <p:cNvPr id="765" name="Google Shape;765;p62"/>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6" name="Google Shape;766;p62"/>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67" name="Google Shape;767;p62"/>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Angles with Triangles and Parallel Lines</a:t>
            </a:r>
            <a:endParaRPr sz="3000">
              <a:latin typeface="Merriweather"/>
              <a:ea typeface="Merriweather"/>
              <a:cs typeface="Merriweather"/>
              <a:sym typeface="Merriweather"/>
            </a:endParaRPr>
          </a:p>
        </p:txBody>
      </p:sp>
      <p:pic>
        <p:nvPicPr>
          <p:cNvPr id="768" name="Google Shape;768;p62"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769" name="Google Shape;769;p62"/>
          <p:cNvGrpSpPr/>
          <p:nvPr/>
        </p:nvGrpSpPr>
        <p:grpSpPr>
          <a:xfrm>
            <a:off x="4824975" y="1490389"/>
            <a:ext cx="4066050" cy="2270750"/>
            <a:chOff x="4457700" y="1286139"/>
            <a:chExt cx="4066050" cy="2270750"/>
          </a:xfrm>
        </p:grpSpPr>
        <p:grpSp>
          <p:nvGrpSpPr>
            <p:cNvPr id="770" name="Google Shape;770;p62"/>
            <p:cNvGrpSpPr/>
            <p:nvPr/>
          </p:nvGrpSpPr>
          <p:grpSpPr>
            <a:xfrm>
              <a:off x="4914900" y="1655455"/>
              <a:ext cx="2057400" cy="1716786"/>
              <a:chOff x="5584425" y="1490400"/>
              <a:chExt cx="2743200" cy="2286000"/>
            </a:xfrm>
          </p:grpSpPr>
          <p:sp>
            <p:nvSpPr>
              <p:cNvPr id="771" name="Google Shape;771;p62"/>
              <p:cNvSpPr/>
              <p:nvPr/>
            </p:nvSpPr>
            <p:spPr>
              <a:xfrm flipH="1">
                <a:off x="5584425" y="1490400"/>
                <a:ext cx="9144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2" name="Google Shape;772;p62"/>
              <p:cNvSpPr/>
              <p:nvPr/>
            </p:nvSpPr>
            <p:spPr>
              <a:xfrm>
                <a:off x="6498825" y="1490400"/>
                <a:ext cx="18288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73" name="Google Shape;773;p62"/>
              <p:cNvCxnSpPr>
                <a:stCxn id="772" idx="0"/>
                <a:endCxn id="772" idx="4"/>
              </p:cNvCxnSpPr>
              <p:nvPr/>
            </p:nvCxnSpPr>
            <p:spPr>
              <a:xfrm>
                <a:off x="6498825" y="1490400"/>
                <a:ext cx="1828800" cy="2286000"/>
              </a:xfrm>
              <a:prstGeom prst="straightConnector1">
                <a:avLst/>
              </a:prstGeom>
              <a:noFill/>
              <a:ln cap="flat" cmpd="sng" w="19050">
                <a:solidFill>
                  <a:srgbClr val="000000"/>
                </a:solidFill>
                <a:prstDash val="solid"/>
                <a:round/>
                <a:headEnd len="med" w="med" type="none"/>
                <a:tailEnd len="med" w="med" type="none"/>
              </a:ln>
            </p:spPr>
          </p:cxnSp>
          <p:cxnSp>
            <p:nvCxnSpPr>
              <p:cNvPr id="774" name="Google Shape;774;p62"/>
              <p:cNvCxnSpPr>
                <a:stCxn id="771" idx="4"/>
                <a:endCxn id="772" idx="0"/>
              </p:cNvCxnSpPr>
              <p:nvPr/>
            </p:nvCxnSpPr>
            <p:spPr>
              <a:xfrm flipH="1" rot="10800000">
                <a:off x="5584425" y="1490400"/>
                <a:ext cx="914400" cy="2286000"/>
              </a:xfrm>
              <a:prstGeom prst="straightConnector1">
                <a:avLst/>
              </a:prstGeom>
              <a:noFill/>
              <a:ln cap="flat" cmpd="sng" w="19050">
                <a:solidFill>
                  <a:srgbClr val="000000"/>
                </a:solidFill>
                <a:prstDash val="solid"/>
                <a:round/>
                <a:headEnd len="med" w="med" type="none"/>
                <a:tailEnd len="med" w="med" type="none"/>
              </a:ln>
            </p:spPr>
          </p:cxnSp>
          <p:cxnSp>
            <p:nvCxnSpPr>
              <p:cNvPr id="775" name="Google Shape;775;p62"/>
              <p:cNvCxnSpPr>
                <a:stCxn id="771" idx="4"/>
                <a:endCxn id="772" idx="4"/>
              </p:cNvCxnSpPr>
              <p:nvPr/>
            </p:nvCxnSpPr>
            <p:spPr>
              <a:xfrm>
                <a:off x="5584425" y="3776400"/>
                <a:ext cx="2743200" cy="0"/>
              </a:xfrm>
              <a:prstGeom prst="straightConnector1">
                <a:avLst/>
              </a:prstGeom>
              <a:noFill/>
              <a:ln cap="flat" cmpd="sng" w="19050">
                <a:solidFill>
                  <a:srgbClr val="000000"/>
                </a:solidFill>
                <a:prstDash val="solid"/>
                <a:round/>
                <a:headEnd len="med" w="med" type="none"/>
                <a:tailEnd len="med" w="med" type="none"/>
              </a:ln>
            </p:spPr>
          </p:cxnSp>
        </p:grpSp>
        <p:sp>
          <p:nvSpPr>
            <p:cNvPr id="776" name="Google Shape;776;p62"/>
            <p:cNvSpPr txBox="1"/>
            <p:nvPr/>
          </p:nvSpPr>
          <p:spPr>
            <a:xfrm>
              <a:off x="4457700" y="3187589"/>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A</a:t>
              </a:r>
              <a:endParaRPr i="1" sz="2400">
                <a:latin typeface="DM Sans"/>
                <a:ea typeface="DM Sans"/>
                <a:cs typeface="DM Sans"/>
                <a:sym typeface="DM Sans"/>
              </a:endParaRPr>
            </a:p>
          </p:txBody>
        </p:sp>
        <p:sp>
          <p:nvSpPr>
            <p:cNvPr id="777" name="Google Shape;777;p62"/>
            <p:cNvSpPr txBox="1"/>
            <p:nvPr/>
          </p:nvSpPr>
          <p:spPr>
            <a:xfrm>
              <a:off x="5372100" y="1286150"/>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B</a:t>
              </a:r>
              <a:endParaRPr i="1" sz="2400">
                <a:latin typeface="DM Sans"/>
                <a:ea typeface="DM Sans"/>
                <a:cs typeface="DM Sans"/>
                <a:sym typeface="DM Sans"/>
              </a:endParaRPr>
            </a:p>
          </p:txBody>
        </p:sp>
        <p:sp>
          <p:nvSpPr>
            <p:cNvPr id="778" name="Google Shape;778;p62"/>
            <p:cNvSpPr txBox="1"/>
            <p:nvPr/>
          </p:nvSpPr>
          <p:spPr>
            <a:xfrm>
              <a:off x="6972300" y="3187589"/>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C</a:t>
              </a:r>
              <a:endParaRPr i="1" sz="2400">
                <a:latin typeface="DM Sans"/>
                <a:ea typeface="DM Sans"/>
                <a:cs typeface="DM Sans"/>
                <a:sym typeface="DM Sans"/>
              </a:endParaRPr>
            </a:p>
          </p:txBody>
        </p:sp>
        <p:grpSp>
          <p:nvGrpSpPr>
            <p:cNvPr id="779" name="Google Shape;779;p62"/>
            <p:cNvGrpSpPr/>
            <p:nvPr/>
          </p:nvGrpSpPr>
          <p:grpSpPr>
            <a:xfrm>
              <a:off x="6972298" y="1655455"/>
              <a:ext cx="1094262" cy="914400"/>
              <a:chOff x="5584425" y="1490400"/>
              <a:chExt cx="2743200" cy="2286000"/>
            </a:xfrm>
          </p:grpSpPr>
          <p:sp>
            <p:nvSpPr>
              <p:cNvPr id="780" name="Google Shape;780;p62"/>
              <p:cNvSpPr/>
              <p:nvPr/>
            </p:nvSpPr>
            <p:spPr>
              <a:xfrm flipH="1">
                <a:off x="5584425" y="1490400"/>
                <a:ext cx="9144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1" name="Google Shape;781;p62"/>
              <p:cNvSpPr/>
              <p:nvPr/>
            </p:nvSpPr>
            <p:spPr>
              <a:xfrm>
                <a:off x="6498825" y="1490400"/>
                <a:ext cx="18288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82" name="Google Shape;782;p62"/>
              <p:cNvCxnSpPr>
                <a:stCxn id="781" idx="0"/>
                <a:endCxn id="781" idx="4"/>
              </p:cNvCxnSpPr>
              <p:nvPr/>
            </p:nvCxnSpPr>
            <p:spPr>
              <a:xfrm>
                <a:off x="6498825" y="1490400"/>
                <a:ext cx="1828800" cy="2286000"/>
              </a:xfrm>
              <a:prstGeom prst="straightConnector1">
                <a:avLst/>
              </a:prstGeom>
              <a:noFill/>
              <a:ln cap="flat" cmpd="sng" w="19050">
                <a:solidFill>
                  <a:srgbClr val="000000"/>
                </a:solidFill>
                <a:prstDash val="solid"/>
                <a:round/>
                <a:headEnd len="med" w="med" type="none"/>
                <a:tailEnd len="med" w="med" type="none"/>
              </a:ln>
            </p:spPr>
          </p:cxnSp>
          <p:cxnSp>
            <p:nvCxnSpPr>
              <p:cNvPr id="783" name="Google Shape;783;p62"/>
              <p:cNvCxnSpPr>
                <a:stCxn id="780" idx="4"/>
                <a:endCxn id="781" idx="0"/>
              </p:cNvCxnSpPr>
              <p:nvPr/>
            </p:nvCxnSpPr>
            <p:spPr>
              <a:xfrm flipH="1" rot="10800000">
                <a:off x="5584425" y="1490400"/>
                <a:ext cx="914400" cy="2286000"/>
              </a:xfrm>
              <a:prstGeom prst="straightConnector1">
                <a:avLst/>
              </a:prstGeom>
              <a:noFill/>
              <a:ln cap="flat" cmpd="sng" w="19050">
                <a:solidFill>
                  <a:srgbClr val="000000"/>
                </a:solidFill>
                <a:prstDash val="solid"/>
                <a:round/>
                <a:headEnd len="med" w="med" type="none"/>
                <a:tailEnd len="med" w="med" type="none"/>
              </a:ln>
            </p:spPr>
          </p:cxnSp>
          <p:cxnSp>
            <p:nvCxnSpPr>
              <p:cNvPr id="784" name="Google Shape;784;p62"/>
              <p:cNvCxnSpPr>
                <a:stCxn id="780" idx="4"/>
                <a:endCxn id="781" idx="4"/>
              </p:cNvCxnSpPr>
              <p:nvPr/>
            </p:nvCxnSpPr>
            <p:spPr>
              <a:xfrm>
                <a:off x="5584425" y="3776400"/>
                <a:ext cx="2743200" cy="0"/>
              </a:xfrm>
              <a:prstGeom prst="straightConnector1">
                <a:avLst/>
              </a:prstGeom>
              <a:noFill/>
              <a:ln cap="flat" cmpd="sng" w="19050">
                <a:solidFill>
                  <a:srgbClr val="000000"/>
                </a:solidFill>
                <a:prstDash val="solid"/>
                <a:round/>
                <a:headEnd len="med" w="med" type="none"/>
                <a:tailEnd len="med" w="med" type="none"/>
              </a:ln>
            </p:spPr>
          </p:cxnSp>
        </p:grpSp>
        <p:sp>
          <p:nvSpPr>
            <p:cNvPr id="785" name="Google Shape;785;p62"/>
            <p:cNvSpPr txBox="1"/>
            <p:nvPr/>
          </p:nvSpPr>
          <p:spPr>
            <a:xfrm>
              <a:off x="6515100" y="2387089"/>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D</a:t>
              </a:r>
              <a:endParaRPr i="1" sz="2400">
                <a:latin typeface="DM Sans"/>
                <a:ea typeface="DM Sans"/>
                <a:cs typeface="DM Sans"/>
                <a:sym typeface="DM Sans"/>
              </a:endParaRPr>
            </a:p>
          </p:txBody>
        </p:sp>
        <p:sp>
          <p:nvSpPr>
            <p:cNvPr id="786" name="Google Shape;786;p62"/>
            <p:cNvSpPr txBox="1"/>
            <p:nvPr/>
          </p:nvSpPr>
          <p:spPr>
            <a:xfrm>
              <a:off x="8066550" y="2387089"/>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F</a:t>
              </a:r>
              <a:endParaRPr i="1" sz="2400">
                <a:latin typeface="DM Sans"/>
                <a:ea typeface="DM Sans"/>
                <a:cs typeface="DM Sans"/>
                <a:sym typeface="DM Sans"/>
              </a:endParaRPr>
            </a:p>
          </p:txBody>
        </p:sp>
        <p:sp>
          <p:nvSpPr>
            <p:cNvPr id="787" name="Google Shape;787;p62"/>
            <p:cNvSpPr txBox="1"/>
            <p:nvPr/>
          </p:nvSpPr>
          <p:spPr>
            <a:xfrm>
              <a:off x="7124700" y="1286139"/>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E</a:t>
              </a:r>
              <a:endParaRPr i="1"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64"/>
                                        </p:tgtEl>
                                        <p:attrNameLst>
                                          <p:attrName>style.visibility</p:attrName>
                                        </p:attrNameLst>
                                      </p:cBhvr>
                                      <p:to>
                                        <p:strVal val="visible"/>
                                      </p:to>
                                    </p:set>
                                    <p:animEffect filter="fade" transition="in">
                                      <p:cBhvr>
                                        <p:cTn dur="800"/>
                                        <p:tgtEl>
                                          <p:spTgt spid="764"/>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769"/>
                                        </p:tgtEl>
                                        <p:attrNameLst>
                                          <p:attrName>style.visibility</p:attrName>
                                        </p:attrNameLst>
                                      </p:cBhvr>
                                      <p:to>
                                        <p:strVal val="visible"/>
                                      </p:to>
                                    </p:set>
                                    <p:animEffect filter="fade" transition="in">
                                      <p:cBhvr>
                                        <p:cTn dur="800"/>
                                        <p:tgtEl>
                                          <p:spTgt spid="7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9DE"/>
        </a:solidFill>
      </p:bgPr>
    </p:bg>
    <p:spTree>
      <p:nvGrpSpPr>
        <p:cNvPr id="791" name="Shape 791"/>
        <p:cNvGrpSpPr/>
        <p:nvPr/>
      </p:nvGrpSpPr>
      <p:grpSpPr>
        <a:xfrm>
          <a:off x="0" y="0"/>
          <a:ext cx="0" cy="0"/>
          <a:chOff x="0" y="0"/>
          <a:chExt cx="0" cy="0"/>
        </a:xfrm>
      </p:grpSpPr>
      <p:sp>
        <p:nvSpPr>
          <p:cNvPr id="792" name="Google Shape;792;p63"/>
          <p:cNvSpPr/>
          <p:nvPr/>
        </p:nvSpPr>
        <p:spPr>
          <a:xfrm>
            <a:off x="-6127783" y="4033425"/>
            <a:ext cx="15271794" cy="1110073"/>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scale △ 5 12 13 cross ∠ ≊ parallel ∟</a:t>
            </a:r>
          </a:p>
        </p:txBody>
      </p:sp>
      <p:sp>
        <p:nvSpPr>
          <p:cNvPr id="793" name="Google Shape;793;p63"/>
          <p:cNvSpPr txBox="1"/>
          <p:nvPr/>
        </p:nvSpPr>
        <p:spPr>
          <a:xfrm>
            <a:off x="228600" y="1490400"/>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We won’t show every step but you can see how △</a:t>
            </a:r>
            <a:r>
              <a:rPr i="1" lang="en" sz="2400">
                <a:latin typeface="DM Sans"/>
                <a:ea typeface="DM Sans"/>
                <a:cs typeface="DM Sans"/>
                <a:sym typeface="DM Sans"/>
              </a:rPr>
              <a:t>DEF</a:t>
            </a:r>
            <a:r>
              <a:rPr lang="en" sz="2400">
                <a:latin typeface="DM Sans"/>
                <a:ea typeface="DM Sans"/>
                <a:cs typeface="DM Sans"/>
                <a:sym typeface="DM Sans"/>
              </a:rPr>
              <a:t> is the image of △</a:t>
            </a:r>
            <a:r>
              <a:rPr i="1" lang="en" sz="2400">
                <a:latin typeface="DM Sans"/>
                <a:ea typeface="DM Sans"/>
                <a:cs typeface="DM Sans"/>
                <a:sym typeface="DM Sans"/>
              </a:rPr>
              <a:t>ABC</a:t>
            </a:r>
            <a:r>
              <a:rPr lang="en" sz="2400">
                <a:latin typeface="DM Sans"/>
                <a:ea typeface="DM Sans"/>
                <a:cs typeface="DM Sans"/>
                <a:sym typeface="DM Sans"/>
              </a:rPr>
              <a:t> after a dilation and rigid transformations, meaning △</a:t>
            </a:r>
            <a:r>
              <a:rPr i="1" lang="en" sz="2400">
                <a:latin typeface="DM Sans"/>
                <a:ea typeface="DM Sans"/>
                <a:cs typeface="DM Sans"/>
                <a:sym typeface="DM Sans"/>
              </a:rPr>
              <a:t>ABC</a:t>
            </a:r>
            <a:r>
              <a:rPr lang="en" sz="2400">
                <a:latin typeface="DM Sans"/>
                <a:ea typeface="DM Sans"/>
                <a:cs typeface="DM Sans"/>
                <a:sym typeface="DM Sans"/>
              </a:rPr>
              <a:t> ~ △</a:t>
            </a:r>
            <a:r>
              <a:rPr i="1" lang="en" sz="2400">
                <a:latin typeface="DM Sans"/>
                <a:ea typeface="DM Sans"/>
                <a:cs typeface="DM Sans"/>
                <a:sym typeface="DM Sans"/>
              </a:rPr>
              <a:t>DEF</a:t>
            </a:r>
            <a:r>
              <a:rPr lang="en" sz="2400">
                <a:latin typeface="DM Sans"/>
                <a:ea typeface="DM Sans"/>
                <a:cs typeface="DM Sans"/>
                <a:sym typeface="DM Sans"/>
              </a:rPr>
              <a:t>. (</a:t>
            </a:r>
            <a:r>
              <a:rPr b="1" lang="en" sz="2400">
                <a:latin typeface="DM Sans"/>
                <a:ea typeface="DM Sans"/>
                <a:cs typeface="DM Sans"/>
                <a:sym typeface="DM Sans"/>
              </a:rPr>
              <a:t>AA Similarity</a:t>
            </a:r>
            <a:r>
              <a:rPr lang="en" sz="2400">
                <a:latin typeface="DM Sans"/>
                <a:ea typeface="DM Sans"/>
                <a:cs typeface="DM Sans"/>
                <a:sym typeface="DM Sans"/>
              </a:rPr>
              <a:t>)</a:t>
            </a:r>
            <a:endParaRPr sz="2400">
              <a:latin typeface="DM Sans"/>
              <a:ea typeface="DM Sans"/>
              <a:cs typeface="DM Sans"/>
              <a:sym typeface="DM Sans"/>
            </a:endParaRPr>
          </a:p>
        </p:txBody>
      </p:sp>
      <p:sp>
        <p:nvSpPr>
          <p:cNvPr id="794" name="Google Shape;794;p63"/>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5" name="Google Shape;795;p63"/>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796" name="Google Shape;796;p63"/>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Angles with Triangles and Parallel Lines</a:t>
            </a:r>
            <a:endParaRPr sz="3000">
              <a:latin typeface="Merriweather"/>
              <a:ea typeface="Merriweather"/>
              <a:cs typeface="Merriweather"/>
              <a:sym typeface="Merriweather"/>
            </a:endParaRPr>
          </a:p>
        </p:txBody>
      </p:sp>
      <p:pic>
        <p:nvPicPr>
          <p:cNvPr id="797" name="Google Shape;797;p63" title="1.png"/>
          <p:cNvPicPr preferRelativeResize="0"/>
          <p:nvPr/>
        </p:nvPicPr>
        <p:blipFill>
          <a:blip r:embed="rId3">
            <a:alphaModFix/>
          </a:blip>
          <a:stretch>
            <a:fillRect/>
          </a:stretch>
        </p:blipFill>
        <p:spPr>
          <a:xfrm>
            <a:off x="228600" y="228600"/>
            <a:ext cx="1033200" cy="1033200"/>
          </a:xfrm>
          <a:prstGeom prst="rect">
            <a:avLst/>
          </a:prstGeom>
          <a:noFill/>
          <a:ln>
            <a:noFill/>
          </a:ln>
        </p:spPr>
      </p:pic>
      <p:grpSp>
        <p:nvGrpSpPr>
          <p:cNvPr id="798" name="Google Shape;798;p63"/>
          <p:cNvGrpSpPr/>
          <p:nvPr/>
        </p:nvGrpSpPr>
        <p:grpSpPr>
          <a:xfrm>
            <a:off x="4824975" y="1490389"/>
            <a:ext cx="4066050" cy="2270750"/>
            <a:chOff x="4457700" y="1286139"/>
            <a:chExt cx="4066050" cy="2270750"/>
          </a:xfrm>
        </p:grpSpPr>
        <p:grpSp>
          <p:nvGrpSpPr>
            <p:cNvPr id="799" name="Google Shape;799;p63"/>
            <p:cNvGrpSpPr/>
            <p:nvPr/>
          </p:nvGrpSpPr>
          <p:grpSpPr>
            <a:xfrm>
              <a:off x="4914900" y="1655455"/>
              <a:ext cx="2057400" cy="1716786"/>
              <a:chOff x="5584425" y="1490400"/>
              <a:chExt cx="2743200" cy="2286000"/>
            </a:xfrm>
          </p:grpSpPr>
          <p:sp>
            <p:nvSpPr>
              <p:cNvPr id="800" name="Google Shape;800;p63"/>
              <p:cNvSpPr/>
              <p:nvPr/>
            </p:nvSpPr>
            <p:spPr>
              <a:xfrm flipH="1">
                <a:off x="5584425" y="1490400"/>
                <a:ext cx="9144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1" name="Google Shape;801;p63"/>
              <p:cNvSpPr/>
              <p:nvPr/>
            </p:nvSpPr>
            <p:spPr>
              <a:xfrm>
                <a:off x="6498825" y="1490400"/>
                <a:ext cx="18288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02" name="Google Shape;802;p63"/>
              <p:cNvCxnSpPr>
                <a:stCxn id="801" idx="0"/>
                <a:endCxn id="801" idx="4"/>
              </p:cNvCxnSpPr>
              <p:nvPr/>
            </p:nvCxnSpPr>
            <p:spPr>
              <a:xfrm>
                <a:off x="6498825" y="1490400"/>
                <a:ext cx="1828800" cy="2286000"/>
              </a:xfrm>
              <a:prstGeom prst="straightConnector1">
                <a:avLst/>
              </a:prstGeom>
              <a:noFill/>
              <a:ln cap="flat" cmpd="sng" w="19050">
                <a:solidFill>
                  <a:srgbClr val="000000"/>
                </a:solidFill>
                <a:prstDash val="solid"/>
                <a:round/>
                <a:headEnd len="med" w="med" type="none"/>
                <a:tailEnd len="med" w="med" type="none"/>
              </a:ln>
            </p:spPr>
          </p:cxnSp>
          <p:cxnSp>
            <p:nvCxnSpPr>
              <p:cNvPr id="803" name="Google Shape;803;p63"/>
              <p:cNvCxnSpPr>
                <a:stCxn id="800" idx="4"/>
                <a:endCxn id="801" idx="0"/>
              </p:cNvCxnSpPr>
              <p:nvPr/>
            </p:nvCxnSpPr>
            <p:spPr>
              <a:xfrm flipH="1" rot="10800000">
                <a:off x="5584425" y="1490400"/>
                <a:ext cx="914400" cy="2286000"/>
              </a:xfrm>
              <a:prstGeom prst="straightConnector1">
                <a:avLst/>
              </a:prstGeom>
              <a:noFill/>
              <a:ln cap="flat" cmpd="sng" w="19050">
                <a:solidFill>
                  <a:srgbClr val="000000"/>
                </a:solidFill>
                <a:prstDash val="solid"/>
                <a:round/>
                <a:headEnd len="med" w="med" type="none"/>
                <a:tailEnd len="med" w="med" type="none"/>
              </a:ln>
            </p:spPr>
          </p:cxnSp>
          <p:cxnSp>
            <p:nvCxnSpPr>
              <p:cNvPr id="804" name="Google Shape;804;p63"/>
              <p:cNvCxnSpPr>
                <a:stCxn id="800" idx="4"/>
                <a:endCxn id="801" idx="4"/>
              </p:cNvCxnSpPr>
              <p:nvPr/>
            </p:nvCxnSpPr>
            <p:spPr>
              <a:xfrm>
                <a:off x="5584425" y="3776400"/>
                <a:ext cx="2743200" cy="0"/>
              </a:xfrm>
              <a:prstGeom prst="straightConnector1">
                <a:avLst/>
              </a:prstGeom>
              <a:noFill/>
              <a:ln cap="flat" cmpd="sng" w="19050">
                <a:solidFill>
                  <a:srgbClr val="000000"/>
                </a:solidFill>
                <a:prstDash val="solid"/>
                <a:round/>
                <a:headEnd len="med" w="med" type="none"/>
                <a:tailEnd len="med" w="med" type="none"/>
              </a:ln>
            </p:spPr>
          </p:cxnSp>
        </p:grpSp>
        <p:sp>
          <p:nvSpPr>
            <p:cNvPr id="805" name="Google Shape;805;p63"/>
            <p:cNvSpPr txBox="1"/>
            <p:nvPr/>
          </p:nvSpPr>
          <p:spPr>
            <a:xfrm>
              <a:off x="4457700" y="3187589"/>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A</a:t>
              </a:r>
              <a:endParaRPr i="1" sz="2400">
                <a:latin typeface="DM Sans"/>
                <a:ea typeface="DM Sans"/>
                <a:cs typeface="DM Sans"/>
                <a:sym typeface="DM Sans"/>
              </a:endParaRPr>
            </a:p>
          </p:txBody>
        </p:sp>
        <p:sp>
          <p:nvSpPr>
            <p:cNvPr id="806" name="Google Shape;806;p63"/>
            <p:cNvSpPr txBox="1"/>
            <p:nvPr/>
          </p:nvSpPr>
          <p:spPr>
            <a:xfrm>
              <a:off x="5372100" y="1286150"/>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B</a:t>
              </a:r>
              <a:endParaRPr i="1" sz="2400">
                <a:latin typeface="DM Sans"/>
                <a:ea typeface="DM Sans"/>
                <a:cs typeface="DM Sans"/>
                <a:sym typeface="DM Sans"/>
              </a:endParaRPr>
            </a:p>
          </p:txBody>
        </p:sp>
        <p:sp>
          <p:nvSpPr>
            <p:cNvPr id="807" name="Google Shape;807;p63"/>
            <p:cNvSpPr txBox="1"/>
            <p:nvPr/>
          </p:nvSpPr>
          <p:spPr>
            <a:xfrm>
              <a:off x="6972300" y="3187589"/>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C</a:t>
              </a:r>
              <a:endParaRPr i="1" sz="2400">
                <a:latin typeface="DM Sans"/>
                <a:ea typeface="DM Sans"/>
                <a:cs typeface="DM Sans"/>
                <a:sym typeface="DM Sans"/>
              </a:endParaRPr>
            </a:p>
          </p:txBody>
        </p:sp>
        <p:grpSp>
          <p:nvGrpSpPr>
            <p:cNvPr id="808" name="Google Shape;808;p63"/>
            <p:cNvGrpSpPr/>
            <p:nvPr/>
          </p:nvGrpSpPr>
          <p:grpSpPr>
            <a:xfrm>
              <a:off x="6972298" y="1655455"/>
              <a:ext cx="1094262" cy="914400"/>
              <a:chOff x="5584425" y="1490400"/>
              <a:chExt cx="2743200" cy="2286000"/>
            </a:xfrm>
          </p:grpSpPr>
          <p:sp>
            <p:nvSpPr>
              <p:cNvPr id="809" name="Google Shape;809;p63"/>
              <p:cNvSpPr/>
              <p:nvPr/>
            </p:nvSpPr>
            <p:spPr>
              <a:xfrm flipH="1">
                <a:off x="5584425" y="1490400"/>
                <a:ext cx="9144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0" name="Google Shape;810;p63"/>
              <p:cNvSpPr/>
              <p:nvPr/>
            </p:nvSpPr>
            <p:spPr>
              <a:xfrm>
                <a:off x="6498825" y="1490400"/>
                <a:ext cx="1828800" cy="2286000"/>
              </a:xfrm>
              <a:prstGeom prst="rtTriangle">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11" name="Google Shape;811;p63"/>
              <p:cNvCxnSpPr>
                <a:stCxn id="810" idx="0"/>
                <a:endCxn id="810" idx="4"/>
              </p:cNvCxnSpPr>
              <p:nvPr/>
            </p:nvCxnSpPr>
            <p:spPr>
              <a:xfrm>
                <a:off x="6498825" y="1490400"/>
                <a:ext cx="1828800" cy="2286000"/>
              </a:xfrm>
              <a:prstGeom prst="straightConnector1">
                <a:avLst/>
              </a:prstGeom>
              <a:noFill/>
              <a:ln cap="flat" cmpd="sng" w="19050">
                <a:solidFill>
                  <a:srgbClr val="000000"/>
                </a:solidFill>
                <a:prstDash val="solid"/>
                <a:round/>
                <a:headEnd len="med" w="med" type="none"/>
                <a:tailEnd len="med" w="med" type="none"/>
              </a:ln>
            </p:spPr>
          </p:cxnSp>
          <p:cxnSp>
            <p:nvCxnSpPr>
              <p:cNvPr id="812" name="Google Shape;812;p63"/>
              <p:cNvCxnSpPr>
                <a:stCxn id="809" idx="4"/>
                <a:endCxn id="810" idx="0"/>
              </p:cNvCxnSpPr>
              <p:nvPr/>
            </p:nvCxnSpPr>
            <p:spPr>
              <a:xfrm flipH="1" rot="10800000">
                <a:off x="5584425" y="1490400"/>
                <a:ext cx="914400" cy="2286000"/>
              </a:xfrm>
              <a:prstGeom prst="straightConnector1">
                <a:avLst/>
              </a:prstGeom>
              <a:noFill/>
              <a:ln cap="flat" cmpd="sng" w="19050">
                <a:solidFill>
                  <a:srgbClr val="000000"/>
                </a:solidFill>
                <a:prstDash val="solid"/>
                <a:round/>
                <a:headEnd len="med" w="med" type="none"/>
                <a:tailEnd len="med" w="med" type="none"/>
              </a:ln>
            </p:spPr>
          </p:cxnSp>
          <p:cxnSp>
            <p:nvCxnSpPr>
              <p:cNvPr id="813" name="Google Shape;813;p63"/>
              <p:cNvCxnSpPr>
                <a:stCxn id="809" idx="4"/>
                <a:endCxn id="810" idx="4"/>
              </p:cNvCxnSpPr>
              <p:nvPr/>
            </p:nvCxnSpPr>
            <p:spPr>
              <a:xfrm>
                <a:off x="5584425" y="3776400"/>
                <a:ext cx="2743200" cy="0"/>
              </a:xfrm>
              <a:prstGeom prst="straightConnector1">
                <a:avLst/>
              </a:prstGeom>
              <a:noFill/>
              <a:ln cap="flat" cmpd="sng" w="19050">
                <a:solidFill>
                  <a:srgbClr val="000000"/>
                </a:solidFill>
                <a:prstDash val="solid"/>
                <a:round/>
                <a:headEnd len="med" w="med" type="none"/>
                <a:tailEnd len="med" w="med" type="none"/>
              </a:ln>
            </p:spPr>
          </p:cxnSp>
        </p:grpSp>
        <p:sp>
          <p:nvSpPr>
            <p:cNvPr id="814" name="Google Shape;814;p63"/>
            <p:cNvSpPr txBox="1"/>
            <p:nvPr/>
          </p:nvSpPr>
          <p:spPr>
            <a:xfrm>
              <a:off x="6515100" y="2387089"/>
              <a:ext cx="457200" cy="369300"/>
            </a:xfrm>
            <a:prstGeom prst="rect">
              <a:avLst/>
            </a:prstGeom>
            <a:noFill/>
            <a:ln>
              <a:noFill/>
            </a:ln>
            <a:effectLst>
              <a:outerShdw blurRad="71438" rotWithShape="0" algn="bl">
                <a:srgbClr val="FFFFFF"/>
              </a:outerShdw>
            </a:effectLst>
          </p:spPr>
          <p:txBody>
            <a:bodyPr anchorCtr="0" anchor="t" bIns="0" lIns="0" spcFirstLastPara="1" rIns="54850" wrap="square" tIns="0">
              <a:spAutoFit/>
            </a:bodyPr>
            <a:lstStyle/>
            <a:p>
              <a:pPr indent="0" lvl="0" marL="0" rtl="0" algn="r">
                <a:spcBef>
                  <a:spcPts val="0"/>
                </a:spcBef>
                <a:spcAft>
                  <a:spcPts val="0"/>
                </a:spcAft>
                <a:buNone/>
              </a:pPr>
              <a:r>
                <a:rPr i="1" lang="en" sz="2400">
                  <a:latin typeface="DM Sans"/>
                  <a:ea typeface="DM Sans"/>
                  <a:cs typeface="DM Sans"/>
                  <a:sym typeface="DM Sans"/>
                </a:rPr>
                <a:t>D</a:t>
              </a:r>
              <a:endParaRPr i="1" sz="2400">
                <a:latin typeface="DM Sans"/>
                <a:ea typeface="DM Sans"/>
                <a:cs typeface="DM Sans"/>
                <a:sym typeface="DM Sans"/>
              </a:endParaRPr>
            </a:p>
          </p:txBody>
        </p:sp>
        <p:sp>
          <p:nvSpPr>
            <p:cNvPr id="815" name="Google Shape;815;p63"/>
            <p:cNvSpPr txBox="1"/>
            <p:nvPr/>
          </p:nvSpPr>
          <p:spPr>
            <a:xfrm>
              <a:off x="8066550" y="2387089"/>
              <a:ext cx="457200" cy="369300"/>
            </a:xfrm>
            <a:prstGeom prst="rect">
              <a:avLst/>
            </a:prstGeom>
            <a:noFill/>
            <a:ln>
              <a:noFill/>
            </a:ln>
            <a:effectLst>
              <a:outerShdw blurRad="71438" rotWithShape="0" algn="bl">
                <a:srgbClr val="FFFFFF"/>
              </a:outerShdw>
            </a:effectLst>
          </p:spPr>
          <p:txBody>
            <a:bodyPr anchorCtr="0" anchor="t" bIns="0" lIns="54850" spcFirstLastPara="1" rIns="0" wrap="square" tIns="0">
              <a:spAutoFit/>
            </a:bodyPr>
            <a:lstStyle/>
            <a:p>
              <a:pPr indent="0" lvl="0" marL="0" rtl="0" algn="l">
                <a:spcBef>
                  <a:spcPts val="0"/>
                </a:spcBef>
                <a:spcAft>
                  <a:spcPts val="0"/>
                </a:spcAft>
                <a:buNone/>
              </a:pPr>
              <a:r>
                <a:rPr i="1" lang="en" sz="2400">
                  <a:latin typeface="DM Sans"/>
                  <a:ea typeface="DM Sans"/>
                  <a:cs typeface="DM Sans"/>
                  <a:sym typeface="DM Sans"/>
                </a:rPr>
                <a:t>F</a:t>
              </a:r>
              <a:endParaRPr i="1" sz="2400">
                <a:latin typeface="DM Sans"/>
                <a:ea typeface="DM Sans"/>
                <a:cs typeface="DM Sans"/>
                <a:sym typeface="DM Sans"/>
              </a:endParaRPr>
            </a:p>
          </p:txBody>
        </p:sp>
        <p:sp>
          <p:nvSpPr>
            <p:cNvPr id="816" name="Google Shape;816;p63"/>
            <p:cNvSpPr txBox="1"/>
            <p:nvPr/>
          </p:nvSpPr>
          <p:spPr>
            <a:xfrm>
              <a:off x="7124700" y="1286139"/>
              <a:ext cx="457200" cy="369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i="1" lang="en" sz="2400">
                  <a:latin typeface="DM Sans"/>
                  <a:ea typeface="DM Sans"/>
                  <a:cs typeface="DM Sans"/>
                  <a:sym typeface="DM Sans"/>
                </a:rPr>
                <a:t>E</a:t>
              </a:r>
              <a:endParaRPr i="1" sz="2400">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93"/>
                                        </p:tgtEl>
                                        <p:attrNameLst>
                                          <p:attrName>style.visibility</p:attrName>
                                        </p:attrNameLst>
                                      </p:cBhvr>
                                      <p:to>
                                        <p:strVal val="visible"/>
                                      </p:to>
                                    </p:set>
                                    <p:animEffect filter="fade" transition="in">
                                      <p:cBhvr>
                                        <p:cTn dur="800"/>
                                        <p:tgtEl>
                                          <p:spTgt spid="7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C073"/>
        </a:solidFill>
      </p:bgPr>
    </p:bg>
    <p:spTree>
      <p:nvGrpSpPr>
        <p:cNvPr id="820" name="Shape 820"/>
        <p:cNvGrpSpPr/>
        <p:nvPr/>
      </p:nvGrpSpPr>
      <p:grpSpPr>
        <a:xfrm>
          <a:off x="0" y="0"/>
          <a:ext cx="0" cy="0"/>
          <a:chOff x="0" y="0"/>
          <a:chExt cx="0" cy="0"/>
        </a:xfrm>
      </p:grpSpPr>
      <p:sp>
        <p:nvSpPr>
          <p:cNvPr id="821" name="Google Shape;821;p64"/>
          <p:cNvSpPr/>
          <p:nvPr/>
        </p:nvSpPr>
        <p:spPr>
          <a:xfrm>
            <a:off x="-228600" y="518400"/>
            <a:ext cx="9601200" cy="1477800"/>
          </a:xfrm>
          <a:prstGeom prst="rect">
            <a:avLst/>
          </a:prstGeom>
          <a:solidFill>
            <a:srgbClr val="FEF9D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2" name="Google Shape;822;p64"/>
          <p:cNvSpPr/>
          <p:nvPr/>
        </p:nvSpPr>
        <p:spPr>
          <a:xfrm>
            <a:off x="228590" y="228602"/>
            <a:ext cx="2057400" cy="2057400"/>
          </a:xfrm>
          <a:prstGeom prst="ellipse">
            <a:avLst/>
          </a:prstGeom>
          <a:solidFill>
            <a:srgbClr val="FAC073"/>
          </a:solidFill>
          <a:ln cap="flat" cmpd="sng" w="152400">
            <a:solidFill>
              <a:srgbClr val="FEF9DE"/>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latin typeface="Merriweather"/>
                <a:ea typeface="Merriweather"/>
                <a:cs typeface="Merriweather"/>
                <a:sym typeface="Merriweather"/>
              </a:rPr>
              <a:t>Fall</a:t>
            </a:r>
            <a:endParaRPr sz="3200">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latin typeface="Merriweather"/>
                <a:ea typeface="Merriweather"/>
                <a:cs typeface="Merriweather"/>
                <a:sym typeface="Merriweather"/>
              </a:rPr>
              <a:t>4</a:t>
            </a:r>
            <a:endParaRPr sz="9600">
              <a:latin typeface="Merriweather"/>
              <a:ea typeface="Merriweather"/>
              <a:cs typeface="Merriweather"/>
              <a:sym typeface="Merriweather"/>
            </a:endParaRPr>
          </a:p>
        </p:txBody>
      </p:sp>
      <p:sp>
        <p:nvSpPr>
          <p:cNvPr id="823" name="Google Shape;823;p64"/>
          <p:cNvSpPr/>
          <p:nvPr/>
        </p:nvSpPr>
        <p:spPr>
          <a:xfrm>
            <a:off x="-228600" y="3118800"/>
            <a:ext cx="9601200" cy="1477800"/>
          </a:xfrm>
          <a:prstGeom prst="rect">
            <a:avLst/>
          </a:prstGeom>
          <a:noFill/>
          <a:ln cap="flat" cmpd="sng" w="152400">
            <a:solidFill>
              <a:srgbClr val="FEF9D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4" name="Google Shape;824;p64"/>
          <p:cNvSpPr/>
          <p:nvPr/>
        </p:nvSpPr>
        <p:spPr>
          <a:xfrm>
            <a:off x="6857990" y="2829002"/>
            <a:ext cx="2057400" cy="20574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80000"/>
              </a:lnSpc>
              <a:spcBef>
                <a:spcPts val="0"/>
              </a:spcBef>
              <a:spcAft>
                <a:spcPts val="0"/>
              </a:spcAft>
              <a:buNone/>
            </a:pPr>
            <a:r>
              <a:t/>
            </a:r>
            <a:endParaRPr sz="9600">
              <a:latin typeface="Leckerli One"/>
              <a:ea typeface="Leckerli One"/>
              <a:cs typeface="Leckerli One"/>
              <a:sym typeface="Leckerli One"/>
            </a:endParaRPr>
          </a:p>
        </p:txBody>
      </p:sp>
      <p:pic>
        <p:nvPicPr>
          <p:cNvPr id="825" name="Google Shape;825;p64" title="1.png"/>
          <p:cNvPicPr preferRelativeResize="0"/>
          <p:nvPr/>
        </p:nvPicPr>
        <p:blipFill>
          <a:blip r:embed="rId3">
            <a:alphaModFix/>
          </a:blip>
          <a:stretch>
            <a:fillRect/>
          </a:stretch>
        </p:blipFill>
        <p:spPr>
          <a:xfrm>
            <a:off x="6857990" y="2829000"/>
            <a:ext cx="2057400" cy="2057400"/>
          </a:xfrm>
          <a:prstGeom prst="rect">
            <a:avLst/>
          </a:prstGeom>
          <a:noFill/>
          <a:ln>
            <a:noFill/>
          </a:ln>
        </p:spPr>
      </p:pic>
      <p:sp>
        <p:nvSpPr>
          <p:cNvPr id="826" name="Google Shape;826;p64"/>
          <p:cNvSpPr txBox="1"/>
          <p:nvPr/>
        </p:nvSpPr>
        <p:spPr>
          <a:xfrm>
            <a:off x="228600" y="3673050"/>
            <a:ext cx="6400800" cy="3693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2400">
                <a:latin typeface="Merriweather"/>
                <a:ea typeface="Merriweather"/>
                <a:cs typeface="Merriweather"/>
                <a:sym typeface="Merriweather"/>
              </a:rPr>
              <a:t>Sources: Catharine Maitner</a:t>
            </a:r>
            <a:endParaRPr sz="2400">
              <a:latin typeface="Merriweather"/>
              <a:ea typeface="Merriweather"/>
              <a:cs typeface="Merriweather"/>
              <a:sym typeface="Merriweather"/>
            </a:endParaRPr>
          </a:p>
        </p:txBody>
      </p:sp>
      <p:sp>
        <p:nvSpPr>
          <p:cNvPr id="827" name="Google Shape;827;p64"/>
          <p:cNvSpPr txBox="1"/>
          <p:nvPr/>
        </p:nvSpPr>
        <p:spPr>
          <a:xfrm>
            <a:off x="2514600" y="518400"/>
            <a:ext cx="6400800" cy="147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Thanks for coming! Questions?</a:t>
            </a:r>
            <a:endParaRPr sz="4800">
              <a:latin typeface="Merriweather"/>
              <a:ea typeface="Merriweather"/>
              <a:cs typeface="Merriweather"/>
              <a:sym typeface="Merriweath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800"/>
                                        <p:tgtEl>
                                          <p:spTgt spid="827"/>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800"/>
                                        <p:tgtEl>
                                          <p:spTgt spid="8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