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Bebas Neue"/>
      <p:regular r:id="rId37"/>
    </p:embeddedFont>
    <p:embeddedFont>
      <p:font typeface="Libre Baskerville"/>
      <p:regular r:id="rId38"/>
      <p:bold r:id="rId39"/>
      <p:italic r:id="rId40"/>
      <p:boldItalic r:id="rId41"/>
    </p:embeddedFont>
    <p:embeddedFont>
      <p:font typeface="Leckerli One"/>
      <p:regular r:id="rId42"/>
    </p:embeddedFont>
    <p:embeddedFont>
      <p:font typeface="DM Sans"/>
      <p:regular r:id="rId43"/>
      <p:bold r:id="rId44"/>
      <p:italic r:id="rId45"/>
      <p:boldItalic r:id="rId46"/>
    </p:embeddedFont>
    <p:embeddedFont>
      <p:font typeface="Merriweather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italic.fntdata"/><Relationship Id="rId42" Type="http://schemas.openxmlformats.org/officeDocument/2006/relationships/font" Target="fonts/LeckerliOne-regular.fntdata"/><Relationship Id="rId41" Type="http://schemas.openxmlformats.org/officeDocument/2006/relationships/font" Target="fonts/LibreBaskerville-boldItalic.fntdata"/><Relationship Id="rId44" Type="http://schemas.openxmlformats.org/officeDocument/2006/relationships/font" Target="fonts/DMSans-bold.fntdata"/><Relationship Id="rId43" Type="http://schemas.openxmlformats.org/officeDocument/2006/relationships/font" Target="fonts/DMSans-regular.fntdata"/><Relationship Id="rId46" Type="http://schemas.openxmlformats.org/officeDocument/2006/relationships/font" Target="fonts/DMSans-boldItalic.fntdata"/><Relationship Id="rId45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erriweather-bold.fntdata"/><Relationship Id="rId47" Type="http://schemas.openxmlformats.org/officeDocument/2006/relationships/font" Target="fonts/Merriweather-regular.fntdata"/><Relationship Id="rId49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BebasNeue-regular.fntdata"/><Relationship Id="rId36" Type="http://schemas.openxmlformats.org/officeDocument/2006/relationships/slide" Target="slides/slide31.xml"/><Relationship Id="rId39" Type="http://schemas.openxmlformats.org/officeDocument/2006/relationships/font" Target="fonts/LibreBaskerville-bold.fntdata"/><Relationship Id="rId38" Type="http://schemas.openxmlformats.org/officeDocument/2006/relationships/font" Target="fonts/LibreBaskerville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sed.gov/sites/default/files/programs/standards-instruction/nys-next-generation-ela-standards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 Logo designed by Madeleine Villamil.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8ddc1d96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8ddc1d96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Text from </a:t>
            </a:r>
            <a:r>
              <a:rPr lang="en" sz="1200" u="sng">
                <a:latin typeface="DM Sans"/>
                <a:ea typeface="DM Sans"/>
                <a:cs typeface="DM Sans"/>
                <a:sym typeface="DM Sans"/>
                <a:hlinkClick r:id="rId2"/>
              </a:rPr>
              <a:t>English Language Arts Learning Standards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. Slide designed by Benjamin Xie.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369f6440aaed0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4369f6440aaed0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NY-7.NS.3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−0.36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−36⁄100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−9⁄25(25⁄2)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−9(1⁄2)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÷ 6⁄7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× 7⁄6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−3⁄2 × 7⁄2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−4(−21⁄4)</a:t>
            </a:r>
            <a:endParaRPr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4369f6440aaed00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4369f6440aaed00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NY-7.NS.3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−0.36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−36⁄100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−9⁄25(25⁄2)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−9(1⁄2)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÷ 6⁄7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× 7⁄6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−3⁄2 × 7⁄2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−4(−21⁄4)</a:t>
            </a:r>
            <a:endParaRPr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4369f6440aaed00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4369f6440aaed00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NY-8.NS.1,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20 − 14 = 6 is not a perfect cube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52 − 6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52 − 36 = 16 is a perfect square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 and D are adding/multiplying rational numbers so they are also rational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4369f6440aaed00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4369f6440aaed00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phrase describes the student.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4369f6440aaed00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4369f6440aaed00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clause explains when we went inside.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4369f6440aaed00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4369f6440aaed00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clause acts as the subject of the sentence.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4369f6440aaed00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h4369f6440aaed00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4369f6440aaed00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4369f6440aaed00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clause acts as the subject of the sentence.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4369f6440aaed00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4369f6440aaed00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is only one independent clause, even though there are two verbs.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4369f6440aaed00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h4369f6440aaed00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is only one independent clause, even though there are two verbs.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4369f6440aaed00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4369f6440aaed00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sentence contains one dependent clause and one independent clause.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4369f6440aaed00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4369f6440aaed00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sentence contains one dependent clause and two independent clauses.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4369f6440aaed00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4369f6440aaed00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NY-8.NS.1,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20 − 14 = 6 is not a perfect cube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52 − 6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52 − 36 = 16 is a perfect square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 and D are adding/multiplying rational numbers so they are also rational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4369f6440aaed00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4369f6440aaed00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NY-8.NS.1,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20 − 14 = 6 is not a perfect cube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52 − 6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52 − 36 = 16 is a perfect square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 and D are adding/multiplying rational numbers so they are also rational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4369f6440aaed00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4369f6440aaed00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NY-7.NS.3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−0.36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−36⁄100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−9⁄25(25⁄2)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−9(1⁄2)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÷ 6⁄7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× 7⁄6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−3⁄2 × 7⁄2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−4(−21⁄4)</a:t>
            </a:r>
            <a:endParaRPr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369f6440aaed00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4369f6440aaed00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NY-7.NS.3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−0.36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−36⁄100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−9⁄25(25⁄2)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−9(1⁄2)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÷ 6⁄7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× 7⁄6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−3⁄2 × 7⁄2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−4(−21⁄4)</a:t>
            </a:r>
            <a:endParaRPr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8ddc1d960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8ddc1d960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a504bfa63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a504bfa6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NY-7.NS.3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−0.36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−36⁄100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(25⁄2)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−9⁄25(25⁄2)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−9(1⁄2)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÷ 6⁄7)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÷ 6⁄7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−9⁄2 × 7⁄6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−3⁄2 × 7⁄2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−4(−21⁄4)</a:t>
            </a:r>
            <a:endParaRPr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bcdd076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bcdd076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NY-8.NS.1,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20 − 14 = 6 is not a perfect cube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52 − 6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52 − 36 = 16 is a perfect square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 and D are adding/multiplying rational numbers so they are also rational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bcdd0762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bcdd0762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√138 is between √121 = 11 and √144 = 12, closer to √144.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bcdd0762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bcdd0762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NY-7.G.4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2π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2(3.14)(3 inches)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18.84 inches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bcdd0762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bcdd0762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NY-8.G.9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2π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9π = 2π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9⁄2 = 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endParaRPr i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π(9⁄2)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(5⁄4)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π(81⁄4)(5⁄4)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(405⁄16)π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bcdd0762b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fbcdd0762b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NY-7.EE.3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5.98 + 2.19 ≈ 8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 × 0.90 ≈ 7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 × 1.08875 ≈ 8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bcdd0762b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bcdd0762b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NY-8.NS.1,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bcdd0762b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bcdd0762b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NY-8.NS.2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∛126 ≈ ∛125 = 5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√47 ≈ √49 = 7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5 − 7 = −2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bcdd0762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bcdd0762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NY-7.G.4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2π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87.92 = 2(3.14)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87.92 = 6.28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14 = 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(3.14)(14)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3.14(196)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615.44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bcdd0762b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bcdd0762b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NY-8.G.9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(1⁄3)π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0.18π = (1⁄3)π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(3⁄2)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(9⁄50)π = (1⁄3)π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(3⁄2)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(9⁄50)π = (1⁄2)π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9⁄25 = 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3⁄5 = </a:t>
            </a:r>
            <a:r>
              <a:rPr i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bcdd0762b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fbcdd0762b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 approximation: NY-7.G.4, NY-8.G.9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Slide designed by Benjamin Xie.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Logo designed by Madeleine Villamil.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Meant for students done early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8ddc1d960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8ddc1d96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 designed by Benjamin Xie. Logo designed by Madeleine Villamil.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350075" y="665212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flipH="1">
            <a:off x="490460" y="12236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4552901" y="1696025"/>
            <a:ext cx="38754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342325" y="2333775"/>
            <a:ext cx="4087500" cy="15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2pPr>
            <a:lvl3pPr lvl="2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 flipH="1">
            <a:off x="226985" y="206940"/>
            <a:ext cx="8690031" cy="4729620"/>
          </a:xfrm>
          <a:custGeom>
            <a:rect b="b" l="l" r="r" t="t"/>
            <a:pathLst>
              <a:path extrusionOk="0" fill="none" h="182031" w="284476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cap="rnd" cmpd="sng" w="269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2" type="title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HEADER_1">
    <p:bg>
      <p:bgPr>
        <a:solidFill>
          <a:schemeClr val="l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8" y="1157288"/>
            <a:ext cx="67913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863350" y="3448131"/>
            <a:ext cx="3417300" cy="4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1345800" y="1284969"/>
            <a:ext cx="6452400" cy="20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9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 flipH="1">
            <a:off x="226985" y="206940"/>
            <a:ext cx="8690031" cy="4729620"/>
          </a:xfrm>
          <a:custGeom>
            <a:rect b="b" l="l" r="r" t="t"/>
            <a:pathLst>
              <a:path extrusionOk="0" fill="none" h="182031" w="284476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cap="rnd" cmpd="sng" w="269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SECTION_HEADER_1_1_1_1_2_1"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2914735" y="693875"/>
            <a:ext cx="3227225" cy="33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p15"/>
          <p:cNvSpPr/>
          <p:nvPr/>
        </p:nvSpPr>
        <p:spPr>
          <a:xfrm flipH="1">
            <a:off x="226985" y="206940"/>
            <a:ext cx="8690031" cy="4729620"/>
          </a:xfrm>
          <a:custGeom>
            <a:rect b="b" l="l" r="r" t="t"/>
            <a:pathLst>
              <a:path extrusionOk="0" fill="none" h="182031" w="284476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cap="rnd" cmpd="sng" w="269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 flipH="1">
            <a:off x="6125100" y="1374075"/>
            <a:ext cx="2298900" cy="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 flipH="1">
            <a:off x="720025" y="2847050"/>
            <a:ext cx="2298900" cy="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 flipH="1">
            <a:off x="4572000" y="1876339"/>
            <a:ext cx="3852000" cy="8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 flipH="1">
            <a:off x="720025" y="3349800"/>
            <a:ext cx="3852000" cy="8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6"/>
          <p:cNvGrpSpPr/>
          <p:nvPr/>
        </p:nvGrpSpPr>
        <p:grpSpPr>
          <a:xfrm>
            <a:off x="0" y="0"/>
            <a:ext cx="9144091" cy="5143648"/>
            <a:chOff x="0" y="0"/>
            <a:chExt cx="7440875" cy="4152456"/>
          </a:xfrm>
        </p:grpSpPr>
        <p:sp>
          <p:nvSpPr>
            <p:cNvPr id="74" name="Google Shape;74;p16"/>
            <p:cNvSpPr/>
            <p:nvPr/>
          </p:nvSpPr>
          <p:spPr>
            <a:xfrm>
              <a:off x="26505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583651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902179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1220641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1539169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85776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2176224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2494752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2813346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3131874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3450336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768929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4087457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4405920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472444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5043041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536163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5680031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599862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631715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6635615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6954208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7272736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7085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0" y="37488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0" y="67878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0" y="982811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0" y="1286708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0" y="1590737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0" y="189470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0" y="219859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250262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0" y="280652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6505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583651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902179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1220641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539169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185776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2176224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494752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2813346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3131874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450336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3768929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4087457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4405920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472444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5043041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36163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680031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599862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631715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6635615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6954208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7272736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0" y="2502494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2806523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0" y="3110420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3414448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3718411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402244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20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502465" y="399924"/>
            <a:ext cx="8139069" cy="4343656"/>
            <a:chOff x="916986" y="2500875"/>
            <a:chExt cx="2280618" cy="1217119"/>
          </a:xfrm>
        </p:grpSpPr>
        <p:sp>
          <p:nvSpPr>
            <p:cNvPr id="137" name="Google Shape;137;p16"/>
            <p:cNvSpPr/>
            <p:nvPr/>
          </p:nvSpPr>
          <p:spPr>
            <a:xfrm>
              <a:off x="930568" y="2514572"/>
              <a:ext cx="105996" cy="1189768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1036508" y="2514572"/>
              <a:ext cx="2147431" cy="1189768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916986" y="2500875"/>
              <a:ext cx="93570" cy="139459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916986" y="3578650"/>
              <a:ext cx="133160" cy="139344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2917819" y="3493113"/>
              <a:ext cx="279786" cy="2248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6"/>
          <p:cNvSpPr txBox="1"/>
          <p:nvPr>
            <p:ph type="title"/>
          </p:nvPr>
        </p:nvSpPr>
        <p:spPr>
          <a:xfrm>
            <a:off x="1291500" y="2400500"/>
            <a:ext cx="43200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16"/>
          <p:cNvSpPr txBox="1"/>
          <p:nvPr>
            <p:ph hasCustomPrompt="1" idx="2" type="title"/>
          </p:nvPr>
        </p:nvSpPr>
        <p:spPr>
          <a:xfrm>
            <a:off x="1291500" y="124152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6"/>
          <p:cNvSpPr txBox="1"/>
          <p:nvPr>
            <p:ph idx="1" type="subTitle"/>
          </p:nvPr>
        </p:nvSpPr>
        <p:spPr>
          <a:xfrm>
            <a:off x="1291500" y="3360725"/>
            <a:ext cx="4320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6"/>
          <p:cNvSpPr/>
          <p:nvPr/>
        </p:nvSpPr>
        <p:spPr>
          <a:xfrm>
            <a:off x="1190841" y="4876886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212841" y="4445786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C07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-228600" y="518400"/>
            <a:ext cx="9601200" cy="1477800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FD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Merriweather"/>
                <a:ea typeface="Merriweather"/>
                <a:cs typeface="Merriweather"/>
                <a:sym typeface="Merriweather"/>
              </a:rPr>
              <a:t>Fall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-228600" y="3118800"/>
            <a:ext cx="9601200" cy="1477800"/>
          </a:xfrm>
          <a:prstGeom prst="rect">
            <a:avLst/>
          </a:prstGeom>
          <a:noFill/>
          <a:ln cap="flat" cmpd="sng" w="152400">
            <a:solidFill>
              <a:srgbClr val="FFD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857990" y="2829002"/>
            <a:ext cx="2057400" cy="20574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155" name="Google Shape;155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90" y="282900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228600" y="3211200"/>
            <a:ext cx="640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erriweather"/>
                <a:ea typeface="Merriweather"/>
                <a:cs typeface="Merriweather"/>
                <a:sym typeface="Merriweather"/>
              </a:rPr>
              <a:t>Stuy Prep</a:t>
            </a:r>
            <a:endParaRPr sz="3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Practice 26F2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2514600" y="749400"/>
            <a:ext cx="640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Merriweather"/>
                <a:ea typeface="Merriweather"/>
                <a:cs typeface="Merriweather"/>
                <a:sym typeface="Merriweather"/>
              </a:rPr>
              <a:t>Phrases and Clauses and Irrational Numbers and Circles</a:t>
            </a:r>
            <a:endParaRPr sz="33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C07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-8" y="0"/>
            <a:ext cx="21327066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FD83D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simple compound complex compound-complex</a:t>
            </a:r>
          </a:p>
        </p:txBody>
      </p:sp>
      <p:sp>
        <p:nvSpPr>
          <p:cNvPr id="163" name="Google Shape;163;p18"/>
          <p:cNvSpPr/>
          <p:nvPr/>
        </p:nvSpPr>
        <p:spPr>
          <a:xfrm>
            <a:off x="0" y="2690098"/>
            <a:ext cx="9144000" cy="738900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228590" y="1371600"/>
            <a:ext cx="2057400" cy="2057400"/>
          </a:xfrm>
          <a:prstGeom prst="ellipse">
            <a:avLst/>
          </a:prstGeom>
          <a:solidFill>
            <a:srgbClr val="FFD83D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Merriweather"/>
                <a:ea typeface="Merriweather"/>
                <a:cs typeface="Merriweather"/>
                <a:sym typeface="Merriweather"/>
              </a:rPr>
              <a:t>Fall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2514600" y="2690098"/>
            <a:ext cx="64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Phrases and Clauses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514600" y="2153998"/>
            <a:ext cx="640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English Language Arts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-12183058" y="4239625"/>
            <a:ext cx="21327066" cy="90387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FD83D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simple compound complex compound-complex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173" name="Google Shape;173;p1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76" name="Google Shape;176;p1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228600" y="14904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the bolded group of words a phrase or a clause?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waited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near the front entrance.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228600" y="2457325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include: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phrase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184" name="Google Shape;184;p2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2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7" name="Google Shape;187;p2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28600" y="14904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the bolded group of words a phrase or a clause?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hurried inside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because the rain started.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28600" y="2457325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include: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clause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195" name="Google Shape;195;p2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3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8" name="Google Shape;198;p2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228600" y="1490400"/>
            <a:ext cx="8686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of the following is an independent clause?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Although the students studied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the bell rang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finished the test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Because the teacher arrived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28600" y="1857700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Although the students studied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the bell rang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The students finished the test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Because the teacher arrived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06" name="Google Shape;206;p2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4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9" name="Google Shape;209;p2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function does the bolded phrase serve in the sentence?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the blue backpack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raised her hand.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Noun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28600" y="2585013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Noun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17" name="Google Shape;217;p2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5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20" name="Google Shape;220;p2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function does the bolded clause serve in the sentence?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went inside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the storm began.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Noun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228600" y="2585013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Noun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Adverb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28" name="Google Shape;228;p2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6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31" name="Google Shape;231;p2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function does the bolded clause serve in the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sentence?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Maya said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surprised everyone.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Noun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28600" y="2585013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Noun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Adjective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Verb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39" name="Google Shape;239;p2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7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42" name="Google Shape;242;p2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228600" y="1490400"/>
            <a:ext cx="8686800" cy="2124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sentence uses the modifier correctly?</a:t>
            </a:r>
            <a:endParaRPr b="1"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Walking through the museum, the paintings impressed Maya.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Walking through the museum, Maya admired the paintings.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paintings, walking through the museum, impressed Maya.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Maya admired, walking through the museum, the paintings.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228600" y="1848625"/>
            <a:ext cx="8686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Walking through the museum, the paintings impressed Maya.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/>
              <a:buAutoNum type="alphaUcPeriod"/>
            </a:pPr>
            <a:r>
              <a:rPr b="1" lang="en" sz="22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Walking through the museum, Maya admired the paintings.</a:t>
            </a:r>
            <a:endParaRPr b="1" sz="22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paintings, walking through the museum, impressed Maya.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Maya admired, walking through the museum, the paintings.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50" name="Google Shape;250;p2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8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53" name="Google Shape;253;p2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/>
        </p:nvSpPr>
        <p:spPr>
          <a:xfrm>
            <a:off x="228600" y="1490400"/>
            <a:ext cx="8686800" cy="2154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revision best corrects the misplaced modifier?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finishing the assignment, the television was turned on by Alex.</a:t>
            </a:r>
            <a:endParaRPr b="1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finishing the assignment, Alex turned on the television.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television was turned on after finishing the assignment by Alex.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Alex, the television was turned on after finishing the assignment.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the assignment, finishing Alex turned on the television.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228600" y="2403503"/>
            <a:ext cx="8606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b="1" lang="en" sz="20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After finishing the assignment, Alex turned on the television.</a:t>
            </a:r>
            <a:endParaRPr b="1" sz="20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television was turned on after finishing the assignment by Alex.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Alex, the television was turned on after finishing the assignment.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lphaUcPeriod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the assignment, finishing Alex turned on the television.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61" name="Google Shape;261;p2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9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64" name="Google Shape;264;p2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type of sentence is the following?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Jordan packed his backpack and hurried to school.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228600" y="2586866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Simple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72" name="Google Shape;272;p2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10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75" name="Google Shape;275;p2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type of sentence is the following?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Jordan packed his backpack and hurried to school.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228600" y="2586866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Simple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83" name="Google Shape;283;p2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11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86" name="Google Shape;286;p2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/>
        </p:nvSpPr>
        <p:spPr>
          <a:xfrm>
            <a:off x="228600" y="1490400"/>
            <a:ext cx="8686800" cy="2586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type of sentence is the following?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Because Jordan was running late, he hurried to school.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228600" y="2586866"/>
            <a:ext cx="8121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Complex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294" name="Google Shape;294;p3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12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97" name="Google Shape;297;p3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 txBox="1"/>
          <p:nvPr/>
        </p:nvSpPr>
        <p:spPr>
          <a:xfrm>
            <a:off x="228600" y="1490400"/>
            <a:ext cx="8686800" cy="2832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type of sentence is the following?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Because Jordan was running late, he hurried to school, and his sister followed him.</a:t>
            </a:r>
            <a:endParaRPr b="1"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228600" y="2889425"/>
            <a:ext cx="8121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Compound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AutoNum type="alphaUcPeriod"/>
            </a:pPr>
            <a:r>
              <a:rPr b="1" lang="en" sz="23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Compound-complex</a:t>
            </a:r>
            <a:endParaRPr b="1" sz="23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05" name="Google Shape;305;p3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13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08" name="Google Shape;308;p3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1"/>
          <p:cNvSpPr txBox="1"/>
          <p:nvPr/>
        </p:nvSpPr>
        <p:spPr>
          <a:xfrm>
            <a:off x="228600" y="1490400"/>
            <a:ext cx="8686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sentence is complex?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Mia opened the book.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Mia opened the book, and she began reading.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the teacher spoke, Mia opened the book.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the teacher spoke, Mia opened the book, and she began reading.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228600" y="1859700"/>
            <a:ext cx="8409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Mia opened the book.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Mia opened the book, and she began reading.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b="1"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After the teacher spoke, Mia opened the book.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the teacher spoke, Mia opened the book, and she began reading.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16" name="Google Shape;316;p3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14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19" name="Google Shape;319;p3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2"/>
          <p:cNvSpPr txBox="1"/>
          <p:nvPr/>
        </p:nvSpPr>
        <p:spPr>
          <a:xfrm>
            <a:off x="228600" y="1490400"/>
            <a:ext cx="8686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sentence is compound-complex?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studied quietly.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studied, and the teacher graded papers.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While the students studied, the teacher graded papers.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While the students studied, the teacher graded papers, and the principal walked into the room.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228600" y="1859700"/>
            <a:ext cx="8686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studied quietly.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students studied, and the teacher graded papers.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While the students studied, the teacher graded papers.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While the students studied, the teacher graded papers, and the principal walked into the room.</a:t>
            </a:r>
            <a:endParaRPr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27" name="Google Shape;327;p3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15 — Challenge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30" name="Google Shape;330;p3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228600" y="14904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Combine the sentences to create a complex sentence.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team practiced outside. It was raining.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228600" y="2457325"/>
            <a:ext cx="8686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include: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Although it was raining, the team practiced outside.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team practiced outside although it was raining.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38" name="Google Shape;338;p3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40" name="Google Shape;340;p3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16 — Challenge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41" name="Google Shape;341;p3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28600" y="1490400"/>
            <a:ext cx="8686800" cy="969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Combine the ideas to create a compound-complex sentence.</a:t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bell rang. The students packed their bags. They stayed seated until the teacher dismissed them.</a:t>
            </a:r>
            <a:endParaRPr b="1"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228600" y="2623732"/>
            <a:ext cx="8686800" cy="12930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include:</a:t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the bell rang, the students packed their bags, but they stayed seated until the teacher dismissed them.</a:t>
            </a:r>
            <a:endParaRPr b="1"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C07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FD83D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49" name="Google Shape;349;p35"/>
          <p:cNvSpPr/>
          <p:nvPr/>
        </p:nvSpPr>
        <p:spPr>
          <a:xfrm>
            <a:off x="-8" y="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FD83D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50" name="Google Shape;350;p35"/>
          <p:cNvSpPr/>
          <p:nvPr/>
        </p:nvSpPr>
        <p:spPr>
          <a:xfrm>
            <a:off x="0" y="2690098"/>
            <a:ext cx="9144000" cy="738900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/>
          <p:nvPr/>
        </p:nvSpPr>
        <p:spPr>
          <a:xfrm>
            <a:off x="228590" y="1371600"/>
            <a:ext cx="2057400" cy="2057400"/>
          </a:xfrm>
          <a:prstGeom prst="ellipse">
            <a:avLst/>
          </a:prstGeom>
          <a:solidFill>
            <a:srgbClr val="FFD83D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Merriweather"/>
                <a:ea typeface="Merriweather"/>
                <a:cs typeface="Merriweather"/>
                <a:sym typeface="Merriweather"/>
              </a:rPr>
              <a:t>Fall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2" name="Google Shape;352;p35"/>
          <p:cNvSpPr txBox="1"/>
          <p:nvPr/>
        </p:nvSpPr>
        <p:spPr>
          <a:xfrm>
            <a:off x="2514600" y="2805598"/>
            <a:ext cx="640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Merriweather"/>
                <a:ea typeface="Merriweather"/>
                <a:cs typeface="Merriweather"/>
                <a:sym typeface="Merriweather"/>
              </a:rPr>
              <a:t>Irrational Numbers and Circles</a:t>
            </a:r>
            <a:endParaRPr sz="3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2514600" y="2153998"/>
            <a:ext cx="640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Mathematics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59" name="Google Shape;359;p3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62" name="Google Shape;362;p3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/>
        </p:nvSpPr>
        <p:spPr>
          <a:xfrm>
            <a:off x="228600" y="14904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Evaluate the expression −4(−0.36(25⁄2) ÷ 6⁄7).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228600" y="20883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70" name="Google Shape;370;p37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7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72" name="Google Shape;372;p37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2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73" name="Google Shape;373;p3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 txBox="1"/>
          <p:nvPr/>
        </p:nvSpPr>
        <p:spPr>
          <a:xfrm>
            <a:off x="228600" y="1490400"/>
            <a:ext cx="8686800" cy="18471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of the following numbers is irrational?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∛(20 − 14)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√(52 − 6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0.72(17⁄15)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3⁄2 + 7⁄9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228600" y="1859700"/>
            <a:ext cx="8686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∛(20 − 14)</a:t>
            </a:r>
            <a:endParaRPr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√(52 − 6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0.72(17⁄15)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3⁄2 + 7⁄9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81" name="Google Shape;381;p38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83" name="Google Shape;383;p38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3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84" name="Google Shape;384;p3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8"/>
          <p:cNvSpPr txBox="1"/>
          <p:nvPr/>
        </p:nvSpPr>
        <p:spPr>
          <a:xfrm>
            <a:off x="228600" y="1490400"/>
            <a:ext cx="8686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square’s area is equal to 138 square feet.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Which of the following numbers is closest to its side length in feet?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38"/>
          <p:cNvSpPr txBox="1"/>
          <p:nvPr/>
        </p:nvSpPr>
        <p:spPr>
          <a:xfrm>
            <a:off x="228600" y="2229000"/>
            <a:ext cx="8686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12</a:t>
            </a:r>
            <a:endParaRPr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b="1"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392" name="Google Shape;392;p39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9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394" name="Google Shape;394;p39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4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95" name="Google Shape;395;p3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 txBox="1"/>
          <p:nvPr/>
        </p:nvSpPr>
        <p:spPr>
          <a:xfrm>
            <a:off x="228600" y="14904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Calculate the circumference of a circle with a radius of 3 inches.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Use 3.14 for π.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39"/>
          <p:cNvSpPr txBox="1"/>
          <p:nvPr/>
        </p:nvSpPr>
        <p:spPr>
          <a:xfrm>
            <a:off x="228600" y="24579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18.84 inches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03" name="Google Shape;403;p40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0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5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06" name="Google Shape;406;p4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0"/>
          <p:cNvSpPr txBox="1"/>
          <p:nvPr/>
        </p:nvSpPr>
        <p:spPr>
          <a:xfrm>
            <a:off x="228600" y="1490400"/>
            <a:ext cx="8686800" cy="1477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pie is baked in a pan with a circumference of 9π inches and a height of 5⁄4 inches. The pie takes a cylindrical shape with the same dimensions as the pan.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is the volume of the pie?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Express your answer in terms of π. 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p40"/>
          <p:cNvSpPr txBox="1"/>
          <p:nvPr/>
        </p:nvSpPr>
        <p:spPr>
          <a:xfrm>
            <a:off x="228600" y="31968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25.3125π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inches</a:t>
            </a:r>
            <a:r>
              <a:rPr b="1"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405⁄16 inches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14" name="Google Shape;414;p41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1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16" name="Google Shape;416;p41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6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17" name="Google Shape;417;p4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1"/>
          <p:cNvSpPr txBox="1"/>
          <p:nvPr/>
        </p:nvSpPr>
        <p:spPr>
          <a:xfrm>
            <a:off x="228600" y="1490400"/>
            <a:ext cx="8686800" cy="2955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pay $5.98 for a hamburger, plus $2.19 for a soda. You then use a coupon for 10% off your meal. Lastly, you need to pay an 8.875% sales tax on the discounted price.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much did you pay?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You have 30 seconds—estimate and go go go!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$2.15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$5.86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7.35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$8.01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34290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43434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41"/>
          <p:cNvSpPr txBox="1"/>
          <p:nvPr/>
        </p:nvSpPr>
        <p:spPr>
          <a:xfrm>
            <a:off x="52578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61722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70866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25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4" name="Google Shape;424;p41"/>
          <p:cNvSpPr txBox="1"/>
          <p:nvPr/>
        </p:nvSpPr>
        <p:spPr>
          <a:xfrm>
            <a:off x="8001000" y="4076400"/>
            <a:ext cx="914400" cy="369300"/>
          </a:xfrm>
          <a:prstGeom prst="rect">
            <a:avLst/>
          </a:prstGeom>
          <a:solidFill>
            <a:srgbClr val="FAC073"/>
          </a:solidFill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228600" y="2953911"/>
            <a:ext cx="8686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$2.15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$5.86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$7.35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AutoNum type="alphaUcPeriod"/>
            </a:pPr>
            <a:r>
              <a:rPr lang="en" sz="2400">
                <a:solidFill>
                  <a:schemeClr val="dk1"/>
                </a:solidFill>
                <a:highlight>
                  <a:srgbClr val="FAC073"/>
                </a:highlight>
                <a:latin typeface="DM Sans"/>
                <a:ea typeface="DM Sans"/>
                <a:cs typeface="DM Sans"/>
                <a:sym typeface="DM Sans"/>
              </a:rPr>
              <a:t>$8.01</a:t>
            </a:r>
            <a:endParaRPr sz="2400">
              <a:solidFill>
                <a:schemeClr val="dk1"/>
              </a:solidFill>
              <a:highlight>
                <a:srgbClr val="FAC073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8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31" name="Google Shape;431;p42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2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7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34" name="Google Shape;434;p4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2"/>
          <p:cNvSpPr txBox="1"/>
          <p:nvPr/>
        </p:nvSpPr>
        <p:spPr>
          <a:xfrm>
            <a:off x="228600" y="14904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is √17 irrational?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42"/>
          <p:cNvSpPr txBox="1"/>
          <p:nvPr/>
        </p:nvSpPr>
        <p:spPr>
          <a:xfrm>
            <a:off x="228600" y="2088300"/>
            <a:ext cx="8686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its decimal expansion does not repeat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 cannot be represented as a fraction with integers as the numerator and denominator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3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42" name="Google Shape;442;p43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44" name="Google Shape;444;p43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8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45" name="Google Shape;445;p4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3"/>
          <p:cNvSpPr txBox="1"/>
          <p:nvPr/>
        </p:nvSpPr>
        <p:spPr>
          <a:xfrm>
            <a:off x="228600" y="14904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Evaluate ∛126 − √47 to the nearest whole number.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228600" y="20883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−2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53" name="Google Shape;453;p44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55" name="Google Shape;455;p44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9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56" name="Google Shape;456;p4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4"/>
          <p:cNvSpPr txBox="1"/>
          <p:nvPr/>
        </p:nvSpPr>
        <p:spPr>
          <a:xfrm>
            <a:off x="228600" y="1490400"/>
            <a:ext cx="8686800" cy="11082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garden occupies the space in the interior of a circular pathway with a circumference of 87.92 feet.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is the area of the garden?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Use 3.14 for π.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228600" y="28272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615.44 square feet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64" name="Google Shape;464;p45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5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66" name="Google Shape;466;p45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10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67" name="Google Shape;467;p4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/>
        </p:nvSpPr>
        <p:spPr>
          <a:xfrm>
            <a:off x="228600" y="1490400"/>
            <a:ext cx="8686800" cy="738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is the radius of the base of a cone that is 3⁄2 m tall and has a volume of 0.18π m</a:t>
            </a:r>
            <a:r>
              <a:rPr b="1"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228600" y="2457900"/>
            <a:ext cx="8686800" cy="369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Acceptable answers include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0.6 m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3⁄5 m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83D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/>
          <p:nvPr/>
        </p:nvSpPr>
        <p:spPr>
          <a:xfrm>
            <a:off x="-1136183" y="4022150"/>
            <a:ext cx="10280173" cy="1121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FAC073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DM Sans"/>
              </a:rPr>
              <a:t>½ 0.5 π e √ C d r log ² ⅓</a:t>
            </a:r>
          </a:p>
        </p:txBody>
      </p:sp>
      <p:sp>
        <p:nvSpPr>
          <p:cNvPr id="475" name="Google Shape;475;p46"/>
          <p:cNvSpPr/>
          <p:nvPr/>
        </p:nvSpPr>
        <p:spPr>
          <a:xfrm>
            <a:off x="0" y="228600"/>
            <a:ext cx="9144000" cy="738900"/>
          </a:xfrm>
          <a:prstGeom prst="rect">
            <a:avLst/>
          </a:prstGeom>
          <a:solidFill>
            <a:srgbClr val="FAC0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6"/>
          <p:cNvSpPr/>
          <p:nvPr/>
        </p:nvSpPr>
        <p:spPr>
          <a:xfrm>
            <a:off x="228590" y="228602"/>
            <a:ext cx="1033200" cy="10332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1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477" name="Google Shape;477;p46"/>
          <p:cNvSpPr txBox="1"/>
          <p:nvPr/>
        </p:nvSpPr>
        <p:spPr>
          <a:xfrm>
            <a:off x="1490400" y="228600"/>
            <a:ext cx="74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Question 11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78" name="Google Shape;478;p4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1033200" cy="10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6"/>
          <p:cNvSpPr txBox="1"/>
          <p:nvPr/>
        </p:nvSpPr>
        <p:spPr>
          <a:xfrm>
            <a:off x="228600" y="1490400"/>
            <a:ext cx="8686800" cy="2216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>
              <a:srgbClr val="FFFFFF"/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you’re done early, move onto ELA, or: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 you 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think</a:t>
            </a:r>
            <a:r>
              <a:rPr b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the reasoning for all of these formulas?</a:t>
            </a:r>
            <a:endParaRPr b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aseline="30000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cone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(1⁄3)π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endParaRPr i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baseline="-25000"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cylinder</a:t>
            </a:r>
            <a:r>
              <a:rPr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π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i="1" lang="en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endParaRPr i="1"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C073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/>
          <p:nvPr/>
        </p:nvSpPr>
        <p:spPr>
          <a:xfrm>
            <a:off x="-228600" y="518400"/>
            <a:ext cx="9601200" cy="1477800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"/>
          <p:cNvSpPr/>
          <p:nvPr/>
        </p:nvSpPr>
        <p:spPr>
          <a:xfrm>
            <a:off x="228590" y="228602"/>
            <a:ext cx="2057400" cy="20574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FD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Merriweather"/>
                <a:ea typeface="Merriweather"/>
                <a:cs typeface="Merriweather"/>
                <a:sym typeface="Merriweather"/>
              </a:rPr>
              <a:t>Fall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9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6" name="Google Shape;486;p47"/>
          <p:cNvSpPr/>
          <p:nvPr/>
        </p:nvSpPr>
        <p:spPr>
          <a:xfrm>
            <a:off x="-228600" y="3118800"/>
            <a:ext cx="9601200" cy="1477800"/>
          </a:xfrm>
          <a:prstGeom prst="rect">
            <a:avLst/>
          </a:prstGeom>
          <a:noFill/>
          <a:ln cap="flat" cmpd="sng" w="152400">
            <a:solidFill>
              <a:srgbClr val="FFD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7"/>
          <p:cNvSpPr/>
          <p:nvPr/>
        </p:nvSpPr>
        <p:spPr>
          <a:xfrm>
            <a:off x="6857990" y="2829002"/>
            <a:ext cx="2057400" cy="2057400"/>
          </a:xfrm>
          <a:prstGeom prst="ellipse">
            <a:avLst/>
          </a:prstGeom>
          <a:solidFill>
            <a:srgbClr val="FAC073"/>
          </a:solidFill>
          <a:ln cap="flat" cmpd="sng" w="152400">
            <a:solidFill>
              <a:srgbClr val="FAC0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pic>
        <p:nvPicPr>
          <p:cNvPr id="488" name="Google Shape;488;p4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90" y="282900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228600" y="3488250"/>
            <a:ext cx="64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Homework will be posted after this session. Complete it for more practice!</a:t>
            </a:r>
            <a:endParaRPr sz="2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2514600" y="518400"/>
            <a:ext cx="6400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"/>
                <a:ea typeface="Merriweather"/>
                <a:cs typeface="Merriweather"/>
                <a:sym typeface="Merriweather"/>
              </a:rPr>
              <a:t>Thanks for coming! Questions?</a:t>
            </a:r>
            <a:endParaRPr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